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985" r:id="rId2"/>
    <p:sldId id="986" r:id="rId3"/>
    <p:sldId id="948" r:id="rId4"/>
    <p:sldId id="987" r:id="rId5"/>
    <p:sldId id="988" r:id="rId6"/>
    <p:sldId id="989" r:id="rId7"/>
    <p:sldId id="998" r:id="rId8"/>
    <p:sldId id="999" r:id="rId9"/>
    <p:sldId id="991" r:id="rId10"/>
    <p:sldId id="992" r:id="rId11"/>
    <p:sldId id="993" r:id="rId12"/>
    <p:sldId id="995" r:id="rId13"/>
    <p:sldId id="996" r:id="rId14"/>
    <p:sldId id="955" r:id="rId15"/>
    <p:sldId id="954" r:id="rId16"/>
    <p:sldId id="950" r:id="rId17"/>
    <p:sldId id="958" r:id="rId18"/>
    <p:sldId id="959" r:id="rId19"/>
    <p:sldId id="961" r:id="rId20"/>
    <p:sldId id="951" r:id="rId21"/>
    <p:sldId id="957" r:id="rId22"/>
    <p:sldId id="966" r:id="rId23"/>
    <p:sldId id="972" r:id="rId24"/>
    <p:sldId id="975" r:id="rId25"/>
    <p:sldId id="976" r:id="rId26"/>
    <p:sldId id="977" r:id="rId27"/>
    <p:sldId id="984" r:id="rId28"/>
    <p:sldId id="982" r:id="rId29"/>
    <p:sldId id="983" r:id="rId30"/>
    <p:sldId id="980" r:id="rId31"/>
    <p:sldId id="978" r:id="rId3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8"/>
    <p:restoredTop sz="94832"/>
  </p:normalViewPr>
  <p:slideViewPr>
    <p:cSldViewPr snapToGrid="0">
      <p:cViewPr>
        <p:scale>
          <a:sx n="113" d="100"/>
          <a:sy n="113" d="100"/>
        </p:scale>
        <p:origin x="3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93B38-99AD-F448-B4CE-B4DD1F90A55F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645E1-D410-A742-BB1D-E158192DC2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952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Training is </a:t>
            </a:r>
            <a:r>
              <a:rPr lang="da-DK" dirty="0" err="1"/>
              <a:t>then</a:t>
            </a:r>
            <a:r>
              <a:rPr lang="da-DK" dirty="0"/>
              <a:t> done by </a:t>
            </a:r>
            <a:r>
              <a:rPr lang="da-DK" dirty="0" err="1"/>
              <a:t>feeding</a:t>
            </a:r>
            <a:r>
              <a:rPr lang="da-DK" dirty="0"/>
              <a:t> an </a:t>
            </a:r>
            <a:r>
              <a:rPr lang="da-DK" dirty="0" err="1"/>
              <a:t>entire</a:t>
            </a:r>
            <a:r>
              <a:rPr lang="da-DK" dirty="0"/>
              <a:t> </a:t>
            </a:r>
            <a:r>
              <a:rPr lang="da-DK" dirty="0" err="1"/>
              <a:t>sequnce</a:t>
            </a:r>
            <a:r>
              <a:rPr lang="da-DK" dirty="0"/>
              <a:t> ”x” and </a:t>
            </a:r>
            <a:r>
              <a:rPr lang="da-DK" dirty="0" err="1"/>
              <a:t>then</a:t>
            </a:r>
            <a:r>
              <a:rPr lang="da-DK" dirty="0"/>
              <a:t> </a:t>
            </a:r>
            <a:r>
              <a:rPr lang="da-DK" dirty="0" err="1"/>
              <a:t>letting</a:t>
            </a:r>
            <a:r>
              <a:rPr lang="da-DK" dirty="0"/>
              <a:t> the NN </a:t>
            </a:r>
            <a:r>
              <a:rPr lang="da-DK" dirty="0" err="1"/>
              <a:t>see</a:t>
            </a:r>
            <a:r>
              <a:rPr lang="da-DK" dirty="0"/>
              <a:t> </a:t>
            </a:r>
            <a:r>
              <a:rPr lang="da-DK" dirty="0" err="1"/>
              <a:t>sequentially</a:t>
            </a:r>
            <a:r>
              <a:rPr lang="da-DK" dirty="0"/>
              <a:t> </a:t>
            </a:r>
            <a:r>
              <a:rPr lang="da-DK" dirty="0" err="1"/>
              <a:t>unmasked</a:t>
            </a:r>
            <a:r>
              <a:rPr lang="da-DK" dirty="0"/>
              <a:t> </a:t>
            </a:r>
            <a:r>
              <a:rPr lang="da-DK" dirty="0" err="1"/>
              <a:t>sequences</a:t>
            </a:r>
            <a:r>
              <a:rPr lang="da-DK" dirty="0"/>
              <a:t> and </a:t>
            </a:r>
            <a:r>
              <a:rPr lang="da-DK" dirty="0" err="1"/>
              <a:t>predicting</a:t>
            </a:r>
            <a:r>
              <a:rPr lang="da-DK" dirty="0"/>
              <a:t> the </a:t>
            </a:r>
            <a:r>
              <a:rPr lang="da-DK" dirty="0" err="1"/>
              <a:t>logits</a:t>
            </a:r>
            <a:r>
              <a:rPr lang="da-DK" dirty="0"/>
              <a:t>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645E1-D410-A742-BB1D-E158192DC246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0028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Bottom </a:t>
            </a:r>
            <a:r>
              <a:rPr lang="da-DK" dirty="0" err="1"/>
              <a:t>probability</a:t>
            </a:r>
            <a:r>
              <a:rPr lang="da-DK" dirty="0"/>
              <a:t> </a:t>
            </a:r>
            <a:r>
              <a:rPr lang="da-DK" dirty="0" err="1"/>
              <a:t>comes</a:t>
            </a:r>
            <a:r>
              <a:rPr lang="da-DK" dirty="0"/>
              <a:t> from </a:t>
            </a:r>
            <a:r>
              <a:rPr lang="da-DK" dirty="0" err="1"/>
              <a:t>chain</a:t>
            </a:r>
            <a:r>
              <a:rPr lang="da-DK" dirty="0"/>
              <a:t> </a:t>
            </a:r>
            <a:r>
              <a:rPr lang="da-DK" dirty="0" err="1"/>
              <a:t>rule</a:t>
            </a:r>
            <a:r>
              <a:rPr lang="da-DK" dirty="0"/>
              <a:t> of </a:t>
            </a:r>
            <a:r>
              <a:rPr lang="da-DK" dirty="0" err="1"/>
              <a:t>probabilities</a:t>
            </a:r>
            <a:r>
              <a:rPr lang="da-DK" dirty="0"/>
              <a:t> + </a:t>
            </a:r>
            <a:r>
              <a:rPr lang="da-DK" dirty="0" err="1"/>
              <a:t>markovian</a:t>
            </a:r>
            <a:r>
              <a:rPr lang="da-DK" dirty="0"/>
              <a:t> </a:t>
            </a:r>
            <a:r>
              <a:rPr lang="da-DK" dirty="0" err="1"/>
              <a:t>chain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645E1-D410-A742-BB1D-E158192DC246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02375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 transition </a:t>
            </a:r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depends</a:t>
            </a:r>
            <a:r>
              <a:rPr lang="da-DK" dirty="0"/>
              <a:t> on the </a:t>
            </a:r>
            <a:r>
              <a:rPr lang="da-DK" dirty="0" err="1"/>
              <a:t>previous</a:t>
            </a:r>
            <a:r>
              <a:rPr lang="da-DK" dirty="0"/>
              <a:t> version not on the </a:t>
            </a:r>
            <a:r>
              <a:rPr lang="da-DK" dirty="0" err="1"/>
              <a:t>whole</a:t>
            </a:r>
            <a:r>
              <a:rPr lang="da-DK" dirty="0"/>
              <a:t> </a:t>
            </a:r>
            <a:r>
              <a:rPr lang="da-DK" dirty="0" err="1"/>
              <a:t>chain</a:t>
            </a:r>
            <a:r>
              <a:rPr lang="da-DK" dirty="0"/>
              <a:t>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645E1-D410-A742-BB1D-E158192DC246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698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Very</a:t>
            </a:r>
            <a:r>
              <a:rPr lang="da-DK" dirty="0"/>
              <a:t> </a:t>
            </a:r>
            <a:r>
              <a:rPr lang="da-DK" dirty="0" err="1"/>
              <a:t>convoluted</a:t>
            </a:r>
            <a:r>
              <a:rPr lang="da-DK" dirty="0"/>
              <a:t> </a:t>
            </a:r>
            <a:r>
              <a:rPr lang="da-DK" dirty="0" err="1"/>
              <a:t>expression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645E1-D410-A742-BB1D-E158192DC246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8651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A2F093-33C4-5E9F-BBE3-C0E4C296D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D1B63B4-24BE-05D7-BC2C-D280FBD3A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9A0119E-1C94-61C2-09AD-C2AE55C2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4FBB9A6-7F66-5C68-52B2-945F4336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49304E2-CB3A-3953-762B-8B09267F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782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6D996-3DFB-E2AC-46DB-EF2015E5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970422A-34C6-B1E7-3B9C-B212BF871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546F60-ACEC-6988-2C42-AE0D6AC1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79A4E3D-BBE0-9CCA-836F-A2001F158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852DEB7-CBBD-D1A2-00AD-A88E6BF8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583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C884C-C56C-6286-6B0E-F0B571400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B269B7F-BDC6-CBE0-3B53-C7E4A07DF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44E68F2-1664-715F-16B5-C52AE1E9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C68C6F8-0A0F-1AA6-0044-9DE6609B2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584FE5D-009D-A41E-BC54-57EC14E8B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603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719ED-A149-18C0-5BFA-881EFE28C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82AE9E-6461-C4FD-DE1F-2BDF11D69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3249C36-EE99-68C1-747F-67E41AE7A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B835307-47EE-EE6C-A0F3-3DE8FBEFC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D802268-FBAB-0097-4F5A-5F5288C4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5D16735-9E79-3B36-F79C-4765380B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6259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DBF95-7C40-E87C-6BCA-A5BF8D28B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BCBDE83-C106-7DD0-F9C1-4D9E9A7C1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17925CD-1B7B-03C2-17A6-BBE3DDA6D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6B8AD7F3-A698-D839-311C-6A763C5A0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8DD8949-3A9A-F2DF-5351-F0356DBA6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C2ED4702-8E74-41F6-2B93-B97B580D5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5B7B74FC-BB86-D1FF-3ED2-1AFA075E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9985991-B297-46AC-8564-5F239883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659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BC7CC-3292-F172-E413-8E8162B8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26657BA-4B73-C3DA-A8A4-38A5E784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7C69BAD-4299-3FBB-BD71-D320D2F0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C99AD73-2282-454F-75D9-6FA99938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043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583D710B-67A9-1DD6-DDD6-A2DC0D81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78DBCF5-E062-06A3-71FB-45A9D96A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50292C4-143D-B745-8255-CF738A9A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384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7E5ED-143D-DC70-EE60-AF99171C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ABB1066-AF56-EB3C-FE28-9FC1E75FF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0E556F2-4D68-1149-B81E-2BAEDEF24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8A6B189-2D1C-0EE8-6FCA-5A94B6E2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6FE4522-2B9D-80BC-FD5D-DC8C8471D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11B1703-CE3F-4B7E-DD97-D540CFEAD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859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6BD417-8708-A37F-867D-B7697732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A4C55AC8-1CED-8026-26E9-D77E5AC5F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1E5E210-4E8C-3C58-83CC-1508D6CF0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9AF33A8-0F42-118B-3893-054512B1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0C2E878-2138-C6C5-0C42-7BAD1BB8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EBC3A3B-9DDA-F343-0925-081C1D8C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522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5020DB-920F-9C13-5A28-A6C3A3F0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31A2734-EE77-ABF8-BE28-FCC60D7E2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CD2E852-FD7E-CA24-8734-B623183B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0EB39E8-1047-9949-3050-0DDADE83A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0EBF940-07AC-5BFE-35CF-ED1E624F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691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E67116E-66A3-1B2A-C697-80D138592C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9302728-47DC-2071-6CD6-EDEC55B45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EAD3059-EFBA-A5CA-0B68-11F25611D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21ECBD0-1073-442B-3E07-CA340B614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356B441-A15C-8FFB-8649-A90CE9A2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885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40BD3F4D-8E89-AA0C-A2EF-3810356B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B8BE292-8B77-578C-CDEF-5B8C7623E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C30D0FE-DB45-FCFA-1056-C7C15113C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44C53-6D66-9C49-820C-B0EC3F6A22CB}" type="datetimeFigureOut">
              <a:rPr lang="da-DK" smtClean="0"/>
              <a:t>21.01.2026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F98A692-6E52-0230-BD0B-9617F0B5B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25717A7-CDDE-0755-DE11-EAF8AC4CA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11E13-8231-C940-9A6D-D21B684735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649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50.png"/><Relationship Id="rId18" Type="http://schemas.openxmlformats.org/officeDocument/2006/relationships/image" Target="../media/image500.png"/><Relationship Id="rId3" Type="http://schemas.openxmlformats.org/officeDocument/2006/relationships/image" Target="../media/image21.png"/><Relationship Id="rId21" Type="http://schemas.openxmlformats.org/officeDocument/2006/relationships/image" Target="../media/image530.png"/><Relationship Id="rId7" Type="http://schemas.openxmlformats.org/officeDocument/2006/relationships/image" Target="../media/image25.png"/><Relationship Id="rId12" Type="http://schemas.openxmlformats.org/officeDocument/2006/relationships/image" Target="../media/image440.png"/><Relationship Id="rId17" Type="http://schemas.openxmlformats.org/officeDocument/2006/relationships/image" Target="../media/image490.png"/><Relationship Id="rId2" Type="http://schemas.openxmlformats.org/officeDocument/2006/relationships/image" Target="../media/image20.png"/><Relationship Id="rId16" Type="http://schemas.openxmlformats.org/officeDocument/2006/relationships/image" Target="../media/image480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30.png"/><Relationship Id="rId5" Type="http://schemas.openxmlformats.org/officeDocument/2006/relationships/image" Target="../media/image23.png"/><Relationship Id="rId15" Type="http://schemas.openxmlformats.org/officeDocument/2006/relationships/image" Target="../media/image470.png"/><Relationship Id="rId23" Type="http://schemas.openxmlformats.org/officeDocument/2006/relationships/image" Target="../media/image550.png"/><Relationship Id="rId10" Type="http://schemas.openxmlformats.org/officeDocument/2006/relationships/image" Target="../media/image28.png"/><Relationship Id="rId19" Type="http://schemas.openxmlformats.org/officeDocument/2006/relationships/image" Target="../media/image510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460.png"/><Relationship Id="rId22" Type="http://schemas.openxmlformats.org/officeDocument/2006/relationships/image" Target="../media/image5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13" Type="http://schemas.openxmlformats.org/officeDocument/2006/relationships/image" Target="../media/image67.png"/><Relationship Id="rId3" Type="http://schemas.openxmlformats.org/officeDocument/2006/relationships/image" Target="../media/image29.png"/><Relationship Id="rId7" Type="http://schemas.openxmlformats.org/officeDocument/2006/relationships/image" Target="../media/image610.png"/><Relationship Id="rId12" Type="http://schemas.openxmlformats.org/officeDocument/2006/relationships/image" Target="../media/image66.png"/><Relationship Id="rId2" Type="http://schemas.openxmlformats.org/officeDocument/2006/relationships/image" Target="../media/image560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11" Type="http://schemas.openxmlformats.org/officeDocument/2006/relationships/image" Target="../media/image65.png"/><Relationship Id="rId5" Type="http://schemas.openxmlformats.org/officeDocument/2006/relationships/image" Target="../media/image590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0.png"/><Relationship Id="rId9" Type="http://schemas.openxmlformats.org/officeDocument/2006/relationships/image" Target="../media/image630.png"/><Relationship Id="rId1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gif"/><Relationship Id="rId3" Type="http://schemas.openxmlformats.org/officeDocument/2006/relationships/image" Target="../media/image38.gif"/><Relationship Id="rId7" Type="http://schemas.openxmlformats.org/officeDocument/2006/relationships/image" Target="../media/image42.gif"/><Relationship Id="rId12" Type="http://schemas.openxmlformats.org/officeDocument/2006/relationships/image" Target="../media/image96.png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gif"/><Relationship Id="rId11" Type="http://schemas.openxmlformats.org/officeDocument/2006/relationships/image" Target="../media/image46.gif"/><Relationship Id="rId5" Type="http://schemas.openxmlformats.org/officeDocument/2006/relationships/image" Target="../media/image40.gif"/><Relationship Id="rId10" Type="http://schemas.openxmlformats.org/officeDocument/2006/relationships/image" Target="../media/image45.gif"/><Relationship Id="rId4" Type="http://schemas.openxmlformats.org/officeDocument/2006/relationships/image" Target="../media/image39.gif"/><Relationship Id="rId9" Type="http://schemas.openxmlformats.org/officeDocument/2006/relationships/image" Target="../media/image44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gif"/><Relationship Id="rId3" Type="http://schemas.openxmlformats.org/officeDocument/2006/relationships/image" Target="../media/image48.gif"/><Relationship Id="rId7" Type="http://schemas.openxmlformats.org/officeDocument/2006/relationships/image" Target="../media/image52.gif"/><Relationship Id="rId12" Type="http://schemas.openxmlformats.org/officeDocument/2006/relationships/image" Target="../media/image107.png"/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gif"/><Relationship Id="rId11" Type="http://schemas.openxmlformats.org/officeDocument/2006/relationships/image" Target="../media/image56.gif"/><Relationship Id="rId5" Type="http://schemas.openxmlformats.org/officeDocument/2006/relationships/image" Target="../media/image50.gif"/><Relationship Id="rId10" Type="http://schemas.openxmlformats.org/officeDocument/2006/relationships/image" Target="../media/image55.gif"/><Relationship Id="rId4" Type="http://schemas.openxmlformats.org/officeDocument/2006/relationships/image" Target="../media/image49.gif"/><Relationship Id="rId9" Type="http://schemas.openxmlformats.org/officeDocument/2006/relationships/image" Target="../media/image54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E39679-26D8-2DDA-2968-91B58B12B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Diffuson</a:t>
            </a:r>
            <a:r>
              <a:rPr lang="da-DK" dirty="0"/>
              <a:t> models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F1C81F9-405B-82EA-88A2-8C682B0D5F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3347897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009DB4-25DE-DD05-3B61-8DB28545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Outline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8C31A1D-6883-68EB-0448-8F6C5CB1F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Problem statement</a:t>
            </a:r>
          </a:p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r>
              <a:rPr lang="da-DK" dirty="0"/>
              <a:t> in general</a:t>
            </a:r>
          </a:p>
          <a:p>
            <a:r>
              <a:rPr lang="da-DK" dirty="0"/>
              <a:t>Summary of </a:t>
            </a:r>
            <a:r>
              <a:rPr lang="da-DK" dirty="0" err="1"/>
              <a:t>where</a:t>
            </a:r>
            <a:r>
              <a:rPr lang="da-DK" dirty="0"/>
              <a:t> I am at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94369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AA98E-0DCD-B25D-0B83-D07899D8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Problem statement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CCE1741-C460-E9C6-FA3D-F5B1BD6A9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760"/>
            <a:ext cx="10515600" cy="4351338"/>
          </a:xfrm>
        </p:spPr>
        <p:txBody>
          <a:bodyPr/>
          <a:lstStyle/>
          <a:p>
            <a:r>
              <a:rPr lang="da-DK" dirty="0" err="1"/>
              <a:t>Investigate</a:t>
            </a:r>
            <a:r>
              <a:rPr lang="da-DK" dirty="0"/>
              <a:t> RWGS: 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on metallic </a:t>
            </a:r>
            <a:r>
              <a:rPr lang="da-DK" dirty="0" err="1"/>
              <a:t>alloys</a:t>
            </a:r>
            <a:endParaRPr lang="da-DK" dirty="0"/>
          </a:p>
          <a:p>
            <a:r>
              <a:rPr lang="da-DK" dirty="0" err="1"/>
              <a:t>Example</a:t>
            </a:r>
            <a:r>
              <a:rPr lang="da-DK" dirty="0"/>
              <a:t>: 111-surface with </a:t>
            </a:r>
            <a:r>
              <a:rPr lang="da-DK" dirty="0" err="1"/>
              <a:t>only</a:t>
            </a:r>
            <a:r>
              <a:rPr lang="da-DK" dirty="0"/>
              <a:t> 4 </a:t>
            </a:r>
            <a:r>
              <a:rPr lang="da-DK" dirty="0" err="1"/>
              <a:t>active</a:t>
            </a:r>
            <a:r>
              <a:rPr lang="da-DK" dirty="0"/>
              <a:t> sites</a:t>
            </a:r>
          </a:p>
          <a:p>
            <a:pPr lvl="1"/>
            <a:r>
              <a:rPr lang="da-DK" dirty="0"/>
              <a:t>Element pool of 3 </a:t>
            </a:r>
            <a:r>
              <a:rPr lang="da-DK" dirty="0" err="1"/>
              <a:t>yields</a:t>
            </a:r>
            <a:r>
              <a:rPr lang="da-DK" dirty="0"/>
              <a:t> 3.5billion </a:t>
            </a:r>
            <a:r>
              <a:rPr lang="da-DK" dirty="0" err="1"/>
              <a:t>conf</a:t>
            </a:r>
            <a:r>
              <a:rPr lang="da-DK" dirty="0"/>
              <a:t>.</a:t>
            </a:r>
          </a:p>
          <a:p>
            <a:r>
              <a:rPr lang="da-DK" dirty="0" err="1"/>
              <a:t>Approximation</a:t>
            </a:r>
            <a:r>
              <a:rPr lang="da-DK" dirty="0"/>
              <a:t>: </a:t>
            </a:r>
            <a:r>
              <a:rPr lang="da-DK" dirty="0" err="1"/>
              <a:t>Ignore</a:t>
            </a:r>
            <a:r>
              <a:rPr lang="da-DK" dirty="0"/>
              <a:t> </a:t>
            </a:r>
            <a:r>
              <a:rPr lang="da-DK" dirty="0" err="1"/>
              <a:t>effect</a:t>
            </a:r>
            <a:r>
              <a:rPr lang="da-DK" dirty="0"/>
              <a:t> of </a:t>
            </a:r>
            <a:r>
              <a:rPr lang="da-DK" dirty="0" err="1"/>
              <a:t>stability</a:t>
            </a:r>
            <a:r>
              <a:rPr lang="da-DK" dirty="0"/>
              <a:t>/</a:t>
            </a:r>
            <a:r>
              <a:rPr lang="da-DK" dirty="0" err="1"/>
              <a:t>geometrical</a:t>
            </a:r>
            <a:r>
              <a:rPr lang="da-DK" dirty="0"/>
              <a:t> DOF’s.</a:t>
            </a:r>
          </a:p>
          <a:p>
            <a:r>
              <a:rPr lang="da-DK" dirty="0" err="1"/>
              <a:t>Use</a:t>
            </a:r>
            <a:r>
              <a:rPr lang="da-DK" dirty="0"/>
              <a:t> generative models to </a:t>
            </a:r>
            <a:r>
              <a:rPr lang="da-DK" dirty="0" err="1"/>
              <a:t>help</a:t>
            </a:r>
            <a:r>
              <a:rPr lang="da-DK" dirty="0"/>
              <a:t> guide </a:t>
            </a:r>
            <a:r>
              <a:rPr lang="da-DK" dirty="0">
                <a:sym typeface="Wingdings" pitchFamily="2" charset="2"/>
              </a:rPr>
              <a:t> Diffusion model</a:t>
            </a:r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4" name="Picture 34" descr="A group of yellow and brown circles&#10;&#10;AI-generated content may be incorrect.">
            <a:extLst>
              <a:ext uri="{FF2B5EF4-FFF2-40B4-BE49-F238E27FC236}">
                <a16:creationId xmlns:a16="http://schemas.microsoft.com/office/drawing/2014/main" id="{B4A93256-B485-57B9-F2A7-90EE2D1D6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21" r="22617" b="36600"/>
          <a:stretch>
            <a:fillRect/>
          </a:stretch>
        </p:blipFill>
        <p:spPr>
          <a:xfrm>
            <a:off x="2596243" y="4249652"/>
            <a:ext cx="2954549" cy="2608348"/>
          </a:xfrm>
          <a:prstGeom prst="rect">
            <a:avLst/>
          </a:prstGeom>
        </p:spPr>
      </p:pic>
      <p:sp>
        <p:nvSpPr>
          <p:cNvPr id="5" name="TextBox 38">
            <a:extLst>
              <a:ext uri="{FF2B5EF4-FFF2-40B4-BE49-F238E27FC236}">
                <a16:creationId xmlns:a16="http://schemas.microsoft.com/office/drawing/2014/main" id="{1CEF9200-749F-4F4D-7960-4DFDBBFF5F86}"/>
              </a:ext>
            </a:extLst>
          </p:cNvPr>
          <p:cNvSpPr txBox="1"/>
          <p:nvPr/>
        </p:nvSpPr>
        <p:spPr>
          <a:xfrm>
            <a:off x="131601" y="5628196"/>
            <a:ext cx="1951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Brown: site atoms</a:t>
            </a:r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873E7FF5-7C13-48EE-DE91-95699F1B76EF}"/>
              </a:ext>
            </a:extLst>
          </p:cNvPr>
          <p:cNvSpPr txBox="1"/>
          <p:nvPr/>
        </p:nvSpPr>
        <p:spPr>
          <a:xfrm>
            <a:off x="131601" y="6073821"/>
            <a:ext cx="2464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Yellow: neighbor atoms</a:t>
            </a:r>
          </a:p>
        </p:txBody>
      </p:sp>
      <p:cxnSp>
        <p:nvCxnSpPr>
          <p:cNvPr id="7" name="Straight Arrow Connector 42">
            <a:extLst>
              <a:ext uri="{FF2B5EF4-FFF2-40B4-BE49-F238E27FC236}">
                <a16:creationId xmlns:a16="http://schemas.microsoft.com/office/drawing/2014/main" id="{E33426F0-00C9-9103-0456-3785281BDB12}"/>
              </a:ext>
            </a:extLst>
          </p:cNvPr>
          <p:cNvCxnSpPr>
            <a:cxnSpLocks/>
          </p:cNvCxnSpPr>
          <p:nvPr/>
        </p:nvCxnSpPr>
        <p:spPr bwMode="auto">
          <a:xfrm flipV="1">
            <a:off x="2083364" y="5628196"/>
            <a:ext cx="1466565" cy="185961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53">
            <a:extLst>
              <a:ext uri="{FF2B5EF4-FFF2-40B4-BE49-F238E27FC236}">
                <a16:creationId xmlns:a16="http://schemas.microsoft.com/office/drawing/2014/main" id="{DF46D72D-C767-BC39-27C0-25F6467062BF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 flipV="1">
            <a:off x="2596243" y="6073821"/>
            <a:ext cx="953686" cy="169277"/>
          </a:xfrm>
          <a:prstGeom prst="straightConnector1">
            <a:avLst/>
          </a:prstGeom>
          <a:ln w="254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2">
            <a:extLst>
              <a:ext uri="{FF2B5EF4-FFF2-40B4-BE49-F238E27FC236}">
                <a16:creationId xmlns:a16="http://schemas.microsoft.com/office/drawing/2014/main" id="{6B47D78E-EDD9-2380-D937-6CBBAEE294B9}"/>
              </a:ext>
            </a:extLst>
          </p:cNvPr>
          <p:cNvCxnSpPr>
            <a:cxnSpLocks/>
          </p:cNvCxnSpPr>
          <p:nvPr/>
        </p:nvCxnSpPr>
        <p:spPr bwMode="auto">
          <a:xfrm>
            <a:off x="5550792" y="5683808"/>
            <a:ext cx="1287890" cy="0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38">
            <a:extLst>
              <a:ext uri="{FF2B5EF4-FFF2-40B4-BE49-F238E27FC236}">
                <a16:creationId xmlns:a16="http://schemas.microsoft.com/office/drawing/2014/main" id="{71CB7983-2534-C2CE-45AF-BFA4D01D0B6A}"/>
              </a:ext>
            </a:extLst>
          </p:cNvPr>
          <p:cNvSpPr txBox="1"/>
          <p:nvPr/>
        </p:nvSpPr>
        <p:spPr>
          <a:xfrm>
            <a:off x="5381358" y="5210317"/>
            <a:ext cx="1752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Swap elements</a:t>
            </a:r>
          </a:p>
        </p:txBody>
      </p:sp>
      <p:pic>
        <p:nvPicPr>
          <p:cNvPr id="19" name="Picture 77" descr="A group of colorful circles&#10;&#10;AI-generated content may be incorrect.">
            <a:extLst>
              <a:ext uri="{FF2B5EF4-FFF2-40B4-BE49-F238E27FC236}">
                <a16:creationId xmlns:a16="http://schemas.microsoft.com/office/drawing/2014/main" id="{DA30463B-6006-1F07-A3B2-0E7570C3D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63" t="12696" r="25755" b="42065"/>
          <a:stretch>
            <a:fillRect/>
          </a:stretch>
        </p:blipFill>
        <p:spPr>
          <a:xfrm>
            <a:off x="7078186" y="4665435"/>
            <a:ext cx="2748219" cy="2036746"/>
          </a:xfrm>
          <a:prstGeom prst="rect">
            <a:avLst/>
          </a:prstGeom>
        </p:spPr>
      </p:pic>
      <p:cxnSp>
        <p:nvCxnSpPr>
          <p:cNvPr id="20" name="Straight Arrow Connector 42">
            <a:extLst>
              <a:ext uri="{FF2B5EF4-FFF2-40B4-BE49-F238E27FC236}">
                <a16:creationId xmlns:a16="http://schemas.microsoft.com/office/drawing/2014/main" id="{48D4AB77-0076-F434-E445-ECD3F34617C3}"/>
              </a:ext>
            </a:extLst>
          </p:cNvPr>
          <p:cNvCxnSpPr>
            <a:cxnSpLocks/>
          </p:cNvCxnSpPr>
          <p:nvPr/>
        </p:nvCxnSpPr>
        <p:spPr bwMode="auto">
          <a:xfrm>
            <a:off x="9909261" y="5638078"/>
            <a:ext cx="767325" cy="0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38">
            <a:extLst>
              <a:ext uri="{FF2B5EF4-FFF2-40B4-BE49-F238E27FC236}">
                <a16:creationId xmlns:a16="http://schemas.microsoft.com/office/drawing/2014/main" id="{006C0E8B-01E7-B014-3E7D-0A6888FD4533}"/>
              </a:ext>
            </a:extLst>
          </p:cNvPr>
          <p:cNvSpPr txBox="1"/>
          <p:nvPr/>
        </p:nvSpPr>
        <p:spPr>
          <a:xfrm>
            <a:off x="10676586" y="5468801"/>
            <a:ext cx="1752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Reaction rate</a:t>
            </a:r>
          </a:p>
        </p:txBody>
      </p:sp>
    </p:spTree>
    <p:extLst>
      <p:ext uri="{BB962C8B-B14F-4D97-AF65-F5344CB8AC3E}">
        <p14:creationId xmlns:p14="http://schemas.microsoft.com/office/powerpoint/2010/main" val="268253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D25D9-6C4D-4F70-43C6-41218F3C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B4B2618-CBB6-9DD6-8D49-F899C3165B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Target: model prob. </a:t>
                </a:r>
                <a:r>
                  <a:rPr lang="da-DK" dirty="0" err="1"/>
                  <a:t>dist</a:t>
                </a:r>
                <a:r>
                  <a:rPr lang="da-DK" dirty="0"/>
                  <a:t> over </a:t>
                </a:r>
                <a:r>
                  <a:rPr lang="da-DK" dirty="0" err="1"/>
                  <a:t>text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da-DK" b="0" dirty="0"/>
              </a:p>
              <a:p>
                <a:pPr lvl="1"/>
                <a:r>
                  <a:rPr lang="da-DK" dirty="0" err="1"/>
                  <a:t>Example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𝑙𝑜𝑣𝑒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𝐶h𝑎𝑡𝐺𝑃𝑇</m:t>
                    </m:r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𝐹𝑖𝑛𝑒𝑡𝑢𝑛𝑖𝑛𝑔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h𝑎𝑟𝑑</m:t>
                    </m:r>
                  </m:oMath>
                </a14:m>
                <a:endParaRPr lang="da-DK" dirty="0"/>
              </a:p>
              <a:p>
                <a:r>
                  <a:rPr lang="da-DK" dirty="0"/>
                  <a:t>To </a:t>
                </a:r>
                <a:r>
                  <a:rPr lang="da-DK" dirty="0" err="1"/>
                  <a:t>simplify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can</a:t>
                </a:r>
                <a:r>
                  <a:rPr lang="da-DK" dirty="0"/>
                  <a:t> split </a:t>
                </a:r>
                <a:r>
                  <a:rPr lang="da-DK" dirty="0" err="1"/>
                  <a:t>sequence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first</a:t>
                </a:r>
                <a:r>
                  <a:rPr lang="da-DK" dirty="0"/>
                  <a:t> </a:t>
                </a:r>
                <a:r>
                  <a:rPr lang="da-DK" dirty="0" err="1"/>
                  <a:t>word</a:t>
                </a:r>
                <a:r>
                  <a:rPr lang="da-DK" dirty="0"/>
                  <a:t>/</a:t>
                </a:r>
                <a:r>
                  <a:rPr lang="da-DK" dirty="0" err="1"/>
                  <a:t>token</a:t>
                </a:r>
                <a:r>
                  <a:rPr lang="da-DK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second</a:t>
                </a:r>
                <a:r>
                  <a:rPr lang="da-DK" dirty="0"/>
                  <a:t> …</a:t>
                </a:r>
              </a:p>
              <a:p>
                <a:r>
                  <a:rPr lang="da-DK" dirty="0"/>
                  <a:t>We </a:t>
                </a:r>
                <a:r>
                  <a:rPr lang="da-DK" dirty="0" err="1"/>
                  <a:t>now</a:t>
                </a:r>
                <a:r>
                  <a:rPr lang="da-DK" dirty="0"/>
                  <a:t> </a:t>
                </a:r>
                <a:r>
                  <a:rPr lang="da-DK" dirty="0" err="1"/>
                  <a:t>utilize</a:t>
                </a:r>
                <a:r>
                  <a:rPr lang="da-DK" dirty="0"/>
                  <a:t> </a:t>
                </a:r>
                <a:r>
                  <a:rPr lang="da-DK" dirty="0" err="1"/>
                  <a:t>conditional</a:t>
                </a:r>
                <a:r>
                  <a:rPr lang="da-DK" dirty="0"/>
                  <a:t> </a:t>
                </a:r>
                <a:r>
                  <a:rPr lang="da-DK" dirty="0" err="1"/>
                  <a:t>probabilities</a:t>
                </a:r>
                <a:r>
                  <a:rPr lang="da-DK" dirty="0"/>
                  <a:t> (</a:t>
                </a:r>
                <a:r>
                  <a:rPr lang="da-DK" dirty="0" err="1"/>
                  <a:t>chain</a:t>
                </a:r>
                <a:r>
                  <a:rPr lang="da-DK" dirty="0"/>
                  <a:t> </a:t>
                </a:r>
                <a:r>
                  <a:rPr lang="da-DK" dirty="0" err="1"/>
                  <a:t>rule</a:t>
                </a:r>
                <a:r>
                  <a:rPr lang="da-DK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It is a </a:t>
                </a:r>
                <a:r>
                  <a:rPr lang="da-DK" dirty="0" err="1"/>
                  <a:t>lot</a:t>
                </a:r>
                <a:r>
                  <a:rPr lang="da-DK" dirty="0"/>
                  <a:t> </a:t>
                </a:r>
                <a:r>
                  <a:rPr lang="da-DK" dirty="0" err="1"/>
                  <a:t>easier</a:t>
                </a:r>
                <a:r>
                  <a:rPr lang="da-DK" dirty="0"/>
                  <a:t> to </a:t>
                </a:r>
                <a:r>
                  <a:rPr lang="da-DK" dirty="0" err="1"/>
                  <a:t>predict</a:t>
                </a:r>
                <a:r>
                  <a:rPr lang="da-DK" dirty="0"/>
                  <a:t> the </a:t>
                </a:r>
                <a:r>
                  <a:rPr lang="da-DK" dirty="0" err="1"/>
                  <a:t>next</a:t>
                </a:r>
                <a:r>
                  <a:rPr lang="da-DK" dirty="0"/>
                  <a:t> </a:t>
                </a:r>
                <a:r>
                  <a:rPr lang="da-DK" dirty="0" err="1"/>
                  <a:t>word</a:t>
                </a:r>
                <a:r>
                  <a:rPr lang="da-DK" dirty="0"/>
                  <a:t> in a </a:t>
                </a:r>
                <a:r>
                  <a:rPr lang="da-DK" dirty="0" err="1"/>
                  <a:t>sequence</a:t>
                </a:r>
                <a:r>
                  <a:rPr lang="da-DK" dirty="0"/>
                  <a:t> given </a:t>
                </a:r>
                <a:r>
                  <a:rPr lang="da-DK" dirty="0" err="1"/>
                  <a:t>some</a:t>
                </a:r>
                <a:r>
                  <a:rPr lang="da-DK" dirty="0"/>
                  <a:t> </a:t>
                </a:r>
                <a:r>
                  <a:rPr lang="da-DK" dirty="0" err="1"/>
                  <a:t>context</a:t>
                </a:r>
                <a:endParaRPr lang="da-DK" dirty="0"/>
              </a:p>
              <a:p>
                <a:pPr lvl="1"/>
                <a:r>
                  <a:rPr lang="da-DK" dirty="0"/>
                  <a:t>In general: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∏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𝑑𝑎𝑡𝑎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B4B2618-CBB6-9DD6-8D49-F899C3165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241" b="-29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31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5A6986-1434-31C5-BB23-C86ABCCA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FE00806-2B86-1245-5C07-A4495CDCCD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7287" y="1825625"/>
                <a:ext cx="1176059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da-DK" dirty="0"/>
                  <a:t>We </a:t>
                </a:r>
                <a:r>
                  <a:rPr lang="da-DK" dirty="0" err="1"/>
                  <a:t>parameterize</a:t>
                </a:r>
                <a:r>
                  <a:rPr lang="da-DK" dirty="0"/>
                  <a:t> </a:t>
                </a:r>
                <a:r>
                  <a:rPr lang="da-DK" dirty="0" err="1"/>
                  <a:t>this</a:t>
                </a:r>
                <a:r>
                  <a:rPr lang="da-DK" dirty="0"/>
                  <a:t> </a:t>
                </a:r>
                <a:r>
                  <a:rPr lang="da-DK" dirty="0" err="1"/>
                  <a:t>using</a:t>
                </a:r>
                <a:r>
                  <a:rPr lang="da-DK" dirty="0"/>
                  <a:t> </a:t>
                </a:r>
                <a:r>
                  <a:rPr lang="da-DK" dirty="0" err="1"/>
                  <a:t>some</a:t>
                </a:r>
                <a:r>
                  <a:rPr lang="da-DK" dirty="0"/>
                  <a:t> NN: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∏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da-DK" dirty="0"/>
              </a:p>
              <a:p>
                <a:r>
                  <a:rPr lang="da-DK" dirty="0"/>
                  <a:t>We </a:t>
                </a:r>
                <a:r>
                  <a:rPr lang="da-DK" dirty="0" err="1"/>
                  <a:t>then</a:t>
                </a:r>
                <a:r>
                  <a:rPr lang="da-DK" dirty="0"/>
                  <a:t> </a:t>
                </a:r>
                <a:r>
                  <a:rPr lang="da-DK" dirty="0" err="1"/>
                  <a:t>want</a:t>
                </a:r>
                <a:r>
                  <a:rPr lang="da-DK" dirty="0"/>
                  <a:t> to </a:t>
                </a:r>
                <a:r>
                  <a:rPr lang="da-DK" dirty="0" err="1"/>
                  <a:t>maximize</a:t>
                </a:r>
                <a:r>
                  <a:rPr lang="da-DK" dirty="0"/>
                  <a:t> the </a:t>
                </a:r>
                <a:r>
                  <a:rPr lang="da-DK" dirty="0" err="1"/>
                  <a:t>likelihood</a:t>
                </a:r>
                <a:r>
                  <a:rPr lang="da-DK" dirty="0"/>
                  <a:t>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da-DK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da-DK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da-DK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da-DK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∼</m:t>
                                  </m:r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𝑑𝑎𝑡𝑎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a-DK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func>
                                <m:func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a-DK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a-DK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a-DK" dirty="0"/>
              </a:p>
              <a:p>
                <a:r>
                  <a:rPr lang="da-DK" dirty="0"/>
                  <a:t>Training is </a:t>
                </a:r>
                <a:r>
                  <a:rPr lang="da-DK" dirty="0" err="1"/>
                  <a:t>then</a:t>
                </a:r>
                <a:r>
                  <a:rPr lang="da-DK" dirty="0"/>
                  <a:t> done by sampling a </a:t>
                </a:r>
                <a:r>
                  <a:rPr lang="da-DK" dirty="0" err="1"/>
                  <a:t>sequence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da-DK" dirty="0"/>
                  <a:t>Text is </a:t>
                </a:r>
                <a:r>
                  <a:rPr lang="da-DK" dirty="0" err="1"/>
                  <a:t>then</a:t>
                </a:r>
                <a:r>
                  <a:rPr lang="da-DK" dirty="0"/>
                  <a:t> </a:t>
                </a:r>
                <a:r>
                  <a:rPr lang="da-DK" dirty="0" err="1"/>
                  <a:t>masked</a:t>
                </a:r>
                <a:r>
                  <a:rPr lang="da-DK" dirty="0"/>
                  <a:t> </a:t>
                </a:r>
                <a:r>
                  <a:rPr lang="da-DK" dirty="0" err="1"/>
                  <a:t>sequentially</a:t>
                </a:r>
                <a:r>
                  <a:rPr lang="da-DK" dirty="0"/>
                  <a:t>, </a:t>
                </a:r>
                <a:r>
                  <a:rPr lang="da-DK" dirty="0" err="1"/>
                  <a:t>such</a:t>
                </a:r>
                <a:r>
                  <a:rPr lang="da-DK" dirty="0"/>
                  <a:t> </a:t>
                </a:r>
                <a:r>
                  <a:rPr lang="da-DK" dirty="0" err="1"/>
                  <a:t>that</a:t>
                </a:r>
                <a:r>
                  <a:rPr lang="da-DK" dirty="0"/>
                  <a:t> it </a:t>
                </a:r>
                <a:r>
                  <a:rPr lang="da-DK" dirty="0" err="1"/>
                  <a:t>sees</a:t>
                </a:r>
                <a:r>
                  <a:rPr lang="da-DK" dirty="0"/>
                  <a:t>: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𝑀𝑎𝑠𝑘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𝑀𝑎𝑠𝑘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𝑀𝑎𝑠𝑘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𝑀𝑎𝑠𝑘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𝑀𝑎𝑠𝑘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da-DK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𝐿𝑜𝑣𝑒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𝑀𝑎𝑠𝑘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da-DK" b="0" dirty="0"/>
                      <m:t> 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da-DK" dirty="0" err="1"/>
                  <a:t>These</a:t>
                </a:r>
                <a:r>
                  <a:rPr lang="da-DK" dirty="0"/>
                  <a:t> </a:t>
                </a:r>
                <a:r>
                  <a:rPr lang="da-DK" dirty="0" err="1"/>
                  <a:t>are</a:t>
                </a:r>
                <a:r>
                  <a:rPr lang="da-DK" dirty="0"/>
                  <a:t> </a:t>
                </a:r>
                <a:r>
                  <a:rPr lang="da-DK" dirty="0" err="1"/>
                  <a:t>then</a:t>
                </a:r>
                <a:r>
                  <a:rPr lang="da-DK" dirty="0"/>
                  <a:t> </a:t>
                </a:r>
                <a:r>
                  <a:rPr lang="da-DK" dirty="0" err="1"/>
                  <a:t>used</a:t>
                </a:r>
                <a:r>
                  <a:rPr lang="da-DK" dirty="0"/>
                  <a:t> to </a:t>
                </a:r>
                <a:r>
                  <a:rPr lang="da-DK" dirty="0" err="1"/>
                  <a:t>estimate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da-DK" dirty="0"/>
                  <a:t> and </a:t>
                </a:r>
                <a:r>
                  <a:rPr lang="da-DK" dirty="0" err="1"/>
                  <a:t>minimize</a:t>
                </a:r>
                <a:r>
                  <a:rPr lang="da-DK" dirty="0"/>
                  <a:t> the </a:t>
                </a:r>
                <a:r>
                  <a:rPr lang="da-DK" dirty="0" err="1"/>
                  <a:t>loss</a:t>
                </a:r>
                <a:r>
                  <a:rPr lang="da-DK" dirty="0"/>
                  <a:t> </a:t>
                </a:r>
                <a:r>
                  <a:rPr lang="da-DK" dirty="0" err="1"/>
                  <a:t>above</a:t>
                </a:r>
                <a:endParaRPr lang="da-DK" b="0" dirty="0">
                  <a:ea typeface="Cambria Math" panose="02040503050406030204" pitchFamily="18" charset="0"/>
                </a:endParaRPr>
              </a:p>
              <a:p>
                <a:r>
                  <a:rPr lang="da-DK" dirty="0">
                    <a:sym typeface="Wingdings" pitchFamily="2" charset="2"/>
                  </a:rPr>
                  <a:t>When the model is </a:t>
                </a:r>
                <a:r>
                  <a:rPr lang="da-DK" dirty="0" err="1">
                    <a:sym typeface="Wingdings" pitchFamily="2" charset="2"/>
                  </a:rPr>
                  <a:t>trained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we</a:t>
                </a:r>
                <a:r>
                  <a:rPr lang="da-DK" dirty="0">
                    <a:sym typeface="Wingdings" pitchFamily="2" charset="2"/>
                  </a:rPr>
                  <a:t> dont sample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da-DK" dirty="0">
                    <a:sym typeface="Wingdings" pitchFamily="2" charset="2"/>
                  </a:rPr>
                  <a:t>, but the </a:t>
                </a:r>
                <a:r>
                  <a:rPr lang="da-DK" dirty="0" err="1">
                    <a:sym typeface="Wingdings" pitchFamily="2" charset="2"/>
                  </a:rPr>
                  <a:t>chain</a:t>
                </a:r>
                <a:r>
                  <a:rPr lang="da-DK" dirty="0">
                    <a:sym typeface="Wingdings" pitchFamily="2" charset="2"/>
                  </a:rPr>
                  <a:t> it generates</a:t>
                </a:r>
                <a:endParaRPr lang="da-DK" dirty="0"/>
              </a:p>
              <a:p>
                <a:pPr marL="0" indent="0">
                  <a:buNone/>
                </a:pPr>
                <a:endParaRPr lang="da-DK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FE00806-2B86-1245-5C07-A4495CDCC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7287" y="1825625"/>
                <a:ext cx="11760590" cy="4351338"/>
              </a:xfrm>
              <a:blipFill>
                <a:blip r:embed="rId3"/>
                <a:stretch>
                  <a:fillRect l="-971" t="-494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276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26AC9F-BF47-48C9-8749-DDD283C8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CCE21E5E-967B-1364-BAF2-A5379B840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1285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Similar for diffusion models: Again model prob. </a:t>
                </a:r>
                <a:r>
                  <a:rPr lang="da-DK" dirty="0" err="1"/>
                  <a:t>dist</a:t>
                </a:r>
                <a:r>
                  <a:rPr lang="da-DK" dirty="0"/>
                  <a:t> over </a:t>
                </a:r>
                <a:r>
                  <a:rPr lang="da-DK" dirty="0" err="1"/>
                  <a:t>text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da-DK" dirty="0"/>
                  <a:t> </a:t>
                </a:r>
              </a:p>
              <a:p>
                <a:pPr lvl="1"/>
                <a:r>
                  <a:rPr lang="da-DK" dirty="0" err="1"/>
                  <a:t>Instead</a:t>
                </a:r>
                <a:r>
                  <a:rPr lang="da-DK" dirty="0"/>
                  <a:t> </a:t>
                </a:r>
                <a:r>
                  <a:rPr lang="da-DK" dirty="0" err="1"/>
                  <a:t>introduce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da-DK" b="0" dirty="0"/>
              </a:p>
              <a:p>
                <a:pPr lvl="1"/>
                <a:r>
                  <a:rPr lang="da-DK" dirty="0" err="1"/>
                  <a:t>Where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a-DK" dirty="0"/>
                  <a:t> is a </a:t>
                </a:r>
                <a:r>
                  <a:rPr lang="da-DK" dirty="0" err="1"/>
                  <a:t>gradually</a:t>
                </a:r>
                <a:r>
                  <a:rPr lang="da-DK" dirty="0"/>
                  <a:t> </a:t>
                </a:r>
                <a:r>
                  <a:rPr lang="da-DK" dirty="0" err="1"/>
                  <a:t>noised</a:t>
                </a:r>
                <a:r>
                  <a:rPr lang="da-DK" dirty="0"/>
                  <a:t> version of the </a:t>
                </a:r>
                <a:r>
                  <a:rPr lang="da-DK" dirty="0" err="1"/>
                  <a:t>text</a:t>
                </a:r>
                <a:r>
                  <a:rPr lang="da-DK" dirty="0"/>
                  <a:t> </a:t>
                </a:r>
                <a:r>
                  <a:rPr lang="da-DK" dirty="0" err="1"/>
                  <a:t>sequence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a-DK" b="0" dirty="0"/>
              </a:p>
              <a:p>
                <a:pPr lvl="1"/>
                <a:r>
                  <a:rPr lang="da-DK" dirty="0"/>
                  <a:t>Idea is to </a:t>
                </a:r>
                <a:r>
                  <a:rPr lang="da-DK" dirty="0" err="1"/>
                  <a:t>train</a:t>
                </a:r>
                <a:r>
                  <a:rPr lang="da-DK" dirty="0"/>
                  <a:t> an NN to do the </a:t>
                </a:r>
                <a:r>
                  <a:rPr lang="da-DK" dirty="0" err="1"/>
                  <a:t>reverse</a:t>
                </a:r>
                <a:r>
                  <a:rPr lang="da-DK" dirty="0"/>
                  <a:t> </a:t>
                </a:r>
                <a:r>
                  <a:rPr lang="da-DK" dirty="0" err="1"/>
                  <a:t>process</a:t>
                </a:r>
                <a:r>
                  <a:rPr lang="da-DK" dirty="0"/>
                  <a:t> of </a:t>
                </a:r>
                <a:r>
                  <a:rPr lang="da-DK" dirty="0" err="1"/>
                  <a:t>this</a:t>
                </a:r>
                <a:r>
                  <a:rPr lang="da-DK" dirty="0"/>
                  <a:t> </a:t>
                </a:r>
                <a:r>
                  <a:rPr lang="da-DK" dirty="0" err="1"/>
                  <a:t>markov</a:t>
                </a:r>
                <a:r>
                  <a:rPr lang="da-DK" dirty="0"/>
                  <a:t> </a:t>
                </a:r>
                <a:r>
                  <a:rPr lang="da-DK" dirty="0" err="1"/>
                  <a:t>chain</a:t>
                </a: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CCE21E5E-967B-1364-BAF2-A5379B840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1285"/>
                <a:ext cx="10515600" cy="4351338"/>
              </a:xfrm>
              <a:blipFill>
                <a:blip r:embed="rId2"/>
                <a:stretch>
                  <a:fillRect l="-1086" t="-262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1289BF94-331E-0C70-53ED-400C32059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200" y="3431882"/>
            <a:ext cx="8049599" cy="342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13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64D62-D23D-8A12-4BC8-2B2B8DD6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DC136-5533-C696-AA42-3CD18564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D9DA8F6-14E1-BDB7-6E6F-95583F92C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0449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Because </a:t>
                </a:r>
                <a:r>
                  <a:rPr lang="da-DK" dirty="0" err="1"/>
                  <a:t>they</a:t>
                </a:r>
                <a:r>
                  <a:rPr lang="da-DK" dirty="0"/>
                  <a:t> start and end at same </a:t>
                </a:r>
                <a:r>
                  <a:rPr lang="da-DK" dirty="0" err="1"/>
                  <a:t>place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</a:p>
              <a:p>
                <a:r>
                  <a:rPr lang="da-DK" dirty="0"/>
                  <a:t>The </a:t>
                </a:r>
                <a:r>
                  <a:rPr lang="da-DK" dirty="0" err="1"/>
                  <a:t>idea</a:t>
                </a:r>
                <a:r>
                  <a:rPr lang="da-DK" dirty="0"/>
                  <a:t> is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Where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dirty="0"/>
                  <a:t> is a simple distribution</a:t>
                </a:r>
              </a:p>
              <a:p>
                <a:pPr lvl="2"/>
                <a:r>
                  <a:rPr lang="da-DK" dirty="0" err="1"/>
                  <a:t>E.g</a:t>
                </a:r>
                <a:r>
                  <a:rPr lang="da-DK" dirty="0"/>
                  <a:t>. uniform for </a:t>
                </a:r>
                <a:r>
                  <a:rPr lang="da-DK" dirty="0" err="1"/>
                  <a:t>each</a:t>
                </a:r>
                <a:r>
                  <a:rPr lang="da-DK" dirty="0"/>
                  <a:t> </a:t>
                </a:r>
                <a:r>
                  <a:rPr lang="da-DK" dirty="0" err="1"/>
                  <a:t>token</a:t>
                </a:r>
                <a:r>
                  <a:rPr lang="da-DK" dirty="0"/>
                  <a:t>/</a:t>
                </a:r>
                <a:r>
                  <a:rPr lang="da-DK" dirty="0" err="1"/>
                  <a:t>word</a:t>
                </a:r>
                <a:r>
                  <a:rPr lang="da-DK" dirty="0"/>
                  <a:t> in </a:t>
                </a:r>
                <a:r>
                  <a:rPr lang="da-DK" dirty="0" err="1"/>
                  <a:t>sequence</a:t>
                </a:r>
                <a:r>
                  <a:rPr lang="da-DK" dirty="0"/>
                  <a:t> </a:t>
                </a:r>
                <a:r>
                  <a:rPr lang="da-DK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𝑇𝑟𝑢𝑚𝑝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𝑖𝑠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𝑚𝑜𝑟𝑜𝑛</m:t>
                    </m:r>
                  </m:oMath>
                </a14:m>
                <a:endParaRPr lang="da-DK" dirty="0"/>
              </a:p>
              <a:p>
                <a:pPr lvl="2"/>
                <a:r>
                  <a:rPr lang="da-DK" dirty="0" err="1"/>
                  <a:t>Absorbing</a:t>
                </a:r>
                <a:r>
                  <a:rPr lang="da-DK" dirty="0"/>
                  <a:t> </a:t>
                </a:r>
                <a:r>
                  <a:rPr lang="da-DK" dirty="0" err="1"/>
                  <a:t>state</a:t>
                </a:r>
                <a:r>
                  <a:rPr lang="da-DK" dirty="0"/>
                  <a:t> </a:t>
                </a:r>
                <a:r>
                  <a:rPr lang="da-DK" dirty="0">
                    <a:sym typeface="Wingdings" pitchFamily="2" charset="2"/>
                  </a:rPr>
                  <a:t></a:t>
                </a:r>
                <a:r>
                  <a:rPr lang="da-DK" b="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𝑀𝐴𝑆𝐾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𝑀𝐴𝑆𝐾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𝑀𝐴𝑆𝐾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D9DA8F6-14E1-BDB7-6E6F-95583F92C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0449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9E788B05-D2C2-C11A-30EA-5B27E16DB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200" y="3431882"/>
            <a:ext cx="8049599" cy="342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829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B10C4-8D73-5006-C4BE-1DB98EDD5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p:pic>
        <p:nvPicPr>
          <p:cNvPr id="3074" name="Picture 2" descr="What are Diffusion Language Models? | Xiaochen Zhu">
            <a:extLst>
              <a:ext uri="{FF2B5EF4-FFF2-40B4-BE49-F238E27FC236}">
                <a16:creationId xmlns:a16="http://schemas.microsoft.com/office/drawing/2014/main" id="{9766C7AA-E8DA-403F-53A6-CADE4A04B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938" y="1607827"/>
            <a:ext cx="9541565" cy="478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085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C1D2-0CFC-D52F-2E36-6304FD107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B722C-1FF1-04B0-892E-FACDDDDF7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D20F33FC-754D-FBFE-E4BA-540976A888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59865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Again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want</a:t>
                </a:r>
                <a:r>
                  <a:rPr lang="da-DK" dirty="0"/>
                  <a:t> to </a:t>
                </a:r>
                <a:r>
                  <a:rPr lang="da-DK" dirty="0" err="1"/>
                  <a:t>maximize</a:t>
                </a:r>
                <a:r>
                  <a:rPr lang="da-DK" dirty="0"/>
                  <a:t> </a:t>
                </a:r>
                <a:r>
                  <a:rPr lang="da-DK" dirty="0" err="1"/>
                  <a:t>some</a:t>
                </a:r>
                <a:r>
                  <a:rPr lang="da-DK" dirty="0"/>
                  <a:t> </a:t>
                </a:r>
                <a:r>
                  <a:rPr lang="da-DK" dirty="0" err="1"/>
                  <a:t>likelihood</a:t>
                </a:r>
                <a:r>
                  <a:rPr lang="da-DK" dirty="0"/>
                  <a:t> of a </a:t>
                </a:r>
                <a:r>
                  <a:rPr lang="da-DK" dirty="0" err="1"/>
                  <a:t>learned</a:t>
                </a:r>
                <a:r>
                  <a:rPr lang="da-DK" dirty="0"/>
                  <a:t> distribution matching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da-DK" dirty="0"/>
                  <a:t> </a:t>
                </a:r>
              </a:p>
              <a:p>
                <a:r>
                  <a:rPr lang="da-DK" dirty="0"/>
                  <a:t>Again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want</a:t>
                </a:r>
                <a:r>
                  <a:rPr lang="da-DK" dirty="0"/>
                  <a:t> to </a:t>
                </a:r>
                <a:r>
                  <a:rPr lang="da-DK" dirty="0" err="1"/>
                  <a:t>utilize</a:t>
                </a:r>
                <a:r>
                  <a:rPr lang="da-DK" dirty="0"/>
                  <a:t> </a:t>
                </a:r>
                <a:r>
                  <a:rPr lang="da-DK" dirty="0" err="1"/>
                  <a:t>conditional</a:t>
                </a:r>
                <a:r>
                  <a:rPr lang="da-DK" dirty="0"/>
                  <a:t> </a:t>
                </a:r>
                <a:r>
                  <a:rPr lang="da-DK" dirty="0" err="1"/>
                  <a:t>probabilites</a:t>
                </a:r>
                <a:r>
                  <a:rPr lang="da-DK" dirty="0"/>
                  <a:t> </a:t>
                </a:r>
                <a:r>
                  <a:rPr lang="da-DK" dirty="0" err="1"/>
                  <a:t>because</a:t>
                </a:r>
                <a:r>
                  <a:rPr lang="da-DK" dirty="0"/>
                  <a:t> it </a:t>
                </a:r>
                <a:r>
                  <a:rPr lang="da-DK" dirty="0" err="1"/>
                  <a:t>easier</a:t>
                </a:r>
                <a:r>
                  <a:rPr lang="da-DK" dirty="0"/>
                  <a:t> to </a:t>
                </a:r>
                <a:r>
                  <a:rPr lang="da-DK" dirty="0" err="1"/>
                  <a:t>infer</a:t>
                </a:r>
                <a:r>
                  <a:rPr lang="da-DK" dirty="0"/>
                  <a:t> </a:t>
                </a:r>
                <a:r>
                  <a:rPr lang="da-DK" dirty="0" err="1"/>
                  <a:t>stuff</a:t>
                </a:r>
                <a:r>
                  <a:rPr lang="da-DK" dirty="0"/>
                  <a:t> from </a:t>
                </a:r>
                <a:r>
                  <a:rPr lang="da-DK" dirty="0" err="1"/>
                  <a:t>context</a:t>
                </a:r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D20F33FC-754D-FBFE-E4BA-540976A88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9865"/>
                <a:ext cx="10515600" cy="4351338"/>
              </a:xfrm>
              <a:blipFill>
                <a:blip r:embed="rId2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D3806464-0E1D-6728-8173-F0F559E4B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200" y="3431882"/>
            <a:ext cx="8049599" cy="342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5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F5A91-26C1-FCCF-2ADD-FD319D1B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44EFE26E-0613-7D19-588A-C3A3A13EEF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b="0" dirty="0"/>
                  <a:t>1. </a:t>
                </a:r>
                <a:r>
                  <a:rPr lang="da-DK" b="0" dirty="0" err="1"/>
                  <a:t>We</a:t>
                </a:r>
                <a:r>
                  <a:rPr lang="da-DK" b="0" dirty="0"/>
                  <a:t> </a:t>
                </a:r>
                <a:r>
                  <a:rPr lang="da-DK" b="0" dirty="0" err="1"/>
                  <a:t>can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0: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a-DK" dirty="0"/>
              </a:p>
              <a:p>
                <a:pPr lvl="1"/>
                <a:r>
                  <a:rPr lang="da-DK" dirty="0"/>
                  <a:t>This integral is ”</a:t>
                </a:r>
                <a:r>
                  <a:rPr lang="da-DK" dirty="0" err="1"/>
                  <a:t>intractable</a:t>
                </a:r>
                <a:r>
                  <a:rPr lang="da-DK" dirty="0"/>
                  <a:t>” </a:t>
                </a:r>
                <a:r>
                  <a:rPr lang="da-DK" dirty="0" err="1"/>
                  <a:t>impossible</a:t>
                </a:r>
                <a:r>
                  <a:rPr lang="da-DK" dirty="0"/>
                  <a:t> to </a:t>
                </a:r>
                <a:r>
                  <a:rPr lang="da-DK" dirty="0" err="1"/>
                  <a:t>estimate</a:t>
                </a:r>
                <a:r>
                  <a:rPr lang="da-DK" dirty="0"/>
                  <a:t> in smart </a:t>
                </a:r>
                <a:r>
                  <a:rPr lang="da-DK" dirty="0" err="1"/>
                  <a:t>way</a:t>
                </a:r>
                <a:r>
                  <a:rPr lang="da-DK" dirty="0"/>
                  <a:t>.</a:t>
                </a:r>
              </a:p>
              <a:p>
                <a:pPr lvl="1"/>
                <a:r>
                  <a:rPr lang="da-DK" dirty="0"/>
                  <a:t>Same problem as for </a:t>
                </a:r>
                <a:r>
                  <a:rPr lang="da-DK" dirty="0" err="1"/>
                  <a:t>normalization</a:t>
                </a:r>
                <a:r>
                  <a:rPr lang="da-DK" dirty="0"/>
                  <a:t> </a:t>
                </a:r>
                <a:r>
                  <a:rPr lang="da-DK" dirty="0" err="1"/>
                  <a:t>const</a:t>
                </a:r>
                <a:r>
                  <a:rPr lang="da-DK" dirty="0"/>
                  <a:t>. In partition </a:t>
                </a:r>
                <a:r>
                  <a:rPr lang="da-DK" dirty="0" err="1"/>
                  <a:t>function</a:t>
                </a:r>
                <a:r>
                  <a:rPr lang="da-DK" dirty="0"/>
                  <a:t>.</a:t>
                </a:r>
                <a:endParaRPr lang="da-DK" b="0" dirty="0"/>
              </a:p>
              <a:p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want</a:t>
                </a:r>
                <a:r>
                  <a:rPr lang="da-DK" dirty="0"/>
                  <a:t> to </a:t>
                </a:r>
                <a:r>
                  <a:rPr lang="da-DK" dirty="0" err="1"/>
                  <a:t>turn</a:t>
                </a:r>
                <a:r>
                  <a:rPr lang="da-DK" dirty="0"/>
                  <a:t> </a:t>
                </a:r>
                <a:r>
                  <a:rPr lang="da-DK" dirty="0" err="1"/>
                  <a:t>this</a:t>
                </a:r>
                <a:r>
                  <a:rPr lang="da-DK" dirty="0"/>
                  <a:t> </a:t>
                </a:r>
                <a:r>
                  <a:rPr lang="da-DK" dirty="0" err="1"/>
                  <a:t>into</a:t>
                </a:r>
                <a:r>
                  <a:rPr lang="da-DK" dirty="0"/>
                  <a:t> a smart </a:t>
                </a:r>
                <a:r>
                  <a:rPr lang="da-DK" dirty="0" err="1"/>
                  <a:t>expectation</a:t>
                </a:r>
                <a:r>
                  <a:rPr lang="da-DK" dirty="0"/>
                  <a:t> </a:t>
                </a:r>
                <a:r>
                  <a:rPr lang="da-DK" dirty="0" err="1"/>
                  <a:t>value</a:t>
                </a:r>
                <a:endParaRPr lang="da-DK" dirty="0"/>
              </a:p>
              <a:p>
                <a:pPr marL="457200" lvl="1" indent="0">
                  <a:buNone/>
                </a:pPr>
                <a:r>
                  <a:rPr lang="da-DK" dirty="0"/>
                  <a:t> </a:t>
                </a:r>
                <a:endParaRPr lang="da-DK" b="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44EFE26E-0613-7D19-588A-C3A3A13EEF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22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08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23FEC8-12A2-42A3-7E4A-8A0153FFF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78FECC12-0724-F1EA-13C7-333A2BC930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6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From </a:t>
                </a:r>
                <a:r>
                  <a:rPr lang="da-DK" dirty="0" err="1"/>
                  <a:t>noising</a:t>
                </a:r>
                <a:r>
                  <a:rPr lang="da-DK" dirty="0"/>
                  <a:t> </a:t>
                </a:r>
                <a:r>
                  <a:rPr lang="da-DK" dirty="0" err="1"/>
                  <a:t>process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can</a:t>
                </a:r>
                <a:r>
                  <a:rPr lang="da-DK" dirty="0"/>
                  <a:t> </a:t>
                </a:r>
                <a:r>
                  <a:rPr lang="da-DK" dirty="0" err="1"/>
                  <a:t>write</a:t>
                </a:r>
                <a:r>
                  <a:rPr lang="da-DK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  <a:p>
                <a:r>
                  <a:rPr lang="da-DK" dirty="0"/>
                  <a:t>But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assume</a:t>
                </a:r>
                <a:r>
                  <a:rPr lang="da-DK" dirty="0"/>
                  <a:t> </a:t>
                </a:r>
                <a:r>
                  <a:rPr lang="da-DK" dirty="0" err="1"/>
                  <a:t>markovian</a:t>
                </a:r>
                <a:r>
                  <a:rPr lang="da-DK" dirty="0"/>
                  <a:t> </a:t>
                </a:r>
                <a:r>
                  <a:rPr lang="da-DK" dirty="0" err="1"/>
                  <a:t>chain</a:t>
                </a:r>
                <a:r>
                  <a:rPr lang="da-DK" dirty="0"/>
                  <a:t> </a:t>
                </a:r>
                <a:r>
                  <a:rPr lang="da-DK" dirty="0">
                    <a:sym typeface="Wingdings" pitchFamily="2" charset="2"/>
                  </a:rPr>
                  <a:t> no </a:t>
                </a:r>
                <a:r>
                  <a:rPr lang="da-DK" dirty="0" err="1">
                    <a:sym typeface="Wingdings" pitchFamily="2" charset="2"/>
                  </a:rPr>
                  <a:t>memory</a:t>
                </a:r>
                <a:endParaRPr lang="da-DK" dirty="0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a-DK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78FECC12-0724-F1EA-13C7-333A2BC930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6"/>
                <a:ext cx="10515600" cy="4351338"/>
              </a:xfrm>
              <a:blipFill>
                <a:blip r:embed="rId3"/>
                <a:stretch>
                  <a:fillRect l="-1086" t="-3488" b="-494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F6AD970F-4587-4952-566C-425C21C5C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216" y="3897530"/>
            <a:ext cx="6955568" cy="296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75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D11389-E0C4-920B-4048-54BE12C5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960D9EE-85A8-5F21-67AD-32B3C5592C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2123"/>
              </a:xfrm>
            </p:spPr>
            <p:txBody>
              <a:bodyPr>
                <a:normAutofit fontScale="92500"/>
              </a:bodyPr>
              <a:lstStyle/>
              <a:p>
                <a:r>
                  <a:rPr lang="da-DK" dirty="0"/>
                  <a:t>We do smart trick: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0: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1:</m:t>
                                      </m:r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1:</m:t>
                                      </m:r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1:</m:t>
                                      </m:r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{"/>
                          <m:endChr m:val="}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0:</m:t>
                                      </m:r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1:</m:t>
                                      </m:r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da-DK" dirty="0"/>
              </a:p>
              <a:p>
                <a:r>
                  <a:rPr lang="da-DK" dirty="0"/>
                  <a:t>Now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introduce</a:t>
                </a:r>
                <a:r>
                  <a:rPr lang="da-DK" dirty="0"/>
                  <a:t> the </a:t>
                </a:r>
                <a:r>
                  <a:rPr lang="da-DK" dirty="0" err="1"/>
                  <a:t>learnable</a:t>
                </a:r>
                <a:r>
                  <a:rPr lang="da-DK" dirty="0"/>
                  <a:t> parts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a-DK" dirty="0"/>
              </a:p>
              <a:p>
                <a:r>
                  <a:rPr lang="da-DK" dirty="0"/>
                  <a:t>And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now</a:t>
                </a:r>
                <a:r>
                  <a:rPr lang="da-DK" dirty="0"/>
                  <a:t> </a:t>
                </a:r>
                <a:r>
                  <a:rPr lang="da-DK" dirty="0" err="1"/>
                  <a:t>maximize</a:t>
                </a:r>
                <a:r>
                  <a:rPr lang="da-DK" dirty="0"/>
                  <a:t> the </a:t>
                </a:r>
                <a:r>
                  <a:rPr lang="da-DK" dirty="0" err="1"/>
                  <a:t>likelihood</a:t>
                </a:r>
                <a:r>
                  <a:rPr lang="da-DK" dirty="0"/>
                  <a:t> of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dirty="0"/>
                  <a:t> matching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da-DK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a-DK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da-DK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a-DK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da-DK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a-DK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da-DK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𝔼</m:t>
                                          </m:r>
                                        </m:e>
                                        <m:sub>
                                          <m: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da-DK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1:</m:t>
                                                  </m:r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</m:sSub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da-DK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a-DK" b="1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0:</m:t>
                                                      </m:r>
                                                      <m: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num>
                                            <m:den>
                                              <m:r>
                                                <a:rPr lang="da-DK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1:</m:t>
                                                      </m:r>
                                                      <m: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a-DK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960D9EE-85A8-5F21-67AD-32B3C5592C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2123"/>
              </a:xfrm>
              <a:blipFill>
                <a:blip r:embed="rId3"/>
                <a:stretch>
                  <a:fillRect l="-965" t="-27851" b="-238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133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77A42-FC77-7AAF-1E34-91EBD62C5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 </a:t>
            </a:r>
            <a:r>
              <a:rPr lang="da-DK" dirty="0" err="1"/>
              <a:t>theory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7E367EE8-2BF0-96F0-5DAE-81DAC7D146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825625"/>
                <a:ext cx="11637818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da-DK" dirty="0"/>
                  <a:t>If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plug</a:t>
                </a:r>
                <a:r>
                  <a:rPr lang="da-DK" dirty="0"/>
                  <a:t> in </a:t>
                </a:r>
                <a:r>
                  <a:rPr lang="da-DK" dirty="0" err="1"/>
                  <a:t>expressions</a:t>
                </a:r>
                <a:r>
                  <a:rPr lang="da-DK" dirty="0"/>
                  <a:t> for the reversal and forward </a:t>
                </a:r>
                <a:r>
                  <a:rPr lang="da-DK" dirty="0" err="1"/>
                  <a:t>noising</a:t>
                </a:r>
                <a:endParaRPr lang="da-DK" dirty="0"/>
              </a:p>
              <a:p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a-DK" sz="17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a-DK" sz="17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a-DK" sz="17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da-DK" sz="17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a-DK" sz="17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da-DK" sz="17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7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a-DK" sz="17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7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da-DK" sz="17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da-DK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da-DK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a-DK" sz="17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7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da-DK" sz="17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a-DK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𝔼</m:t>
                                      </m:r>
                                    </m:e>
                                    <m:sub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da-DK" sz="1700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func>
                                    </m:e>
                                  </m:d>
                                  <m:r>
                                    <a:rPr lang="da-DK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𝐾𝐿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1:</m:t>
                                              </m:r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</a:rPr>
                                        <m:t>||</m:t>
                                      </m:r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  <m:r>
                                    <a:rPr lang="da-DK" sz="17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=2</m:t>
                                      </m:r>
                                    </m:sub>
                                    <m:sup>
                                      <m:r>
                                        <a:rPr lang="da-DK" sz="17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𝔼</m:t>
                                          </m:r>
                                        </m:e>
                                        <m:sub>
                                          <m: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da-DK" sz="17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𝐾𝐿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da-DK" sz="17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||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𝑝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|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sz="17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a-DK" sz="17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da-DK" sz="1700" b="0" dirty="0"/>
              </a:p>
              <a:p>
                <a:pPr marL="0" indent="0">
                  <a:buNone/>
                </a:pPr>
                <a:endParaRPr lang="da-DK" dirty="0"/>
              </a:p>
              <a:p>
                <a:r>
                  <a:rPr lang="da-DK" dirty="0"/>
                  <a:t>In practice </a:t>
                </a:r>
                <a:r>
                  <a:rPr lang="da-DK" dirty="0" err="1"/>
                  <a:t>this</a:t>
                </a:r>
                <a:r>
                  <a:rPr lang="da-DK" dirty="0"/>
                  <a:t> </a:t>
                </a:r>
                <a:r>
                  <a:rPr lang="da-DK" dirty="0" err="1"/>
                  <a:t>tells</a:t>
                </a:r>
                <a:r>
                  <a:rPr lang="da-DK" dirty="0"/>
                  <a:t> </a:t>
                </a:r>
                <a:r>
                  <a:rPr lang="da-DK" dirty="0" err="1"/>
                  <a:t>us</a:t>
                </a:r>
                <a:r>
                  <a:rPr lang="da-DK" dirty="0"/>
                  <a:t> the </a:t>
                </a:r>
                <a:r>
                  <a:rPr lang="da-DK" dirty="0" err="1"/>
                  <a:t>training</a:t>
                </a:r>
                <a:r>
                  <a:rPr lang="da-DK" dirty="0"/>
                  <a:t> procedure.</a:t>
                </a:r>
              </a:p>
              <a:p>
                <a:pPr lvl="1"/>
                <a:r>
                  <a:rPr lang="da-DK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a-DK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da-DK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da-DK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da-DK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a-DK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da-DK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da-DK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da-DK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apply</a:t>
                </a:r>
                <a:r>
                  <a:rPr lang="da-DK" dirty="0"/>
                  <a:t> </a:t>
                </a:r>
                <a:r>
                  <a:rPr lang="da-DK" dirty="0" err="1"/>
                  <a:t>noise</a:t>
                </a:r>
                <a:r>
                  <a:rPr lang="da-DK" dirty="0"/>
                  <a:t> via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da-DK" dirty="0"/>
                  <a:t> by sampling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Feed samples to NN to </a:t>
                </a:r>
                <a:r>
                  <a:rPr lang="da-DK" dirty="0" err="1"/>
                  <a:t>estimate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Gradient </a:t>
                </a:r>
                <a:r>
                  <a:rPr lang="da-DK" dirty="0" err="1"/>
                  <a:t>descent</a:t>
                </a:r>
                <a:endParaRPr lang="da-DK" dirty="0"/>
              </a:p>
              <a:p>
                <a:r>
                  <a:rPr lang="da-DK" dirty="0" err="1"/>
                  <a:t>Once</a:t>
                </a:r>
                <a:r>
                  <a:rPr lang="da-DK" dirty="0"/>
                  <a:t> </a:t>
                </a:r>
                <a:r>
                  <a:rPr lang="da-DK" dirty="0" err="1"/>
                  <a:t>trained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can</a:t>
                </a:r>
                <a:r>
                  <a:rPr lang="da-DK" dirty="0"/>
                  <a:t> sample:</a:t>
                </a:r>
              </a:p>
              <a:p>
                <a:pPr lvl="1"/>
                <a:r>
                  <a:rPr lang="da-DK" dirty="0"/>
                  <a:t> </a:t>
                </a:r>
                <a:r>
                  <a:rPr lang="da-DK" dirty="0" err="1"/>
                  <a:t>starting</a:t>
                </a:r>
                <a:r>
                  <a:rPr lang="da-DK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Use</a:t>
                </a:r>
                <a:r>
                  <a:rPr lang="da-DK" dirty="0"/>
                  <a:t> NN to </a:t>
                </a:r>
                <a:r>
                  <a:rPr lang="da-DK" dirty="0" err="1"/>
                  <a:t>get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and </a:t>
                </a:r>
                <a:r>
                  <a:rPr lang="da-DK" dirty="0" err="1"/>
                  <a:t>follow</a:t>
                </a:r>
                <a:r>
                  <a:rPr lang="da-DK" dirty="0"/>
                  <a:t> </a:t>
                </a:r>
                <a:r>
                  <a:rPr lang="da-DK" dirty="0" err="1"/>
                  <a:t>markov</a:t>
                </a:r>
                <a:r>
                  <a:rPr lang="da-DK" dirty="0"/>
                  <a:t> </a:t>
                </a:r>
                <a:r>
                  <a:rPr lang="da-DK" dirty="0" err="1"/>
                  <a:t>chain</a:t>
                </a:r>
                <a:r>
                  <a:rPr lang="da-DK" dirty="0"/>
                  <a:t> </a:t>
                </a:r>
                <a:r>
                  <a:rPr lang="da-DK" dirty="0" err="1"/>
                  <a:t>until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a-DK" dirty="0"/>
              </a:p>
              <a:p>
                <a:pPr marL="457200" lvl="1" indent="0">
                  <a:buNone/>
                </a:pPr>
                <a:endParaRPr lang="da-DK" dirty="0"/>
              </a:p>
              <a:p>
                <a:pPr lvl="1"/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7E367EE8-2BF0-96F0-5DAE-81DAC7D14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825625"/>
                <a:ext cx="11637818" cy="4351338"/>
              </a:xfrm>
              <a:blipFill>
                <a:blip r:embed="rId2"/>
                <a:stretch>
                  <a:fillRect l="-763" t="-319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1727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2E25D-32F3-5107-1BB1-BCA021D4F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482"/>
            <a:ext cx="10515600" cy="1325563"/>
          </a:xfrm>
        </p:spPr>
        <p:txBody>
          <a:bodyPr/>
          <a:lstStyle/>
          <a:p>
            <a:r>
              <a:rPr lang="da-DK" dirty="0" err="1"/>
              <a:t>Discrete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diffusion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12FE304-1C73-11E6-E835-05E543A90F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797" y="1183455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Noise is </a:t>
                </a:r>
                <a:r>
                  <a:rPr lang="da-DK" dirty="0" err="1"/>
                  <a:t>applied</a:t>
                </a:r>
                <a:r>
                  <a:rPr lang="da-DK" dirty="0"/>
                  <a:t> </a:t>
                </a:r>
                <a:r>
                  <a:rPr lang="da-DK" dirty="0" err="1"/>
                  <a:t>token</a:t>
                </a:r>
                <a:r>
                  <a:rPr lang="da-DK" dirty="0"/>
                  <a:t> wise </a:t>
                </a:r>
                <a:r>
                  <a:rPr lang="da-DK" dirty="0" err="1"/>
                  <a:t>independently</a:t>
                </a:r>
                <a:r>
                  <a:rPr lang="da-DK" dirty="0"/>
                  <a:t> by:</a:t>
                </a:r>
              </a:p>
              <a:p>
                <a:pPr lvl="1"/>
                <a:endParaRPr lang="da-DK" dirty="0"/>
              </a:p>
              <a:p>
                <a:pPr lvl="1"/>
                <a:r>
                  <a:rPr lang="da-DK" dirty="0"/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a-DK" dirty="0"/>
                  <a:t> is not a </a:t>
                </a:r>
                <a:r>
                  <a:rPr lang="da-DK" dirty="0" err="1"/>
                  <a:t>sequence</a:t>
                </a:r>
                <a:r>
                  <a:rPr lang="da-DK" dirty="0"/>
                  <a:t> </a:t>
                </a:r>
                <a:r>
                  <a:rPr lang="da-DK" dirty="0" err="1"/>
                  <a:t>here</a:t>
                </a:r>
                <a:r>
                  <a:rPr lang="da-DK" dirty="0"/>
                  <a:t> but </a:t>
                </a:r>
                <a:r>
                  <a:rPr lang="da-DK" dirty="0" err="1"/>
                  <a:t>token</a:t>
                </a:r>
                <a:endParaRPr lang="da-DK" dirty="0"/>
              </a:p>
              <a:p>
                <a:r>
                  <a:rPr lang="da-DK" dirty="0"/>
                  <a:t>Q-matrices </a:t>
                </a:r>
                <a:r>
                  <a:rPr lang="da-DK" dirty="0" err="1"/>
                  <a:t>govern</a:t>
                </a:r>
                <a:r>
                  <a:rPr lang="da-DK" dirty="0"/>
                  <a:t> the transfer </a:t>
                </a:r>
                <a:r>
                  <a:rPr lang="da-DK" dirty="0" err="1"/>
                  <a:t>between</a:t>
                </a:r>
                <a:r>
                  <a:rPr lang="da-DK" dirty="0"/>
                  <a:t> </a:t>
                </a:r>
                <a:r>
                  <a:rPr lang="da-DK" dirty="0" err="1"/>
                  <a:t>different</a:t>
                </a:r>
                <a:br>
                  <a:rPr lang="da-DK" dirty="0"/>
                </a:br>
                <a:r>
                  <a:rPr lang="da-DK" dirty="0" err="1"/>
                  <a:t>categories</a:t>
                </a:r>
                <a:endParaRPr lang="da-DK" dirty="0"/>
              </a:p>
              <a:p>
                <a:pPr lvl="1"/>
                <a:r>
                  <a:rPr lang="da-DK" dirty="0"/>
                  <a:t>Element pool: [”</a:t>
                </a:r>
                <a:r>
                  <a:rPr lang="da-DK" dirty="0" err="1"/>
                  <a:t>Rh</a:t>
                </a:r>
                <a:r>
                  <a:rPr lang="da-DK" dirty="0"/>
                  <a:t>”, ”</a:t>
                </a:r>
                <a:r>
                  <a:rPr lang="da-DK" dirty="0" err="1"/>
                  <a:t>Pd</a:t>
                </a:r>
                <a:r>
                  <a:rPr lang="da-DK" dirty="0"/>
                  <a:t>”, ”Ni”, ”Au”] </a:t>
                </a:r>
                <a:r>
                  <a:rPr lang="da-DK" dirty="0">
                    <a:sym typeface="Wingdings" pitchFamily="2" charset="2"/>
                  </a:rPr>
                  <a:t> 4 </a:t>
                </a:r>
                <a:r>
                  <a:rPr lang="da-DK" dirty="0" err="1">
                    <a:sym typeface="Wingdings" pitchFamily="2" charset="2"/>
                  </a:rPr>
                  <a:t>categories</a:t>
                </a:r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 err="1"/>
                  <a:t>Example</a:t>
                </a:r>
                <a:r>
                  <a:rPr lang="da-DK" dirty="0"/>
                  <a:t>: ”</a:t>
                </a:r>
                <a:r>
                  <a:rPr lang="da-DK" dirty="0" err="1"/>
                  <a:t>Rh</a:t>
                </a:r>
                <a:r>
                  <a:rPr lang="da-DK" dirty="0"/>
                  <a:t>” </a:t>
                </a:r>
                <a:r>
                  <a:rPr lang="da-DK" dirty="0" err="1"/>
                  <a:t>coloumn</a:t>
                </a:r>
                <a:r>
                  <a:rPr lang="da-DK" dirty="0"/>
                  <a:t>/</a:t>
                </a:r>
                <a:r>
                  <a:rPr lang="da-DK" dirty="0" err="1"/>
                  <a:t>row</a:t>
                </a:r>
                <a:r>
                  <a:rPr lang="da-DK" dirty="0"/>
                  <a:t> </a:t>
                </a:r>
                <a:r>
                  <a:rPr lang="da-DK" dirty="0" err="1"/>
                  <a:t>becomes</a:t>
                </a:r>
                <a:r>
                  <a:rPr lang="da-DK" dirty="0"/>
                  <a:t>: [0.40, 0.20, 0.20, 0.20]</a:t>
                </a:r>
              </a:p>
              <a:p>
                <a:r>
                  <a:rPr lang="da-DK" dirty="0"/>
                  <a:t>Main </a:t>
                </a:r>
                <a:r>
                  <a:rPr lang="da-DK" dirty="0" err="1"/>
                  <a:t>idea</a:t>
                </a:r>
                <a:r>
                  <a:rPr lang="da-DK" dirty="0"/>
                  <a:t>: </a:t>
                </a:r>
              </a:p>
              <a:p>
                <a:pPr lvl="1"/>
                <a:r>
                  <a:rPr lang="da-DK" dirty="0"/>
                  <a:t>NN </a:t>
                </a:r>
                <a:r>
                  <a:rPr lang="da-DK" dirty="0" err="1"/>
                  <a:t>will</a:t>
                </a:r>
                <a:r>
                  <a:rPr lang="da-DK" dirty="0"/>
                  <a:t> </a:t>
                </a:r>
                <a:r>
                  <a:rPr lang="da-DK" dirty="0" err="1"/>
                  <a:t>see</a:t>
                </a:r>
                <a:r>
                  <a:rPr lang="da-DK" dirty="0"/>
                  <a:t> </a:t>
                </a:r>
                <a:r>
                  <a:rPr lang="da-DK" dirty="0" err="1"/>
                  <a:t>whole</a:t>
                </a:r>
                <a:r>
                  <a:rPr lang="da-DK" dirty="0"/>
                  <a:t> </a:t>
                </a:r>
                <a:r>
                  <a:rPr lang="da-DK" dirty="0" err="1"/>
                  <a:t>sequence</a:t>
                </a:r>
                <a:r>
                  <a:rPr lang="da-DK" dirty="0"/>
                  <a:t> and </a:t>
                </a:r>
                <a:r>
                  <a:rPr lang="da-DK" dirty="0" err="1"/>
                  <a:t>infer</a:t>
                </a:r>
                <a:r>
                  <a:rPr lang="da-DK" dirty="0"/>
                  <a:t> patterns</a:t>
                </a:r>
              </a:p>
              <a:p>
                <a:pPr marL="457200" lvl="1" indent="0">
                  <a:buNone/>
                </a:pPr>
                <a:r>
                  <a:rPr lang="da-DK" dirty="0" err="1"/>
                  <a:t>Among</a:t>
                </a:r>
                <a:r>
                  <a:rPr lang="da-DK" dirty="0"/>
                  <a:t> </a:t>
                </a:r>
                <a:r>
                  <a:rPr lang="da-DK" dirty="0" err="1"/>
                  <a:t>these</a:t>
                </a:r>
                <a:r>
                  <a:rPr lang="da-DK" dirty="0"/>
                  <a:t> </a:t>
                </a:r>
                <a:r>
                  <a:rPr lang="da-DK" dirty="0" err="1"/>
                  <a:t>noised</a:t>
                </a:r>
                <a:r>
                  <a:rPr lang="da-DK" dirty="0"/>
                  <a:t> </a:t>
                </a:r>
                <a:r>
                  <a:rPr lang="da-DK" dirty="0" err="1"/>
                  <a:t>examples</a:t>
                </a: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B12FE304-1C73-11E6-E835-05E543A90F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797" y="1183455"/>
                <a:ext cx="10515600" cy="4351338"/>
              </a:xfrm>
              <a:blipFill>
                <a:blip r:embed="rId2"/>
                <a:stretch>
                  <a:fillRect l="-965" t="-2624" b="-8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C390C326-0BCB-AEE2-4EBF-709DA46F2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221" y="22918"/>
            <a:ext cx="4037779" cy="3698977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79280460-5FEA-F5B4-3205-5056D73DC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97" y="1575450"/>
            <a:ext cx="4120143" cy="454821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C233E1E9-F162-7596-06BE-00AD0185A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5868" y="1631283"/>
            <a:ext cx="3028950" cy="32385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BFBDDFBC-7A99-91E8-2CA8-917E6F3E0C3C}"/>
              </a:ext>
            </a:extLst>
          </p:cNvPr>
          <p:cNvSpPr/>
          <p:nvPr/>
        </p:nvSpPr>
        <p:spPr>
          <a:xfrm>
            <a:off x="8338565" y="450538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Rh</a:t>
            </a:r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4673357-24EB-D82A-5EDF-408B683D386F}"/>
              </a:ext>
            </a:extLst>
          </p:cNvPr>
          <p:cNvSpPr/>
          <p:nvPr/>
        </p:nvSpPr>
        <p:spPr>
          <a:xfrm>
            <a:off x="10511939" y="4534773"/>
            <a:ext cx="914400" cy="9144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Pd</a:t>
            </a:r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D49F2FA-0CD6-15CF-8853-4D1FD63F693B}"/>
              </a:ext>
            </a:extLst>
          </p:cNvPr>
          <p:cNvSpPr/>
          <p:nvPr/>
        </p:nvSpPr>
        <p:spPr>
          <a:xfrm>
            <a:off x="9597539" y="5879820"/>
            <a:ext cx="914400" cy="914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tx1"/>
                </a:solidFill>
              </a:rPr>
              <a:t>Au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F4EA4EE-27E7-D700-C00C-9AAC0C98DE59}"/>
              </a:ext>
            </a:extLst>
          </p:cNvPr>
          <p:cNvSpPr/>
          <p:nvPr/>
        </p:nvSpPr>
        <p:spPr>
          <a:xfrm>
            <a:off x="7158121" y="5649802"/>
            <a:ext cx="914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Ni</a:t>
            </a:r>
          </a:p>
        </p:txBody>
      </p: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5D839C7C-00DE-9061-F230-24FA98A96B07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9119054" y="5285873"/>
            <a:ext cx="612396" cy="7278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12A38FD1-08BF-8EB2-1025-F0FE4FB10B06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>
          <a:xfrm flipH="1">
            <a:off x="7938610" y="5285873"/>
            <a:ext cx="533866" cy="4978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B7A02255-9156-A6FE-3B1F-0F8D0E0398A0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9252965" y="4962584"/>
            <a:ext cx="1258974" cy="293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Buet forbindelse 25">
            <a:extLst>
              <a:ext uri="{FF2B5EF4-FFF2-40B4-BE49-F238E27FC236}">
                <a16:creationId xmlns:a16="http://schemas.microsoft.com/office/drawing/2014/main" id="{EC8D69D9-B825-A7C7-2553-B0C69A48EA59}"/>
              </a:ext>
            </a:extLst>
          </p:cNvPr>
          <p:cNvCxnSpPr>
            <a:stCxn id="8" idx="2"/>
            <a:endCxn id="8" idx="0"/>
          </p:cNvCxnSpPr>
          <p:nvPr/>
        </p:nvCxnSpPr>
        <p:spPr>
          <a:xfrm rot="10800000" flipH="1">
            <a:off x="8338565" y="4505384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felt 30">
            <a:extLst>
              <a:ext uri="{FF2B5EF4-FFF2-40B4-BE49-F238E27FC236}">
                <a16:creationId xmlns:a16="http://schemas.microsoft.com/office/drawing/2014/main" id="{62C197F2-457E-BD27-08A7-3179712E4C72}"/>
              </a:ext>
            </a:extLst>
          </p:cNvPr>
          <p:cNvSpPr txBox="1"/>
          <p:nvPr/>
        </p:nvSpPr>
        <p:spPr>
          <a:xfrm>
            <a:off x="9597539" y="45752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F48D1951-02D9-C9A1-27A4-AFB651258117}"/>
              </a:ext>
            </a:extLst>
          </p:cNvPr>
          <p:cNvSpPr txBox="1"/>
          <p:nvPr/>
        </p:nvSpPr>
        <p:spPr>
          <a:xfrm>
            <a:off x="9404484" y="532686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92DFFEB3-A0ED-7293-7674-9CC0E3DFD038}"/>
              </a:ext>
            </a:extLst>
          </p:cNvPr>
          <p:cNvSpPr txBox="1"/>
          <p:nvPr/>
        </p:nvSpPr>
        <p:spPr>
          <a:xfrm>
            <a:off x="7626039" y="516546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0.20</a:t>
            </a:r>
          </a:p>
        </p:txBody>
      </p:sp>
      <p:sp>
        <p:nvSpPr>
          <p:cNvPr id="34" name="Tekstfelt 33">
            <a:extLst>
              <a:ext uri="{FF2B5EF4-FFF2-40B4-BE49-F238E27FC236}">
                <a16:creationId xmlns:a16="http://schemas.microsoft.com/office/drawing/2014/main" id="{00F755FE-5520-8D41-6BF6-48028A288D98}"/>
              </a:ext>
            </a:extLst>
          </p:cNvPr>
          <p:cNvSpPr txBox="1"/>
          <p:nvPr/>
        </p:nvSpPr>
        <p:spPr>
          <a:xfrm>
            <a:off x="7533538" y="422121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0.40</a:t>
            </a:r>
          </a:p>
        </p:txBody>
      </p:sp>
    </p:spTree>
    <p:extLst>
      <p:ext uri="{BB962C8B-B14F-4D97-AF65-F5344CB8AC3E}">
        <p14:creationId xmlns:p14="http://schemas.microsoft.com/office/powerpoint/2010/main" val="646488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63BAD0-881C-86F3-50D5-2566356D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Q-matrices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4AB239A8-3028-EA52-B5BA-292CD5D31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022" y="4662109"/>
            <a:ext cx="5283200" cy="1346200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4171C3C3-D25D-362A-708D-DBCAC3E5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957" y="2405362"/>
            <a:ext cx="5476875" cy="4171950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9E8EC844-807C-97A8-2411-52E95522E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68" y="2874296"/>
            <a:ext cx="5156200" cy="123190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CC10D94D-5A83-6BCE-FA3F-924FD9CFAFA5}"/>
              </a:ext>
            </a:extLst>
          </p:cNvPr>
          <p:cNvSpPr txBox="1"/>
          <p:nvPr/>
        </p:nvSpPr>
        <p:spPr>
          <a:xfrm>
            <a:off x="2013443" y="2576134"/>
            <a:ext cx="2093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Uniform transitions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1BAB47AC-3D0A-4EF0-D5A6-B6BED488BBE1}"/>
              </a:ext>
            </a:extLst>
          </p:cNvPr>
          <p:cNvSpPr txBox="1"/>
          <p:nvPr/>
        </p:nvSpPr>
        <p:spPr>
          <a:xfrm>
            <a:off x="1720284" y="4292777"/>
            <a:ext cx="2944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Absorbing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</a:t>
            </a:r>
            <a:r>
              <a:rPr lang="da-DK" dirty="0" err="1"/>
              <a:t>formulation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CDE91604-3139-7257-A40B-446D4F014ECC}"/>
                  </a:ext>
                </a:extLst>
              </p:cNvPr>
              <p:cNvSpPr txBox="1"/>
              <p:nvPr/>
            </p:nvSpPr>
            <p:spPr>
              <a:xfrm>
                <a:off x="757022" y="1658778"/>
                <a:ext cx="556505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sz="2000" dirty="0"/>
                  <a:t>Many </a:t>
                </a:r>
                <a:r>
                  <a:rPr lang="da-DK" sz="2000" dirty="0" err="1"/>
                  <a:t>different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choices</a:t>
                </a:r>
                <a:r>
                  <a:rPr lang="da-DK" sz="2000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sz="20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da-DK" sz="2000" dirty="0"/>
                  <a:t>Just </a:t>
                </a:r>
                <a:r>
                  <a:rPr lang="da-DK" sz="2000" dirty="0" err="1"/>
                  <a:t>need</a:t>
                </a:r>
                <a:r>
                  <a:rPr lang="da-DK" sz="2000" dirty="0"/>
                  <a:t> to </a:t>
                </a:r>
                <a:r>
                  <a:rPr lang="da-DK" sz="2000" dirty="0" err="1"/>
                  <a:t>ensure</a:t>
                </a:r>
                <a:r>
                  <a:rPr lang="da-DK" sz="2000" dirty="0"/>
                  <a:t>: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da-DK" sz="2000" b="0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CDE91604-3139-7257-A40B-446D4F014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22" y="1658778"/>
                <a:ext cx="5565050" cy="707886"/>
              </a:xfrm>
              <a:prstGeom prst="rect">
                <a:avLst/>
              </a:prstGeom>
              <a:blipFill>
                <a:blip r:embed="rId5"/>
                <a:stretch>
                  <a:fillRect l="-911" t="-1754" b="-1578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88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Afrundet rektangel 41">
            <a:extLst>
              <a:ext uri="{FF2B5EF4-FFF2-40B4-BE49-F238E27FC236}">
                <a16:creationId xmlns:a16="http://schemas.microsoft.com/office/drawing/2014/main" id="{CA56AD73-096D-D156-B831-A587B8AE6977}"/>
              </a:ext>
            </a:extLst>
          </p:cNvPr>
          <p:cNvSpPr/>
          <p:nvPr/>
        </p:nvSpPr>
        <p:spPr>
          <a:xfrm>
            <a:off x="366990" y="4682005"/>
            <a:ext cx="11486200" cy="1906323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6" name="Afrundet rektangel 41">
            <a:extLst>
              <a:ext uri="{FF2B5EF4-FFF2-40B4-BE49-F238E27FC236}">
                <a16:creationId xmlns:a16="http://schemas.microsoft.com/office/drawing/2014/main" id="{DE63CDFB-47BA-7529-86F0-1A665C2D5EB5}"/>
              </a:ext>
            </a:extLst>
          </p:cNvPr>
          <p:cNvSpPr/>
          <p:nvPr/>
        </p:nvSpPr>
        <p:spPr>
          <a:xfrm>
            <a:off x="338810" y="2188838"/>
            <a:ext cx="11514380" cy="1952296"/>
          </a:xfrm>
          <a:prstGeom prst="roundRect">
            <a:avLst/>
          </a:prstGeom>
          <a:solidFill>
            <a:srgbClr val="FFF1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E6C9F2-D531-0A4B-B1A0-8270DF87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20" y="69647"/>
            <a:ext cx="10515600" cy="1325563"/>
          </a:xfrm>
        </p:spPr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implemted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: Diffusion </a:t>
            </a:r>
            <a:r>
              <a:rPr lang="da-DK" dirty="0" err="1"/>
              <a:t>examples</a:t>
            </a:r>
            <a:endParaRPr lang="da-DK" dirty="0"/>
          </a:p>
        </p:txBody>
      </p:sp>
      <p:pic>
        <p:nvPicPr>
          <p:cNvPr id="5" name="Pladsholder til indhold 4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558A3B2B-A7AC-DE8C-AE7B-CD8807AF6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1" y="2825368"/>
            <a:ext cx="1743254" cy="1247206"/>
          </a:xfrm>
        </p:spPr>
      </p:pic>
      <p:pic>
        <p:nvPicPr>
          <p:cNvPr id="7" name="Billede 6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05D80E5A-52EB-4840-907D-8382D1E70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47" y="2825368"/>
            <a:ext cx="1743254" cy="1247206"/>
          </a:xfrm>
          <a:prstGeom prst="rect">
            <a:avLst/>
          </a:prstGeom>
        </p:spPr>
      </p:pic>
      <p:pic>
        <p:nvPicPr>
          <p:cNvPr id="9" name="Billede 8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18F2FD88-56CB-6E0A-78CA-5B244BA96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15" y="2818917"/>
            <a:ext cx="1721996" cy="1247207"/>
          </a:xfrm>
          <a:prstGeom prst="rect">
            <a:avLst/>
          </a:prstGeom>
        </p:spPr>
      </p:pic>
      <p:pic>
        <p:nvPicPr>
          <p:cNvPr id="11" name="Billede 10" descr="Et billede, der indeholder Farverigt, cirkel, Grafik&#10;&#10;AI-genereret indhold kan være ukorrekt.">
            <a:extLst>
              <a:ext uri="{FF2B5EF4-FFF2-40B4-BE49-F238E27FC236}">
                <a16:creationId xmlns:a16="http://schemas.microsoft.com/office/drawing/2014/main" id="{CD67B4CC-98A6-0EE9-D5F6-0DA98DF14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989" y="2832199"/>
            <a:ext cx="1729082" cy="1218861"/>
          </a:xfrm>
          <a:prstGeom prst="rect">
            <a:avLst/>
          </a:prstGeom>
        </p:spPr>
      </p:pic>
      <p:pic>
        <p:nvPicPr>
          <p:cNvPr id="13" name="Billede 12" descr="Et billede, der indeholder Farverigt, cirkel&#10;&#10;AI-genereret indhold kan være ukorrekt.">
            <a:extLst>
              <a:ext uri="{FF2B5EF4-FFF2-40B4-BE49-F238E27FC236}">
                <a16:creationId xmlns:a16="http://schemas.microsoft.com/office/drawing/2014/main" id="{28861026-A0C3-EEBA-57F9-4551CE084F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194" y="2823587"/>
            <a:ext cx="1743255" cy="1218861"/>
          </a:xfrm>
          <a:prstGeom prst="rect">
            <a:avLst/>
          </a:prstGeom>
        </p:spPr>
      </p:pic>
      <p:pic>
        <p:nvPicPr>
          <p:cNvPr id="15" name="Billede 14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FE562EA9-F9D3-E769-6F08-44F1D9295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51" y="5252627"/>
            <a:ext cx="1828781" cy="1308396"/>
          </a:xfrm>
          <a:prstGeom prst="rect">
            <a:avLst/>
          </a:prstGeom>
        </p:spPr>
      </p:pic>
      <p:pic>
        <p:nvPicPr>
          <p:cNvPr id="17" name="Billede 16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5E1F8DBB-4AAC-744E-6A05-1ED9CED502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327" y="5252627"/>
            <a:ext cx="1828781" cy="1308396"/>
          </a:xfrm>
          <a:prstGeom prst="rect">
            <a:avLst/>
          </a:prstGeom>
        </p:spPr>
      </p:pic>
      <p:pic>
        <p:nvPicPr>
          <p:cNvPr id="19" name="Billede 18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AFBF53D2-1B87-E02D-8E09-ADF37CC433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369" y="5252627"/>
            <a:ext cx="1754440" cy="1308396"/>
          </a:xfrm>
          <a:prstGeom prst="rect">
            <a:avLst/>
          </a:prstGeom>
        </p:spPr>
      </p:pic>
      <p:pic>
        <p:nvPicPr>
          <p:cNvPr id="21" name="Billede 20" descr="Et billede, der indeholder Farverigt, cirkel, rød, Rav&#10;&#10;AI-genereret indhold kan være ukorrekt.">
            <a:extLst>
              <a:ext uri="{FF2B5EF4-FFF2-40B4-BE49-F238E27FC236}">
                <a16:creationId xmlns:a16="http://schemas.microsoft.com/office/drawing/2014/main" id="{DC015D71-6A3A-358A-BD98-771214A10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987" y="5354246"/>
            <a:ext cx="1642930" cy="1092809"/>
          </a:xfrm>
          <a:prstGeom prst="rect">
            <a:avLst/>
          </a:prstGeom>
        </p:spPr>
      </p:pic>
      <p:pic>
        <p:nvPicPr>
          <p:cNvPr id="23" name="Billede 22" descr="Et billede, der indeholder rød, Farverigt, cirkel, Rav&#10;&#10;AI-genereret indhold kan være ukorrekt.">
            <a:extLst>
              <a:ext uri="{FF2B5EF4-FFF2-40B4-BE49-F238E27FC236}">
                <a16:creationId xmlns:a16="http://schemas.microsoft.com/office/drawing/2014/main" id="{71334578-AB09-7B57-E9A0-BD213F4EBD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600" y="5354246"/>
            <a:ext cx="1613194" cy="1092809"/>
          </a:xfrm>
          <a:prstGeom prst="rect">
            <a:avLst/>
          </a:prstGeom>
        </p:spPr>
      </p:pic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6B4DB119-72AB-1B9B-2E6C-0E5B07A1A89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138425" y="3448971"/>
            <a:ext cx="69962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1630FF1F-ACEB-F7AE-13B7-9877E829D97F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581301" y="3442521"/>
            <a:ext cx="657014" cy="645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Lige pilforbindelse 32">
            <a:extLst>
              <a:ext uri="{FF2B5EF4-FFF2-40B4-BE49-F238E27FC236}">
                <a16:creationId xmlns:a16="http://schemas.microsoft.com/office/drawing/2014/main" id="{D5007D05-7B9B-F96E-5F9B-E3BB64E57D9C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960311" y="3441630"/>
            <a:ext cx="655678" cy="8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Lige pilforbindelse 37">
            <a:extLst>
              <a:ext uri="{FF2B5EF4-FFF2-40B4-BE49-F238E27FC236}">
                <a16:creationId xmlns:a16="http://schemas.microsoft.com/office/drawing/2014/main" id="{BCE729E1-20E1-2644-A41C-C1AFB04BFAB2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9345071" y="3433018"/>
            <a:ext cx="656123" cy="861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Lige pilforbindelse 41">
            <a:extLst>
              <a:ext uri="{FF2B5EF4-FFF2-40B4-BE49-F238E27FC236}">
                <a16:creationId xmlns:a16="http://schemas.microsoft.com/office/drawing/2014/main" id="{A763A5A6-E4BC-95CE-94AB-84F9A43E6AE1}"/>
              </a:ext>
            </a:extLst>
          </p:cNvPr>
          <p:cNvCxnSpPr>
            <a:cxnSpLocks/>
          </p:cNvCxnSpPr>
          <p:nvPr/>
        </p:nvCxnSpPr>
        <p:spPr>
          <a:xfrm>
            <a:off x="2339071" y="5935600"/>
            <a:ext cx="558134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Lige pilforbindelse 42">
            <a:extLst>
              <a:ext uri="{FF2B5EF4-FFF2-40B4-BE49-F238E27FC236}">
                <a16:creationId xmlns:a16="http://schemas.microsoft.com/office/drawing/2014/main" id="{993E43D3-7A07-031D-2C8C-E8F5699AF628}"/>
              </a:ext>
            </a:extLst>
          </p:cNvPr>
          <p:cNvCxnSpPr>
            <a:cxnSpLocks/>
          </p:cNvCxnSpPr>
          <p:nvPr/>
        </p:nvCxnSpPr>
        <p:spPr>
          <a:xfrm flipV="1">
            <a:off x="4781947" y="5929499"/>
            <a:ext cx="517834" cy="61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Lige pilforbindelse 43">
            <a:extLst>
              <a:ext uri="{FF2B5EF4-FFF2-40B4-BE49-F238E27FC236}">
                <a16:creationId xmlns:a16="http://schemas.microsoft.com/office/drawing/2014/main" id="{2D7AAB83-8F29-1797-2C45-287DC1FC4104}"/>
              </a:ext>
            </a:extLst>
          </p:cNvPr>
          <p:cNvCxnSpPr>
            <a:cxnSpLocks/>
          </p:cNvCxnSpPr>
          <p:nvPr/>
        </p:nvCxnSpPr>
        <p:spPr>
          <a:xfrm flipV="1">
            <a:off x="7159621" y="5929149"/>
            <a:ext cx="517834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Lige pilforbindelse 44">
            <a:extLst>
              <a:ext uri="{FF2B5EF4-FFF2-40B4-BE49-F238E27FC236}">
                <a16:creationId xmlns:a16="http://schemas.microsoft.com/office/drawing/2014/main" id="{EA00A071-3106-8B31-89EE-080DB242F35C}"/>
              </a:ext>
            </a:extLst>
          </p:cNvPr>
          <p:cNvCxnSpPr>
            <a:cxnSpLocks/>
          </p:cNvCxnSpPr>
          <p:nvPr/>
        </p:nvCxnSpPr>
        <p:spPr>
          <a:xfrm flipV="1">
            <a:off x="9544827" y="5921004"/>
            <a:ext cx="517834" cy="81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5F413FCC-7459-B072-D597-A4471C890DD7}"/>
                  </a:ext>
                </a:extLst>
              </p:cNvPr>
              <p:cNvSpPr txBox="1"/>
              <p:nvPr/>
            </p:nvSpPr>
            <p:spPr>
              <a:xfrm>
                <a:off x="974261" y="2395100"/>
                <a:ext cx="53922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8" name="Tekstfelt 47">
                <a:extLst>
                  <a:ext uri="{FF2B5EF4-FFF2-40B4-BE49-F238E27FC236}">
                    <a16:creationId xmlns:a16="http://schemas.microsoft.com/office/drawing/2014/main" id="{5F413FCC-7459-B072-D597-A4471C890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1" y="2395100"/>
                <a:ext cx="539229" cy="276999"/>
              </a:xfrm>
              <a:prstGeom prst="rect">
                <a:avLst/>
              </a:prstGeom>
              <a:blipFill>
                <a:blip r:embed="rId11"/>
                <a:stretch>
                  <a:fillRect l="-13636" r="-13636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EDF74521-D05B-4190-AD7C-4BCE3564E963}"/>
                  </a:ext>
                </a:extLst>
              </p:cNvPr>
              <p:cNvSpPr txBox="1"/>
              <p:nvPr/>
            </p:nvSpPr>
            <p:spPr>
              <a:xfrm>
                <a:off x="3470539" y="2207572"/>
                <a:ext cx="553044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kstfelt 48">
                <a:extLst>
                  <a:ext uri="{FF2B5EF4-FFF2-40B4-BE49-F238E27FC236}">
                    <a16:creationId xmlns:a16="http://schemas.microsoft.com/office/drawing/2014/main" id="{EDF74521-D05B-4190-AD7C-4BCE3564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39" y="2207572"/>
                <a:ext cx="553044" cy="51674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kstfelt 49">
                <a:extLst>
                  <a:ext uri="{FF2B5EF4-FFF2-40B4-BE49-F238E27FC236}">
                    <a16:creationId xmlns:a16="http://schemas.microsoft.com/office/drawing/2014/main" id="{CCDFFC40-B94E-AF86-1E13-990FCEF641EE}"/>
                  </a:ext>
                </a:extLst>
              </p:cNvPr>
              <p:cNvSpPr txBox="1"/>
              <p:nvPr/>
            </p:nvSpPr>
            <p:spPr>
              <a:xfrm>
                <a:off x="5859510" y="2188837"/>
                <a:ext cx="553044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0" name="Tekstfelt 49">
                <a:extLst>
                  <a:ext uri="{FF2B5EF4-FFF2-40B4-BE49-F238E27FC236}">
                    <a16:creationId xmlns:a16="http://schemas.microsoft.com/office/drawing/2014/main" id="{CCDFFC40-B94E-AF86-1E13-990FCEF64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510" y="2188837"/>
                <a:ext cx="553044" cy="5167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E127FA11-80CB-AD28-FC33-F679C14EA2AE}"/>
                  </a:ext>
                </a:extLst>
              </p:cNvPr>
              <p:cNvSpPr txBox="1"/>
              <p:nvPr/>
            </p:nvSpPr>
            <p:spPr>
              <a:xfrm>
                <a:off x="8240949" y="2207682"/>
                <a:ext cx="673704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E127FA11-80CB-AD28-FC33-F679C14EA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949" y="2207682"/>
                <a:ext cx="673704" cy="51860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2538007D-275F-2F30-6F0F-3273A91565EC}"/>
                  </a:ext>
                </a:extLst>
              </p:cNvPr>
              <p:cNvSpPr txBox="1"/>
              <p:nvPr/>
            </p:nvSpPr>
            <p:spPr>
              <a:xfrm>
                <a:off x="10629920" y="2313274"/>
                <a:ext cx="55304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2538007D-275F-2F30-6F0F-3273A9156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920" y="2313274"/>
                <a:ext cx="553045" cy="276999"/>
              </a:xfrm>
              <a:prstGeom prst="rect">
                <a:avLst/>
              </a:prstGeom>
              <a:blipFill>
                <a:blip r:embed="rId15"/>
                <a:stretch>
                  <a:fillRect l="-13333" r="-13333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A55E791C-FD3A-9086-9A6B-047EDD05B090}"/>
                  </a:ext>
                </a:extLst>
              </p:cNvPr>
              <p:cNvSpPr txBox="1"/>
              <p:nvPr/>
            </p:nvSpPr>
            <p:spPr>
              <a:xfrm>
                <a:off x="974261" y="4886749"/>
                <a:ext cx="5420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A55E791C-FD3A-9086-9A6B-047EDD05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261" y="4886749"/>
                <a:ext cx="542059" cy="276999"/>
              </a:xfrm>
              <a:prstGeom prst="rect">
                <a:avLst/>
              </a:prstGeom>
              <a:blipFill>
                <a:blip r:embed="rId16"/>
                <a:stretch>
                  <a:fillRect l="-12360" r="-12360" b="-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C4D9EE07-7A53-6168-1790-A46A9328B3AD}"/>
                  </a:ext>
                </a:extLst>
              </p:cNvPr>
              <p:cNvSpPr txBox="1"/>
              <p:nvPr/>
            </p:nvSpPr>
            <p:spPr>
              <a:xfrm>
                <a:off x="3470538" y="4698037"/>
                <a:ext cx="555947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C4D9EE07-7A53-6168-1790-A46A9328B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38" y="4698037"/>
                <a:ext cx="555947" cy="5167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433FEC3F-46F1-CD49-B13D-C445FC08CC7A}"/>
                  </a:ext>
                </a:extLst>
              </p:cNvPr>
              <p:cNvSpPr txBox="1"/>
              <p:nvPr/>
            </p:nvSpPr>
            <p:spPr>
              <a:xfrm>
                <a:off x="5859509" y="4679302"/>
                <a:ext cx="555947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433FEC3F-46F1-CD49-B13D-C445FC08C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509" y="4679302"/>
                <a:ext cx="555947" cy="51674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F21D7847-FBBD-578F-FABD-1F1C88828F2C}"/>
                  </a:ext>
                </a:extLst>
              </p:cNvPr>
              <p:cNvSpPr txBox="1"/>
              <p:nvPr/>
            </p:nvSpPr>
            <p:spPr>
              <a:xfrm>
                <a:off x="8240949" y="4698137"/>
                <a:ext cx="677241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7" name="Tekstfelt 56">
                <a:extLst>
                  <a:ext uri="{FF2B5EF4-FFF2-40B4-BE49-F238E27FC236}">
                    <a16:creationId xmlns:a16="http://schemas.microsoft.com/office/drawing/2014/main" id="{F21D7847-FBBD-578F-FABD-1F1C88828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949" y="4698137"/>
                <a:ext cx="677241" cy="51860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9595AA4E-655A-5DDA-247C-B5D7ABCB36B3}"/>
                  </a:ext>
                </a:extLst>
              </p:cNvPr>
              <p:cNvSpPr txBox="1"/>
              <p:nvPr/>
            </p:nvSpPr>
            <p:spPr>
              <a:xfrm>
                <a:off x="10629920" y="4804923"/>
                <a:ext cx="555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8" name="Tekstfelt 57">
                <a:extLst>
                  <a:ext uri="{FF2B5EF4-FFF2-40B4-BE49-F238E27FC236}">
                    <a16:creationId xmlns:a16="http://schemas.microsoft.com/office/drawing/2014/main" id="{9595AA4E-655A-5DDA-247C-B5D7ABCB3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920" y="4804923"/>
                <a:ext cx="555948" cy="276999"/>
              </a:xfrm>
              <a:prstGeom prst="rect">
                <a:avLst/>
              </a:prstGeom>
              <a:blipFill>
                <a:blip r:embed="rId20"/>
                <a:stretch>
                  <a:fillRect l="-12088" r="-12088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DF9085CE-E868-5463-3EE3-8017049C9C98}"/>
                  </a:ext>
                </a:extLst>
              </p:cNvPr>
              <p:cNvSpPr txBox="1"/>
              <p:nvPr/>
            </p:nvSpPr>
            <p:spPr>
              <a:xfrm>
                <a:off x="3560560" y="1818154"/>
                <a:ext cx="5354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a-DK" dirty="0"/>
                  <a:t>Uniform diffusion;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59" name="Tekstfelt 58">
                <a:extLst>
                  <a:ext uri="{FF2B5EF4-FFF2-40B4-BE49-F238E27FC236}">
                    <a16:creationId xmlns:a16="http://schemas.microsoft.com/office/drawing/2014/main" id="{DF9085CE-E868-5463-3EE3-8017049C9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560" y="1818154"/>
                <a:ext cx="5354093" cy="369332"/>
              </a:xfrm>
              <a:prstGeom prst="rect">
                <a:avLst/>
              </a:prstGeom>
              <a:blipFill>
                <a:blip r:embed="rId21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6126F798-F216-B334-5BDD-3D62EF92C2BD}"/>
                  </a:ext>
                </a:extLst>
              </p:cNvPr>
              <p:cNvSpPr txBox="1"/>
              <p:nvPr/>
            </p:nvSpPr>
            <p:spPr>
              <a:xfrm>
                <a:off x="3343369" y="4312673"/>
                <a:ext cx="5505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a-DK" dirty="0"/>
                  <a:t>Absorbing diffusion;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6126F798-F216-B334-5BDD-3D62EF92C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369" y="4312673"/>
                <a:ext cx="5505261" cy="369332"/>
              </a:xfrm>
              <a:prstGeom prst="rect">
                <a:avLst/>
              </a:prstGeom>
              <a:blipFill>
                <a:blip r:embed="rId22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A02B88E3-0307-6BBA-547B-D21444663802}"/>
                  </a:ext>
                </a:extLst>
              </p:cNvPr>
              <p:cNvSpPr txBox="1"/>
              <p:nvPr/>
            </p:nvSpPr>
            <p:spPr>
              <a:xfrm>
                <a:off x="433451" y="1293354"/>
                <a:ext cx="59974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Used </a:t>
                </a:r>
                <a:r>
                  <a:rPr lang="da-DK" dirty="0" err="1"/>
                  <a:t>Exponential</a:t>
                </a:r>
                <a:r>
                  <a:rPr lang="da-DK" dirty="0"/>
                  <a:t> </a:t>
                </a:r>
                <a:r>
                  <a:rPr lang="da-DK" dirty="0" err="1"/>
                  <a:t>schedule</a:t>
                </a:r>
                <a:r>
                  <a:rPr lang="da-DK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A02B88E3-0307-6BBA-547B-D21444663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51" y="1293354"/>
                <a:ext cx="5997411" cy="369332"/>
              </a:xfrm>
              <a:prstGeom prst="rect">
                <a:avLst/>
              </a:prstGeom>
              <a:blipFill>
                <a:blip r:embed="rId23"/>
                <a:stretch>
                  <a:fillRect l="-634" t="-6452" b="-225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018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0228F-49B2-1392-D862-78B31EB5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95" y="32884"/>
            <a:ext cx="10515600" cy="1325563"/>
          </a:xfrm>
        </p:spPr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implemented</a:t>
            </a:r>
            <a:r>
              <a:rPr lang="da-DK" dirty="0"/>
              <a:t> </a:t>
            </a:r>
            <a:r>
              <a:rPr lang="da-DK" dirty="0" err="1"/>
              <a:t>this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522587D-379D-1D68-6642-B5F0807D36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Scheduling &amp; forward diffusion </a:t>
                </a:r>
                <a:r>
                  <a:rPr lang="da-DK" dirty="0" err="1"/>
                  <a:t>already</a:t>
                </a:r>
                <a:r>
                  <a:rPr lang="da-DK" dirty="0"/>
                  <a:t> </a:t>
                </a:r>
                <a:r>
                  <a:rPr lang="da-DK" dirty="0" err="1"/>
                  <a:t>talked</a:t>
                </a:r>
                <a:r>
                  <a:rPr lang="da-DK" dirty="0"/>
                  <a:t> </a:t>
                </a:r>
                <a:r>
                  <a:rPr lang="da-DK" dirty="0" err="1"/>
                  <a:t>about</a:t>
                </a:r>
                <a:endParaRPr lang="da-DK" dirty="0"/>
              </a:p>
              <a:p>
                <a:r>
                  <a:rPr lang="da-DK" dirty="0"/>
                  <a:t>The </a:t>
                </a:r>
                <a:r>
                  <a:rPr lang="da-DK" dirty="0" err="1"/>
                  <a:t>denoising</a:t>
                </a:r>
                <a:r>
                  <a:rPr lang="da-DK" dirty="0"/>
                  <a:t> part: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da-DK" b="0" dirty="0"/>
              </a:p>
              <a:p>
                <a:pPr lvl="1"/>
                <a:r>
                  <a:rPr lang="da-DK" dirty="0"/>
                  <a:t>A GNN </a:t>
                </a:r>
                <a:r>
                  <a:rPr lang="da-DK" dirty="0" err="1"/>
                  <a:t>using</a:t>
                </a:r>
                <a:r>
                  <a:rPr lang="da-DK" dirty="0"/>
                  <a:t> a </a:t>
                </a:r>
                <a:r>
                  <a:rPr lang="da-DK" dirty="0" err="1"/>
                  <a:t>fully</a:t>
                </a:r>
                <a:r>
                  <a:rPr lang="da-DK" dirty="0"/>
                  <a:t> </a:t>
                </a:r>
                <a:r>
                  <a:rPr lang="da-DK" dirty="0" err="1"/>
                  <a:t>learnable</a:t>
                </a:r>
                <a:r>
                  <a:rPr lang="da-DK" dirty="0"/>
                  <a:t> message-</a:t>
                </a:r>
                <a:r>
                  <a:rPr lang="da-DK" dirty="0" err="1"/>
                  <a:t>passing</a:t>
                </a:r>
                <a:r>
                  <a:rPr lang="da-DK" dirty="0"/>
                  <a:t> </a:t>
                </a:r>
                <a:r>
                  <a:rPr lang="da-DK" dirty="0" err="1"/>
                  <a:t>scheme</a:t>
                </a:r>
                <a:r>
                  <a:rPr lang="da-DK" dirty="0"/>
                  <a:t>.</a:t>
                </a:r>
              </a:p>
              <a:p>
                <a:pPr lvl="2"/>
                <a:r>
                  <a:rPr lang="da-DK" dirty="0"/>
                  <a:t>Edges </a:t>
                </a:r>
                <a:r>
                  <a:rPr lang="da-DK" dirty="0">
                    <a:sym typeface="Wingdings" pitchFamily="2" charset="2"/>
                  </a:rPr>
                  <a:t> Bonds</a:t>
                </a:r>
                <a:endParaRPr lang="da-DK" dirty="0"/>
              </a:p>
              <a:p>
                <a:pPr marL="457200" lvl="1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522587D-379D-1D68-6642-B5F0807D36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B8803799-6E8A-4A02-11C4-9685CA878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20" y="2377803"/>
            <a:ext cx="4303284" cy="917762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13656356-298F-5B21-AF38-742DBA064083}"/>
              </a:ext>
            </a:extLst>
          </p:cNvPr>
          <p:cNvSpPr/>
          <p:nvPr/>
        </p:nvSpPr>
        <p:spPr>
          <a:xfrm>
            <a:off x="314090" y="5144582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AB99921-3552-D95E-CD8B-BC79F5E5BA44}"/>
              </a:ext>
            </a:extLst>
          </p:cNvPr>
          <p:cNvSpPr/>
          <p:nvPr/>
        </p:nvSpPr>
        <p:spPr>
          <a:xfrm rot="18910962">
            <a:off x="1475616" y="451535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45165CF-C018-C399-4DD6-99162F1ABD94}"/>
              </a:ext>
            </a:extLst>
          </p:cNvPr>
          <p:cNvSpPr/>
          <p:nvPr/>
        </p:nvSpPr>
        <p:spPr>
          <a:xfrm rot="915767">
            <a:off x="1448125" y="5367251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E3A983D-DDBE-E070-0D76-CDEF3FE65195}"/>
              </a:ext>
            </a:extLst>
          </p:cNvPr>
          <p:cNvSpPr/>
          <p:nvPr/>
        </p:nvSpPr>
        <p:spPr>
          <a:xfrm rot="20911658">
            <a:off x="2362525" y="5849740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74284F2-0069-1669-1A17-F10184C32B58}"/>
              </a:ext>
            </a:extLst>
          </p:cNvPr>
          <p:cNvSpPr/>
          <p:nvPr/>
        </p:nvSpPr>
        <p:spPr>
          <a:xfrm rot="20573567">
            <a:off x="2722460" y="4391443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F407B4B7-D2B5-598B-242A-38122CEDEDCE}"/>
              </a:ext>
            </a:extLst>
          </p:cNvPr>
          <p:cNvCxnSpPr>
            <a:stCxn id="5" idx="7"/>
            <a:endCxn id="6" idx="2"/>
          </p:cNvCxnSpPr>
          <p:nvPr/>
        </p:nvCxnSpPr>
        <p:spPr>
          <a:xfrm flipV="1">
            <a:off x="719128" y="4919855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CF06D988-214C-48B2-91E2-02F64DE942F0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788621" y="5381848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F46A1ABB-B36C-7926-A36D-FFD3448091E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1712125" y="4989883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5A9596D5-BF89-DD04-9B97-04AEDFC558EE}"/>
              </a:ext>
            </a:extLst>
          </p:cNvPr>
          <p:cNvCxnSpPr>
            <a:cxnSpLocks/>
            <a:stCxn id="9" idx="2"/>
            <a:endCxn id="6" idx="5"/>
          </p:cNvCxnSpPr>
          <p:nvPr/>
        </p:nvCxnSpPr>
        <p:spPr>
          <a:xfrm flipH="1">
            <a:off x="1950146" y="4698503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31AA8EAC-8A07-EE3B-EEDB-96397C1D9FF4}"/>
              </a:ext>
            </a:extLst>
          </p:cNvPr>
          <p:cNvCxnSpPr>
            <a:cxnSpLocks/>
            <a:stCxn id="8" idx="1"/>
            <a:endCxn id="7" idx="6"/>
          </p:cNvCxnSpPr>
          <p:nvPr/>
        </p:nvCxnSpPr>
        <p:spPr>
          <a:xfrm flipH="1" flipV="1">
            <a:off x="1914287" y="5666976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llipse 41">
            <a:extLst>
              <a:ext uri="{FF2B5EF4-FFF2-40B4-BE49-F238E27FC236}">
                <a16:creationId xmlns:a16="http://schemas.microsoft.com/office/drawing/2014/main" id="{5D7BB4B7-FBA5-892B-C0DD-CE3EB7EF4CA5}"/>
              </a:ext>
            </a:extLst>
          </p:cNvPr>
          <p:cNvSpPr/>
          <p:nvPr/>
        </p:nvSpPr>
        <p:spPr>
          <a:xfrm>
            <a:off x="4894708" y="496958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3FB76BF4-C852-985D-E081-FE86CB63CFE9}"/>
              </a:ext>
            </a:extLst>
          </p:cNvPr>
          <p:cNvSpPr/>
          <p:nvPr/>
        </p:nvSpPr>
        <p:spPr>
          <a:xfrm rot="18910962">
            <a:off x="6056234" y="434035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E539008C-F488-884B-2968-481DD28E7C79}"/>
              </a:ext>
            </a:extLst>
          </p:cNvPr>
          <p:cNvSpPr/>
          <p:nvPr/>
        </p:nvSpPr>
        <p:spPr>
          <a:xfrm rot="915767">
            <a:off x="6028743" y="5192252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6CF28EF-B970-F133-1170-36850338517C}"/>
              </a:ext>
            </a:extLst>
          </p:cNvPr>
          <p:cNvSpPr/>
          <p:nvPr/>
        </p:nvSpPr>
        <p:spPr>
          <a:xfrm rot="20911658">
            <a:off x="6943143" y="567474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B825B005-304C-0309-01DA-3860AAA3A792}"/>
              </a:ext>
            </a:extLst>
          </p:cNvPr>
          <p:cNvSpPr/>
          <p:nvPr/>
        </p:nvSpPr>
        <p:spPr>
          <a:xfrm rot="20573567">
            <a:off x="7303078" y="4216444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161EDFE9-13BD-C811-DCF1-0104A5AC9CDA}"/>
              </a:ext>
            </a:extLst>
          </p:cNvPr>
          <p:cNvCxnSpPr>
            <a:stCxn id="42" idx="7"/>
            <a:endCxn id="43" idx="2"/>
          </p:cNvCxnSpPr>
          <p:nvPr/>
        </p:nvCxnSpPr>
        <p:spPr>
          <a:xfrm flipV="1">
            <a:off x="5299746" y="4744856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616D4F80-6076-A5C8-C5F5-B77B44DBF739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369239" y="5206849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2737267C-2688-7E7B-E8A8-737B67F0576F}"/>
              </a:ext>
            </a:extLst>
          </p:cNvPr>
          <p:cNvCxnSpPr>
            <a:cxnSpLocks/>
            <a:stCxn id="43" idx="3"/>
            <a:endCxn id="44" idx="0"/>
          </p:cNvCxnSpPr>
          <p:nvPr/>
        </p:nvCxnSpPr>
        <p:spPr>
          <a:xfrm>
            <a:off x="6292743" y="4814884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DBDC7CEA-B4CF-EE3D-D71A-7916097A4FD9}"/>
              </a:ext>
            </a:extLst>
          </p:cNvPr>
          <p:cNvCxnSpPr>
            <a:cxnSpLocks/>
            <a:stCxn id="46" idx="2"/>
            <a:endCxn id="43" idx="5"/>
          </p:cNvCxnSpPr>
          <p:nvPr/>
        </p:nvCxnSpPr>
        <p:spPr>
          <a:xfrm flipH="1">
            <a:off x="6530764" y="4523504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CE0A2F3A-4037-64F8-FAAF-828CEBE597C2}"/>
              </a:ext>
            </a:extLst>
          </p:cNvPr>
          <p:cNvCxnSpPr>
            <a:cxnSpLocks/>
            <a:stCxn id="45" idx="1"/>
            <a:endCxn id="44" idx="6"/>
          </p:cNvCxnSpPr>
          <p:nvPr/>
        </p:nvCxnSpPr>
        <p:spPr>
          <a:xfrm flipH="1" flipV="1">
            <a:off x="6494905" y="5491977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6AD612CA-51DC-2E9D-2730-2A4569238354}"/>
                  </a:ext>
                </a:extLst>
              </p:cNvPr>
              <p:cNvSpPr txBox="1"/>
              <p:nvPr/>
            </p:nvSpPr>
            <p:spPr>
              <a:xfrm>
                <a:off x="149075" y="4299088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6AD612CA-51DC-2E9D-2730-2A4569238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75" y="4299088"/>
                <a:ext cx="358880" cy="732573"/>
              </a:xfrm>
              <a:prstGeom prst="rect">
                <a:avLst/>
              </a:prstGeom>
              <a:blipFill>
                <a:blip r:embed="rId4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ABF940CD-19F6-E557-8566-F6677DE4020C}"/>
                  </a:ext>
                </a:extLst>
              </p:cNvPr>
              <p:cNvSpPr txBox="1"/>
              <p:nvPr/>
            </p:nvSpPr>
            <p:spPr>
              <a:xfrm>
                <a:off x="1185696" y="3785036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3" name="Tekstfelt 52">
                <a:extLst>
                  <a:ext uri="{FF2B5EF4-FFF2-40B4-BE49-F238E27FC236}">
                    <a16:creationId xmlns:a16="http://schemas.microsoft.com/office/drawing/2014/main" id="{ABF940CD-19F6-E557-8566-F6677DE40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96" y="3785036"/>
                <a:ext cx="358880" cy="732573"/>
              </a:xfrm>
              <a:prstGeom prst="rect">
                <a:avLst/>
              </a:prstGeom>
              <a:blipFill>
                <a:blip r:embed="rId5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B0B1DEFE-361E-4F91-A75F-465B26E7912E}"/>
                  </a:ext>
                </a:extLst>
              </p:cNvPr>
              <p:cNvSpPr txBox="1"/>
              <p:nvPr/>
            </p:nvSpPr>
            <p:spPr>
              <a:xfrm>
                <a:off x="2871731" y="5385176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4" name="Tekstfelt 53">
                <a:extLst>
                  <a:ext uri="{FF2B5EF4-FFF2-40B4-BE49-F238E27FC236}">
                    <a16:creationId xmlns:a16="http://schemas.microsoft.com/office/drawing/2014/main" id="{B0B1DEFE-361E-4F91-A75F-465B26E79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731" y="5385176"/>
                <a:ext cx="358880" cy="732573"/>
              </a:xfrm>
              <a:prstGeom prst="rect">
                <a:avLst/>
              </a:prstGeom>
              <a:blipFill>
                <a:blip r:embed="rId6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B724C020-CBE8-8BEA-90F6-BAE2E92ED783}"/>
                  </a:ext>
                </a:extLst>
              </p:cNvPr>
              <p:cNvSpPr txBox="1"/>
              <p:nvPr/>
            </p:nvSpPr>
            <p:spPr>
              <a:xfrm>
                <a:off x="938766" y="5589667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5" name="Tekstfelt 54">
                <a:extLst>
                  <a:ext uri="{FF2B5EF4-FFF2-40B4-BE49-F238E27FC236}">
                    <a16:creationId xmlns:a16="http://schemas.microsoft.com/office/drawing/2014/main" id="{B724C020-CBE8-8BEA-90F6-BAE2E92ED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66" y="5589667"/>
                <a:ext cx="358880" cy="732573"/>
              </a:xfrm>
              <a:prstGeom prst="rect">
                <a:avLst/>
              </a:prstGeom>
              <a:blipFill>
                <a:blip r:embed="rId7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8FB62F79-058D-A423-5639-03A9124913A5}"/>
                  </a:ext>
                </a:extLst>
              </p:cNvPr>
              <p:cNvSpPr txBox="1"/>
              <p:nvPr/>
            </p:nvSpPr>
            <p:spPr>
              <a:xfrm>
                <a:off x="3256288" y="3715247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6" name="Tekstfelt 55">
                <a:extLst>
                  <a:ext uri="{FF2B5EF4-FFF2-40B4-BE49-F238E27FC236}">
                    <a16:creationId xmlns:a16="http://schemas.microsoft.com/office/drawing/2014/main" id="{8FB62F79-058D-A423-5639-03A91249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288" y="3715247"/>
                <a:ext cx="358880" cy="730777"/>
              </a:xfrm>
              <a:prstGeom prst="rect">
                <a:avLst/>
              </a:prstGeom>
              <a:blipFill>
                <a:blip r:embed="rId8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Buet forbindelse 68">
            <a:extLst>
              <a:ext uri="{FF2B5EF4-FFF2-40B4-BE49-F238E27FC236}">
                <a16:creationId xmlns:a16="http://schemas.microsoft.com/office/drawing/2014/main" id="{BA46FF51-FBA6-AF90-268F-8F825C029B6A}"/>
              </a:ext>
            </a:extLst>
          </p:cNvPr>
          <p:cNvCxnSpPr>
            <a:cxnSpLocks/>
            <a:stCxn id="43" idx="1"/>
            <a:endCxn id="42" idx="0"/>
          </p:cNvCxnSpPr>
          <p:nvPr/>
        </p:nvCxnSpPr>
        <p:spPr>
          <a:xfrm rot="16200000" flipH="1" flipV="1">
            <a:off x="5397745" y="4311092"/>
            <a:ext cx="392720" cy="924261"/>
          </a:xfrm>
          <a:prstGeom prst="curvedConnector3">
            <a:avLst>
              <a:gd name="adj1" fmla="val 82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Buet forbindelse 70">
            <a:extLst>
              <a:ext uri="{FF2B5EF4-FFF2-40B4-BE49-F238E27FC236}">
                <a16:creationId xmlns:a16="http://schemas.microsoft.com/office/drawing/2014/main" id="{048186A5-E380-251F-57FD-BE90DA9A0195}"/>
              </a:ext>
            </a:extLst>
          </p:cNvPr>
          <p:cNvCxnSpPr>
            <a:cxnSpLocks/>
            <a:stCxn id="44" idx="4"/>
            <a:endCxn id="42" idx="4"/>
          </p:cNvCxnSpPr>
          <p:nvPr/>
        </p:nvCxnSpPr>
        <p:spPr>
          <a:xfrm rot="5400000" flipH="1">
            <a:off x="5560612" y="5015476"/>
            <a:ext cx="214300" cy="1071576"/>
          </a:xfrm>
          <a:prstGeom prst="curvedConnector3">
            <a:avLst>
              <a:gd name="adj1" fmla="val -1105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/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Input </a:t>
                </a:r>
                <a:r>
                  <a:rPr lang="da-DK" dirty="0" err="1"/>
                  <a:t>graph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blipFill>
                <a:blip r:embed="rId9"/>
                <a:stretch>
                  <a:fillRect l="-3101"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Lige pilforbindelse 80">
            <a:extLst>
              <a:ext uri="{FF2B5EF4-FFF2-40B4-BE49-F238E27FC236}">
                <a16:creationId xmlns:a16="http://schemas.microsoft.com/office/drawing/2014/main" id="{EAA20DE9-8ED1-60FE-C127-CBA488D7BD5D}"/>
              </a:ext>
            </a:extLst>
          </p:cNvPr>
          <p:cNvCxnSpPr>
            <a:cxnSpLocks/>
          </p:cNvCxnSpPr>
          <p:nvPr/>
        </p:nvCxnSpPr>
        <p:spPr>
          <a:xfrm>
            <a:off x="3615168" y="5202200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E76DFBA5-8EAE-40F3-60DF-FA227D7DD62F}"/>
                  </a:ext>
                </a:extLst>
              </p:cNvPr>
              <p:cNvSpPr txBox="1"/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N-times. At the </a:t>
                </a:r>
                <a:r>
                  <a:rPr lang="da-DK" dirty="0" err="1"/>
                  <a:t>very</a:t>
                </a:r>
                <a:r>
                  <a:rPr lang="da-DK" dirty="0"/>
                  <a:t> end </a:t>
                </a:r>
                <a:r>
                  <a:rPr lang="da-DK" dirty="0" err="1"/>
                  <a:t>apply</a:t>
                </a:r>
                <a:r>
                  <a:rPr lang="da-DK" dirty="0"/>
                  <a:t>  </a:t>
                </a:r>
                <a:r>
                  <a:rPr lang="da-DK" dirty="0" err="1"/>
                  <a:t>softmax</a:t>
                </a:r>
                <a:r>
                  <a:rPr lang="da-DK" dirty="0"/>
                  <a:t> , so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atom-wisely</a:t>
                </a:r>
              </a:p>
            </p:txBody>
          </p:sp>
        </mc:Choice>
        <mc:Fallback xmlns="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E76DFBA5-8EAE-40F3-60DF-FA227D7DD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blipFill>
                <a:blip r:embed="rId10"/>
                <a:stretch>
                  <a:fillRect l="-952" t="-5769" b="-115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ktangel 83">
            <a:extLst>
              <a:ext uri="{FF2B5EF4-FFF2-40B4-BE49-F238E27FC236}">
                <a16:creationId xmlns:a16="http://schemas.microsoft.com/office/drawing/2014/main" id="{F6696CCB-3489-A455-7A45-815359E956D9}"/>
              </a:ext>
            </a:extLst>
          </p:cNvPr>
          <p:cNvSpPr/>
          <p:nvPr/>
        </p:nvSpPr>
        <p:spPr>
          <a:xfrm>
            <a:off x="4792708" y="4181790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5" name="Rektangel 84">
            <a:extLst>
              <a:ext uri="{FF2B5EF4-FFF2-40B4-BE49-F238E27FC236}">
                <a16:creationId xmlns:a16="http://schemas.microsoft.com/office/drawing/2014/main" id="{3D36938B-2DEB-DC9D-5C0C-CB441A52E76C}"/>
              </a:ext>
            </a:extLst>
          </p:cNvPr>
          <p:cNvSpPr/>
          <p:nvPr/>
        </p:nvSpPr>
        <p:spPr>
          <a:xfrm>
            <a:off x="4792708" y="4386414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909C4946-1E80-8D59-3908-8E9535B87C82}"/>
              </a:ext>
            </a:extLst>
          </p:cNvPr>
          <p:cNvSpPr/>
          <p:nvPr/>
        </p:nvSpPr>
        <p:spPr>
          <a:xfrm>
            <a:off x="4791794" y="4589504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7" name="Rektangel 86">
            <a:extLst>
              <a:ext uri="{FF2B5EF4-FFF2-40B4-BE49-F238E27FC236}">
                <a16:creationId xmlns:a16="http://schemas.microsoft.com/office/drawing/2014/main" id="{6CBD1853-2F99-33E3-17D9-EA161778A69E}"/>
              </a:ext>
            </a:extLst>
          </p:cNvPr>
          <p:cNvSpPr/>
          <p:nvPr/>
        </p:nvSpPr>
        <p:spPr>
          <a:xfrm>
            <a:off x="6454906" y="3922947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8" name="Rektangel 87">
            <a:extLst>
              <a:ext uri="{FF2B5EF4-FFF2-40B4-BE49-F238E27FC236}">
                <a16:creationId xmlns:a16="http://schemas.microsoft.com/office/drawing/2014/main" id="{04F804BF-AAC9-6391-5616-45B63DFD081F}"/>
              </a:ext>
            </a:extLst>
          </p:cNvPr>
          <p:cNvSpPr/>
          <p:nvPr/>
        </p:nvSpPr>
        <p:spPr>
          <a:xfrm>
            <a:off x="6454906" y="3719857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9" name="Rektangel 88">
            <a:extLst>
              <a:ext uri="{FF2B5EF4-FFF2-40B4-BE49-F238E27FC236}">
                <a16:creationId xmlns:a16="http://schemas.microsoft.com/office/drawing/2014/main" id="{FF5DBC77-5DA7-53F5-735F-2D140CD5ABA7}"/>
              </a:ext>
            </a:extLst>
          </p:cNvPr>
          <p:cNvSpPr/>
          <p:nvPr/>
        </p:nvSpPr>
        <p:spPr>
          <a:xfrm>
            <a:off x="6454906" y="4103613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0" name="Lige pilforbindelse 89">
            <a:extLst>
              <a:ext uri="{FF2B5EF4-FFF2-40B4-BE49-F238E27FC236}">
                <a16:creationId xmlns:a16="http://schemas.microsoft.com/office/drawing/2014/main" id="{7CCDD4F8-E072-1D14-D889-6579D26B7338}"/>
              </a:ext>
            </a:extLst>
          </p:cNvPr>
          <p:cNvCxnSpPr>
            <a:cxnSpLocks/>
          </p:cNvCxnSpPr>
          <p:nvPr/>
        </p:nvCxnSpPr>
        <p:spPr>
          <a:xfrm>
            <a:off x="7836906" y="5271268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obbeltparentes 90">
            <a:extLst>
              <a:ext uri="{FF2B5EF4-FFF2-40B4-BE49-F238E27FC236}">
                <a16:creationId xmlns:a16="http://schemas.microsoft.com/office/drawing/2014/main" id="{EA712254-909E-5E75-10E9-085A5D4DCC09}"/>
              </a:ext>
            </a:extLst>
          </p:cNvPr>
          <p:cNvSpPr/>
          <p:nvPr/>
        </p:nvSpPr>
        <p:spPr>
          <a:xfrm>
            <a:off x="4672584" y="4103613"/>
            <a:ext cx="459390" cy="71127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2" name="Dobbeltparentes 91">
            <a:extLst>
              <a:ext uri="{FF2B5EF4-FFF2-40B4-BE49-F238E27FC236}">
                <a16:creationId xmlns:a16="http://schemas.microsoft.com/office/drawing/2014/main" id="{A2D4CEBB-3355-28D1-3882-6E8C9C3C920C}"/>
              </a:ext>
            </a:extLst>
          </p:cNvPr>
          <p:cNvSpPr/>
          <p:nvPr/>
        </p:nvSpPr>
        <p:spPr>
          <a:xfrm>
            <a:off x="6325545" y="3632497"/>
            <a:ext cx="459390" cy="71127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3" name="Tekstfelt 92">
            <a:extLst>
              <a:ext uri="{FF2B5EF4-FFF2-40B4-BE49-F238E27FC236}">
                <a16:creationId xmlns:a16="http://schemas.microsoft.com/office/drawing/2014/main" id="{6A7C1708-E975-6352-DFB9-345141EB9C56}"/>
              </a:ext>
            </a:extLst>
          </p:cNvPr>
          <p:cNvSpPr txBox="1"/>
          <p:nvPr/>
        </p:nvSpPr>
        <p:spPr>
          <a:xfrm>
            <a:off x="3739843" y="4261358"/>
            <a:ext cx="992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softmax</a:t>
            </a:r>
            <a:endParaRPr lang="da-D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4" name="Tekstfelt 93">
            <a:extLst>
              <a:ext uri="{FF2B5EF4-FFF2-40B4-BE49-F238E27FC236}">
                <a16:creationId xmlns:a16="http://schemas.microsoft.com/office/drawing/2014/main" id="{0F21765D-BE98-B247-4B18-85ED1797096E}"/>
              </a:ext>
            </a:extLst>
          </p:cNvPr>
          <p:cNvSpPr txBox="1"/>
          <p:nvPr/>
        </p:nvSpPr>
        <p:spPr>
          <a:xfrm>
            <a:off x="5395207" y="3793600"/>
            <a:ext cx="992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softmax</a:t>
            </a:r>
            <a:endParaRPr lang="da-D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9A7736AB-8D40-FC65-48CD-303C77957E96}"/>
                  </a:ext>
                </a:extLst>
              </p:cNvPr>
              <p:cNvSpPr txBox="1"/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9A7736AB-8D40-FC65-48CD-303C77957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blipFill>
                <a:blip r:embed="rId11"/>
                <a:stretch>
                  <a:fillRect l="-1105" t="-10000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Ellipse 95">
            <a:extLst>
              <a:ext uri="{FF2B5EF4-FFF2-40B4-BE49-F238E27FC236}">
                <a16:creationId xmlns:a16="http://schemas.microsoft.com/office/drawing/2014/main" id="{70C9C8D8-D10B-D27C-2D8A-A7A68ADA595A}"/>
              </a:ext>
            </a:extLst>
          </p:cNvPr>
          <p:cNvSpPr/>
          <p:nvPr/>
        </p:nvSpPr>
        <p:spPr>
          <a:xfrm>
            <a:off x="8801209" y="4780406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6F0A9544-6C97-D561-6B14-D24CF25CDD16}"/>
              </a:ext>
            </a:extLst>
          </p:cNvPr>
          <p:cNvSpPr/>
          <p:nvPr/>
        </p:nvSpPr>
        <p:spPr>
          <a:xfrm rot="18910962">
            <a:off x="9962735" y="4151177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D1BE97BE-D701-342D-1674-C3E29B4CB1D5}"/>
              </a:ext>
            </a:extLst>
          </p:cNvPr>
          <p:cNvSpPr/>
          <p:nvPr/>
        </p:nvSpPr>
        <p:spPr>
          <a:xfrm rot="915767">
            <a:off x="9935244" y="5003075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8C63F0DA-37DA-F474-B446-82790E36D470}"/>
              </a:ext>
            </a:extLst>
          </p:cNvPr>
          <p:cNvSpPr/>
          <p:nvPr/>
        </p:nvSpPr>
        <p:spPr>
          <a:xfrm rot="20911658">
            <a:off x="10849644" y="548556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BEDD4C4B-4BA1-B709-218C-A03932E007EE}"/>
              </a:ext>
            </a:extLst>
          </p:cNvPr>
          <p:cNvSpPr/>
          <p:nvPr/>
        </p:nvSpPr>
        <p:spPr>
          <a:xfrm rot="20573567">
            <a:off x="11209579" y="4027267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01" name="Lige forbindelse 100">
            <a:extLst>
              <a:ext uri="{FF2B5EF4-FFF2-40B4-BE49-F238E27FC236}">
                <a16:creationId xmlns:a16="http://schemas.microsoft.com/office/drawing/2014/main" id="{7549C127-2737-9493-C28E-932B463AD9B6}"/>
              </a:ext>
            </a:extLst>
          </p:cNvPr>
          <p:cNvCxnSpPr>
            <a:stCxn id="96" idx="7"/>
            <a:endCxn id="97" idx="2"/>
          </p:cNvCxnSpPr>
          <p:nvPr/>
        </p:nvCxnSpPr>
        <p:spPr>
          <a:xfrm flipV="1">
            <a:off x="9206247" y="4555679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Lige forbindelse 101">
            <a:extLst>
              <a:ext uri="{FF2B5EF4-FFF2-40B4-BE49-F238E27FC236}">
                <a16:creationId xmlns:a16="http://schemas.microsoft.com/office/drawing/2014/main" id="{2AE562D3-63AF-52F7-D65A-20AA82DD2E60}"/>
              </a:ext>
            </a:extLst>
          </p:cNvPr>
          <p:cNvCxnSpPr>
            <a:cxnSpLocks/>
            <a:stCxn id="96" idx="6"/>
            <a:endCxn id="98" idx="2"/>
          </p:cNvCxnSpPr>
          <p:nvPr/>
        </p:nvCxnSpPr>
        <p:spPr>
          <a:xfrm>
            <a:off x="9275740" y="5017672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Lige forbindelse 102">
            <a:extLst>
              <a:ext uri="{FF2B5EF4-FFF2-40B4-BE49-F238E27FC236}">
                <a16:creationId xmlns:a16="http://schemas.microsoft.com/office/drawing/2014/main" id="{4456DC55-C3E1-F4B9-3E7C-077761FD9E33}"/>
              </a:ext>
            </a:extLst>
          </p:cNvPr>
          <p:cNvCxnSpPr>
            <a:cxnSpLocks/>
            <a:stCxn id="97" idx="3"/>
            <a:endCxn id="98" idx="0"/>
          </p:cNvCxnSpPr>
          <p:nvPr/>
        </p:nvCxnSpPr>
        <p:spPr>
          <a:xfrm>
            <a:off x="10199244" y="4625707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Lige forbindelse 103">
            <a:extLst>
              <a:ext uri="{FF2B5EF4-FFF2-40B4-BE49-F238E27FC236}">
                <a16:creationId xmlns:a16="http://schemas.microsoft.com/office/drawing/2014/main" id="{2E96F791-91FE-56EF-BD6F-6D945306C35D}"/>
              </a:ext>
            </a:extLst>
          </p:cNvPr>
          <p:cNvCxnSpPr>
            <a:cxnSpLocks/>
            <a:stCxn id="100" idx="2"/>
            <a:endCxn id="97" idx="5"/>
          </p:cNvCxnSpPr>
          <p:nvPr/>
        </p:nvCxnSpPr>
        <p:spPr>
          <a:xfrm flipH="1">
            <a:off x="10437265" y="4334327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Lige forbindelse 104">
            <a:extLst>
              <a:ext uri="{FF2B5EF4-FFF2-40B4-BE49-F238E27FC236}">
                <a16:creationId xmlns:a16="http://schemas.microsoft.com/office/drawing/2014/main" id="{74623646-6BC6-CD5C-FB37-8334471D054A}"/>
              </a:ext>
            </a:extLst>
          </p:cNvPr>
          <p:cNvCxnSpPr>
            <a:cxnSpLocks/>
            <a:stCxn id="99" idx="1"/>
            <a:endCxn id="98" idx="6"/>
          </p:cNvCxnSpPr>
          <p:nvPr/>
        </p:nvCxnSpPr>
        <p:spPr>
          <a:xfrm flipH="1" flipV="1">
            <a:off x="10401406" y="5302800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kstfelt 105">
                <a:extLst>
                  <a:ext uri="{FF2B5EF4-FFF2-40B4-BE49-F238E27FC236}">
                    <a16:creationId xmlns:a16="http://schemas.microsoft.com/office/drawing/2014/main" id="{537D19A7-B5C9-1E3E-6DB6-DFE7CDCB5836}"/>
                  </a:ext>
                </a:extLst>
              </p:cNvPr>
              <p:cNvSpPr txBox="1"/>
              <p:nvPr/>
            </p:nvSpPr>
            <p:spPr>
              <a:xfrm>
                <a:off x="8636194" y="3934912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6" name="Tekstfelt 105">
                <a:extLst>
                  <a:ext uri="{FF2B5EF4-FFF2-40B4-BE49-F238E27FC236}">
                    <a16:creationId xmlns:a16="http://schemas.microsoft.com/office/drawing/2014/main" id="{537D19A7-B5C9-1E3E-6DB6-DFE7CDCB5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194" y="3934912"/>
                <a:ext cx="358880" cy="730777"/>
              </a:xfrm>
              <a:prstGeom prst="rect">
                <a:avLst/>
              </a:prstGeom>
              <a:blipFill>
                <a:blip r:embed="rId12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kstfelt 106">
                <a:extLst>
                  <a:ext uri="{FF2B5EF4-FFF2-40B4-BE49-F238E27FC236}">
                    <a16:creationId xmlns:a16="http://schemas.microsoft.com/office/drawing/2014/main" id="{905EBF49-6E80-6DA6-BD9F-185A0D1FD2D4}"/>
                  </a:ext>
                </a:extLst>
              </p:cNvPr>
              <p:cNvSpPr txBox="1"/>
              <p:nvPr/>
            </p:nvSpPr>
            <p:spPr>
              <a:xfrm>
                <a:off x="9672815" y="3420860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7" name="Tekstfelt 106">
                <a:extLst>
                  <a:ext uri="{FF2B5EF4-FFF2-40B4-BE49-F238E27FC236}">
                    <a16:creationId xmlns:a16="http://schemas.microsoft.com/office/drawing/2014/main" id="{905EBF49-6E80-6DA6-BD9F-185A0D1FD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2815" y="3420860"/>
                <a:ext cx="358880" cy="730777"/>
              </a:xfrm>
              <a:prstGeom prst="rect">
                <a:avLst/>
              </a:prstGeom>
              <a:blipFill>
                <a:blip r:embed="rId13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kstfelt 107">
                <a:extLst>
                  <a:ext uri="{FF2B5EF4-FFF2-40B4-BE49-F238E27FC236}">
                    <a16:creationId xmlns:a16="http://schemas.microsoft.com/office/drawing/2014/main" id="{11CEC122-7568-915A-3EC3-9F4562CDF44E}"/>
                  </a:ext>
                </a:extLst>
              </p:cNvPr>
              <p:cNvSpPr txBox="1"/>
              <p:nvPr/>
            </p:nvSpPr>
            <p:spPr>
              <a:xfrm>
                <a:off x="11358850" y="5021000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8" name="Tekstfelt 107">
                <a:extLst>
                  <a:ext uri="{FF2B5EF4-FFF2-40B4-BE49-F238E27FC236}">
                    <a16:creationId xmlns:a16="http://schemas.microsoft.com/office/drawing/2014/main" id="{11CEC122-7568-915A-3EC3-9F4562CDF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8850" y="5021000"/>
                <a:ext cx="358880" cy="732573"/>
              </a:xfrm>
              <a:prstGeom prst="rect">
                <a:avLst/>
              </a:prstGeom>
              <a:blipFill>
                <a:blip r:embed="rId14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kstfelt 108">
                <a:extLst>
                  <a:ext uri="{FF2B5EF4-FFF2-40B4-BE49-F238E27FC236}">
                    <a16:creationId xmlns:a16="http://schemas.microsoft.com/office/drawing/2014/main" id="{0BB47D6E-7D80-0C4B-C7CF-119B3C289AD7}"/>
                  </a:ext>
                </a:extLst>
              </p:cNvPr>
              <p:cNvSpPr txBox="1"/>
              <p:nvPr/>
            </p:nvSpPr>
            <p:spPr>
              <a:xfrm>
                <a:off x="9425885" y="5225491"/>
                <a:ext cx="358880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9" name="Tekstfelt 108">
                <a:extLst>
                  <a:ext uri="{FF2B5EF4-FFF2-40B4-BE49-F238E27FC236}">
                    <a16:creationId xmlns:a16="http://schemas.microsoft.com/office/drawing/2014/main" id="{0BB47D6E-7D80-0C4B-C7CF-119B3C289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885" y="5225491"/>
                <a:ext cx="358880" cy="732573"/>
              </a:xfrm>
              <a:prstGeom prst="rect">
                <a:avLst/>
              </a:prstGeom>
              <a:blipFill>
                <a:blip r:embed="rId15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kstfelt 109">
                <a:extLst>
                  <a:ext uri="{FF2B5EF4-FFF2-40B4-BE49-F238E27FC236}">
                    <a16:creationId xmlns:a16="http://schemas.microsoft.com/office/drawing/2014/main" id="{99DBA612-6362-D7D0-3A8B-58FCA484E9EB}"/>
                  </a:ext>
                </a:extLst>
              </p:cNvPr>
              <p:cNvSpPr txBox="1"/>
              <p:nvPr/>
            </p:nvSpPr>
            <p:spPr>
              <a:xfrm>
                <a:off x="11743407" y="3351071"/>
                <a:ext cx="358880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0" name="Tekstfelt 109">
                <a:extLst>
                  <a:ext uri="{FF2B5EF4-FFF2-40B4-BE49-F238E27FC236}">
                    <a16:creationId xmlns:a16="http://schemas.microsoft.com/office/drawing/2014/main" id="{99DBA612-6362-D7D0-3A8B-58FCA484E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407" y="3351071"/>
                <a:ext cx="358880" cy="730777"/>
              </a:xfrm>
              <a:prstGeom prst="rect">
                <a:avLst/>
              </a:prstGeom>
              <a:blipFill>
                <a:blip r:embed="rId16"/>
                <a:stretch>
                  <a:fillRect t="-1724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16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19D60-FA3E-B223-2E53-564AAAC4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implemented</a:t>
            </a:r>
            <a:r>
              <a:rPr lang="da-DK" dirty="0"/>
              <a:t> </a:t>
            </a:r>
            <a:r>
              <a:rPr lang="da-DK" dirty="0" err="1"/>
              <a:t>this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3960FFC-DB3C-05E1-EDE1-C0A3486DDD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4246" y="1446802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As </a:t>
                </a:r>
                <a:r>
                  <a:rPr lang="da-DK" dirty="0" err="1"/>
                  <a:t>mentioned</a:t>
                </a:r>
                <a:r>
                  <a:rPr lang="da-DK" dirty="0"/>
                  <a:t>: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Could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be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nice</a:t>
                </a:r>
                <a:r>
                  <a:rPr lang="da-DK" dirty="0">
                    <a:sym typeface="Wingdings" pitchFamily="2" charset="2"/>
                  </a:rPr>
                  <a:t> with guidance</a:t>
                </a:r>
              </a:p>
              <a:p>
                <a:pPr lvl="1"/>
                <a:r>
                  <a:rPr lang="da-DK" dirty="0" err="1">
                    <a:sym typeface="Wingdings" pitchFamily="2" charset="2"/>
                  </a:rPr>
                  <a:t>Does</a:t>
                </a:r>
                <a:r>
                  <a:rPr lang="da-DK" dirty="0">
                    <a:sym typeface="Wingdings" pitchFamily="2" charset="2"/>
                  </a:rPr>
                  <a:t> not </a:t>
                </a:r>
                <a:r>
                  <a:rPr lang="da-DK" dirty="0" err="1">
                    <a:sym typeface="Wingdings" pitchFamily="2" charset="2"/>
                  </a:rPr>
                  <a:t>change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anything</a:t>
                </a:r>
                <a:r>
                  <a:rPr lang="da-DK" dirty="0">
                    <a:sym typeface="Wingdings" pitchFamily="2" charset="2"/>
                  </a:rPr>
                  <a:t> in the derivations?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>
                    <a:sym typeface="Wingdings" pitchFamily="2" charset="2"/>
                  </a:rPr>
                  <a:t>For </a:t>
                </a:r>
                <a:r>
                  <a:rPr lang="da-DK" dirty="0" err="1">
                    <a:sym typeface="Wingdings" pitchFamily="2" charset="2"/>
                  </a:rPr>
                  <a:t>now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only</a:t>
                </a:r>
                <a:r>
                  <a:rPr lang="da-DK" dirty="0">
                    <a:sym typeface="Wingdings" pitchFamily="2" charset="2"/>
                  </a:rPr>
                  <a:t> class labels  Embedded </a:t>
                </a:r>
                <a:r>
                  <a:rPr lang="da-DK" dirty="0" err="1">
                    <a:sym typeface="Wingdings" pitchFamily="2" charset="2"/>
                  </a:rPr>
                  <a:t>into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learnable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vector</a:t>
                </a:r>
                <a:r>
                  <a:rPr lang="da-DK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𝑐</m:t>
                    </m:r>
                  </m:oMath>
                </a14:m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 err="1">
                    <a:sym typeface="Wingdings" pitchFamily="2" charset="2"/>
                  </a:rPr>
                  <a:t>Additionally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two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MLPs</a:t>
                </a:r>
                <a:r>
                  <a:rPr lang="da-DK" dirty="0"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𝛾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𝑐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𝛽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which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sees</a:t>
                </a:r>
                <a:r>
                  <a:rPr lang="da-DK" dirty="0">
                    <a:sym typeface="Wingdings" pitchFamily="2" charset="2"/>
                  </a:rPr>
                  <a:t> the </a:t>
                </a:r>
                <a:r>
                  <a:rPr lang="da-DK" dirty="0" err="1">
                    <a:sym typeface="Wingdings" pitchFamily="2" charset="2"/>
                  </a:rPr>
                  <a:t>condition</a:t>
                </a:r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>
                    <a:sym typeface="Wingdings" pitchFamily="2" charset="2"/>
                  </a:rPr>
                  <a:t>Shifts the inputs of the GNN</a:t>
                </a:r>
              </a:p>
              <a:p>
                <a:pPr lvl="1"/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3960FFC-DB3C-05E1-EDE1-C0A3486DD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4246" y="1446802"/>
                <a:ext cx="10515600" cy="4351338"/>
              </a:xfrm>
              <a:blipFill>
                <a:blip r:embed="rId2"/>
                <a:stretch>
                  <a:fillRect l="-965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llipse 18">
            <a:extLst>
              <a:ext uri="{FF2B5EF4-FFF2-40B4-BE49-F238E27FC236}">
                <a16:creationId xmlns:a16="http://schemas.microsoft.com/office/drawing/2014/main" id="{5E74A1E2-B264-6A8E-316E-D14983823E8F}"/>
              </a:ext>
            </a:extLst>
          </p:cNvPr>
          <p:cNvSpPr/>
          <p:nvPr/>
        </p:nvSpPr>
        <p:spPr>
          <a:xfrm>
            <a:off x="1831438" y="527073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908E286-04D6-6EAF-0810-50473D746EF8}"/>
              </a:ext>
            </a:extLst>
          </p:cNvPr>
          <p:cNvSpPr/>
          <p:nvPr/>
        </p:nvSpPr>
        <p:spPr>
          <a:xfrm rot="18910962">
            <a:off x="2992964" y="4641505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86542DC-1E25-6A02-6DDC-27AF2239E88D}"/>
              </a:ext>
            </a:extLst>
          </p:cNvPr>
          <p:cNvSpPr/>
          <p:nvPr/>
        </p:nvSpPr>
        <p:spPr>
          <a:xfrm rot="915767">
            <a:off x="2965473" y="5493403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636CFDB9-CD55-6FCF-99B6-037FFD6A78FE}"/>
              </a:ext>
            </a:extLst>
          </p:cNvPr>
          <p:cNvSpPr/>
          <p:nvPr/>
        </p:nvSpPr>
        <p:spPr>
          <a:xfrm rot="20911658">
            <a:off x="3879873" y="5975892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621ABFA-8DF2-A476-1AC7-C7C0B0F4EDF8}"/>
              </a:ext>
            </a:extLst>
          </p:cNvPr>
          <p:cNvSpPr/>
          <p:nvPr/>
        </p:nvSpPr>
        <p:spPr>
          <a:xfrm rot="20573567">
            <a:off x="4239808" y="4517595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15B5FA8E-BEB4-C072-FFEE-21C9D5D50D4A}"/>
              </a:ext>
            </a:extLst>
          </p:cNvPr>
          <p:cNvCxnSpPr>
            <a:stCxn id="19" idx="7"/>
            <a:endCxn id="20" idx="2"/>
          </p:cNvCxnSpPr>
          <p:nvPr/>
        </p:nvCxnSpPr>
        <p:spPr>
          <a:xfrm flipV="1">
            <a:off x="2236476" y="5046007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5C9967AE-3AAE-5D68-9E70-EEAFA62B7B64}"/>
              </a:ext>
            </a:extLst>
          </p:cNvPr>
          <p:cNvCxnSpPr>
            <a:cxnSpLocks/>
            <a:stCxn id="19" idx="6"/>
            <a:endCxn id="21" idx="2"/>
          </p:cNvCxnSpPr>
          <p:nvPr/>
        </p:nvCxnSpPr>
        <p:spPr>
          <a:xfrm>
            <a:off x="2305969" y="5508000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695BE9A9-642A-A35B-32C4-5ED6B5F0748F}"/>
              </a:ext>
            </a:extLst>
          </p:cNvPr>
          <p:cNvCxnSpPr>
            <a:cxnSpLocks/>
            <a:stCxn id="20" idx="3"/>
            <a:endCxn id="21" idx="0"/>
          </p:cNvCxnSpPr>
          <p:nvPr/>
        </p:nvCxnSpPr>
        <p:spPr>
          <a:xfrm>
            <a:off x="3229473" y="5116035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F48D2FA3-C83A-0FCA-3275-1A16249FCB35}"/>
              </a:ext>
            </a:extLst>
          </p:cNvPr>
          <p:cNvCxnSpPr>
            <a:cxnSpLocks/>
            <a:stCxn id="23" idx="2"/>
            <a:endCxn id="20" idx="5"/>
          </p:cNvCxnSpPr>
          <p:nvPr/>
        </p:nvCxnSpPr>
        <p:spPr>
          <a:xfrm flipH="1">
            <a:off x="3467494" y="4824655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ge forbindelse 27">
            <a:extLst>
              <a:ext uri="{FF2B5EF4-FFF2-40B4-BE49-F238E27FC236}">
                <a16:creationId xmlns:a16="http://schemas.microsoft.com/office/drawing/2014/main" id="{D39913F0-CD21-91E2-8867-4C0F11BB8735}"/>
              </a:ext>
            </a:extLst>
          </p:cNvPr>
          <p:cNvCxnSpPr>
            <a:cxnSpLocks/>
            <a:stCxn id="22" idx="1"/>
            <a:endCxn id="21" idx="6"/>
          </p:cNvCxnSpPr>
          <p:nvPr/>
        </p:nvCxnSpPr>
        <p:spPr>
          <a:xfrm flipH="1" flipV="1">
            <a:off x="3431635" y="5793128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131F7C81-8571-503D-9602-F002A1481452}"/>
                  </a:ext>
                </a:extLst>
              </p:cNvPr>
              <p:cNvSpPr txBox="1"/>
              <p:nvPr/>
            </p:nvSpPr>
            <p:spPr>
              <a:xfrm>
                <a:off x="559029" y="4663063"/>
                <a:ext cx="173406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9" name="Tekstfelt 28">
                <a:extLst>
                  <a:ext uri="{FF2B5EF4-FFF2-40B4-BE49-F238E27FC236}">
                    <a16:creationId xmlns:a16="http://schemas.microsoft.com/office/drawing/2014/main" id="{131F7C81-8571-503D-9602-F002A1481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29" y="4663063"/>
                <a:ext cx="1734064" cy="732573"/>
              </a:xfrm>
              <a:prstGeom prst="rect">
                <a:avLst/>
              </a:prstGeom>
              <a:blipFill>
                <a:blip r:embed="rId3"/>
                <a:stretch>
                  <a:fillRect l="-3650" t="-1724" r="-4380" b="-103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Ellipse 34">
            <a:extLst>
              <a:ext uri="{FF2B5EF4-FFF2-40B4-BE49-F238E27FC236}">
                <a16:creationId xmlns:a16="http://schemas.microsoft.com/office/drawing/2014/main" id="{B6B1DC57-6374-3E49-1BDC-B5CA8F7210D6}"/>
              </a:ext>
            </a:extLst>
          </p:cNvPr>
          <p:cNvSpPr/>
          <p:nvPr/>
        </p:nvSpPr>
        <p:spPr>
          <a:xfrm>
            <a:off x="8040926" y="2950632"/>
            <a:ext cx="3926828" cy="2095375"/>
          </a:xfrm>
          <a:prstGeom prst="ellipse">
            <a:avLst/>
          </a:prstGeom>
          <a:solidFill>
            <a:srgbClr val="FFF1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36" name="Billede 35" descr="Et billede, der indeholder gul, cirkel&#10;&#10;AI-genereret indhold kan være ukorrekt.">
            <a:extLst>
              <a:ext uri="{FF2B5EF4-FFF2-40B4-BE49-F238E27FC236}">
                <a16:creationId xmlns:a16="http://schemas.microsoft.com/office/drawing/2014/main" id="{E256D765-0E01-C09D-CF8A-8D98EECBF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182" y="3200353"/>
            <a:ext cx="1180010" cy="844235"/>
          </a:xfrm>
          <a:prstGeom prst="rect">
            <a:avLst/>
          </a:prstGeom>
        </p:spPr>
      </p:pic>
      <p:pic>
        <p:nvPicPr>
          <p:cNvPr id="37" name="Billede 36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AAA8E0FB-FC71-BEC8-A13A-E46021D7F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758" y="3347856"/>
            <a:ext cx="1180011" cy="845595"/>
          </a:xfrm>
          <a:prstGeom prst="rect">
            <a:avLst/>
          </a:prstGeom>
        </p:spPr>
      </p:pic>
      <p:sp>
        <p:nvSpPr>
          <p:cNvPr id="38" name="Tekstfelt 37">
            <a:extLst>
              <a:ext uri="{FF2B5EF4-FFF2-40B4-BE49-F238E27FC236}">
                <a16:creationId xmlns:a16="http://schemas.microsoft.com/office/drawing/2014/main" id="{F27A5F5C-CD0F-A2F4-9393-D68B5BC07908}"/>
              </a:ext>
            </a:extLst>
          </p:cNvPr>
          <p:cNvSpPr txBox="1"/>
          <p:nvPr/>
        </p:nvSpPr>
        <p:spPr>
          <a:xfrm>
            <a:off x="8540340" y="4095570"/>
            <a:ext cx="1248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1: Pure Au</a:t>
            </a:r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02609AA5-334C-6DFD-6C92-100114EEA533}"/>
              </a:ext>
            </a:extLst>
          </p:cNvPr>
          <p:cNvSpPr txBox="1"/>
          <p:nvPr/>
        </p:nvSpPr>
        <p:spPr>
          <a:xfrm>
            <a:off x="10313858" y="4322098"/>
            <a:ext cx="1247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2: Pure </a:t>
            </a:r>
            <a:r>
              <a:rPr lang="da-DK" sz="1100" dirty="0" err="1"/>
              <a:t>Pd</a:t>
            </a:r>
            <a:endParaRPr lang="da-DK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29ADD4D9-3575-E57E-CB8C-56313949C673}"/>
                  </a:ext>
                </a:extLst>
              </p:cNvPr>
              <p:cNvSpPr txBox="1"/>
              <p:nvPr/>
            </p:nvSpPr>
            <p:spPr>
              <a:xfrm>
                <a:off x="2103358" y="3733210"/>
                <a:ext cx="173406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0" name="Tekstfelt 39">
                <a:extLst>
                  <a:ext uri="{FF2B5EF4-FFF2-40B4-BE49-F238E27FC236}">
                    <a16:creationId xmlns:a16="http://schemas.microsoft.com/office/drawing/2014/main" id="{29ADD4D9-3575-E57E-CB8C-56313949C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358" y="3733210"/>
                <a:ext cx="1734064" cy="732573"/>
              </a:xfrm>
              <a:prstGeom prst="rect">
                <a:avLst/>
              </a:prstGeom>
              <a:blipFill>
                <a:blip r:embed="rId6"/>
                <a:stretch>
                  <a:fillRect l="-2920" r="-5109" b="-1016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kstfelt 40">
                <a:extLst>
                  <a:ext uri="{FF2B5EF4-FFF2-40B4-BE49-F238E27FC236}">
                    <a16:creationId xmlns:a16="http://schemas.microsoft.com/office/drawing/2014/main" id="{883BF05B-B650-C08E-C18C-D62FD3E39370}"/>
                  </a:ext>
                </a:extLst>
              </p:cNvPr>
              <p:cNvSpPr txBox="1"/>
              <p:nvPr/>
            </p:nvSpPr>
            <p:spPr>
              <a:xfrm>
                <a:off x="4615014" y="3956710"/>
                <a:ext cx="1734064" cy="73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1" name="Tekstfelt 40">
                <a:extLst>
                  <a:ext uri="{FF2B5EF4-FFF2-40B4-BE49-F238E27FC236}">
                    <a16:creationId xmlns:a16="http://schemas.microsoft.com/office/drawing/2014/main" id="{883BF05B-B650-C08E-C18C-D62FD3E39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014" y="3956710"/>
                <a:ext cx="1734064" cy="730777"/>
              </a:xfrm>
              <a:prstGeom prst="rect">
                <a:avLst/>
              </a:prstGeom>
              <a:blipFill>
                <a:blip r:embed="rId7"/>
                <a:stretch>
                  <a:fillRect l="-2899" r="-4348"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4914E57-4703-C7B0-9ED8-FCC6C7205465}"/>
                  </a:ext>
                </a:extLst>
              </p:cNvPr>
              <p:cNvSpPr txBox="1"/>
              <p:nvPr/>
            </p:nvSpPr>
            <p:spPr>
              <a:xfrm>
                <a:off x="4399897" y="5543796"/>
                <a:ext cx="173406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4914E57-4703-C7B0-9ED8-FCC6C7205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897" y="5543796"/>
                <a:ext cx="1734064" cy="732573"/>
              </a:xfrm>
              <a:prstGeom prst="rect">
                <a:avLst/>
              </a:prstGeom>
              <a:blipFill>
                <a:blip r:embed="rId8"/>
                <a:stretch>
                  <a:fillRect l="-2920" t="-1695" r="-5109"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kstfelt 43">
                <a:extLst>
                  <a:ext uri="{FF2B5EF4-FFF2-40B4-BE49-F238E27FC236}">
                    <a16:creationId xmlns:a16="http://schemas.microsoft.com/office/drawing/2014/main" id="{119B883E-2382-720D-D65D-3FB13D7AB094}"/>
                  </a:ext>
                </a:extLst>
              </p:cNvPr>
              <p:cNvSpPr txBox="1"/>
              <p:nvPr/>
            </p:nvSpPr>
            <p:spPr>
              <a:xfrm>
                <a:off x="1760031" y="5926293"/>
                <a:ext cx="173406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4" name="Tekstfelt 43">
                <a:extLst>
                  <a:ext uri="{FF2B5EF4-FFF2-40B4-BE49-F238E27FC236}">
                    <a16:creationId xmlns:a16="http://schemas.microsoft.com/office/drawing/2014/main" id="{119B883E-2382-720D-D65D-3FB13D7AB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031" y="5926293"/>
                <a:ext cx="1734064" cy="732573"/>
              </a:xfrm>
              <a:prstGeom prst="rect">
                <a:avLst/>
              </a:prstGeom>
              <a:blipFill>
                <a:blip r:embed="rId9"/>
                <a:stretch>
                  <a:fillRect l="-2899" r="-4348" b="-8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Lige forbindelse 45">
            <a:extLst>
              <a:ext uri="{FF2B5EF4-FFF2-40B4-BE49-F238E27FC236}">
                <a16:creationId xmlns:a16="http://schemas.microsoft.com/office/drawing/2014/main" id="{48F82AC4-C123-22C7-65E9-BC0E84BDA995}"/>
              </a:ext>
            </a:extLst>
          </p:cNvPr>
          <p:cNvCxnSpPr>
            <a:cxnSpLocks/>
          </p:cNvCxnSpPr>
          <p:nvPr/>
        </p:nvCxnSpPr>
        <p:spPr>
          <a:xfrm flipH="1">
            <a:off x="6219710" y="5395636"/>
            <a:ext cx="860359" cy="0"/>
          </a:xfrm>
          <a:prstGeom prst="line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kstfelt 47">
            <a:extLst>
              <a:ext uri="{FF2B5EF4-FFF2-40B4-BE49-F238E27FC236}">
                <a16:creationId xmlns:a16="http://schemas.microsoft.com/office/drawing/2014/main" id="{FF50B08D-2289-E461-4979-BBB68141DD11}"/>
              </a:ext>
            </a:extLst>
          </p:cNvPr>
          <p:cNvSpPr txBox="1"/>
          <p:nvPr/>
        </p:nvSpPr>
        <p:spPr>
          <a:xfrm>
            <a:off x="7169913" y="5082315"/>
            <a:ext cx="3513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Do message </a:t>
            </a:r>
            <a:r>
              <a:rPr lang="da-DK" dirty="0" err="1"/>
              <a:t>passing</a:t>
            </a:r>
            <a:r>
              <a:rPr lang="da-DK" dirty="0"/>
              <a:t> and </a:t>
            </a:r>
            <a:r>
              <a:rPr lang="da-DK" dirty="0" err="1"/>
              <a:t>softmax</a:t>
            </a:r>
            <a:br>
              <a:rPr lang="da-DK" dirty="0"/>
            </a:br>
            <a:r>
              <a:rPr lang="da-DK" dirty="0"/>
              <a:t>as </a:t>
            </a:r>
            <a:r>
              <a:rPr lang="da-DK" dirty="0" err="1"/>
              <a:t>shown</a:t>
            </a:r>
            <a:r>
              <a:rPr lang="da-DK" dirty="0"/>
              <a:t> </a:t>
            </a:r>
            <a:r>
              <a:rPr lang="da-DK" dirty="0" err="1"/>
              <a:t>earlier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79488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EA4631-316E-E16F-8AC2-E34EDB7D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How I </a:t>
            </a:r>
            <a:r>
              <a:rPr lang="da-DK" dirty="0" err="1"/>
              <a:t>implemented</a:t>
            </a:r>
            <a:r>
              <a:rPr lang="da-DK" dirty="0"/>
              <a:t> </a:t>
            </a:r>
            <a:r>
              <a:rPr lang="da-DK" dirty="0" err="1"/>
              <a:t>this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12F4C7E-8D94-A155-88D8-2827CE6F30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05754" cy="4351338"/>
              </a:xfrm>
            </p:spPr>
            <p:txBody>
              <a:bodyPr>
                <a:normAutofit/>
              </a:bodyPr>
              <a:lstStyle/>
              <a:p>
                <a:r>
                  <a:rPr lang="da-DK" dirty="0"/>
                  <a:t>Conditioning is </a:t>
                </a:r>
                <a:r>
                  <a:rPr lang="da-DK" dirty="0" err="1"/>
                  <a:t>used</a:t>
                </a:r>
                <a:r>
                  <a:rPr lang="da-DK" dirty="0"/>
                  <a:t> </a:t>
                </a:r>
                <a:r>
                  <a:rPr lang="da-DK" dirty="0" err="1"/>
                  <a:t>together</a:t>
                </a:r>
                <a:r>
                  <a:rPr lang="da-DK" dirty="0"/>
                  <a:t> with </a:t>
                </a:r>
                <a:r>
                  <a:rPr lang="da-DK" dirty="0" err="1"/>
                  <a:t>classifier</a:t>
                </a:r>
                <a:r>
                  <a:rPr lang="da-DK" dirty="0"/>
                  <a:t> </a:t>
                </a:r>
                <a:r>
                  <a:rPr lang="da-DK" dirty="0" err="1"/>
                  <a:t>free</a:t>
                </a:r>
                <a:r>
                  <a:rPr lang="da-DK" dirty="0"/>
                  <a:t> guidance</a:t>
                </a:r>
              </a:p>
              <a:p>
                <a:r>
                  <a:rPr lang="da-DK" dirty="0"/>
                  <a:t>Sampling </a:t>
                </a:r>
                <a:r>
                  <a:rPr lang="da-DK" dirty="0" err="1"/>
                  <a:t>then</a:t>
                </a:r>
                <a:r>
                  <a:rPr lang="da-DK" dirty="0"/>
                  <a:t> </a:t>
                </a:r>
                <a:r>
                  <a:rPr lang="da-DK" dirty="0" err="1"/>
                  <a:t>becomes</a:t>
                </a:r>
                <a:r>
                  <a:rPr lang="da-DK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𝑡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𝑐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𝑠𝑜𝑓𝑡𝑚𝑎𝑥</m:t>
                    </m:r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𝑔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𝐺𝑁𝑁</m:t>
                        </m:r>
                        <m:d>
                          <m:d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,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𝑐</m:t>
                            </m:r>
                          </m:e>
                        </m:d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𝐺𝑁𝑁</m:t>
                        </m:r>
                        <m:d>
                          <m:d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,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∅</m:t>
                            </m:r>
                          </m:e>
                        </m:d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(1−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𝑔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da-DK" dirty="0">
                            <a:sym typeface="Wingdings" pitchFamily="2" charset="2"/>
                          </a:rPr>
                          <m:t> </m:t>
                        </m:r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Where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𝐺𝑁𝑁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𝑐</m:t>
                        </m:r>
                      </m:e>
                    </m:d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means</a:t>
                </a:r>
                <a:r>
                  <a:rPr lang="da-DK" dirty="0"/>
                  <a:t> the final </a:t>
                </a:r>
                <a:r>
                  <a:rPr lang="da-DK" dirty="0" err="1"/>
                  <a:t>representation</a:t>
                </a:r>
                <a:r>
                  <a:rPr lang="da-DK" dirty="0"/>
                  <a:t> of the atoms.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∅</m:t>
                    </m:r>
                  </m:oMath>
                </a14:m>
                <a:r>
                  <a:rPr lang="da-DK" dirty="0"/>
                  <a:t> is a </a:t>
                </a:r>
                <a:r>
                  <a:rPr lang="da-DK" dirty="0" err="1"/>
                  <a:t>learnable</a:t>
                </a:r>
                <a:r>
                  <a:rPr lang="da-DK" dirty="0"/>
                  <a:t> </a:t>
                </a:r>
                <a:r>
                  <a:rPr lang="da-DK" dirty="0" err="1"/>
                  <a:t>vector</a:t>
                </a:r>
                <a:r>
                  <a:rPr lang="da-DK" dirty="0"/>
                  <a:t> for </a:t>
                </a:r>
                <a:r>
                  <a:rPr lang="da-DK" dirty="0" err="1"/>
                  <a:t>when</a:t>
                </a:r>
                <a:r>
                  <a:rPr lang="da-DK" dirty="0"/>
                  <a:t> no </a:t>
                </a:r>
                <a:r>
                  <a:rPr lang="da-DK" dirty="0" err="1"/>
                  <a:t>condition</a:t>
                </a:r>
                <a:r>
                  <a:rPr lang="da-DK" dirty="0"/>
                  <a:t> is </a:t>
                </a:r>
                <a:r>
                  <a:rPr lang="da-DK" dirty="0" err="1"/>
                  <a:t>applied</a:t>
                </a:r>
                <a:endParaRPr lang="da-DK" dirty="0"/>
              </a:p>
              <a:p>
                <a:r>
                  <a:rPr lang="da-DK" dirty="0"/>
                  <a:t>For </a:t>
                </a:r>
                <a:r>
                  <a:rPr lang="da-DK" dirty="0" err="1"/>
                  <a:t>training</a:t>
                </a:r>
                <a:r>
                  <a:rPr lang="da-DK" dirty="0"/>
                  <a:t>:</a:t>
                </a:r>
              </a:p>
              <a:p>
                <a:pPr lvl="1"/>
                <a:r>
                  <a:rPr lang="da-DK" dirty="0" err="1"/>
                  <a:t>Simply</a:t>
                </a:r>
                <a:r>
                  <a:rPr lang="da-DK" dirty="0"/>
                  <a:t> drop the </a:t>
                </a:r>
                <a:r>
                  <a:rPr lang="da-DK" dirty="0" err="1"/>
                  <a:t>conditon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r>
                      <a:rPr lang="da-DK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da-DK" dirty="0"/>
                  <a:t> with </a:t>
                </a:r>
                <a:r>
                  <a:rPr lang="da-DK" dirty="0" err="1"/>
                  <a:t>some</a:t>
                </a:r>
                <a:r>
                  <a:rPr lang="da-DK" dirty="0"/>
                  <a:t> </a:t>
                </a:r>
                <a:r>
                  <a:rPr lang="da-DK" dirty="0" err="1"/>
                  <a:t>probability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𝑑𝑟𝑜𝑝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12F4C7E-8D94-A155-88D8-2827CE6F30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05754" cy="4351338"/>
              </a:xfrm>
              <a:blipFill>
                <a:blip r:embed="rId2"/>
                <a:stretch>
                  <a:fillRect l="-1019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012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AF95C929-82E7-0B21-CE7D-26803B248BF6}"/>
              </a:ext>
            </a:extLst>
          </p:cNvPr>
          <p:cNvSpPr/>
          <p:nvPr/>
        </p:nvSpPr>
        <p:spPr>
          <a:xfrm>
            <a:off x="6773535" y="3479408"/>
            <a:ext cx="5418465" cy="2891320"/>
          </a:xfrm>
          <a:prstGeom prst="ellipse">
            <a:avLst/>
          </a:prstGeom>
          <a:solidFill>
            <a:srgbClr val="FFF1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FDEE89-170A-DC01-83C1-A54502DC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ED5C6A9-A40E-6E5D-7737-C7F1DA4E4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2000" dirty="0"/>
                  <a:t>Trial dataset: 400 </a:t>
                </a:r>
                <a:r>
                  <a:rPr lang="da-DK" sz="2000" dirty="0" err="1"/>
                  <a:t>structures</a:t>
                </a:r>
                <a:r>
                  <a:rPr lang="da-DK" sz="2000" dirty="0"/>
                  <a:t> 50:50 split </a:t>
                </a:r>
                <a:r>
                  <a:rPr lang="da-DK" sz="2000" dirty="0" err="1"/>
                  <a:t>between</a:t>
                </a:r>
                <a:r>
                  <a:rPr lang="da-DK" sz="2000" dirty="0"/>
                  <a:t> 2 </a:t>
                </a:r>
                <a:r>
                  <a:rPr lang="da-DK" sz="2000" dirty="0" err="1"/>
                  <a:t>classes</a:t>
                </a:r>
                <a:endParaRPr lang="da-DK" sz="2000" dirty="0"/>
              </a:p>
              <a:p>
                <a:pPr lvl="1"/>
                <a:r>
                  <a:rPr lang="da-DK" sz="1600" dirty="0"/>
                  <a:t>Blue atoms: </a:t>
                </a:r>
                <a:r>
                  <a:rPr lang="da-DK" sz="1600" dirty="0" err="1"/>
                  <a:t>Pd</a:t>
                </a:r>
                <a:r>
                  <a:rPr lang="da-DK" sz="1600" dirty="0"/>
                  <a:t>, Yellow atoms: Au</a:t>
                </a:r>
              </a:p>
              <a:p>
                <a:r>
                  <a:rPr lang="da-DK" sz="2000" dirty="0"/>
                  <a:t>Set </a:t>
                </a:r>
                <a:r>
                  <a:rPr lang="da-DK" sz="2000" dirty="0" err="1"/>
                  <a:t>categorical</a:t>
                </a:r>
                <a:r>
                  <a:rPr lang="da-DK" sz="2000" dirty="0"/>
                  <a:t> </a:t>
                </a:r>
                <a:r>
                  <a:rPr lang="da-DK" sz="2000" dirty="0" err="1"/>
                  <a:t>space</a:t>
                </a:r>
                <a:r>
                  <a:rPr lang="da-DK" sz="20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𝐴𝑢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𝑃𝑑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𝑅h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𝑁𝑖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𝐺𝑎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</m:e>
                    </m:d>
                  </m:oMath>
                </a14:m>
                <a:endParaRPr lang="da-DK" sz="2000" b="0" dirty="0"/>
              </a:p>
              <a:p>
                <a:r>
                  <a:rPr lang="da-DK" sz="2000" dirty="0"/>
                  <a:t>Using </a:t>
                </a:r>
                <a:r>
                  <a:rPr lang="da-DK" sz="2000" dirty="0" err="1"/>
                  <a:t>Classifier</a:t>
                </a:r>
                <a:r>
                  <a:rPr lang="da-DK" sz="2000" dirty="0"/>
                  <a:t> </a:t>
                </a:r>
                <a:r>
                  <a:rPr lang="da-DK" sz="2000" dirty="0" err="1"/>
                  <a:t>free</a:t>
                </a:r>
                <a:r>
                  <a:rPr lang="da-DK" sz="2000" dirty="0"/>
                  <a:t> guidance: Drop </a:t>
                </a:r>
                <a:r>
                  <a:rPr lang="da-DK" sz="2000" dirty="0" err="1"/>
                  <a:t>probability</a:t>
                </a:r>
                <a:r>
                  <a:rPr lang="da-DK" sz="2000" dirty="0"/>
                  <a:t>: 10%</a:t>
                </a:r>
              </a:p>
              <a:p>
                <a:r>
                  <a:rPr lang="da-DK" sz="2000" dirty="0"/>
                  <a:t>1000 timesteps</a:t>
                </a:r>
              </a:p>
              <a:p>
                <a:r>
                  <a:rPr lang="da-DK" sz="2000" dirty="0" err="1"/>
                  <a:t>Tried</a:t>
                </a:r>
                <a:r>
                  <a:rPr lang="da-DK" sz="2000" dirty="0"/>
                  <a:t> </a:t>
                </a:r>
                <a:r>
                  <a:rPr lang="da-DK" sz="2000" dirty="0" err="1"/>
                  <a:t>both</a:t>
                </a:r>
                <a:r>
                  <a:rPr lang="da-DK" sz="2000" dirty="0"/>
                  <a:t> Uniform transitions &amp; </a:t>
                </a:r>
                <a:r>
                  <a:rPr lang="da-DK" sz="2000" dirty="0" err="1"/>
                  <a:t>Absorbing</a:t>
                </a:r>
                <a:r>
                  <a:rPr lang="da-DK" sz="2000" dirty="0"/>
                  <a:t> </a:t>
                </a:r>
                <a:r>
                  <a:rPr lang="da-DK" sz="2000" dirty="0" err="1"/>
                  <a:t>state</a:t>
                </a:r>
                <a:endParaRPr lang="da-DK" sz="200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3ED5C6A9-A40E-6E5D-7737-C7F1DA4E4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16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kstfelt 7">
            <a:extLst>
              <a:ext uri="{FF2B5EF4-FFF2-40B4-BE49-F238E27FC236}">
                <a16:creationId xmlns:a16="http://schemas.microsoft.com/office/drawing/2014/main" id="{BE215E1F-7595-1D1D-C5FD-43C92F4C306B}"/>
              </a:ext>
            </a:extLst>
          </p:cNvPr>
          <p:cNvSpPr txBox="1"/>
          <p:nvPr/>
        </p:nvSpPr>
        <p:spPr>
          <a:xfrm>
            <a:off x="7555352" y="5307801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5E96C86C-BBA8-4F7E-EEC9-771B96D60298}"/>
              </a:ext>
            </a:extLst>
          </p:cNvPr>
          <p:cNvSpPr txBox="1"/>
          <p:nvPr/>
        </p:nvSpPr>
        <p:spPr>
          <a:xfrm>
            <a:off x="8828389" y="3041869"/>
            <a:ext cx="130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Training set</a:t>
            </a:r>
          </a:p>
        </p:txBody>
      </p:sp>
      <p:pic>
        <p:nvPicPr>
          <p:cNvPr id="10" name="Billede 9" descr="Et billede, der indeholder cirkel, gul, Farverigt&#10;&#10;AI-genereret indhold kan være ukorrekt.">
            <a:extLst>
              <a:ext uri="{FF2B5EF4-FFF2-40B4-BE49-F238E27FC236}">
                <a16:creationId xmlns:a16="http://schemas.microsoft.com/office/drawing/2014/main" id="{6A22EAC7-FF28-8A2C-5808-F7339FDCC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864" y="3680160"/>
            <a:ext cx="1011428" cy="720000"/>
          </a:xfrm>
          <a:prstGeom prst="rect">
            <a:avLst/>
          </a:prstGeom>
        </p:spPr>
      </p:pic>
      <p:pic>
        <p:nvPicPr>
          <p:cNvPr id="14" name="Billede 13" descr="Et billede, der indeholder gul, cirkel, Farverigt&#10;&#10;AI-genereret indhold kan være ukorrekt.">
            <a:extLst>
              <a:ext uri="{FF2B5EF4-FFF2-40B4-BE49-F238E27FC236}">
                <a16:creationId xmlns:a16="http://schemas.microsoft.com/office/drawing/2014/main" id="{D620DCC8-46FA-63A9-E921-7823759B3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227" y="4565068"/>
            <a:ext cx="1011428" cy="720000"/>
          </a:xfrm>
          <a:prstGeom prst="rect">
            <a:avLst/>
          </a:prstGeom>
        </p:spPr>
      </p:pic>
      <p:pic>
        <p:nvPicPr>
          <p:cNvPr id="16" name="Billede 15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73317DD6-A2CF-8762-3EDE-C2538DBA3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9730" y="5174084"/>
            <a:ext cx="1003464" cy="720000"/>
          </a:xfrm>
          <a:prstGeom prst="rect">
            <a:avLst/>
          </a:prstGeom>
        </p:spPr>
      </p:pic>
      <p:pic>
        <p:nvPicPr>
          <p:cNvPr id="18" name="Billede 17" descr="Et billede, der indeholder cirkel, Farverigt, Grafik&#10;&#10;AI-genereret indhold kan være ukorrekt.">
            <a:extLst>
              <a:ext uri="{FF2B5EF4-FFF2-40B4-BE49-F238E27FC236}">
                <a16:creationId xmlns:a16="http://schemas.microsoft.com/office/drawing/2014/main" id="{97FC06E8-1DA6-549E-39EC-10F95D45A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2953" y="4550132"/>
            <a:ext cx="1003464" cy="720000"/>
          </a:xfrm>
          <a:prstGeom prst="rect">
            <a:avLst/>
          </a:prstGeom>
        </p:spPr>
      </p:pic>
      <p:sp>
        <p:nvSpPr>
          <p:cNvPr id="19" name="Tekstfelt 18">
            <a:extLst>
              <a:ext uri="{FF2B5EF4-FFF2-40B4-BE49-F238E27FC236}">
                <a16:creationId xmlns:a16="http://schemas.microsoft.com/office/drawing/2014/main" id="{EA8415B6-F29D-CA4D-AFE7-55BCF2007097}"/>
              </a:ext>
            </a:extLst>
          </p:cNvPr>
          <p:cNvSpPr txBox="1"/>
          <p:nvPr/>
        </p:nvSpPr>
        <p:spPr>
          <a:xfrm>
            <a:off x="8422970" y="4434263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87BF30FF-A18A-6B39-2C2E-08967B98529A}"/>
              </a:ext>
            </a:extLst>
          </p:cNvPr>
          <p:cNvSpPr txBox="1"/>
          <p:nvPr/>
        </p:nvSpPr>
        <p:spPr>
          <a:xfrm>
            <a:off x="9693463" y="5915353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C8CCEBE9-E67A-41FA-799B-E1C4AAD25DA2}"/>
              </a:ext>
            </a:extLst>
          </p:cNvPr>
          <p:cNvSpPr txBox="1"/>
          <p:nvPr/>
        </p:nvSpPr>
        <p:spPr>
          <a:xfrm>
            <a:off x="10938725" y="5286701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</a:t>
            </a:r>
          </a:p>
        </p:txBody>
      </p:sp>
      <p:pic>
        <p:nvPicPr>
          <p:cNvPr id="23" name="Billede 22" descr="Et billede, der indeholder cirkel, Farverigt, gul&#10;&#10;AI-genereret indhold kan være ukorrekt.">
            <a:extLst>
              <a:ext uri="{FF2B5EF4-FFF2-40B4-BE49-F238E27FC236}">
                <a16:creationId xmlns:a16="http://schemas.microsoft.com/office/drawing/2014/main" id="{0D7F1521-A244-E24C-0799-4984427C0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157" y="4717743"/>
            <a:ext cx="1011429" cy="720000"/>
          </a:xfrm>
          <a:prstGeom prst="rect">
            <a:avLst/>
          </a:prstGeom>
        </p:spPr>
      </p:pic>
      <p:pic>
        <p:nvPicPr>
          <p:cNvPr id="25" name="Billede 24" descr="Et billede, der indeholder cirkel, Farverigt&#10;&#10;AI-genereret indhold kan være ukorrekt.">
            <a:extLst>
              <a:ext uri="{FF2B5EF4-FFF2-40B4-BE49-F238E27FC236}">
                <a16:creationId xmlns:a16="http://schemas.microsoft.com/office/drawing/2014/main" id="{BF3A37AD-04E7-DC41-B3ED-A57A255911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2586" y="3830132"/>
            <a:ext cx="1003465" cy="720000"/>
          </a:xfrm>
          <a:prstGeom prst="rect">
            <a:avLst/>
          </a:prstGeom>
        </p:spPr>
      </p:pic>
      <p:sp>
        <p:nvSpPr>
          <p:cNvPr id="26" name="Tekstfelt 25">
            <a:extLst>
              <a:ext uri="{FF2B5EF4-FFF2-40B4-BE49-F238E27FC236}">
                <a16:creationId xmlns:a16="http://schemas.microsoft.com/office/drawing/2014/main" id="{A27FFC1D-A2F7-DD1A-1817-A82BD1C258DD}"/>
              </a:ext>
            </a:extLst>
          </p:cNvPr>
          <p:cNvSpPr txBox="1"/>
          <p:nvPr/>
        </p:nvSpPr>
        <p:spPr>
          <a:xfrm>
            <a:off x="8609935" y="5505950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1</a:t>
            </a:r>
          </a:p>
        </p:txBody>
      </p:sp>
      <p:sp>
        <p:nvSpPr>
          <p:cNvPr id="27" name="Tekstfelt 26">
            <a:extLst>
              <a:ext uri="{FF2B5EF4-FFF2-40B4-BE49-F238E27FC236}">
                <a16:creationId xmlns:a16="http://schemas.microsoft.com/office/drawing/2014/main" id="{7A8E42E0-B5D8-5105-2321-63118DEC1C29}"/>
              </a:ext>
            </a:extLst>
          </p:cNvPr>
          <p:cNvSpPr txBox="1"/>
          <p:nvPr/>
        </p:nvSpPr>
        <p:spPr>
          <a:xfrm>
            <a:off x="9738781" y="4571401"/>
            <a:ext cx="637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Class 2</a:t>
            </a:r>
          </a:p>
        </p:txBody>
      </p:sp>
    </p:spTree>
    <p:extLst>
      <p:ext uri="{BB962C8B-B14F-4D97-AF65-F5344CB8AC3E}">
        <p14:creationId xmlns:p14="http://schemas.microsoft.com/office/powerpoint/2010/main" val="124344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C0832AC-B9C8-1000-255E-04546E1C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827" y="-366331"/>
            <a:ext cx="10515600" cy="1325563"/>
          </a:xfrm>
        </p:spPr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</p:txBody>
      </p:sp>
      <p:sp>
        <p:nvSpPr>
          <p:cNvPr id="39" name="Afrundet rektangel 41">
            <a:extLst>
              <a:ext uri="{FF2B5EF4-FFF2-40B4-BE49-F238E27FC236}">
                <a16:creationId xmlns:a16="http://schemas.microsoft.com/office/drawing/2014/main" id="{252B0226-77A2-5710-DDBB-3E143E1571B3}"/>
              </a:ext>
            </a:extLst>
          </p:cNvPr>
          <p:cNvSpPr/>
          <p:nvPr/>
        </p:nvSpPr>
        <p:spPr>
          <a:xfrm>
            <a:off x="59306" y="1348565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2" name="Afrundet rektangel 41">
            <a:extLst>
              <a:ext uri="{FF2B5EF4-FFF2-40B4-BE49-F238E27FC236}">
                <a16:creationId xmlns:a16="http://schemas.microsoft.com/office/drawing/2014/main" id="{451F0ECF-E193-1279-AB18-D83BB9742C23}"/>
              </a:ext>
            </a:extLst>
          </p:cNvPr>
          <p:cNvSpPr/>
          <p:nvPr/>
        </p:nvSpPr>
        <p:spPr>
          <a:xfrm>
            <a:off x="6343009" y="1310086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20" name="Pladsholder til indhold 19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85B77D26-8024-CE5A-44DA-442A73391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129" y="4922334"/>
            <a:ext cx="2399999" cy="1800000"/>
          </a:xfrm>
        </p:spPr>
      </p:pic>
      <p:pic>
        <p:nvPicPr>
          <p:cNvPr id="22" name="Billede 21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AEAE2641-9789-0225-FE7A-E5CF75431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173" y="3356727"/>
            <a:ext cx="2399999" cy="1800000"/>
          </a:xfrm>
          <a:prstGeom prst="rect">
            <a:avLst/>
          </a:prstGeom>
        </p:spPr>
      </p:pic>
      <p:pic>
        <p:nvPicPr>
          <p:cNvPr id="24" name="Billede 23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EE6A171D-9425-7B80-18A8-6C5BBE67F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468" y="1607753"/>
            <a:ext cx="2400000" cy="1800000"/>
          </a:xfrm>
          <a:prstGeom prst="rect">
            <a:avLst/>
          </a:prstGeom>
        </p:spPr>
      </p:pic>
      <p:pic>
        <p:nvPicPr>
          <p:cNvPr id="26" name="Billede 25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DB05E38F-797B-6FF8-9B03-AA410F7D7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85" y="3324817"/>
            <a:ext cx="2399999" cy="1800000"/>
          </a:xfrm>
          <a:prstGeom prst="rect">
            <a:avLst/>
          </a:prstGeom>
        </p:spPr>
      </p:pic>
      <p:pic>
        <p:nvPicPr>
          <p:cNvPr id="28" name="Billede 27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1BE5C18D-ED61-687E-834C-F088F9B53D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07" y="1591961"/>
            <a:ext cx="2400000" cy="1800000"/>
          </a:xfrm>
          <a:prstGeom prst="rect">
            <a:avLst/>
          </a:prstGeom>
        </p:spPr>
      </p:pic>
      <p:pic>
        <p:nvPicPr>
          <p:cNvPr id="30" name="Billede 29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B9EB74DB-827F-6A19-DF4F-F2FA6471B5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5751" y="1544057"/>
            <a:ext cx="2400000" cy="1800000"/>
          </a:xfrm>
          <a:prstGeom prst="rect">
            <a:avLst/>
          </a:prstGeom>
        </p:spPr>
      </p:pic>
      <p:pic>
        <p:nvPicPr>
          <p:cNvPr id="32" name="Billede 31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7FC6BFD3-6DB6-4DEB-CB5F-0A9079AE96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3880" y="1524817"/>
            <a:ext cx="2400000" cy="1800000"/>
          </a:xfrm>
          <a:prstGeom prst="rect">
            <a:avLst/>
          </a:prstGeom>
        </p:spPr>
      </p:pic>
      <p:pic>
        <p:nvPicPr>
          <p:cNvPr id="34" name="Billede 33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CA1D8240-5B8F-22AC-5A1E-07EFEA0F66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0140" y="3385818"/>
            <a:ext cx="2400000" cy="1800000"/>
          </a:xfrm>
          <a:prstGeom prst="rect">
            <a:avLst/>
          </a:prstGeom>
        </p:spPr>
      </p:pic>
      <p:pic>
        <p:nvPicPr>
          <p:cNvPr id="36" name="Billede 35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D9D89060-928B-91A1-F191-37C0ACD3CC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6758" y="4922334"/>
            <a:ext cx="2400000" cy="1800000"/>
          </a:xfrm>
          <a:prstGeom prst="rect">
            <a:avLst/>
          </a:prstGeom>
        </p:spPr>
      </p:pic>
      <p:pic>
        <p:nvPicPr>
          <p:cNvPr id="38" name="Billede 37" descr="Et billede, der indeholder rød, Karmin&#10;&#10;AI-genereret indhold kan være ukorrekt.">
            <a:extLst>
              <a:ext uri="{FF2B5EF4-FFF2-40B4-BE49-F238E27FC236}">
                <a16:creationId xmlns:a16="http://schemas.microsoft.com/office/drawing/2014/main" id="{44DE1FE3-F3CF-9C00-0008-D907C7ED4F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1361" y="3337357"/>
            <a:ext cx="2400000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6DDC17D-C289-5128-A530-8ADE08D8C8F4}"/>
                  </a:ext>
                </a:extLst>
              </p:cNvPr>
              <p:cNvSpPr txBox="1"/>
              <p:nvPr/>
            </p:nvSpPr>
            <p:spPr>
              <a:xfrm>
                <a:off x="1073730" y="554829"/>
                <a:ext cx="698202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Absorbing </a:t>
                </a:r>
                <a:r>
                  <a:rPr lang="da-DK" dirty="0" err="1"/>
                  <a:t>state</a:t>
                </a:r>
                <a:r>
                  <a:rPr lang="da-DK" dirty="0"/>
                  <a:t> - Cosine time </a:t>
                </a:r>
                <a:r>
                  <a:rPr lang="da-DK" dirty="0" err="1"/>
                  <a:t>schedule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;1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Guidance </a:t>
                </a:r>
                <a:r>
                  <a:rPr lang="da-DK" dirty="0" err="1"/>
                  <a:t>scale</a:t>
                </a:r>
                <a:r>
                  <a:rPr lang="da-DK" dirty="0"/>
                  <a:t>: 2.0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</p:txBody>
          </p:sp>
        </mc:Choice>
        <mc:Fallback xmlns="">
          <p:sp>
            <p:nvSpPr>
              <p:cNvPr id="43" name="Tekstfelt 42">
                <a:extLst>
                  <a:ext uri="{FF2B5EF4-FFF2-40B4-BE49-F238E27FC236}">
                    <a16:creationId xmlns:a16="http://schemas.microsoft.com/office/drawing/2014/main" id="{A6DDC17D-C289-5128-A530-8ADE08D8C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30" y="554829"/>
                <a:ext cx="6982021" cy="923330"/>
              </a:xfrm>
              <a:prstGeom prst="rect">
                <a:avLst/>
              </a:prstGeom>
              <a:blipFill>
                <a:blip r:embed="rId12"/>
                <a:stretch>
                  <a:fillRect l="-544" t="-270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kstfelt 1">
            <a:extLst>
              <a:ext uri="{FF2B5EF4-FFF2-40B4-BE49-F238E27FC236}">
                <a16:creationId xmlns:a16="http://schemas.microsoft.com/office/drawing/2014/main" id="{51C62D26-5CA6-3B2D-7FD8-70BE8C4451D6}"/>
              </a:ext>
            </a:extLst>
          </p:cNvPr>
          <p:cNvSpPr txBox="1"/>
          <p:nvPr/>
        </p:nvSpPr>
        <p:spPr>
          <a:xfrm>
            <a:off x="1607763" y="1388658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1 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0D41D9CA-D9E9-1E78-D08D-8034A25EDB53}"/>
              </a:ext>
            </a:extLst>
          </p:cNvPr>
          <p:cNvSpPr txBox="1"/>
          <p:nvPr/>
        </p:nvSpPr>
        <p:spPr>
          <a:xfrm>
            <a:off x="7970306" y="1364023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2 </a:t>
            </a:r>
          </a:p>
        </p:txBody>
      </p:sp>
    </p:spTree>
    <p:extLst>
      <p:ext uri="{BB962C8B-B14F-4D97-AF65-F5344CB8AC3E}">
        <p14:creationId xmlns:p14="http://schemas.microsoft.com/office/powerpoint/2010/main" val="4171689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0A3A-68D3-D4DF-B810-C1B2277F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47D2BC3-BC29-9FF6-B20E-EB9BC01C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24" y="-404649"/>
            <a:ext cx="10515600" cy="1325563"/>
          </a:xfrm>
        </p:spPr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my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endParaRPr lang="da-DK" dirty="0"/>
          </a:p>
        </p:txBody>
      </p:sp>
      <p:sp>
        <p:nvSpPr>
          <p:cNvPr id="39" name="Afrundet rektangel 41">
            <a:extLst>
              <a:ext uri="{FF2B5EF4-FFF2-40B4-BE49-F238E27FC236}">
                <a16:creationId xmlns:a16="http://schemas.microsoft.com/office/drawing/2014/main" id="{BE98295B-D467-03A3-44C1-40B9228EDD97}"/>
              </a:ext>
            </a:extLst>
          </p:cNvPr>
          <p:cNvSpPr/>
          <p:nvPr/>
        </p:nvSpPr>
        <p:spPr>
          <a:xfrm>
            <a:off x="59306" y="1348565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sp>
        <p:nvSpPr>
          <p:cNvPr id="42" name="Afrundet rektangel 41">
            <a:extLst>
              <a:ext uri="{FF2B5EF4-FFF2-40B4-BE49-F238E27FC236}">
                <a16:creationId xmlns:a16="http://schemas.microsoft.com/office/drawing/2014/main" id="{0CC12255-A8F2-3558-A50A-BCEEA863FDB8}"/>
              </a:ext>
            </a:extLst>
          </p:cNvPr>
          <p:cNvSpPr/>
          <p:nvPr/>
        </p:nvSpPr>
        <p:spPr>
          <a:xfrm>
            <a:off x="6343009" y="1310086"/>
            <a:ext cx="5760321" cy="5483922"/>
          </a:xfrm>
          <a:prstGeom prst="roundRect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500"/>
          </a:p>
        </p:txBody>
      </p:sp>
      <p:pic>
        <p:nvPicPr>
          <p:cNvPr id="6" name="Billede 5" descr="Et billede, der indeholder clipart, cirkel, Grafik, tegneserie&#10;&#10;AI-genereret indhold kan være ukorrekt.">
            <a:extLst>
              <a:ext uri="{FF2B5EF4-FFF2-40B4-BE49-F238E27FC236}">
                <a16:creationId xmlns:a16="http://schemas.microsoft.com/office/drawing/2014/main" id="{858BDAD7-10B5-9C67-9CA5-3DE39DF5F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019" y="3301512"/>
            <a:ext cx="2400000" cy="1800000"/>
          </a:xfrm>
          <a:prstGeom prst="rect">
            <a:avLst/>
          </a:prstGeom>
        </p:spPr>
      </p:pic>
      <p:pic>
        <p:nvPicPr>
          <p:cNvPr id="8" name="Billede 7" descr="Et billede, der indeholder clipart, cirkel, tegneserie&#10;&#10;AI-genereret indhold kan være ukorrekt.">
            <a:extLst>
              <a:ext uri="{FF2B5EF4-FFF2-40B4-BE49-F238E27FC236}">
                <a16:creationId xmlns:a16="http://schemas.microsoft.com/office/drawing/2014/main" id="{AEAC9111-0776-B9E2-ECBB-325A3CD0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320" y="1570538"/>
            <a:ext cx="2400000" cy="1800000"/>
          </a:xfrm>
          <a:prstGeom prst="rect">
            <a:avLst/>
          </a:prstGeom>
        </p:spPr>
      </p:pic>
      <p:pic>
        <p:nvPicPr>
          <p:cNvPr id="10" name="Billede 9" descr="Et billede, der indeholder clipart, tegneserie&#10;&#10;AI-genereret indhold kan være ukorrekt.">
            <a:extLst>
              <a:ext uri="{FF2B5EF4-FFF2-40B4-BE49-F238E27FC236}">
                <a16:creationId xmlns:a16="http://schemas.microsoft.com/office/drawing/2014/main" id="{F26B72D9-A29E-FE00-22FF-298654FEE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79" y="4934526"/>
            <a:ext cx="2400000" cy="1800000"/>
          </a:xfrm>
          <a:prstGeom prst="rect">
            <a:avLst/>
          </a:prstGeom>
        </p:spPr>
      </p:pic>
      <p:pic>
        <p:nvPicPr>
          <p:cNvPr id="12" name="Billede 11" descr="Et billede, der indeholder clipart, cirkel, tegneserie&#10;&#10;AI-genereret indhold kan være ukorrekt.">
            <a:extLst>
              <a:ext uri="{FF2B5EF4-FFF2-40B4-BE49-F238E27FC236}">
                <a16:creationId xmlns:a16="http://schemas.microsoft.com/office/drawing/2014/main" id="{177A5225-B22E-CA89-25A8-12031E061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13" y="3190526"/>
            <a:ext cx="2400000" cy="1800000"/>
          </a:xfrm>
          <a:prstGeom prst="rect">
            <a:avLst/>
          </a:prstGeom>
        </p:spPr>
      </p:pic>
      <p:pic>
        <p:nvPicPr>
          <p:cNvPr id="14" name="Billede 13" descr="Et billede, der indeholder cirkel, Farverigt, clipart, Grafik&#10;&#10;AI-genereret indhold kan være ukorrekt.">
            <a:extLst>
              <a:ext uri="{FF2B5EF4-FFF2-40B4-BE49-F238E27FC236}">
                <a16:creationId xmlns:a16="http://schemas.microsoft.com/office/drawing/2014/main" id="{6CF74209-9AB9-1142-2912-1F7F722D2A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617" y="1609182"/>
            <a:ext cx="2400000" cy="1800000"/>
          </a:xfrm>
          <a:prstGeom prst="rect">
            <a:avLst/>
          </a:prstGeom>
        </p:spPr>
      </p:pic>
      <p:pic>
        <p:nvPicPr>
          <p:cNvPr id="16" name="Billede 15" descr="Et billede, der indeholder cirkel, clipart, Farverigt, tegneserie&#10;&#10;AI-genereret indhold kan være ukorrekt.">
            <a:extLst>
              <a:ext uri="{FF2B5EF4-FFF2-40B4-BE49-F238E27FC236}">
                <a16:creationId xmlns:a16="http://schemas.microsoft.com/office/drawing/2014/main" id="{D9A29A64-3969-6B2E-9430-A6FD286F7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457" y="1586777"/>
            <a:ext cx="2400000" cy="1800000"/>
          </a:xfrm>
          <a:prstGeom prst="rect">
            <a:avLst/>
          </a:prstGeom>
        </p:spPr>
      </p:pic>
      <p:pic>
        <p:nvPicPr>
          <p:cNvPr id="18" name="Billede 17" descr="Et billede, der indeholder cirkel, clipart, tegneserie&#10;&#10;AI-genereret indhold kan være ukorrekt.">
            <a:extLst>
              <a:ext uri="{FF2B5EF4-FFF2-40B4-BE49-F238E27FC236}">
                <a16:creationId xmlns:a16="http://schemas.microsoft.com/office/drawing/2014/main" id="{02F325DC-EE31-368B-A743-0C49A54C8B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8502" y="1482866"/>
            <a:ext cx="2400000" cy="1800000"/>
          </a:xfrm>
          <a:prstGeom prst="rect">
            <a:avLst/>
          </a:prstGeom>
        </p:spPr>
      </p:pic>
      <p:pic>
        <p:nvPicPr>
          <p:cNvPr id="21" name="Billede 20" descr="Et billede, der indeholder clipart, cirkel, Farverigt, Grafik&#10;&#10;AI-genereret indhold kan være ukorrekt.">
            <a:extLst>
              <a:ext uri="{FF2B5EF4-FFF2-40B4-BE49-F238E27FC236}">
                <a16:creationId xmlns:a16="http://schemas.microsoft.com/office/drawing/2014/main" id="{962F79E7-0773-EB5B-CD0C-024676E2EE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3905" y="3152047"/>
            <a:ext cx="2400000" cy="1800000"/>
          </a:xfrm>
          <a:prstGeom prst="rect">
            <a:avLst/>
          </a:prstGeom>
        </p:spPr>
      </p:pic>
      <p:pic>
        <p:nvPicPr>
          <p:cNvPr id="25" name="Billede 24" descr="Et billede, der indeholder cirkel, Farverigt, clipart, tegneserie&#10;&#10;AI-genereret indhold kan være ukorrekt.">
            <a:extLst>
              <a:ext uri="{FF2B5EF4-FFF2-40B4-BE49-F238E27FC236}">
                <a16:creationId xmlns:a16="http://schemas.microsoft.com/office/drawing/2014/main" id="{FE48DEF1-1353-D1C3-B960-B1910156DE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246" y="3301512"/>
            <a:ext cx="2400000" cy="1800000"/>
          </a:xfrm>
          <a:prstGeom prst="rect">
            <a:avLst/>
          </a:prstGeom>
        </p:spPr>
      </p:pic>
      <p:pic>
        <p:nvPicPr>
          <p:cNvPr id="29" name="Billede 28" descr="Et billede, der indeholder clipart, cirkel, tegneserie&#10;&#10;AI-genereret indhold kan være ukorrekt.">
            <a:extLst>
              <a:ext uri="{FF2B5EF4-FFF2-40B4-BE49-F238E27FC236}">
                <a16:creationId xmlns:a16="http://schemas.microsoft.com/office/drawing/2014/main" id="{144B811B-2D52-2D69-3C55-674FD1F590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2788" y="4934526"/>
            <a:ext cx="2400000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B285847D-F6C8-E7BE-CFB6-CC2A00D529A2}"/>
                  </a:ext>
                </a:extLst>
              </p:cNvPr>
              <p:cNvSpPr txBox="1"/>
              <p:nvPr/>
            </p:nvSpPr>
            <p:spPr>
              <a:xfrm>
                <a:off x="1073730" y="554829"/>
                <a:ext cx="863868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Uniform transitions - Cosine time </a:t>
                </a:r>
                <a:r>
                  <a:rPr lang="da-DK" dirty="0" err="1"/>
                  <a:t>schedule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∗10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a-DK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a-DK" dirty="0"/>
                  <a:t>Guidance </a:t>
                </a:r>
                <a:r>
                  <a:rPr lang="da-DK" dirty="0" err="1"/>
                  <a:t>scale</a:t>
                </a:r>
                <a:r>
                  <a:rPr lang="da-DK" dirty="0"/>
                  <a:t>: 2.0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a-DK" dirty="0"/>
              </a:p>
            </p:txBody>
          </p:sp>
        </mc:Choice>
        <mc:Fallback xmlns="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B285847D-F6C8-E7BE-CFB6-CC2A00D52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30" y="554829"/>
                <a:ext cx="8638681" cy="923330"/>
              </a:xfrm>
              <a:prstGeom prst="rect">
                <a:avLst/>
              </a:prstGeom>
              <a:blipFill>
                <a:blip r:embed="rId12"/>
                <a:stretch>
                  <a:fillRect l="-441" t="-270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kstfelt 1">
            <a:extLst>
              <a:ext uri="{FF2B5EF4-FFF2-40B4-BE49-F238E27FC236}">
                <a16:creationId xmlns:a16="http://schemas.microsoft.com/office/drawing/2014/main" id="{6FC5C103-10EF-0829-810E-140BE0079BF2}"/>
              </a:ext>
            </a:extLst>
          </p:cNvPr>
          <p:cNvSpPr txBox="1"/>
          <p:nvPr/>
        </p:nvSpPr>
        <p:spPr>
          <a:xfrm>
            <a:off x="1607763" y="1388658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1 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E9F7B423-CF21-3638-1D02-2C590A6F71D1}"/>
              </a:ext>
            </a:extLst>
          </p:cNvPr>
          <p:cNvSpPr txBox="1"/>
          <p:nvPr/>
        </p:nvSpPr>
        <p:spPr>
          <a:xfrm>
            <a:off x="7970306" y="1364023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Conditioned</a:t>
            </a:r>
            <a:r>
              <a:rPr lang="da-DK" dirty="0"/>
              <a:t> on class 2 </a:t>
            </a:r>
          </a:p>
        </p:txBody>
      </p:sp>
    </p:spTree>
    <p:extLst>
      <p:ext uri="{BB962C8B-B14F-4D97-AF65-F5344CB8AC3E}">
        <p14:creationId xmlns:p14="http://schemas.microsoft.com/office/powerpoint/2010/main" val="751911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251AB-1C01-CCBF-525B-6A1474FC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Tried</a:t>
            </a:r>
            <a:r>
              <a:rPr lang="da-DK" dirty="0"/>
              <a:t> </a:t>
            </a:r>
            <a:r>
              <a:rPr lang="da-DK" dirty="0" err="1"/>
              <a:t>conditioning</a:t>
            </a:r>
            <a:r>
              <a:rPr lang="da-DK" dirty="0"/>
              <a:t> on the </a:t>
            </a:r>
            <a:r>
              <a:rPr lang="da-DK" dirty="0" err="1"/>
              <a:t>reaction</a:t>
            </a:r>
            <a:r>
              <a:rPr lang="da-DK" dirty="0"/>
              <a:t>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D233FD8-CF1E-FF11-B957-5BB0DC3F81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721"/>
                <a:ext cx="10515600" cy="4351338"/>
              </a:xfrm>
            </p:spPr>
            <p:txBody>
              <a:bodyPr/>
              <a:lstStyle/>
              <a:p>
                <a:r>
                  <a:rPr lang="da-DK" dirty="0" err="1"/>
                  <a:t>Where</a:t>
                </a:r>
                <a:r>
                  <a:rPr lang="da-DK" dirty="0"/>
                  <a:t> </a:t>
                </a:r>
                <a:r>
                  <a:rPr lang="da-DK" dirty="0" err="1"/>
                  <a:t>im</a:t>
                </a:r>
                <a:r>
                  <a:rPr lang="da-DK" dirty="0"/>
                  <a:t> at </a:t>
                </a:r>
                <a:r>
                  <a:rPr lang="da-DK" dirty="0" err="1"/>
                  <a:t>now</a:t>
                </a:r>
                <a:r>
                  <a:rPr lang="da-DK" dirty="0"/>
                  <a:t>.</a:t>
                </a:r>
              </a:p>
              <a:p>
                <a:r>
                  <a:rPr lang="da-DK" dirty="0" err="1"/>
                  <a:t>Tried</a:t>
                </a:r>
                <a:r>
                  <a:rPr lang="da-DK" dirty="0"/>
                  <a:t> class-divisions &amp; samples from </a:t>
                </a:r>
                <a:r>
                  <a:rPr lang="da-DK" dirty="0" err="1"/>
                  <a:t>GeneticAlgorithm</a:t>
                </a:r>
                <a:endParaRPr lang="da-DK" dirty="0"/>
              </a:p>
              <a:p>
                <a:pPr lvl="1"/>
                <a:r>
                  <a:rPr lang="da-DK" dirty="0"/>
                  <a:t>Element pool: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𝐴𝑢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𝑃𝑑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𝑅h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𝐶𝑢</m:t>
                        </m:r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Num</a:t>
                </a:r>
                <a:r>
                  <a:rPr lang="da-DK" dirty="0"/>
                  <a:t> samples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∼5000</m:t>
                    </m:r>
                  </m:oMath>
                </a14:m>
                <a:r>
                  <a:rPr lang="da-DK" dirty="0"/>
                  <a:t> 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D233FD8-CF1E-FF11-B957-5BB0DC3F8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721"/>
                <a:ext cx="10515600" cy="4351338"/>
              </a:xfrm>
              <a:blipFill>
                <a:blip r:embed="rId2"/>
                <a:stretch>
                  <a:fillRect l="-1086" t="-233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Billede 6">
            <a:extLst>
              <a:ext uri="{FF2B5EF4-FFF2-40B4-BE49-F238E27FC236}">
                <a16:creationId xmlns:a16="http://schemas.microsoft.com/office/drawing/2014/main" id="{1F794A03-AA06-05A4-04D8-95038B572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3134805"/>
            <a:ext cx="118967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85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dsholder til indhold 4" descr="Et billede, der indeholder tekst, skærmbillede, Kurve, Parallel&#10;&#10;AI-genereret indhold kan være ukorrekt.">
            <a:extLst>
              <a:ext uri="{FF2B5EF4-FFF2-40B4-BE49-F238E27FC236}">
                <a16:creationId xmlns:a16="http://schemas.microsoft.com/office/drawing/2014/main" id="{A372E2BB-4C85-ADED-BE18-85CA0D4F5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"/>
            <a:ext cx="4450821" cy="6676232"/>
          </a:xfrm>
        </p:spPr>
      </p:pic>
      <p:pic>
        <p:nvPicPr>
          <p:cNvPr id="6" name="Billede 5" descr="Et billede, der indeholder tekst, skærmbillede, linje/række, Parallel&#10;&#10;AI-genereret indhold kan være ukorrekt.">
            <a:extLst>
              <a:ext uri="{FF2B5EF4-FFF2-40B4-BE49-F238E27FC236}">
                <a16:creationId xmlns:a16="http://schemas.microsoft.com/office/drawing/2014/main" id="{F031293B-E95F-B48C-1218-8D4F15C15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28" y="0"/>
            <a:ext cx="4450822" cy="667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58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0EC8F-0587-8E1F-292E-B270543C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ladsholder til indhold 6" descr="Et billede, der indeholder tekst, skærmbillede, Kurve, linje/række&#10;&#10;AI-genereret indhold kan være ukorrekt.">
            <a:extLst>
              <a:ext uri="{FF2B5EF4-FFF2-40B4-BE49-F238E27FC236}">
                <a16:creationId xmlns:a16="http://schemas.microsoft.com/office/drawing/2014/main" id="{5641BAD7-E2DB-46D1-8CDA-A8421014F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54" y="74215"/>
            <a:ext cx="4473046" cy="6709569"/>
          </a:xfrm>
        </p:spPr>
      </p:pic>
      <p:pic>
        <p:nvPicPr>
          <p:cNvPr id="10" name="Pladsholder til indhold 5" descr="Et billede, der indeholder tekst, skærmbillede, Kurve, linje/række&#10;&#10;AI-genereret indhold kan være ukorrekt.">
            <a:extLst>
              <a:ext uri="{FF2B5EF4-FFF2-40B4-BE49-F238E27FC236}">
                <a16:creationId xmlns:a16="http://schemas.microsoft.com/office/drawing/2014/main" id="{E950076D-9AD0-918E-6CE1-F6D863A01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576" y="70246"/>
            <a:ext cx="4525169" cy="678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88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4C4F2-0BC8-6632-E490-E47A611B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Unconditional</a:t>
            </a:r>
            <a:r>
              <a:rPr lang="da-DK" dirty="0"/>
              <a:t> generation on high rates </a:t>
            </a:r>
            <a:r>
              <a:rPr lang="da-DK" dirty="0" err="1"/>
              <a:t>only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1137469-BE73-A44F-12B3-6A69FC0E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Still not </a:t>
            </a:r>
            <a:r>
              <a:rPr lang="da-DK" dirty="0" err="1"/>
              <a:t>great</a:t>
            </a:r>
            <a:endParaRPr lang="da-DK" dirty="0"/>
          </a:p>
          <a:p>
            <a:r>
              <a:rPr lang="da-DK" dirty="0"/>
              <a:t>All samples have 3Cu + 1Pd on </a:t>
            </a:r>
            <a:r>
              <a:rPr lang="da-DK" dirty="0" err="1"/>
              <a:t>active</a:t>
            </a:r>
            <a:r>
              <a:rPr lang="da-DK" dirty="0"/>
              <a:t> sites,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many</a:t>
            </a:r>
            <a:r>
              <a:rPr lang="da-DK" dirty="0"/>
              <a:t> samples do i </a:t>
            </a:r>
            <a:r>
              <a:rPr lang="da-DK" dirty="0" err="1"/>
              <a:t>get</a:t>
            </a:r>
            <a:r>
              <a:rPr lang="da-DK" dirty="0"/>
              <a:t> with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configuration</a:t>
            </a:r>
            <a:r>
              <a:rPr lang="da-DK" dirty="0"/>
              <a:t>?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AFB29806-9EA5-EBF2-F606-954FDA1BF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6446"/>
            <a:ext cx="5461613" cy="2900517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304A4723-49A2-426A-BA0D-51AED8808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208" y="2937163"/>
            <a:ext cx="1774362" cy="1717964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FAD64590-2665-8EA1-14E4-747C08FDB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570" y="2937163"/>
            <a:ext cx="1774362" cy="1717964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4F072406-F140-EEE0-9F5F-9ED0BEAB9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208" y="4655127"/>
            <a:ext cx="1774363" cy="171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92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33F83C-09C0-853D-AE15-C72080A5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Unconditional</a:t>
            </a:r>
            <a:r>
              <a:rPr lang="da-DK" dirty="0"/>
              <a:t> generation on high rates </a:t>
            </a:r>
            <a:r>
              <a:rPr lang="da-DK" dirty="0" err="1"/>
              <a:t>only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08EDAAD-42CB-BF25-188F-DB0D822F62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If model </a:t>
                </a:r>
                <a:r>
                  <a:rPr lang="da-DK" dirty="0" err="1"/>
                  <a:t>cannot</a:t>
                </a:r>
                <a:r>
                  <a:rPr lang="da-DK" dirty="0"/>
                  <a:t> </a:t>
                </a:r>
                <a:r>
                  <a:rPr lang="da-DK" dirty="0" err="1"/>
                  <a:t>distinguish</a:t>
                </a:r>
                <a:r>
                  <a:rPr lang="da-DK" dirty="0"/>
                  <a:t> the </a:t>
                </a:r>
                <a:r>
                  <a:rPr lang="da-DK" dirty="0" err="1"/>
                  <a:t>environments</a:t>
                </a:r>
                <a:r>
                  <a:rPr lang="da-DK" dirty="0"/>
                  <a:t> the </a:t>
                </a:r>
                <a:r>
                  <a:rPr lang="da-DK" dirty="0" err="1"/>
                  <a:t>best</a:t>
                </a:r>
                <a:r>
                  <a:rPr lang="da-DK" dirty="0"/>
                  <a:t> it </a:t>
                </a:r>
                <a:r>
                  <a:rPr lang="da-DK" dirty="0" err="1"/>
                  <a:t>can</a:t>
                </a:r>
                <a:r>
                  <a:rPr lang="da-DK" dirty="0"/>
                  <a:t> do is 75% of </a:t>
                </a:r>
                <a:r>
                  <a:rPr lang="da-DK" dirty="0" err="1"/>
                  <a:t>copper</a:t>
                </a:r>
                <a:r>
                  <a:rPr lang="da-DK" dirty="0"/>
                  <a:t> and 25% </a:t>
                </a:r>
                <a:r>
                  <a:rPr lang="da-DK" dirty="0" err="1"/>
                  <a:t>Pd</a:t>
                </a:r>
                <a:r>
                  <a:rPr lang="da-DK" dirty="0"/>
                  <a:t> on the </a:t>
                </a:r>
                <a:r>
                  <a:rPr lang="da-DK" dirty="0" err="1"/>
                  <a:t>active</a:t>
                </a:r>
                <a:r>
                  <a:rPr lang="da-DK" dirty="0"/>
                  <a:t> sites </a:t>
                </a:r>
                <a:r>
                  <a:rPr lang="da-DK" dirty="0" err="1"/>
                  <a:t>alone</a:t>
                </a:r>
                <a:r>
                  <a:rPr lang="da-DK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𝐶𝑢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𝑃𝑑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=4⋅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⋅0.25∼0.42</m:t>
                    </m:r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08EDAAD-42CB-BF25-188F-DB0D822F6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35E59ACA-F0CD-3FF6-90EB-B93025120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990" y="2719656"/>
            <a:ext cx="3762131" cy="413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04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A57E3F-35CC-DED2-50D6-D7BD4D10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the problem?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E753F45-4D67-DC97-4A99-44BC68581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Inherit</a:t>
            </a:r>
            <a:r>
              <a:rPr lang="da-DK" dirty="0"/>
              <a:t> problem with </a:t>
            </a:r>
            <a:r>
              <a:rPr lang="da-DK" dirty="0" err="1"/>
              <a:t>discrete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diffusion</a:t>
            </a:r>
          </a:p>
          <a:p>
            <a:pPr lvl="1"/>
            <a:r>
              <a:rPr lang="da-DK" dirty="0">
                <a:sym typeface="Wingdings" pitchFamily="2" charset="2"/>
              </a:rPr>
              <a:t>Forward </a:t>
            </a:r>
            <a:r>
              <a:rPr lang="da-DK" dirty="0" err="1">
                <a:sym typeface="Wingdings" pitchFamily="2" charset="2"/>
              </a:rPr>
              <a:t>noising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process</a:t>
            </a:r>
            <a:r>
              <a:rPr lang="da-DK" dirty="0">
                <a:sym typeface="Wingdings" pitchFamily="2" charset="2"/>
              </a:rPr>
              <a:t> for </a:t>
            </a:r>
            <a:r>
              <a:rPr lang="da-DK" dirty="0" err="1">
                <a:sym typeface="Wingdings" pitchFamily="2" charset="2"/>
              </a:rPr>
              <a:t>each</a:t>
            </a:r>
            <a:r>
              <a:rPr lang="da-DK" dirty="0">
                <a:sym typeface="Wingdings" pitchFamily="2" charset="2"/>
              </a:rPr>
              <a:t> pixel/</a:t>
            </a:r>
            <a:r>
              <a:rPr lang="da-DK" dirty="0" err="1">
                <a:sym typeface="Wingdings" pitchFamily="2" charset="2"/>
              </a:rPr>
              <a:t>token</a:t>
            </a:r>
            <a:r>
              <a:rPr lang="da-DK" dirty="0">
                <a:sym typeface="Wingdings" pitchFamily="2" charset="2"/>
              </a:rPr>
              <a:t>/atom is independent  </a:t>
            </a:r>
            <a:r>
              <a:rPr lang="da-DK" dirty="0" err="1">
                <a:sym typeface="Wingdings" pitchFamily="2" charset="2"/>
              </a:rPr>
              <a:t>Hence</a:t>
            </a:r>
            <a:r>
              <a:rPr lang="da-DK" dirty="0">
                <a:sym typeface="Wingdings" pitchFamily="2" charset="2"/>
              </a:rPr>
              <a:t> sampling is </a:t>
            </a:r>
            <a:r>
              <a:rPr lang="da-DK" dirty="0" err="1">
                <a:sym typeface="Wingdings" pitchFamily="2" charset="2"/>
              </a:rPr>
              <a:t>also</a:t>
            </a:r>
            <a:endParaRPr lang="da-DK" dirty="0">
              <a:sym typeface="Wingdings" pitchFamily="2" charset="2"/>
            </a:endParaRPr>
          </a:p>
          <a:p>
            <a:pPr lvl="1"/>
            <a:r>
              <a:rPr lang="da-DK" dirty="0" err="1">
                <a:sym typeface="Wingdings" pitchFamily="2" charset="2"/>
              </a:rPr>
              <a:t>Relies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only</a:t>
            </a:r>
            <a:r>
              <a:rPr lang="da-DK" dirty="0">
                <a:sym typeface="Wingdings" pitchFamily="2" charset="2"/>
              </a:rPr>
              <a:t> on NN to </a:t>
            </a:r>
            <a:r>
              <a:rPr lang="da-DK" dirty="0" err="1">
                <a:sym typeface="Wingdings" pitchFamily="2" charset="2"/>
              </a:rPr>
              <a:t>capture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semantics</a:t>
            </a:r>
            <a:r>
              <a:rPr lang="da-DK" dirty="0">
                <a:sym typeface="Wingdings" pitchFamily="2" charset="2"/>
              </a:rPr>
              <a:t> and </a:t>
            </a:r>
            <a:r>
              <a:rPr lang="da-DK" dirty="0" err="1">
                <a:sym typeface="Wingdings" pitchFamily="2" charset="2"/>
              </a:rPr>
              <a:t>generate</a:t>
            </a:r>
            <a:endParaRPr lang="da-DK" dirty="0"/>
          </a:p>
          <a:p>
            <a:r>
              <a:rPr lang="da-DK" dirty="0"/>
              <a:t>Rates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highly</a:t>
            </a:r>
            <a:r>
              <a:rPr lang="da-DK" dirty="0"/>
              <a:t> </a:t>
            </a:r>
            <a:r>
              <a:rPr lang="da-DK" dirty="0" err="1"/>
              <a:t>determined</a:t>
            </a:r>
            <a:r>
              <a:rPr lang="da-DK" dirty="0"/>
              <a:t> by ”</a:t>
            </a:r>
            <a:r>
              <a:rPr lang="da-DK" dirty="0" err="1"/>
              <a:t>where</a:t>
            </a:r>
            <a:r>
              <a:rPr lang="da-DK" dirty="0"/>
              <a:t>” </a:t>
            </a:r>
            <a:r>
              <a:rPr lang="da-DK" dirty="0" err="1"/>
              <a:t>these</a:t>
            </a:r>
            <a:r>
              <a:rPr lang="da-DK" dirty="0"/>
              <a:t> 3Cu + </a:t>
            </a:r>
            <a:r>
              <a:rPr lang="da-DK" dirty="0" err="1"/>
              <a:t>Pd</a:t>
            </a:r>
            <a:r>
              <a:rPr lang="da-DK" dirty="0"/>
              <a:t> is </a:t>
            </a:r>
            <a:r>
              <a:rPr lang="da-DK" dirty="0" err="1"/>
              <a:t>located</a:t>
            </a:r>
            <a:endParaRPr lang="da-DK" dirty="0"/>
          </a:p>
          <a:p>
            <a:pPr lvl="1"/>
            <a:r>
              <a:rPr lang="da-DK" dirty="0"/>
              <a:t>GNN </a:t>
            </a:r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atomic</a:t>
            </a:r>
            <a:r>
              <a:rPr lang="da-DK" dirty="0"/>
              <a:t> </a:t>
            </a:r>
            <a:r>
              <a:rPr lang="da-DK" dirty="0" err="1"/>
              <a:t>embeddings</a:t>
            </a:r>
            <a:r>
              <a:rPr lang="da-DK" dirty="0"/>
              <a:t> + permutation </a:t>
            </a:r>
            <a:r>
              <a:rPr lang="da-DK" dirty="0" err="1"/>
              <a:t>invariance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 no spatial </a:t>
            </a:r>
            <a:r>
              <a:rPr lang="da-DK" dirty="0" err="1">
                <a:sym typeface="Wingdings" pitchFamily="2" charset="2"/>
              </a:rPr>
              <a:t>awareness</a:t>
            </a:r>
            <a:r>
              <a:rPr lang="da-DK" dirty="0">
                <a:sym typeface="Wingdings" pitchFamily="2" charset="2"/>
              </a:rPr>
              <a:t> but all samples </a:t>
            </a:r>
            <a:r>
              <a:rPr lang="da-DK" dirty="0" err="1">
                <a:sym typeface="Wingdings" pitchFamily="2" charset="2"/>
              </a:rPr>
              <a:t>will</a:t>
            </a:r>
            <a:r>
              <a:rPr lang="da-DK" dirty="0">
                <a:sym typeface="Wingdings" pitchFamily="2" charset="2"/>
              </a:rPr>
              <a:t> for sure have </a:t>
            </a:r>
            <a:r>
              <a:rPr lang="da-DK" dirty="0"/>
              <a:t>3Cu + </a:t>
            </a:r>
            <a:r>
              <a:rPr lang="da-DK" dirty="0" err="1"/>
              <a:t>Pd</a:t>
            </a:r>
            <a:r>
              <a:rPr lang="da-DK" dirty="0"/>
              <a:t> </a:t>
            </a:r>
            <a:r>
              <a:rPr lang="da-DK" dirty="0" err="1"/>
              <a:t>somewhere</a:t>
            </a:r>
            <a:endParaRPr lang="da-DK" dirty="0"/>
          </a:p>
          <a:p>
            <a:pPr lvl="1"/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57025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1FA81-D6BB-480F-1F7B-7A63048E6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Simple test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B00C3FC-1FA8-6B8A-FCC5-2D267BD5D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50"/>
            <a:ext cx="10515600" cy="4351338"/>
          </a:xfrm>
        </p:spPr>
        <p:txBody>
          <a:bodyPr/>
          <a:lstStyle/>
          <a:p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embed</a:t>
            </a:r>
            <a:r>
              <a:rPr lang="da-DK" dirty="0"/>
              <a:t> </a:t>
            </a:r>
            <a:r>
              <a:rPr lang="da-DK" dirty="0" err="1"/>
              <a:t>some</a:t>
            </a:r>
            <a:r>
              <a:rPr lang="da-DK" dirty="0"/>
              <a:t> kind of </a:t>
            </a:r>
            <a:r>
              <a:rPr lang="da-DK" dirty="0" err="1"/>
              <a:t>geometrical</a:t>
            </a:r>
            <a:r>
              <a:rPr lang="da-DK" dirty="0"/>
              <a:t> information.</a:t>
            </a:r>
          </a:p>
          <a:p>
            <a:pPr lvl="1"/>
            <a:r>
              <a:rPr lang="da-DK" dirty="0" err="1"/>
              <a:t>Tried</a:t>
            </a:r>
            <a:r>
              <a:rPr lang="da-DK" dirty="0"/>
              <a:t> </a:t>
            </a:r>
            <a:r>
              <a:rPr lang="da-DK" dirty="0" err="1"/>
              <a:t>unique</a:t>
            </a:r>
            <a:r>
              <a:rPr lang="da-DK" dirty="0"/>
              <a:t> </a:t>
            </a:r>
            <a:r>
              <a:rPr lang="da-DK" dirty="0" err="1"/>
              <a:t>embedding</a:t>
            </a:r>
            <a:r>
              <a:rPr lang="da-DK" dirty="0"/>
              <a:t> per site </a:t>
            </a:r>
            <a:r>
              <a:rPr lang="da-DK" dirty="0" err="1"/>
              <a:t>together</a:t>
            </a:r>
            <a:r>
              <a:rPr lang="da-DK" dirty="0"/>
              <a:t> with </a:t>
            </a:r>
            <a:r>
              <a:rPr lang="da-DK" dirty="0" err="1"/>
              <a:t>onehot</a:t>
            </a:r>
            <a:endParaRPr lang="da-DK" dirty="0"/>
          </a:p>
          <a:p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needed</a:t>
            </a:r>
            <a:r>
              <a:rPr lang="da-DK" dirty="0"/>
              <a:t> to filter out </a:t>
            </a:r>
            <a:r>
              <a:rPr lang="da-DK" dirty="0" err="1"/>
              <a:t>rotated</a:t>
            </a:r>
            <a:r>
              <a:rPr lang="da-DK" dirty="0"/>
              <a:t> versions of </a:t>
            </a:r>
            <a:r>
              <a:rPr lang="da-DK" dirty="0" err="1"/>
              <a:t>motif</a:t>
            </a:r>
            <a:endParaRPr lang="da-DK" dirty="0"/>
          </a:p>
          <a:p>
            <a:pPr marL="457200" lvl="1" indent="0">
              <a:buNone/>
            </a:pPr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5048C53-4FE9-BCC7-4CC4-F9050C7E837C}"/>
              </a:ext>
            </a:extLst>
          </p:cNvPr>
          <p:cNvSpPr/>
          <p:nvPr/>
        </p:nvSpPr>
        <p:spPr>
          <a:xfrm>
            <a:off x="491206" y="475969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C296F71-CF99-BB36-CA83-689D815DDA99}"/>
              </a:ext>
            </a:extLst>
          </p:cNvPr>
          <p:cNvSpPr/>
          <p:nvPr/>
        </p:nvSpPr>
        <p:spPr>
          <a:xfrm rot="18910962">
            <a:off x="1652732" y="4130462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91D4B7C-1F1C-6666-A8EF-4AF95780078F}"/>
              </a:ext>
            </a:extLst>
          </p:cNvPr>
          <p:cNvSpPr/>
          <p:nvPr/>
        </p:nvSpPr>
        <p:spPr>
          <a:xfrm rot="915767">
            <a:off x="1625241" y="4982360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54D96C9-7154-02B8-FA57-B69D8AF645D1}"/>
              </a:ext>
            </a:extLst>
          </p:cNvPr>
          <p:cNvSpPr/>
          <p:nvPr/>
        </p:nvSpPr>
        <p:spPr>
          <a:xfrm rot="20911658">
            <a:off x="2539641" y="5464849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9E37631-CD22-6694-F513-65D4501163AC}"/>
              </a:ext>
            </a:extLst>
          </p:cNvPr>
          <p:cNvSpPr/>
          <p:nvPr/>
        </p:nvSpPr>
        <p:spPr>
          <a:xfrm rot="20573567">
            <a:off x="2899576" y="4006552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979E5979-3EB8-DC19-0465-5E84CE839E82}"/>
              </a:ext>
            </a:extLst>
          </p:cNvPr>
          <p:cNvCxnSpPr>
            <a:stCxn id="4" idx="7"/>
            <a:endCxn id="5" idx="2"/>
          </p:cNvCxnSpPr>
          <p:nvPr/>
        </p:nvCxnSpPr>
        <p:spPr>
          <a:xfrm flipV="1">
            <a:off x="896244" y="4534964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FB951005-6161-3112-B0FA-44B930A28277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965737" y="4996957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C9A431C8-50AB-6E48-E4CB-0E83000902AE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1889241" y="4604992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9AF759BC-D4C2-4BCE-9F33-699B3468BDCE}"/>
              </a:ext>
            </a:extLst>
          </p:cNvPr>
          <p:cNvCxnSpPr>
            <a:cxnSpLocks/>
            <a:stCxn id="8" idx="2"/>
            <a:endCxn id="5" idx="5"/>
          </p:cNvCxnSpPr>
          <p:nvPr/>
        </p:nvCxnSpPr>
        <p:spPr>
          <a:xfrm flipH="1">
            <a:off x="2127262" y="4313612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ge forbindelse 12">
            <a:extLst>
              <a:ext uri="{FF2B5EF4-FFF2-40B4-BE49-F238E27FC236}">
                <a16:creationId xmlns:a16="http://schemas.microsoft.com/office/drawing/2014/main" id="{7D01C89A-3F3D-033B-FEB4-9EBA595B678A}"/>
              </a:ext>
            </a:extLst>
          </p:cNvPr>
          <p:cNvCxnSpPr>
            <a:cxnSpLocks/>
            <a:stCxn id="7" idx="1"/>
            <a:endCxn id="6" idx="6"/>
          </p:cNvCxnSpPr>
          <p:nvPr/>
        </p:nvCxnSpPr>
        <p:spPr>
          <a:xfrm flipH="1" flipV="1">
            <a:off x="2091403" y="5282085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2DA3BF44-A491-3DCC-AA9A-BAAB72B49E2B}"/>
                  </a:ext>
                </a:extLst>
              </p:cNvPr>
              <p:cNvSpPr txBox="1"/>
              <p:nvPr/>
            </p:nvSpPr>
            <p:spPr>
              <a:xfrm>
                <a:off x="931352" y="3429000"/>
                <a:ext cx="1828641" cy="516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h𝑜𝑡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𝑒𝑚𝑏𝑒𝑑𝑑𝑖𝑛𝑔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2DA3BF44-A491-3DCC-AA9A-BAAB72B49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52" y="3429000"/>
                <a:ext cx="1828641" cy="516039"/>
              </a:xfrm>
              <a:prstGeom prst="rect">
                <a:avLst/>
              </a:prstGeom>
              <a:blipFill>
                <a:blip r:embed="rId2"/>
                <a:stretch>
                  <a:fillRect t="-9756" b="-243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felt 18">
                <a:extLst>
                  <a:ext uri="{FF2B5EF4-FFF2-40B4-BE49-F238E27FC236}">
                    <a16:creationId xmlns:a16="http://schemas.microsoft.com/office/drawing/2014/main" id="{77B390C8-0EEB-2FC2-D897-2ED1D63FE6C7}"/>
                  </a:ext>
                </a:extLst>
              </p:cNvPr>
              <p:cNvSpPr txBox="1"/>
              <p:nvPr/>
            </p:nvSpPr>
            <p:spPr>
              <a:xfrm>
                <a:off x="3407727" y="3516146"/>
                <a:ext cx="1828641" cy="516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h𝑜𝑡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𝑒𝑚𝑏𝑒𝑑𝑑𝑖𝑛𝑔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9" name="Tekstfelt 18">
                <a:extLst>
                  <a:ext uri="{FF2B5EF4-FFF2-40B4-BE49-F238E27FC236}">
                    <a16:creationId xmlns:a16="http://schemas.microsoft.com/office/drawing/2014/main" id="{77B390C8-0EEB-2FC2-D897-2ED1D63FE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727" y="3516146"/>
                <a:ext cx="1828641" cy="516039"/>
              </a:xfrm>
              <a:prstGeom prst="rect">
                <a:avLst/>
              </a:prstGeom>
              <a:blipFill>
                <a:blip r:embed="rId3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kstfelt 19">
                <a:extLst>
                  <a:ext uri="{FF2B5EF4-FFF2-40B4-BE49-F238E27FC236}">
                    <a16:creationId xmlns:a16="http://schemas.microsoft.com/office/drawing/2014/main" id="{83B2A61F-4F8E-43D4-45C4-8237982E2CBF}"/>
                  </a:ext>
                </a:extLst>
              </p:cNvPr>
              <p:cNvSpPr txBox="1"/>
              <p:nvPr/>
            </p:nvSpPr>
            <p:spPr>
              <a:xfrm>
                <a:off x="3120032" y="5119521"/>
                <a:ext cx="1828641" cy="516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h𝑜𝑡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𝑒𝑚𝑏𝑒𝑑𝑑𝑖𝑛𝑔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0" name="Tekstfelt 19">
                <a:extLst>
                  <a:ext uri="{FF2B5EF4-FFF2-40B4-BE49-F238E27FC236}">
                    <a16:creationId xmlns:a16="http://schemas.microsoft.com/office/drawing/2014/main" id="{83B2A61F-4F8E-43D4-45C4-8237982E2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032" y="5119521"/>
                <a:ext cx="1828641" cy="516039"/>
              </a:xfrm>
              <a:prstGeom prst="rect">
                <a:avLst/>
              </a:prstGeom>
              <a:blipFill>
                <a:blip r:embed="rId4"/>
                <a:stretch>
                  <a:fillRect t="-9756" b="-2439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kstfelt 20">
                <a:extLst>
                  <a:ext uri="{FF2B5EF4-FFF2-40B4-BE49-F238E27FC236}">
                    <a16:creationId xmlns:a16="http://schemas.microsoft.com/office/drawing/2014/main" id="{BB71B3AE-2AB6-31E3-58BB-71C9235179A6}"/>
                  </a:ext>
                </a:extLst>
              </p:cNvPr>
              <p:cNvSpPr txBox="1"/>
              <p:nvPr/>
            </p:nvSpPr>
            <p:spPr>
              <a:xfrm>
                <a:off x="160469" y="5510982"/>
                <a:ext cx="1828641" cy="516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h𝑜𝑡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𝑒𝑚𝑏𝑒𝑑𝑑𝑖𝑛𝑔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1" name="Tekstfelt 20">
                <a:extLst>
                  <a:ext uri="{FF2B5EF4-FFF2-40B4-BE49-F238E27FC236}">
                    <a16:creationId xmlns:a16="http://schemas.microsoft.com/office/drawing/2014/main" id="{BB71B3AE-2AB6-31E3-58BB-71C923517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69" y="5510982"/>
                <a:ext cx="1828641" cy="516039"/>
              </a:xfrm>
              <a:prstGeom prst="rect">
                <a:avLst/>
              </a:prstGeom>
              <a:blipFill>
                <a:blip r:embed="rId5"/>
                <a:stretch>
                  <a:fillRect t="-4762" b="-2142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Billede 24">
            <a:extLst>
              <a:ext uri="{FF2B5EF4-FFF2-40B4-BE49-F238E27FC236}">
                <a16:creationId xmlns:a16="http://schemas.microsoft.com/office/drawing/2014/main" id="{E8611EF3-3A71-AE5E-E424-EC22C2128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0296" y="3265642"/>
            <a:ext cx="6496603" cy="345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667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49597F-F531-4C26-A153-BFFA526F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Solutions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B0A2C40-0851-A467-393F-9DFC06814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380"/>
            <a:ext cx="10515600" cy="4351338"/>
          </a:xfrm>
        </p:spPr>
        <p:txBody>
          <a:bodyPr/>
          <a:lstStyle/>
          <a:p>
            <a:r>
              <a:rPr lang="da-DK" dirty="0" err="1"/>
              <a:t>Current</a:t>
            </a:r>
            <a:r>
              <a:rPr lang="da-DK" dirty="0"/>
              <a:t> solution </a:t>
            </a:r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, but </a:t>
            </a:r>
            <a:r>
              <a:rPr lang="da-DK" dirty="0" err="1"/>
              <a:t>main</a:t>
            </a:r>
            <a:r>
              <a:rPr lang="da-DK" dirty="0"/>
              <a:t> problem is the </a:t>
            </a:r>
            <a:r>
              <a:rPr lang="da-DK" dirty="0" err="1"/>
              <a:t>degeneracy</a:t>
            </a:r>
            <a:r>
              <a:rPr lang="da-DK" dirty="0"/>
              <a:t> of the rate.</a:t>
            </a:r>
          </a:p>
          <a:p>
            <a:pPr lvl="1"/>
            <a:r>
              <a:rPr lang="da-DK" dirty="0"/>
              <a:t>Have to sort out all </a:t>
            </a:r>
            <a:r>
              <a:rPr lang="da-DK" dirty="0" err="1"/>
              <a:t>rotated</a:t>
            </a:r>
            <a:r>
              <a:rPr lang="da-DK" dirty="0"/>
              <a:t> versions of the same </a:t>
            </a:r>
            <a:r>
              <a:rPr lang="da-DK" dirty="0" err="1"/>
              <a:t>motif</a:t>
            </a:r>
            <a:r>
              <a:rPr lang="da-DK" dirty="0"/>
              <a:t>.</a:t>
            </a:r>
          </a:p>
          <a:p>
            <a:pPr lvl="1"/>
            <a:r>
              <a:rPr lang="da-DK" dirty="0"/>
              <a:t>Or </a:t>
            </a:r>
            <a:r>
              <a:rPr lang="da-DK" dirty="0" err="1"/>
              <a:t>condition</a:t>
            </a:r>
            <a:r>
              <a:rPr lang="da-DK" dirty="0"/>
              <a:t> on the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motifs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works</a:t>
            </a:r>
            <a:endParaRPr lang="da-DK" dirty="0"/>
          </a:p>
          <a:p>
            <a:pPr lvl="1"/>
            <a:r>
              <a:rPr lang="da-DK" dirty="0" err="1"/>
              <a:t>Maybe</a:t>
            </a:r>
            <a:r>
              <a:rPr lang="da-DK" dirty="0"/>
              <a:t> </a:t>
            </a:r>
            <a:r>
              <a:rPr lang="da-DK" dirty="0" err="1"/>
              <a:t>make</a:t>
            </a:r>
            <a:r>
              <a:rPr lang="da-DK" dirty="0"/>
              <a:t> rate </a:t>
            </a:r>
            <a:r>
              <a:rPr lang="da-DK" dirty="0" err="1"/>
              <a:t>calculation</a:t>
            </a:r>
            <a:r>
              <a:rPr lang="da-DK" dirty="0"/>
              <a:t> </a:t>
            </a:r>
            <a:r>
              <a:rPr lang="da-DK" dirty="0" err="1"/>
              <a:t>depend</a:t>
            </a:r>
            <a:r>
              <a:rPr lang="da-DK" dirty="0"/>
              <a:t> on more atoms?</a:t>
            </a:r>
          </a:p>
          <a:p>
            <a:r>
              <a:rPr lang="da-DK" dirty="0"/>
              <a:t>Can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impose</a:t>
            </a:r>
            <a:r>
              <a:rPr lang="da-DK" dirty="0"/>
              <a:t> </a:t>
            </a:r>
            <a:r>
              <a:rPr lang="da-DK" dirty="0" err="1"/>
              <a:t>constrained</a:t>
            </a:r>
            <a:r>
              <a:rPr lang="da-DK" dirty="0"/>
              <a:t> sampling </a:t>
            </a:r>
            <a:r>
              <a:rPr lang="da-DK" dirty="0" err="1"/>
              <a:t>strategy</a:t>
            </a:r>
            <a:r>
              <a:rPr lang="da-DK" dirty="0"/>
              <a:t>?</a:t>
            </a:r>
          </a:p>
          <a:p>
            <a:pPr lvl="1"/>
            <a:r>
              <a:rPr lang="da-DK" dirty="0"/>
              <a:t>Can </a:t>
            </a:r>
            <a:r>
              <a:rPr lang="da-DK" dirty="0" err="1"/>
              <a:t>make</a:t>
            </a:r>
            <a:r>
              <a:rPr lang="da-DK" dirty="0"/>
              <a:t> model </a:t>
            </a:r>
            <a:r>
              <a:rPr lang="da-DK" dirty="0" err="1"/>
              <a:t>learn</a:t>
            </a:r>
            <a:r>
              <a:rPr lang="da-DK" dirty="0"/>
              <a:t> the </a:t>
            </a:r>
            <a:r>
              <a:rPr lang="da-DK" dirty="0" err="1"/>
              <a:t>counts</a:t>
            </a:r>
            <a:r>
              <a:rPr lang="da-DK" dirty="0"/>
              <a:t> in the center</a:t>
            </a:r>
          </a:p>
          <a:p>
            <a:pPr marL="457200" lvl="1" indent="0">
              <a:buNone/>
            </a:pPr>
            <a:endParaRPr lang="da-DK" dirty="0"/>
          </a:p>
          <a:p>
            <a:endParaRPr lang="da-DK" dirty="0"/>
          </a:p>
        </p:txBody>
      </p:sp>
      <p:pic>
        <p:nvPicPr>
          <p:cNvPr id="5" name="Picture 77" descr="A group of colorful circles&#10;&#10;AI-generated content may be incorrect.">
            <a:extLst>
              <a:ext uri="{FF2B5EF4-FFF2-40B4-BE49-F238E27FC236}">
                <a16:creationId xmlns:a16="http://schemas.microsoft.com/office/drawing/2014/main" id="{3405C076-2222-65A5-3574-A1E1FF62B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63" t="12696" r="25755" b="42065"/>
          <a:stretch>
            <a:fillRect/>
          </a:stretch>
        </p:blipFill>
        <p:spPr>
          <a:xfrm>
            <a:off x="3671338" y="4821254"/>
            <a:ext cx="2748219" cy="203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72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6D851F-5F41-BE47-7064-AA04CC47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Solutions?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D3F348-13F7-2084-13EB-702FAC626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a-DK" dirty="0"/>
              <a:t>Score-</a:t>
            </a:r>
            <a:r>
              <a:rPr lang="da-DK" dirty="0" err="1"/>
              <a:t>based</a:t>
            </a:r>
            <a:r>
              <a:rPr lang="da-DK" dirty="0"/>
              <a:t> diffusion approach is </a:t>
            </a:r>
            <a:r>
              <a:rPr lang="da-DK" dirty="0" err="1"/>
              <a:t>maybe</a:t>
            </a:r>
            <a:r>
              <a:rPr lang="da-DK" dirty="0"/>
              <a:t> </a:t>
            </a:r>
            <a:r>
              <a:rPr lang="da-DK" dirty="0" err="1"/>
              <a:t>better</a:t>
            </a:r>
            <a:endParaRPr lang="da-DK" dirty="0"/>
          </a:p>
          <a:p>
            <a:pPr lvl="2"/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works</a:t>
            </a:r>
            <a:r>
              <a:rPr lang="da-DK" dirty="0"/>
              <a:t> for </a:t>
            </a:r>
            <a:r>
              <a:rPr lang="da-DK" dirty="0" err="1"/>
              <a:t>discrete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diffusion</a:t>
            </a:r>
          </a:p>
          <a:p>
            <a:pPr lvl="1"/>
            <a:r>
              <a:rPr lang="da-DK" dirty="0"/>
              <a:t>But problem is still </a:t>
            </a:r>
            <a:r>
              <a:rPr lang="da-DK" dirty="0" err="1"/>
              <a:t>unsolvable</a:t>
            </a:r>
            <a:r>
              <a:rPr lang="da-DK" dirty="0"/>
              <a:t> </a:t>
            </a:r>
            <a:r>
              <a:rPr lang="da-DK" dirty="0" err="1"/>
              <a:t>without</a:t>
            </a:r>
            <a:r>
              <a:rPr lang="da-DK" dirty="0"/>
              <a:t> proper </a:t>
            </a:r>
            <a:r>
              <a:rPr lang="da-DK" dirty="0" err="1"/>
              <a:t>geometric</a:t>
            </a:r>
            <a:r>
              <a:rPr lang="da-DK" dirty="0"/>
              <a:t> information</a:t>
            </a:r>
          </a:p>
          <a:p>
            <a:pPr lvl="1"/>
            <a:endParaRPr lang="da-DK" dirty="0">
              <a:sym typeface="Wingdings" pitchFamily="2" charset="2"/>
            </a:endParaRPr>
          </a:p>
          <a:p>
            <a:pPr marL="914400" lvl="2" indent="0">
              <a:buNone/>
            </a:pPr>
            <a:br>
              <a:rPr lang="da-DK" dirty="0">
                <a:sym typeface="Wingdings" pitchFamily="2" charset="2"/>
              </a:rPr>
            </a:br>
            <a:br>
              <a:rPr lang="da-DK" dirty="0">
                <a:sym typeface="Wingdings" pitchFamily="2" charset="2"/>
              </a:rPr>
            </a:br>
            <a:endParaRPr lang="da-DK" dirty="0">
              <a:sym typeface="Wingdings" pitchFamily="2" charset="2"/>
            </a:endParaRPr>
          </a:p>
        </p:txBody>
      </p:sp>
      <p:pic>
        <p:nvPicPr>
          <p:cNvPr id="1028" name="Picture 4" descr="Generative Modeling by Estimating Gradients of the Data Distribution | Yang  Song">
            <a:extLst>
              <a:ext uri="{FF2B5EF4-FFF2-40B4-BE49-F238E27FC236}">
                <a16:creationId xmlns:a16="http://schemas.microsoft.com/office/drawing/2014/main" id="{37219B15-5864-B4DC-459D-EDB86989E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218" y="3429000"/>
            <a:ext cx="7113563" cy="276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972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20891</TotalTime>
  <Words>1572</Words>
  <Application>Microsoft Macintosh PowerPoint</Application>
  <PresentationFormat>Widescreen</PresentationFormat>
  <Paragraphs>233</Paragraphs>
  <Slides>31</Slides>
  <Notes>4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Noto Sans</vt:lpstr>
      <vt:lpstr>Wingdings</vt:lpstr>
      <vt:lpstr>Office-tema</vt:lpstr>
      <vt:lpstr>Diffuson models</vt:lpstr>
      <vt:lpstr>Outline</vt:lpstr>
      <vt:lpstr>Problem statement</vt:lpstr>
      <vt:lpstr>Diffusion model theory</vt:lpstr>
      <vt:lpstr>Diffusion model theory</vt:lpstr>
      <vt:lpstr>Diffusion model theory</vt:lpstr>
      <vt:lpstr>Diffusion model theory</vt:lpstr>
      <vt:lpstr>Diffusion model theory</vt:lpstr>
      <vt:lpstr>Diffusion model theory</vt:lpstr>
      <vt:lpstr>Diffusion model theory</vt:lpstr>
      <vt:lpstr>Diffusion model theory</vt:lpstr>
      <vt:lpstr>Diffusion model theory</vt:lpstr>
      <vt:lpstr>Diffusion model theory</vt:lpstr>
      <vt:lpstr>Discrete space diffusion</vt:lpstr>
      <vt:lpstr>Q-matrices</vt:lpstr>
      <vt:lpstr>How I implemted this: Diffusion examples</vt:lpstr>
      <vt:lpstr>How I implemented this</vt:lpstr>
      <vt:lpstr>How I implemented this</vt:lpstr>
      <vt:lpstr>How I implemented this</vt:lpstr>
      <vt:lpstr>Testing my implementation</vt:lpstr>
      <vt:lpstr>Testing my implementation</vt:lpstr>
      <vt:lpstr>Testing my implementation</vt:lpstr>
      <vt:lpstr>Tried conditioning on the reaction rate</vt:lpstr>
      <vt:lpstr>PowerPoint-præsentation</vt:lpstr>
      <vt:lpstr>PowerPoint-præsentation</vt:lpstr>
      <vt:lpstr>Unconditional generation on high rates only</vt:lpstr>
      <vt:lpstr>Unconditional generation on high rates only</vt:lpstr>
      <vt:lpstr>What is the problem?</vt:lpstr>
      <vt:lpstr>Simple test</vt:lpstr>
      <vt:lpstr>Solutions</vt:lpstr>
      <vt:lpstr>Solutions?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Karsten Walz Jensen</dc:creator>
  <cp:lastModifiedBy>Karsten Walz Jensen</cp:lastModifiedBy>
  <cp:revision>13</cp:revision>
  <dcterms:created xsi:type="dcterms:W3CDTF">2026-01-13T16:42:24Z</dcterms:created>
  <dcterms:modified xsi:type="dcterms:W3CDTF">2026-02-02T19:06:05Z</dcterms:modified>
</cp:coreProperties>
</file>