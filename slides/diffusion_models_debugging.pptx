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948" r:id="rId4"/>
    <p:sldId id="955" r:id="rId5"/>
    <p:sldId id="954" r:id="rId6"/>
    <p:sldId id="950" r:id="rId7"/>
    <p:sldId id="958" r:id="rId8"/>
    <p:sldId id="995" r:id="rId9"/>
    <p:sldId id="951" r:id="rId10"/>
    <p:sldId id="957" r:id="rId11"/>
    <p:sldId id="966" r:id="rId12"/>
    <p:sldId id="972" r:id="rId13"/>
    <p:sldId id="975" r:id="rId14"/>
    <p:sldId id="976" r:id="rId15"/>
    <p:sldId id="977" r:id="rId16"/>
    <p:sldId id="984" r:id="rId17"/>
    <p:sldId id="978" r:id="rId18"/>
    <p:sldId id="985" r:id="rId19"/>
    <p:sldId id="986" r:id="rId20"/>
    <p:sldId id="987" r:id="rId21"/>
    <p:sldId id="988" r:id="rId22"/>
    <p:sldId id="990" r:id="rId23"/>
    <p:sldId id="989" r:id="rId24"/>
    <p:sldId id="992" r:id="rId25"/>
    <p:sldId id="991" r:id="rId26"/>
    <p:sldId id="993" r:id="rId2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8033"/>
    <a:srgbClr val="0169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72AB57-08E3-27C5-23C7-047259696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239C15B-0FC9-F0AD-5FFF-4A140EAB2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DC9B352-B959-B4FB-2554-22CA8F62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27E5F85-397F-A851-134D-7330DAB5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406E082-22C8-01BF-DE30-AA96B600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301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C9F8C6-FEC5-C6D5-1E1E-D6CBEFF5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293192-1AF0-DF51-5A75-537670E7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CE7FED-F838-18FD-9DCF-97F96439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6352CA4-3137-C5CA-4C0B-1F06BF9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65FACBE-6B5C-780D-DEB9-6E4AE5F4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24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F4D59-36FA-487D-84F8-C624492A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BE72F27-874C-A591-D4A0-0430AA713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D69C3B0-FAFD-4AAE-1660-D997FDC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D09A9A0-500A-9DF6-3691-2853B1BA9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4E0A2EC-4D73-E111-AD97-EE8DF6F8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58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9756F-F3C8-E7DF-8031-EEC30A01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12373D4-8F72-3822-3EBB-5B8C2CBDD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F803F3C-5D33-F951-8F3B-B99D69D6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E544F57-530E-0EAA-4D0A-FE911C44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832E155-4694-5C0F-A685-17541FF3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62AE3EC-27C8-DE59-4371-52038D6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144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9BE38-0081-4449-C348-FF971A7A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3F2F44C-6990-56E1-6456-B57A48A11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F1EC60D-ED7C-F805-B3C4-711F00827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E0BD636-74F3-DB35-E6E6-8801D77DB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ECD5B0A-69D8-80BA-934A-EC8C540A0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9F08DA0-CDFE-308E-F4C3-7EE4D621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9F231826-6DC2-BB3D-508B-CDAFDF62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1524E826-D17D-6D43-1219-D92D5BFF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968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50446-EB88-8498-2DD5-608DDADD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0044617-384C-8C1D-0951-8CE00B3B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BF041A0-1416-638D-D54E-2FDA760A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F58647B-6435-5EDB-EE2D-82ABC52F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397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B50BA10-3CDE-596E-1F87-60E7A78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19C339A-761D-2CB0-B864-08A0BBA8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635F890-46C8-4F3A-C75F-60382D06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161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F3FCD-3384-C552-BAE5-55F2FD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BE46D5-8A60-9D0B-BC86-8D1F06D04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90FB24A-A98D-256D-A508-5CB873148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F584900-9F00-1057-A855-8087C79C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4BAF7A5-6705-BFB8-781F-926EE36F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1078216-BCC7-BAEC-C060-4B07C179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490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DE500-680E-A7B3-57A9-AD98604B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588E495-EAC3-0046-69F5-EC9C44F71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07737CA-C5B8-86D5-42C3-0F0357BAE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C4A190E-347A-B9FF-D3A7-46EE608B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B5EF0CE-CD9C-53ED-4DC5-39A5E836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F62323B-E0AA-78BF-8926-1ADF7F24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691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E5152-6A9B-BF1B-609D-9940E1C9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77B609D-800E-8478-6A7E-11E6D2F2A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ADE365E-1E9A-E88B-9C5E-0042F73D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20A1876-164F-EE08-D667-1B546CE7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9632DA0-A9C9-89E3-27B2-4E352C12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376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B1660AE-A3C8-550F-14DC-8076C1CAC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68FEBC7-7517-D340-0353-4BA15C700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4A875B-57BF-A76F-A941-F23B12BD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73CE988-F1A5-F3C8-BDB9-2B0AC19EA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6DC4CAC-8A06-A306-14ED-90297692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397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36E1B84-3EC3-01DF-43A9-A592C689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B2E43B3-9CDD-2DB1-4E95-CE940DA8E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73742D3-6332-801D-C3E0-617582B5D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2D722-DAAB-A84F-BD12-389C5C148C6C}" type="datetimeFigureOut">
              <a:rPr lang="da-DK" smtClean="0"/>
              <a:t>29.01.2026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51C5DE7-A74E-56FB-47F6-B60EBBC31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8B50C51-F4F1-462C-1524-AFA9AE649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261D5-8CFF-7E47-98F7-4F20401B13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270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0.png"/><Relationship Id="rId18" Type="http://schemas.openxmlformats.org/officeDocument/2006/relationships/image" Target="../media/image500.png"/><Relationship Id="rId3" Type="http://schemas.openxmlformats.org/officeDocument/2006/relationships/image" Target="../media/image11.png"/><Relationship Id="rId21" Type="http://schemas.openxmlformats.org/officeDocument/2006/relationships/image" Target="../media/image530.png"/><Relationship Id="rId7" Type="http://schemas.openxmlformats.org/officeDocument/2006/relationships/image" Target="../media/image16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image" Target="../media/image10.png"/><Relationship Id="rId16" Type="http://schemas.openxmlformats.org/officeDocument/2006/relationships/image" Target="../media/image480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430.png"/><Relationship Id="rId5" Type="http://schemas.openxmlformats.org/officeDocument/2006/relationships/image" Target="../media/image13.png"/><Relationship Id="rId15" Type="http://schemas.openxmlformats.org/officeDocument/2006/relationships/image" Target="../media/image470.png"/><Relationship Id="rId23" Type="http://schemas.openxmlformats.org/officeDocument/2006/relationships/image" Target="../media/image550.png"/><Relationship Id="rId10" Type="http://schemas.openxmlformats.org/officeDocument/2006/relationships/image" Target="../media/image19.png"/><Relationship Id="rId19" Type="http://schemas.openxmlformats.org/officeDocument/2006/relationships/image" Target="../media/image510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4" Type="http://schemas.openxmlformats.org/officeDocument/2006/relationships/image" Target="../media/image460.png"/><Relationship Id="rId22" Type="http://schemas.openxmlformats.org/officeDocument/2006/relationships/image" Target="../media/image5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13" Type="http://schemas.openxmlformats.org/officeDocument/2006/relationships/image" Target="../media/image67.png"/><Relationship Id="rId3" Type="http://schemas.openxmlformats.org/officeDocument/2006/relationships/image" Target="../media/image21.png"/><Relationship Id="rId7" Type="http://schemas.openxmlformats.org/officeDocument/2006/relationships/image" Target="../media/image610.png"/><Relationship Id="rId12" Type="http://schemas.openxmlformats.org/officeDocument/2006/relationships/image" Target="../media/image66.png"/><Relationship Id="rId2" Type="http://schemas.openxmlformats.org/officeDocument/2006/relationships/image" Target="../media/image20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image" Target="../media/image65.png"/><Relationship Id="rId5" Type="http://schemas.openxmlformats.org/officeDocument/2006/relationships/image" Target="../media/image590.png"/><Relationship Id="rId15" Type="http://schemas.openxmlformats.org/officeDocument/2006/relationships/image" Target="../media/image69.png"/><Relationship Id="rId10" Type="http://schemas.openxmlformats.org/officeDocument/2006/relationships/image" Target="../media/image22.png"/><Relationship Id="rId4" Type="http://schemas.openxmlformats.org/officeDocument/2006/relationships/image" Target="../media/image580.png"/><Relationship Id="rId9" Type="http://schemas.openxmlformats.org/officeDocument/2006/relationships/image" Target="../media/image630.png"/><Relationship Id="rId1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13" Type="http://schemas.openxmlformats.org/officeDocument/2006/relationships/image" Target="../media/image26.png"/><Relationship Id="rId7" Type="http://schemas.openxmlformats.org/officeDocument/2006/relationships/image" Target="../media/image610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image" Target="../media/image24.png"/><Relationship Id="rId5" Type="http://schemas.openxmlformats.org/officeDocument/2006/relationships/image" Target="../media/image590.png"/><Relationship Id="rId10" Type="http://schemas.openxmlformats.org/officeDocument/2006/relationships/image" Target="../media/image23.png"/><Relationship Id="rId4" Type="http://schemas.openxmlformats.org/officeDocument/2006/relationships/image" Target="../media/image580.png"/><Relationship Id="rId9" Type="http://schemas.openxmlformats.org/officeDocument/2006/relationships/image" Target="../media/image630.pn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gif"/><Relationship Id="rId3" Type="http://schemas.openxmlformats.org/officeDocument/2006/relationships/image" Target="../media/image35.gif"/><Relationship Id="rId7" Type="http://schemas.openxmlformats.org/officeDocument/2006/relationships/image" Target="../media/image39.gif"/><Relationship Id="rId12" Type="http://schemas.openxmlformats.org/officeDocument/2006/relationships/image" Target="../media/image96.pn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gif"/><Relationship Id="rId11" Type="http://schemas.openxmlformats.org/officeDocument/2006/relationships/image" Target="../media/image43.gif"/><Relationship Id="rId5" Type="http://schemas.openxmlformats.org/officeDocument/2006/relationships/image" Target="../media/image37.gif"/><Relationship Id="rId10" Type="http://schemas.openxmlformats.org/officeDocument/2006/relationships/image" Target="../media/image42.gif"/><Relationship Id="rId4" Type="http://schemas.openxmlformats.org/officeDocument/2006/relationships/image" Target="../media/image36.gif"/><Relationship Id="rId9" Type="http://schemas.openxmlformats.org/officeDocument/2006/relationships/image" Target="../media/image41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gif"/><Relationship Id="rId3" Type="http://schemas.openxmlformats.org/officeDocument/2006/relationships/image" Target="../media/image45.gif"/><Relationship Id="rId7" Type="http://schemas.openxmlformats.org/officeDocument/2006/relationships/image" Target="../media/image49.gif"/><Relationship Id="rId12" Type="http://schemas.openxmlformats.org/officeDocument/2006/relationships/image" Target="../media/image107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gif"/><Relationship Id="rId11" Type="http://schemas.openxmlformats.org/officeDocument/2006/relationships/image" Target="../media/image53.gif"/><Relationship Id="rId5" Type="http://schemas.openxmlformats.org/officeDocument/2006/relationships/image" Target="../media/image47.gif"/><Relationship Id="rId10" Type="http://schemas.openxmlformats.org/officeDocument/2006/relationships/image" Target="../media/image52.gif"/><Relationship Id="rId4" Type="http://schemas.openxmlformats.org/officeDocument/2006/relationships/image" Target="../media/image46.gif"/><Relationship Id="rId9" Type="http://schemas.openxmlformats.org/officeDocument/2006/relationships/image" Target="../media/image5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3" Type="http://schemas.openxmlformats.org/officeDocument/2006/relationships/image" Target="../media/image21.png"/><Relationship Id="rId12" Type="http://schemas.openxmlformats.org/officeDocument/2006/relationships/image" Target="../media/image93.png"/><Relationship Id="rId2" Type="http://schemas.openxmlformats.org/officeDocument/2006/relationships/image" Target="../media/image92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5" Type="http://schemas.openxmlformats.org/officeDocument/2006/relationships/image" Target="../media/image97.png"/><Relationship Id="rId10" Type="http://schemas.openxmlformats.org/officeDocument/2006/relationships/image" Target="../media/image22.png"/><Relationship Id="rId9" Type="http://schemas.openxmlformats.org/officeDocument/2006/relationships/image" Target="../media/image630.png"/><Relationship Id="rId14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47F35-9347-477F-7009-8BC1375DD0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debugging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4EEE408-E8EA-8DB4-B049-8E1161308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3607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BD71F7-455A-ED60-0B37-37033897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Outline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7B75DE-2A53-F353-8ACD-2FD8F2945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Quick </a:t>
            </a:r>
            <a:r>
              <a:rPr lang="da-DK" dirty="0" err="1"/>
              <a:t>recap</a:t>
            </a:r>
            <a:r>
              <a:rPr lang="da-DK" dirty="0"/>
              <a:t> of problem &amp; summary</a:t>
            </a:r>
          </a:p>
          <a:p>
            <a:pPr lvl="1"/>
            <a:r>
              <a:rPr lang="da-DK" dirty="0"/>
              <a:t>Not </a:t>
            </a:r>
            <a:r>
              <a:rPr lang="da-DK" dirty="0" err="1"/>
              <a:t>being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</a:t>
            </a:r>
            <a:r>
              <a:rPr lang="da-DK" dirty="0" err="1"/>
              <a:t>produce</a:t>
            </a:r>
            <a:r>
              <a:rPr lang="da-DK" dirty="0"/>
              <a:t> high rate </a:t>
            </a:r>
            <a:r>
              <a:rPr lang="da-DK" dirty="0" err="1"/>
              <a:t>structures</a:t>
            </a:r>
            <a:r>
              <a:rPr lang="da-DK" dirty="0"/>
              <a:t> </a:t>
            </a:r>
            <a:r>
              <a:rPr lang="da-DK" dirty="0" err="1"/>
              <a:t>unconditionally</a:t>
            </a:r>
            <a:endParaRPr lang="da-DK" dirty="0"/>
          </a:p>
          <a:p>
            <a:r>
              <a:rPr lang="da-DK" dirty="0" err="1"/>
              <a:t>Identification</a:t>
            </a:r>
            <a:r>
              <a:rPr lang="da-DK" dirty="0"/>
              <a:t> of the problem</a:t>
            </a:r>
          </a:p>
          <a:p>
            <a:r>
              <a:rPr lang="da-DK" dirty="0" err="1"/>
              <a:t>What</a:t>
            </a:r>
            <a:r>
              <a:rPr lang="da-DK" dirty="0"/>
              <a:t> I </a:t>
            </a:r>
            <a:r>
              <a:rPr lang="da-DK" dirty="0" err="1"/>
              <a:t>think</a:t>
            </a:r>
            <a:r>
              <a:rPr lang="da-DK" dirty="0"/>
              <a:t> the solution </a:t>
            </a:r>
            <a:r>
              <a:rPr lang="da-DK" dirty="0" err="1"/>
              <a:t>may</a:t>
            </a:r>
            <a:r>
              <a:rPr lang="da-DK" dirty="0"/>
              <a:t> </a:t>
            </a:r>
            <a:r>
              <a:rPr lang="da-DK" dirty="0" err="1"/>
              <a:t>be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18098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AA98E-0DCD-B25D-0B83-D07899D8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Problem statement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CE1741-C460-E9C6-FA3D-F5B1BD6A9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760"/>
            <a:ext cx="10515600" cy="4351338"/>
          </a:xfrm>
        </p:spPr>
        <p:txBody>
          <a:bodyPr/>
          <a:lstStyle/>
          <a:p>
            <a:r>
              <a:rPr lang="da-DK" dirty="0" err="1"/>
              <a:t>Investigate</a:t>
            </a:r>
            <a:r>
              <a:rPr lang="da-DK" dirty="0"/>
              <a:t> RWGS: 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on metallic </a:t>
            </a:r>
            <a:r>
              <a:rPr lang="da-DK" dirty="0" err="1"/>
              <a:t>alloys</a:t>
            </a:r>
            <a:endParaRPr lang="da-DK" dirty="0"/>
          </a:p>
          <a:p>
            <a:r>
              <a:rPr lang="da-DK" dirty="0" err="1"/>
              <a:t>Example</a:t>
            </a:r>
            <a:r>
              <a:rPr lang="da-DK" dirty="0"/>
              <a:t>: 111-surface with </a:t>
            </a:r>
            <a:r>
              <a:rPr lang="da-DK" dirty="0" err="1"/>
              <a:t>only</a:t>
            </a:r>
            <a:r>
              <a:rPr lang="da-DK" dirty="0"/>
              <a:t> 4 </a:t>
            </a:r>
            <a:r>
              <a:rPr lang="da-DK" dirty="0" err="1"/>
              <a:t>active</a:t>
            </a:r>
            <a:r>
              <a:rPr lang="da-DK" dirty="0"/>
              <a:t> sites</a:t>
            </a:r>
          </a:p>
          <a:p>
            <a:pPr lvl="1"/>
            <a:r>
              <a:rPr lang="da-DK" dirty="0"/>
              <a:t>Element pool of 3 </a:t>
            </a:r>
            <a:r>
              <a:rPr lang="da-DK" dirty="0" err="1"/>
              <a:t>yields</a:t>
            </a:r>
            <a:r>
              <a:rPr lang="da-DK" dirty="0"/>
              <a:t> 3.5billion </a:t>
            </a:r>
            <a:r>
              <a:rPr lang="da-DK" dirty="0" err="1"/>
              <a:t>conf</a:t>
            </a:r>
            <a:r>
              <a:rPr lang="da-DK" dirty="0"/>
              <a:t>.</a:t>
            </a:r>
          </a:p>
          <a:p>
            <a:r>
              <a:rPr lang="da-DK" dirty="0" err="1"/>
              <a:t>Approximation</a:t>
            </a:r>
            <a:r>
              <a:rPr lang="da-DK" dirty="0"/>
              <a:t>: </a:t>
            </a:r>
            <a:r>
              <a:rPr lang="da-DK" dirty="0" err="1"/>
              <a:t>Ignore</a:t>
            </a:r>
            <a:r>
              <a:rPr lang="da-DK" dirty="0"/>
              <a:t> </a:t>
            </a:r>
            <a:r>
              <a:rPr lang="da-DK" dirty="0" err="1"/>
              <a:t>effect</a:t>
            </a:r>
            <a:r>
              <a:rPr lang="da-DK" dirty="0"/>
              <a:t> of </a:t>
            </a:r>
            <a:r>
              <a:rPr lang="da-DK" dirty="0" err="1"/>
              <a:t>stability</a:t>
            </a:r>
            <a:r>
              <a:rPr lang="da-DK" dirty="0"/>
              <a:t>/</a:t>
            </a:r>
            <a:r>
              <a:rPr lang="da-DK" dirty="0" err="1"/>
              <a:t>geometrical</a:t>
            </a:r>
            <a:r>
              <a:rPr lang="da-DK" dirty="0"/>
              <a:t> DOF’s.</a:t>
            </a:r>
          </a:p>
          <a:p>
            <a:r>
              <a:rPr lang="da-DK" dirty="0" err="1"/>
              <a:t>Use</a:t>
            </a:r>
            <a:r>
              <a:rPr lang="da-DK" dirty="0"/>
              <a:t> generative models to </a:t>
            </a:r>
            <a:r>
              <a:rPr lang="da-DK" dirty="0" err="1"/>
              <a:t>help</a:t>
            </a:r>
            <a:r>
              <a:rPr lang="da-DK" dirty="0"/>
              <a:t> guide </a:t>
            </a:r>
            <a:r>
              <a:rPr lang="da-DK" dirty="0">
                <a:sym typeface="Wingdings" pitchFamily="2" charset="2"/>
              </a:rPr>
              <a:t> Diffusion model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Picture 34" descr="A group of yellow and brown circles&#10;&#10;AI-generated content may be incorrect.">
            <a:extLst>
              <a:ext uri="{FF2B5EF4-FFF2-40B4-BE49-F238E27FC236}">
                <a16:creationId xmlns:a16="http://schemas.microsoft.com/office/drawing/2014/main" id="{B4A93256-B485-57B9-F2A7-90EE2D1D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1" r="22617" b="36600"/>
          <a:stretch>
            <a:fillRect/>
          </a:stretch>
        </p:blipFill>
        <p:spPr>
          <a:xfrm>
            <a:off x="2596243" y="4249652"/>
            <a:ext cx="2954549" cy="2608348"/>
          </a:xfrm>
          <a:prstGeom prst="rect">
            <a:avLst/>
          </a:prstGeom>
        </p:spPr>
      </p:pic>
      <p:sp>
        <p:nvSpPr>
          <p:cNvPr id="5" name="TextBox 38">
            <a:extLst>
              <a:ext uri="{FF2B5EF4-FFF2-40B4-BE49-F238E27FC236}">
                <a16:creationId xmlns:a16="http://schemas.microsoft.com/office/drawing/2014/main" id="{1CEF9200-749F-4F4D-7960-4DFDBBFF5F86}"/>
              </a:ext>
            </a:extLst>
          </p:cNvPr>
          <p:cNvSpPr txBox="1"/>
          <p:nvPr/>
        </p:nvSpPr>
        <p:spPr>
          <a:xfrm>
            <a:off x="131601" y="5628196"/>
            <a:ext cx="1951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Brown: site atoms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873E7FF5-7C13-48EE-DE91-95699F1B76EF}"/>
              </a:ext>
            </a:extLst>
          </p:cNvPr>
          <p:cNvSpPr txBox="1"/>
          <p:nvPr/>
        </p:nvSpPr>
        <p:spPr>
          <a:xfrm>
            <a:off x="131601" y="6073821"/>
            <a:ext cx="2464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Yellow: neighbor atoms</a:t>
            </a:r>
          </a:p>
        </p:txBody>
      </p:sp>
      <p:cxnSp>
        <p:nvCxnSpPr>
          <p:cNvPr id="7" name="Straight Arrow Connector 42">
            <a:extLst>
              <a:ext uri="{FF2B5EF4-FFF2-40B4-BE49-F238E27FC236}">
                <a16:creationId xmlns:a16="http://schemas.microsoft.com/office/drawing/2014/main" id="{E33426F0-00C9-9103-0456-3785281BDB12}"/>
              </a:ext>
            </a:extLst>
          </p:cNvPr>
          <p:cNvCxnSpPr>
            <a:cxnSpLocks/>
          </p:cNvCxnSpPr>
          <p:nvPr/>
        </p:nvCxnSpPr>
        <p:spPr bwMode="auto">
          <a:xfrm flipV="1">
            <a:off x="2083364" y="5628196"/>
            <a:ext cx="1466565" cy="185961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53">
            <a:extLst>
              <a:ext uri="{FF2B5EF4-FFF2-40B4-BE49-F238E27FC236}">
                <a16:creationId xmlns:a16="http://schemas.microsoft.com/office/drawing/2014/main" id="{DF46D72D-C767-BC39-27C0-25F6467062BF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2596243" y="6073821"/>
            <a:ext cx="953686" cy="169277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2">
            <a:extLst>
              <a:ext uri="{FF2B5EF4-FFF2-40B4-BE49-F238E27FC236}">
                <a16:creationId xmlns:a16="http://schemas.microsoft.com/office/drawing/2014/main" id="{6B47D78E-EDD9-2380-D937-6CBBAEE294B9}"/>
              </a:ext>
            </a:extLst>
          </p:cNvPr>
          <p:cNvCxnSpPr>
            <a:cxnSpLocks/>
          </p:cNvCxnSpPr>
          <p:nvPr/>
        </p:nvCxnSpPr>
        <p:spPr bwMode="auto">
          <a:xfrm>
            <a:off x="5550792" y="5683808"/>
            <a:ext cx="1287890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38">
            <a:extLst>
              <a:ext uri="{FF2B5EF4-FFF2-40B4-BE49-F238E27FC236}">
                <a16:creationId xmlns:a16="http://schemas.microsoft.com/office/drawing/2014/main" id="{71CB7983-2534-C2CE-45AF-BFA4D01D0B6A}"/>
              </a:ext>
            </a:extLst>
          </p:cNvPr>
          <p:cNvSpPr txBox="1"/>
          <p:nvPr/>
        </p:nvSpPr>
        <p:spPr>
          <a:xfrm>
            <a:off x="5381358" y="5210317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Swap elements</a:t>
            </a:r>
          </a:p>
        </p:txBody>
      </p:sp>
      <p:pic>
        <p:nvPicPr>
          <p:cNvPr id="19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DA30463B-6006-1F07-A3B2-0E7570C3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63" t="12696" r="25755" b="42065"/>
          <a:stretch>
            <a:fillRect/>
          </a:stretch>
        </p:blipFill>
        <p:spPr>
          <a:xfrm>
            <a:off x="7078186" y="4665435"/>
            <a:ext cx="2748219" cy="2036746"/>
          </a:xfrm>
          <a:prstGeom prst="rect">
            <a:avLst/>
          </a:prstGeom>
        </p:spPr>
      </p:pic>
      <p:cxnSp>
        <p:nvCxnSpPr>
          <p:cNvPr id="20" name="Straight Arrow Connector 42">
            <a:extLst>
              <a:ext uri="{FF2B5EF4-FFF2-40B4-BE49-F238E27FC236}">
                <a16:creationId xmlns:a16="http://schemas.microsoft.com/office/drawing/2014/main" id="{48D4AB77-0076-F434-E445-ECD3F34617C3}"/>
              </a:ext>
            </a:extLst>
          </p:cNvPr>
          <p:cNvCxnSpPr>
            <a:cxnSpLocks/>
          </p:cNvCxnSpPr>
          <p:nvPr/>
        </p:nvCxnSpPr>
        <p:spPr bwMode="auto">
          <a:xfrm>
            <a:off x="9909261" y="5638078"/>
            <a:ext cx="767325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38">
            <a:extLst>
              <a:ext uri="{FF2B5EF4-FFF2-40B4-BE49-F238E27FC236}">
                <a16:creationId xmlns:a16="http://schemas.microsoft.com/office/drawing/2014/main" id="{006C0E8B-01E7-B014-3E7D-0A6888FD4533}"/>
              </a:ext>
            </a:extLst>
          </p:cNvPr>
          <p:cNvSpPr txBox="1"/>
          <p:nvPr/>
        </p:nvSpPr>
        <p:spPr>
          <a:xfrm>
            <a:off x="10676586" y="5468801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Reaction rate</a:t>
            </a:r>
          </a:p>
        </p:txBody>
      </p:sp>
    </p:spTree>
    <p:extLst>
      <p:ext uri="{BB962C8B-B14F-4D97-AF65-F5344CB8AC3E}">
        <p14:creationId xmlns:p14="http://schemas.microsoft.com/office/powerpoint/2010/main" val="268253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2E25D-32F3-5107-1BB1-BCA021D4F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482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2FE304-1C73-11E6-E835-05E543A90F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797" y="1183455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Noise is </a:t>
                </a:r>
                <a:r>
                  <a:rPr lang="da-DK" dirty="0" err="1"/>
                  <a:t>applied</a:t>
                </a:r>
                <a:r>
                  <a:rPr lang="da-DK" dirty="0"/>
                  <a:t> </a:t>
                </a:r>
                <a:r>
                  <a:rPr lang="da-DK" dirty="0" err="1"/>
                  <a:t>token</a:t>
                </a:r>
                <a:r>
                  <a:rPr lang="da-DK" dirty="0"/>
                  <a:t> wise </a:t>
                </a:r>
                <a:r>
                  <a:rPr lang="da-DK" dirty="0" err="1"/>
                  <a:t>independently</a:t>
                </a:r>
                <a:r>
                  <a:rPr lang="da-DK" dirty="0"/>
                  <a:t> by:</a:t>
                </a:r>
              </a:p>
              <a:p>
                <a:pPr lvl="1"/>
                <a:endParaRPr lang="da-DK" dirty="0"/>
              </a:p>
              <a:p>
                <a:pPr lvl="1"/>
                <a:r>
                  <a:rPr lang="da-DK" dirty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dirty="0"/>
                  <a:t> is not a </a:t>
                </a:r>
                <a:r>
                  <a:rPr lang="da-DK" dirty="0" err="1"/>
                  <a:t>sequence</a:t>
                </a:r>
                <a:r>
                  <a:rPr lang="da-DK" dirty="0"/>
                  <a:t> </a:t>
                </a:r>
                <a:r>
                  <a:rPr lang="da-DK" dirty="0" err="1"/>
                  <a:t>here</a:t>
                </a:r>
                <a:r>
                  <a:rPr lang="da-DK" dirty="0"/>
                  <a:t> but </a:t>
                </a:r>
                <a:r>
                  <a:rPr lang="da-DK" dirty="0" err="1"/>
                  <a:t>token</a:t>
                </a:r>
                <a:endParaRPr lang="da-DK" dirty="0"/>
              </a:p>
              <a:p>
                <a:r>
                  <a:rPr lang="da-DK" dirty="0"/>
                  <a:t>Q-matrices </a:t>
                </a:r>
                <a:r>
                  <a:rPr lang="da-DK" dirty="0" err="1"/>
                  <a:t>govern</a:t>
                </a:r>
                <a:r>
                  <a:rPr lang="da-DK" dirty="0"/>
                  <a:t> the transfer </a:t>
                </a:r>
                <a:r>
                  <a:rPr lang="da-DK" dirty="0" err="1"/>
                  <a:t>between</a:t>
                </a:r>
                <a:r>
                  <a:rPr lang="da-DK" dirty="0"/>
                  <a:t> </a:t>
                </a:r>
                <a:r>
                  <a:rPr lang="da-DK" dirty="0" err="1"/>
                  <a:t>different</a:t>
                </a:r>
                <a:br>
                  <a:rPr lang="da-DK" dirty="0"/>
                </a:br>
                <a:r>
                  <a:rPr lang="da-DK" dirty="0" err="1"/>
                  <a:t>categories</a:t>
                </a:r>
                <a:endParaRPr lang="da-DK" dirty="0"/>
              </a:p>
              <a:p>
                <a:pPr lvl="1"/>
                <a:r>
                  <a:rPr lang="da-DK" dirty="0"/>
                  <a:t>Element pool: [”</a:t>
                </a:r>
                <a:r>
                  <a:rPr lang="da-DK" dirty="0" err="1"/>
                  <a:t>Rh</a:t>
                </a:r>
                <a:r>
                  <a:rPr lang="da-DK" dirty="0"/>
                  <a:t>”, ”</a:t>
                </a:r>
                <a:r>
                  <a:rPr lang="da-DK" dirty="0" err="1"/>
                  <a:t>Pd</a:t>
                </a:r>
                <a:r>
                  <a:rPr lang="da-DK" dirty="0"/>
                  <a:t>”, ”Ni”, ”Au”] </a:t>
                </a:r>
                <a:r>
                  <a:rPr lang="da-DK" dirty="0">
                    <a:sym typeface="Wingdings" pitchFamily="2" charset="2"/>
                  </a:rPr>
                  <a:t> 4 </a:t>
                </a:r>
                <a:r>
                  <a:rPr lang="da-DK" dirty="0" err="1">
                    <a:sym typeface="Wingdings" pitchFamily="2" charset="2"/>
                  </a:rPr>
                  <a:t>categories</a:t>
                </a:r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 err="1"/>
                  <a:t>Example</a:t>
                </a:r>
                <a:r>
                  <a:rPr lang="da-DK" dirty="0"/>
                  <a:t>: ”</a:t>
                </a:r>
                <a:r>
                  <a:rPr lang="da-DK" dirty="0" err="1"/>
                  <a:t>Rh</a:t>
                </a:r>
                <a:r>
                  <a:rPr lang="da-DK" dirty="0"/>
                  <a:t>” </a:t>
                </a:r>
                <a:r>
                  <a:rPr lang="da-DK" dirty="0" err="1"/>
                  <a:t>coloumn</a:t>
                </a:r>
                <a:r>
                  <a:rPr lang="da-DK" dirty="0"/>
                  <a:t>/</a:t>
                </a:r>
                <a:r>
                  <a:rPr lang="da-DK" dirty="0" err="1"/>
                  <a:t>row</a:t>
                </a:r>
                <a:r>
                  <a:rPr lang="da-DK" dirty="0"/>
                  <a:t> </a:t>
                </a:r>
                <a:r>
                  <a:rPr lang="da-DK" dirty="0" err="1"/>
                  <a:t>becomes</a:t>
                </a:r>
                <a:r>
                  <a:rPr lang="da-DK" dirty="0"/>
                  <a:t>: [0.40, 0.20, 0.20, 0.20]</a:t>
                </a:r>
              </a:p>
              <a:p>
                <a:r>
                  <a:rPr lang="da-DK" dirty="0"/>
                  <a:t>Main </a:t>
                </a:r>
                <a:r>
                  <a:rPr lang="da-DK" dirty="0" err="1"/>
                  <a:t>idea</a:t>
                </a:r>
                <a:r>
                  <a:rPr lang="da-DK" dirty="0"/>
                  <a:t>: </a:t>
                </a:r>
              </a:p>
              <a:p>
                <a:pPr lvl="1"/>
                <a:r>
                  <a:rPr lang="da-DK" dirty="0"/>
                  <a:t>NN </a:t>
                </a:r>
                <a:r>
                  <a:rPr lang="da-DK" dirty="0" err="1"/>
                  <a:t>will</a:t>
                </a:r>
                <a:r>
                  <a:rPr lang="da-DK" dirty="0"/>
                  <a:t> </a:t>
                </a:r>
                <a:r>
                  <a:rPr lang="da-DK" dirty="0" err="1"/>
                  <a:t>see</a:t>
                </a:r>
                <a:r>
                  <a:rPr lang="da-DK" dirty="0"/>
                  <a:t> </a:t>
                </a:r>
                <a:r>
                  <a:rPr lang="da-DK" dirty="0" err="1"/>
                  <a:t>whole</a:t>
                </a:r>
                <a:r>
                  <a:rPr lang="da-DK" dirty="0"/>
                  <a:t> </a:t>
                </a:r>
                <a:r>
                  <a:rPr lang="da-DK" dirty="0" err="1"/>
                  <a:t>sequence</a:t>
                </a:r>
                <a:r>
                  <a:rPr lang="da-DK" dirty="0"/>
                  <a:t> and </a:t>
                </a:r>
                <a:r>
                  <a:rPr lang="da-DK" dirty="0" err="1"/>
                  <a:t>infer</a:t>
                </a:r>
                <a:r>
                  <a:rPr lang="da-DK" dirty="0"/>
                  <a:t> patterns</a:t>
                </a:r>
              </a:p>
              <a:p>
                <a:pPr marL="457200" lvl="1" indent="0">
                  <a:buNone/>
                </a:pPr>
                <a:r>
                  <a:rPr lang="da-DK" dirty="0" err="1"/>
                  <a:t>Among</a:t>
                </a:r>
                <a:r>
                  <a:rPr lang="da-DK" dirty="0"/>
                  <a:t> </a:t>
                </a:r>
                <a:r>
                  <a:rPr lang="da-DK" dirty="0" err="1"/>
                  <a:t>these</a:t>
                </a:r>
                <a:r>
                  <a:rPr lang="da-DK" dirty="0"/>
                  <a:t> </a:t>
                </a:r>
                <a:r>
                  <a:rPr lang="da-DK" dirty="0" err="1"/>
                  <a:t>noised</a:t>
                </a:r>
                <a:r>
                  <a:rPr lang="da-DK" dirty="0"/>
                  <a:t> </a:t>
                </a:r>
                <a:r>
                  <a:rPr lang="da-DK" dirty="0" err="1"/>
                  <a:t>examples</a:t>
                </a: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2FE304-1C73-11E6-E835-05E543A90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797" y="1183455"/>
                <a:ext cx="10515600" cy="4351338"/>
              </a:xfrm>
              <a:blipFill>
                <a:blip r:embed="rId2"/>
                <a:stretch>
                  <a:fillRect l="-965" t="-2624" b="-8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C390C326-0BCB-AEE2-4EBF-709DA46F2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221" y="22918"/>
            <a:ext cx="4037779" cy="369897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79280460-5FEA-F5B4-3205-5056D73DC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97" y="1575450"/>
            <a:ext cx="4120143" cy="454821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C233E1E9-F162-7596-06BE-00AD0185A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868" y="1631283"/>
            <a:ext cx="3028950" cy="32385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BFBDDFBC-7A99-91E8-2CA8-917E6F3E0C3C}"/>
              </a:ext>
            </a:extLst>
          </p:cNvPr>
          <p:cNvSpPr/>
          <p:nvPr/>
        </p:nvSpPr>
        <p:spPr>
          <a:xfrm>
            <a:off x="8338565" y="450538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Rh</a:t>
            </a:r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4673357-24EB-D82A-5EDF-408B683D386F}"/>
              </a:ext>
            </a:extLst>
          </p:cNvPr>
          <p:cNvSpPr/>
          <p:nvPr/>
        </p:nvSpPr>
        <p:spPr>
          <a:xfrm>
            <a:off x="10511939" y="4534773"/>
            <a:ext cx="914400" cy="914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Pd</a:t>
            </a:r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D49F2FA-0CD6-15CF-8853-4D1FD63F693B}"/>
              </a:ext>
            </a:extLst>
          </p:cNvPr>
          <p:cNvSpPr/>
          <p:nvPr/>
        </p:nvSpPr>
        <p:spPr>
          <a:xfrm>
            <a:off x="9597539" y="5879820"/>
            <a:ext cx="914400" cy="914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F4EA4EE-27E7-D700-C00C-9AAC0C98DE59}"/>
              </a:ext>
            </a:extLst>
          </p:cNvPr>
          <p:cNvSpPr/>
          <p:nvPr/>
        </p:nvSpPr>
        <p:spPr>
          <a:xfrm>
            <a:off x="7158121" y="5649802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Ni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5D839C7C-00DE-9061-F230-24FA98A96B07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9119054" y="5285873"/>
            <a:ext cx="612396" cy="7278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12A38FD1-08BF-8EB2-1025-F0FE4FB10B06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7938610" y="5285873"/>
            <a:ext cx="533866" cy="497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B7A02255-9156-A6FE-3B1F-0F8D0E0398A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52965" y="4962584"/>
            <a:ext cx="1258974" cy="293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uet forbindelse 25">
            <a:extLst>
              <a:ext uri="{FF2B5EF4-FFF2-40B4-BE49-F238E27FC236}">
                <a16:creationId xmlns:a16="http://schemas.microsoft.com/office/drawing/2014/main" id="{EC8D69D9-B825-A7C7-2553-B0C69A48EA59}"/>
              </a:ext>
            </a:extLst>
          </p:cNvPr>
          <p:cNvCxnSpPr>
            <a:stCxn id="8" idx="2"/>
            <a:endCxn id="8" idx="0"/>
          </p:cNvCxnSpPr>
          <p:nvPr/>
        </p:nvCxnSpPr>
        <p:spPr>
          <a:xfrm rot="10800000" flipH="1">
            <a:off x="8338565" y="4505384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felt 30">
            <a:extLst>
              <a:ext uri="{FF2B5EF4-FFF2-40B4-BE49-F238E27FC236}">
                <a16:creationId xmlns:a16="http://schemas.microsoft.com/office/drawing/2014/main" id="{62C197F2-457E-BD27-08A7-3179712E4C72}"/>
              </a:ext>
            </a:extLst>
          </p:cNvPr>
          <p:cNvSpPr txBox="1"/>
          <p:nvPr/>
        </p:nvSpPr>
        <p:spPr>
          <a:xfrm>
            <a:off x="9597539" y="45752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F48D1951-02D9-C9A1-27A4-AFB651258117}"/>
              </a:ext>
            </a:extLst>
          </p:cNvPr>
          <p:cNvSpPr txBox="1"/>
          <p:nvPr/>
        </p:nvSpPr>
        <p:spPr>
          <a:xfrm>
            <a:off x="9404484" y="532686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92DFFEB3-A0ED-7293-7674-9CC0E3DFD038}"/>
              </a:ext>
            </a:extLst>
          </p:cNvPr>
          <p:cNvSpPr txBox="1"/>
          <p:nvPr/>
        </p:nvSpPr>
        <p:spPr>
          <a:xfrm>
            <a:off x="7626039" y="516546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00F755FE-5520-8D41-6BF6-48028A288D98}"/>
              </a:ext>
            </a:extLst>
          </p:cNvPr>
          <p:cNvSpPr txBox="1"/>
          <p:nvPr/>
        </p:nvSpPr>
        <p:spPr>
          <a:xfrm>
            <a:off x="7533538" y="422121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0.40</a:t>
            </a:r>
          </a:p>
        </p:txBody>
      </p:sp>
    </p:spTree>
    <p:extLst>
      <p:ext uri="{BB962C8B-B14F-4D97-AF65-F5344CB8AC3E}">
        <p14:creationId xmlns:p14="http://schemas.microsoft.com/office/powerpoint/2010/main" val="64648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3BAD0-881C-86F3-50D5-2566356D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Q-matrices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AB239A8-3028-EA52-B5BA-292CD5D31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022" y="4662109"/>
            <a:ext cx="5283200" cy="1346200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4171C3C3-D25D-362A-708D-DBCAC3E5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57" y="2405362"/>
            <a:ext cx="5476875" cy="4171950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9E8EC844-807C-97A8-2411-52E95522E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8" y="2874296"/>
            <a:ext cx="5156200" cy="12319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CC10D94D-5A83-6BCE-FA3F-924FD9CFAFA5}"/>
              </a:ext>
            </a:extLst>
          </p:cNvPr>
          <p:cNvSpPr txBox="1"/>
          <p:nvPr/>
        </p:nvSpPr>
        <p:spPr>
          <a:xfrm>
            <a:off x="2013443" y="2576134"/>
            <a:ext cx="209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Uniform transitions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1BAB47AC-3D0A-4EF0-D5A6-B6BED488BBE1}"/>
              </a:ext>
            </a:extLst>
          </p:cNvPr>
          <p:cNvSpPr txBox="1"/>
          <p:nvPr/>
        </p:nvSpPr>
        <p:spPr>
          <a:xfrm>
            <a:off x="1720284" y="4292777"/>
            <a:ext cx="2944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Absorbing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formulation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DE91604-3139-7257-A40B-446D4F014ECC}"/>
                  </a:ext>
                </a:extLst>
              </p:cNvPr>
              <p:cNvSpPr txBox="1"/>
              <p:nvPr/>
            </p:nvSpPr>
            <p:spPr>
              <a:xfrm>
                <a:off x="757022" y="1658778"/>
                <a:ext cx="556505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Many </a:t>
                </a:r>
                <a:r>
                  <a:rPr lang="da-DK" sz="2000" dirty="0" err="1"/>
                  <a:t>different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choices</a:t>
                </a:r>
                <a:r>
                  <a:rPr lang="da-DK" sz="200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sz="20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Just </a:t>
                </a:r>
                <a:r>
                  <a:rPr lang="da-DK" sz="2000" dirty="0" err="1"/>
                  <a:t>need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ensure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da-DK" sz="2000" b="0" dirty="0"/>
              </a:p>
            </p:txBody>
          </p:sp>
        </mc:Choice>
        <mc:Fallback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DE91604-3139-7257-A40B-446D4F014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22" y="1658778"/>
                <a:ext cx="5565050" cy="707886"/>
              </a:xfrm>
              <a:prstGeom prst="rect">
                <a:avLst/>
              </a:prstGeom>
              <a:blipFill>
                <a:blip r:embed="rId5"/>
                <a:stretch>
                  <a:fillRect l="-911" t="-1754" b="-1578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8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frundet rektangel 41">
            <a:extLst>
              <a:ext uri="{FF2B5EF4-FFF2-40B4-BE49-F238E27FC236}">
                <a16:creationId xmlns:a16="http://schemas.microsoft.com/office/drawing/2014/main" id="{CA56AD73-096D-D156-B831-A587B8AE6977}"/>
              </a:ext>
            </a:extLst>
          </p:cNvPr>
          <p:cNvSpPr/>
          <p:nvPr/>
        </p:nvSpPr>
        <p:spPr>
          <a:xfrm>
            <a:off x="366990" y="4682005"/>
            <a:ext cx="11486200" cy="1906323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6" name="Afrundet rektangel 41">
            <a:extLst>
              <a:ext uri="{FF2B5EF4-FFF2-40B4-BE49-F238E27FC236}">
                <a16:creationId xmlns:a16="http://schemas.microsoft.com/office/drawing/2014/main" id="{DE63CDFB-47BA-7529-86F0-1A665C2D5EB5}"/>
              </a:ext>
            </a:extLst>
          </p:cNvPr>
          <p:cNvSpPr/>
          <p:nvPr/>
        </p:nvSpPr>
        <p:spPr>
          <a:xfrm>
            <a:off x="338810" y="2188838"/>
            <a:ext cx="11514380" cy="1952296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E6C9F2-D531-0A4B-B1A0-8270DF87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20" y="69647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implemted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: Diffusion </a:t>
            </a:r>
            <a:r>
              <a:rPr lang="da-DK" dirty="0" err="1"/>
              <a:t>examples</a:t>
            </a:r>
            <a:endParaRPr lang="da-DK" dirty="0"/>
          </a:p>
        </p:txBody>
      </p:sp>
      <p:pic>
        <p:nvPicPr>
          <p:cNvPr id="5" name="Pladsholder til indhold 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58A3B2B-A7AC-DE8C-AE7B-CD8807AF6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1" y="2825368"/>
            <a:ext cx="1743254" cy="1247206"/>
          </a:xfrm>
        </p:spPr>
      </p:pic>
      <p:pic>
        <p:nvPicPr>
          <p:cNvPr id="7" name="Billede 6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5D80E5A-52EB-4840-907D-8382D1E70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47" y="2825368"/>
            <a:ext cx="1743254" cy="1247206"/>
          </a:xfrm>
          <a:prstGeom prst="rect">
            <a:avLst/>
          </a:prstGeom>
        </p:spPr>
      </p:pic>
      <p:pic>
        <p:nvPicPr>
          <p:cNvPr id="9" name="Billede 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18F2FD88-56CB-6E0A-78CA-5B244BA96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15" y="2818917"/>
            <a:ext cx="1721996" cy="1247207"/>
          </a:xfrm>
          <a:prstGeom prst="rect">
            <a:avLst/>
          </a:prstGeom>
        </p:spPr>
      </p:pic>
      <p:pic>
        <p:nvPicPr>
          <p:cNvPr id="11" name="Billede 10" descr="Et billede, der indeholder Farverigt, cirkel, Grafik&#10;&#10;AI-genereret indhold kan være ukorrekt.">
            <a:extLst>
              <a:ext uri="{FF2B5EF4-FFF2-40B4-BE49-F238E27FC236}">
                <a16:creationId xmlns:a16="http://schemas.microsoft.com/office/drawing/2014/main" id="{CD67B4CC-98A6-0EE9-D5F6-0DA98DF14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989" y="2832199"/>
            <a:ext cx="1729082" cy="1218861"/>
          </a:xfrm>
          <a:prstGeom prst="rect">
            <a:avLst/>
          </a:prstGeom>
        </p:spPr>
      </p:pic>
      <p:pic>
        <p:nvPicPr>
          <p:cNvPr id="13" name="Billede 12" descr="Et billede, der indeholder Farverigt, cirkel&#10;&#10;AI-genereret indhold kan være ukorrekt.">
            <a:extLst>
              <a:ext uri="{FF2B5EF4-FFF2-40B4-BE49-F238E27FC236}">
                <a16:creationId xmlns:a16="http://schemas.microsoft.com/office/drawing/2014/main" id="{28861026-A0C3-EEBA-57F9-4551CE084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194" y="2823587"/>
            <a:ext cx="1743255" cy="1218861"/>
          </a:xfrm>
          <a:prstGeom prst="rect">
            <a:avLst/>
          </a:prstGeom>
        </p:spPr>
      </p:pic>
      <p:pic>
        <p:nvPicPr>
          <p:cNvPr id="15" name="Billede 1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FE562EA9-F9D3-E769-6F08-44F1D9295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51" y="5252627"/>
            <a:ext cx="1828781" cy="1308396"/>
          </a:xfrm>
          <a:prstGeom prst="rect">
            <a:avLst/>
          </a:prstGeom>
        </p:spPr>
      </p:pic>
      <p:pic>
        <p:nvPicPr>
          <p:cNvPr id="17" name="Billede 16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E1F8DBB-4AAC-744E-6A05-1ED9CED50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27" y="5252627"/>
            <a:ext cx="1828781" cy="1308396"/>
          </a:xfrm>
          <a:prstGeom prst="rect">
            <a:avLst/>
          </a:prstGeom>
        </p:spPr>
      </p:pic>
      <p:pic>
        <p:nvPicPr>
          <p:cNvPr id="19" name="Billede 18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AFBF53D2-1B87-E02D-8E09-ADF37CC43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369" y="5252627"/>
            <a:ext cx="1754440" cy="1308396"/>
          </a:xfrm>
          <a:prstGeom prst="rect">
            <a:avLst/>
          </a:prstGeom>
        </p:spPr>
      </p:pic>
      <p:pic>
        <p:nvPicPr>
          <p:cNvPr id="21" name="Billede 20" descr="Et billede, der indeholder Farverigt, cirkel, rød, Rav&#10;&#10;AI-genereret indhold kan være ukorrekt.">
            <a:extLst>
              <a:ext uri="{FF2B5EF4-FFF2-40B4-BE49-F238E27FC236}">
                <a16:creationId xmlns:a16="http://schemas.microsoft.com/office/drawing/2014/main" id="{DC015D71-6A3A-358A-BD98-771214A10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987" y="5354246"/>
            <a:ext cx="1642930" cy="1092809"/>
          </a:xfrm>
          <a:prstGeom prst="rect">
            <a:avLst/>
          </a:prstGeom>
        </p:spPr>
      </p:pic>
      <p:pic>
        <p:nvPicPr>
          <p:cNvPr id="23" name="Billede 22" descr="Et billede, der indeholder rød, Farverigt, cirkel, Rav&#10;&#10;AI-genereret indhold kan være ukorrekt.">
            <a:extLst>
              <a:ext uri="{FF2B5EF4-FFF2-40B4-BE49-F238E27FC236}">
                <a16:creationId xmlns:a16="http://schemas.microsoft.com/office/drawing/2014/main" id="{71334578-AB09-7B57-E9A0-BD213F4EBD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600" y="5354246"/>
            <a:ext cx="1613194" cy="1092809"/>
          </a:xfrm>
          <a:prstGeom prst="rect">
            <a:avLst/>
          </a:prstGeom>
        </p:spPr>
      </p:pic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6B4DB119-72AB-1B9B-2E6C-0E5B07A1A89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138425" y="3448971"/>
            <a:ext cx="69962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1630FF1F-ACEB-F7AE-13B7-9877E829D97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581301" y="3442521"/>
            <a:ext cx="657014" cy="64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D5007D05-7B9B-F96E-5F9B-E3BB64E57D9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960311" y="3441630"/>
            <a:ext cx="655678" cy="8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BCE729E1-20E1-2644-A41C-C1AFB04BFAB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9345071" y="3433018"/>
            <a:ext cx="656123" cy="86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Lige pilforbindelse 41">
            <a:extLst>
              <a:ext uri="{FF2B5EF4-FFF2-40B4-BE49-F238E27FC236}">
                <a16:creationId xmlns:a16="http://schemas.microsoft.com/office/drawing/2014/main" id="{A763A5A6-E4BC-95CE-94AB-84F9A43E6AE1}"/>
              </a:ext>
            </a:extLst>
          </p:cNvPr>
          <p:cNvCxnSpPr>
            <a:cxnSpLocks/>
          </p:cNvCxnSpPr>
          <p:nvPr/>
        </p:nvCxnSpPr>
        <p:spPr>
          <a:xfrm>
            <a:off x="2339071" y="5935600"/>
            <a:ext cx="5581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Lige pilforbindelse 42">
            <a:extLst>
              <a:ext uri="{FF2B5EF4-FFF2-40B4-BE49-F238E27FC236}">
                <a16:creationId xmlns:a16="http://schemas.microsoft.com/office/drawing/2014/main" id="{993E43D3-7A07-031D-2C8C-E8F5699AF628}"/>
              </a:ext>
            </a:extLst>
          </p:cNvPr>
          <p:cNvCxnSpPr>
            <a:cxnSpLocks/>
          </p:cNvCxnSpPr>
          <p:nvPr/>
        </p:nvCxnSpPr>
        <p:spPr>
          <a:xfrm flipV="1">
            <a:off x="4781947" y="5929499"/>
            <a:ext cx="517834" cy="6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2D7AAB83-8F29-1797-2C45-287DC1FC4104}"/>
              </a:ext>
            </a:extLst>
          </p:cNvPr>
          <p:cNvCxnSpPr>
            <a:cxnSpLocks/>
          </p:cNvCxnSpPr>
          <p:nvPr/>
        </p:nvCxnSpPr>
        <p:spPr>
          <a:xfrm flipV="1">
            <a:off x="7159621" y="5929149"/>
            <a:ext cx="5178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Lige pilforbindelse 44">
            <a:extLst>
              <a:ext uri="{FF2B5EF4-FFF2-40B4-BE49-F238E27FC236}">
                <a16:creationId xmlns:a16="http://schemas.microsoft.com/office/drawing/2014/main" id="{EA00A071-3106-8B31-89EE-080DB242F35C}"/>
              </a:ext>
            </a:extLst>
          </p:cNvPr>
          <p:cNvCxnSpPr>
            <a:cxnSpLocks/>
          </p:cNvCxnSpPr>
          <p:nvPr/>
        </p:nvCxnSpPr>
        <p:spPr>
          <a:xfrm flipV="1">
            <a:off x="9544827" y="5921004"/>
            <a:ext cx="517834" cy="81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/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blipFill>
                <a:blip r:embed="rId11"/>
                <a:stretch>
                  <a:fillRect l="-13636" r="-13636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/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/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/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/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blipFill>
                <a:blip r:embed="rId15"/>
                <a:stretch>
                  <a:fillRect l="-13333" r="-13333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/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blipFill>
                <a:blip r:embed="rId16"/>
                <a:stretch>
                  <a:fillRect l="-12360" r="-12360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/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/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/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/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blipFill>
                <a:blip r:embed="rId20"/>
                <a:stretch>
                  <a:fillRect l="-12088" r="-12088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/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Uniform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blipFill>
                <a:blip r:embed="rId21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/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Absorbing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blipFill>
                <a:blip r:embed="rId2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/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Used </a:t>
                </a:r>
                <a:r>
                  <a:rPr lang="da-DK" dirty="0" err="1"/>
                  <a:t>Exponential</a:t>
                </a:r>
                <a:r>
                  <a:rPr lang="da-DK" dirty="0"/>
                  <a:t> </a:t>
                </a:r>
                <a:r>
                  <a:rPr lang="da-DK" dirty="0" err="1"/>
                  <a:t>schedule</a:t>
                </a:r>
                <a:r>
                  <a:rPr lang="da-DK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blipFill>
                <a:blip r:embed="rId23"/>
                <a:stretch>
                  <a:fillRect l="-634" t="-6452" b="-22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1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0228F-49B2-1392-D862-78B31EB5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522587D-379D-1D68-6642-B5F0807D3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The </a:t>
                </a:r>
                <a:r>
                  <a:rPr lang="da-DK" dirty="0" err="1"/>
                  <a:t>denoising</a:t>
                </a:r>
                <a:r>
                  <a:rPr lang="da-DK" dirty="0"/>
                  <a:t> part: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da-DK" b="0" dirty="0"/>
              </a:p>
              <a:p>
                <a:pPr lvl="1"/>
                <a:r>
                  <a:rPr lang="da-DK" dirty="0"/>
                  <a:t>A GNN </a:t>
                </a:r>
                <a:r>
                  <a:rPr lang="da-DK" dirty="0" err="1"/>
                  <a:t>using</a:t>
                </a:r>
                <a:r>
                  <a:rPr lang="da-DK" dirty="0"/>
                  <a:t> a </a:t>
                </a:r>
                <a:r>
                  <a:rPr lang="da-DK" dirty="0" err="1"/>
                  <a:t>fully</a:t>
                </a:r>
                <a:r>
                  <a:rPr lang="da-DK" dirty="0"/>
                  <a:t> </a:t>
                </a:r>
                <a:r>
                  <a:rPr lang="da-DK" dirty="0" err="1"/>
                  <a:t>learnable</a:t>
                </a:r>
                <a:r>
                  <a:rPr lang="da-DK" dirty="0"/>
                  <a:t> message-</a:t>
                </a:r>
                <a:r>
                  <a:rPr lang="da-DK" dirty="0" err="1"/>
                  <a:t>passing</a:t>
                </a:r>
                <a:r>
                  <a:rPr lang="da-DK" dirty="0"/>
                  <a:t> </a:t>
                </a:r>
                <a:r>
                  <a:rPr lang="da-DK" dirty="0" err="1"/>
                  <a:t>scheme</a:t>
                </a:r>
                <a:r>
                  <a:rPr lang="da-DK" dirty="0"/>
                  <a:t>.</a:t>
                </a:r>
              </a:p>
              <a:p>
                <a:pPr lvl="2"/>
                <a:r>
                  <a:rPr lang="da-DK" dirty="0"/>
                  <a:t>Edges </a:t>
                </a:r>
                <a:r>
                  <a:rPr lang="da-DK" dirty="0">
                    <a:sym typeface="Wingdings" pitchFamily="2" charset="2"/>
                  </a:rPr>
                  <a:t> Bonds</a:t>
                </a:r>
                <a:endParaRPr lang="da-DK" dirty="0"/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522587D-379D-1D68-6642-B5F0807D3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B8803799-6E8A-4A02-11C4-9685CA87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956" y="2079754"/>
            <a:ext cx="4303284" cy="917762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13656356-298F-5B21-AF38-742DBA064083}"/>
              </a:ext>
            </a:extLst>
          </p:cNvPr>
          <p:cNvSpPr/>
          <p:nvPr/>
        </p:nvSpPr>
        <p:spPr>
          <a:xfrm>
            <a:off x="314090" y="514458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AB99921-3552-D95E-CD8B-BC79F5E5BA44}"/>
              </a:ext>
            </a:extLst>
          </p:cNvPr>
          <p:cNvSpPr/>
          <p:nvPr/>
        </p:nvSpPr>
        <p:spPr>
          <a:xfrm rot="18910962">
            <a:off x="1475616" y="45153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45165CF-C018-C399-4DD6-99162F1ABD94}"/>
              </a:ext>
            </a:extLst>
          </p:cNvPr>
          <p:cNvSpPr/>
          <p:nvPr/>
        </p:nvSpPr>
        <p:spPr>
          <a:xfrm rot="915767">
            <a:off x="1448125" y="5367251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E3A983D-DDBE-E070-0D76-CDEF3FE65195}"/>
              </a:ext>
            </a:extLst>
          </p:cNvPr>
          <p:cNvSpPr/>
          <p:nvPr/>
        </p:nvSpPr>
        <p:spPr>
          <a:xfrm rot="20911658">
            <a:off x="2362525" y="584974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74284F2-0069-1669-1A17-F10184C32B58}"/>
              </a:ext>
            </a:extLst>
          </p:cNvPr>
          <p:cNvSpPr/>
          <p:nvPr/>
        </p:nvSpPr>
        <p:spPr>
          <a:xfrm rot="20573567">
            <a:off x="2722460" y="4391443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F407B4B7-D2B5-598B-242A-38122CEDEDCE}"/>
              </a:ext>
            </a:extLst>
          </p:cNvPr>
          <p:cNvCxnSpPr>
            <a:stCxn id="5" idx="7"/>
            <a:endCxn id="6" idx="2"/>
          </p:cNvCxnSpPr>
          <p:nvPr/>
        </p:nvCxnSpPr>
        <p:spPr>
          <a:xfrm flipV="1">
            <a:off x="719128" y="4919855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CF06D988-214C-48B2-91E2-02F64DE942F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88621" y="5381848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F46A1ABB-B36C-7926-A36D-FFD3448091E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1712125" y="4989883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5A9596D5-BF89-DD04-9B97-04AEDFC558EE}"/>
              </a:ext>
            </a:extLst>
          </p:cNvPr>
          <p:cNvCxnSpPr>
            <a:cxnSpLocks/>
            <a:stCxn id="9" idx="2"/>
            <a:endCxn id="6" idx="5"/>
          </p:cNvCxnSpPr>
          <p:nvPr/>
        </p:nvCxnSpPr>
        <p:spPr>
          <a:xfrm flipH="1">
            <a:off x="1950146" y="4698503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31AA8EAC-8A07-EE3B-EEDB-96397C1D9FF4}"/>
              </a:ext>
            </a:extLst>
          </p:cNvPr>
          <p:cNvCxnSpPr>
            <a:cxnSpLocks/>
            <a:stCxn id="8" idx="1"/>
            <a:endCxn id="7" idx="6"/>
          </p:cNvCxnSpPr>
          <p:nvPr/>
        </p:nvCxnSpPr>
        <p:spPr>
          <a:xfrm flipH="1" flipV="1">
            <a:off x="1914287" y="5666976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id="{5D7BB4B7-FBA5-892B-C0DD-CE3EB7EF4CA5}"/>
              </a:ext>
            </a:extLst>
          </p:cNvPr>
          <p:cNvSpPr/>
          <p:nvPr/>
        </p:nvSpPr>
        <p:spPr>
          <a:xfrm>
            <a:off x="4894708" y="496958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FB76BF4-C852-985D-E081-FE86CB63CFE9}"/>
              </a:ext>
            </a:extLst>
          </p:cNvPr>
          <p:cNvSpPr/>
          <p:nvPr/>
        </p:nvSpPr>
        <p:spPr>
          <a:xfrm rot="18910962">
            <a:off x="6056234" y="43403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539008C-F488-884B-2968-481DD28E7C79}"/>
              </a:ext>
            </a:extLst>
          </p:cNvPr>
          <p:cNvSpPr/>
          <p:nvPr/>
        </p:nvSpPr>
        <p:spPr>
          <a:xfrm rot="915767">
            <a:off x="6028743" y="519225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6CF28EF-B970-F133-1170-36850338517C}"/>
              </a:ext>
            </a:extLst>
          </p:cNvPr>
          <p:cNvSpPr/>
          <p:nvPr/>
        </p:nvSpPr>
        <p:spPr>
          <a:xfrm rot="20911658">
            <a:off x="6943143" y="567474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B825B005-304C-0309-01DA-3860AAA3A792}"/>
              </a:ext>
            </a:extLst>
          </p:cNvPr>
          <p:cNvSpPr/>
          <p:nvPr/>
        </p:nvSpPr>
        <p:spPr>
          <a:xfrm rot="20573567">
            <a:off x="7303078" y="4216444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161EDFE9-13BD-C811-DCF1-0104A5AC9CDA}"/>
              </a:ext>
            </a:extLst>
          </p:cNvPr>
          <p:cNvCxnSpPr>
            <a:stCxn id="42" idx="7"/>
            <a:endCxn id="43" idx="2"/>
          </p:cNvCxnSpPr>
          <p:nvPr/>
        </p:nvCxnSpPr>
        <p:spPr>
          <a:xfrm flipV="1">
            <a:off x="5299746" y="4744856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616D4F80-6076-A5C8-C5F5-B77B44DBF739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369239" y="5206849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2737267C-2688-7E7B-E8A8-737B67F0576F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6292743" y="4814884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DBDC7CEA-B4CF-EE3D-D71A-7916097A4FD9}"/>
              </a:ext>
            </a:extLst>
          </p:cNvPr>
          <p:cNvCxnSpPr>
            <a:cxnSpLocks/>
            <a:stCxn id="46" idx="2"/>
            <a:endCxn id="43" idx="5"/>
          </p:cNvCxnSpPr>
          <p:nvPr/>
        </p:nvCxnSpPr>
        <p:spPr>
          <a:xfrm flipH="1">
            <a:off x="6530764" y="4523504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CE0A2F3A-4037-64F8-FAAF-828CEBE597C2}"/>
              </a:ext>
            </a:extLst>
          </p:cNvPr>
          <p:cNvCxnSpPr>
            <a:cxnSpLocks/>
            <a:stCxn id="45" idx="1"/>
            <a:endCxn id="44" idx="6"/>
          </p:cNvCxnSpPr>
          <p:nvPr/>
        </p:nvCxnSpPr>
        <p:spPr>
          <a:xfrm flipH="1" flipV="1">
            <a:off x="6494905" y="5491977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/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blipFill>
                <a:blip r:embed="rId4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/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blipFill>
                <a:blip r:embed="rId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/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blipFill>
                <a:blip r:embed="rId6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/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blipFill>
                <a:blip r:embed="rId7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/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Buet forbindelse 68">
            <a:extLst>
              <a:ext uri="{FF2B5EF4-FFF2-40B4-BE49-F238E27FC236}">
                <a16:creationId xmlns:a16="http://schemas.microsoft.com/office/drawing/2014/main" id="{BA46FF51-FBA6-AF90-268F-8F825C029B6A}"/>
              </a:ext>
            </a:extLst>
          </p:cNvPr>
          <p:cNvCxnSpPr>
            <a:cxnSpLocks/>
            <a:stCxn id="43" idx="1"/>
            <a:endCxn id="42" idx="0"/>
          </p:cNvCxnSpPr>
          <p:nvPr/>
        </p:nvCxnSpPr>
        <p:spPr>
          <a:xfrm rot="16200000" flipH="1" flipV="1">
            <a:off x="5397745" y="4311092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uet forbindelse 70">
            <a:extLst>
              <a:ext uri="{FF2B5EF4-FFF2-40B4-BE49-F238E27FC236}">
                <a16:creationId xmlns:a16="http://schemas.microsoft.com/office/drawing/2014/main" id="{048186A5-E380-251F-57FD-BE90DA9A0195}"/>
              </a:ext>
            </a:extLst>
          </p:cNvPr>
          <p:cNvCxnSpPr>
            <a:cxnSpLocks/>
            <a:stCxn id="44" idx="4"/>
            <a:endCxn id="42" idx="4"/>
          </p:cNvCxnSpPr>
          <p:nvPr/>
        </p:nvCxnSpPr>
        <p:spPr>
          <a:xfrm rot="5400000" flipH="1">
            <a:off x="5560612" y="5015476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EAA20DE9-8ED1-60FE-C127-CBA488D7BD5D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76DFBA5-8EAE-40F3-60DF-FA227D7DD62F}"/>
                  </a:ext>
                </a:extLst>
              </p:cNvPr>
              <p:cNvSpPr txBox="1"/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N-times. At the </a:t>
                </a:r>
                <a:r>
                  <a:rPr lang="da-DK" dirty="0" err="1"/>
                  <a:t>very</a:t>
                </a:r>
                <a:r>
                  <a:rPr lang="da-DK" dirty="0"/>
                  <a:t> end </a:t>
                </a:r>
                <a:r>
                  <a:rPr lang="da-DK" dirty="0" err="1"/>
                  <a:t>apply</a:t>
                </a:r>
                <a:r>
                  <a:rPr lang="da-DK" dirty="0"/>
                  <a:t>  </a:t>
                </a:r>
                <a:r>
                  <a:rPr lang="da-DK" dirty="0" err="1"/>
                  <a:t>softmax</a:t>
                </a:r>
                <a:r>
                  <a:rPr lang="da-DK" dirty="0"/>
                  <a:t> , so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atom-wisely</a:t>
                </a:r>
              </a:p>
            </p:txBody>
          </p:sp>
        </mc:Choice>
        <mc:Fallback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76DFBA5-8EAE-40F3-60DF-FA227D7DD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blipFill>
                <a:blip r:embed="rId10"/>
                <a:stretch>
                  <a:fillRect l="-952" t="-5769" b="-11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ktangel 83">
            <a:extLst>
              <a:ext uri="{FF2B5EF4-FFF2-40B4-BE49-F238E27FC236}">
                <a16:creationId xmlns:a16="http://schemas.microsoft.com/office/drawing/2014/main" id="{F6696CCB-3489-A455-7A45-815359E956D9}"/>
              </a:ext>
            </a:extLst>
          </p:cNvPr>
          <p:cNvSpPr/>
          <p:nvPr/>
        </p:nvSpPr>
        <p:spPr>
          <a:xfrm>
            <a:off x="4792708" y="4181790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3D36938B-2DEB-DC9D-5C0C-CB441A52E76C}"/>
              </a:ext>
            </a:extLst>
          </p:cNvPr>
          <p:cNvSpPr/>
          <p:nvPr/>
        </p:nvSpPr>
        <p:spPr>
          <a:xfrm>
            <a:off x="4792708" y="438641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909C4946-1E80-8D59-3908-8E9535B87C82}"/>
              </a:ext>
            </a:extLst>
          </p:cNvPr>
          <p:cNvSpPr/>
          <p:nvPr/>
        </p:nvSpPr>
        <p:spPr>
          <a:xfrm>
            <a:off x="4791794" y="4589504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6CBD1853-2F99-33E3-17D9-EA161778A69E}"/>
              </a:ext>
            </a:extLst>
          </p:cNvPr>
          <p:cNvSpPr/>
          <p:nvPr/>
        </p:nvSpPr>
        <p:spPr>
          <a:xfrm>
            <a:off x="6454906" y="392294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04F804BF-AAC9-6391-5616-45B63DFD081F}"/>
              </a:ext>
            </a:extLst>
          </p:cNvPr>
          <p:cNvSpPr/>
          <p:nvPr/>
        </p:nvSpPr>
        <p:spPr>
          <a:xfrm>
            <a:off x="6454906" y="3719857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FF5DBC77-5DA7-53F5-735F-2D140CD5ABA7}"/>
              </a:ext>
            </a:extLst>
          </p:cNvPr>
          <p:cNvSpPr/>
          <p:nvPr/>
        </p:nvSpPr>
        <p:spPr>
          <a:xfrm>
            <a:off x="6454906" y="4103613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7CCDD4F8-E072-1D14-D889-6579D26B7338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bbeltparentes 90">
            <a:extLst>
              <a:ext uri="{FF2B5EF4-FFF2-40B4-BE49-F238E27FC236}">
                <a16:creationId xmlns:a16="http://schemas.microsoft.com/office/drawing/2014/main" id="{EA712254-909E-5E75-10E9-085A5D4DCC09}"/>
              </a:ext>
            </a:extLst>
          </p:cNvPr>
          <p:cNvSpPr/>
          <p:nvPr/>
        </p:nvSpPr>
        <p:spPr>
          <a:xfrm>
            <a:off x="4672584" y="4103613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2" name="Dobbeltparentes 91">
            <a:extLst>
              <a:ext uri="{FF2B5EF4-FFF2-40B4-BE49-F238E27FC236}">
                <a16:creationId xmlns:a16="http://schemas.microsoft.com/office/drawing/2014/main" id="{A2D4CEBB-3355-28D1-3882-6E8C9C3C920C}"/>
              </a:ext>
            </a:extLst>
          </p:cNvPr>
          <p:cNvSpPr/>
          <p:nvPr/>
        </p:nvSpPr>
        <p:spPr>
          <a:xfrm>
            <a:off x="6325545" y="3632497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3" name="Tekstfelt 92">
            <a:extLst>
              <a:ext uri="{FF2B5EF4-FFF2-40B4-BE49-F238E27FC236}">
                <a16:creationId xmlns:a16="http://schemas.microsoft.com/office/drawing/2014/main" id="{6A7C1708-E975-6352-DFB9-345141EB9C56}"/>
              </a:ext>
            </a:extLst>
          </p:cNvPr>
          <p:cNvSpPr txBox="1"/>
          <p:nvPr/>
        </p:nvSpPr>
        <p:spPr>
          <a:xfrm>
            <a:off x="3739843" y="4261358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4" name="Tekstfelt 93">
            <a:extLst>
              <a:ext uri="{FF2B5EF4-FFF2-40B4-BE49-F238E27FC236}">
                <a16:creationId xmlns:a16="http://schemas.microsoft.com/office/drawing/2014/main" id="{0F21765D-BE98-B247-4B18-85ED1797096E}"/>
              </a:ext>
            </a:extLst>
          </p:cNvPr>
          <p:cNvSpPr txBox="1"/>
          <p:nvPr/>
        </p:nvSpPr>
        <p:spPr>
          <a:xfrm>
            <a:off x="5395207" y="3793600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/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blipFill>
                <a:blip r:embed="rId11"/>
                <a:stretch>
                  <a:fillRect l="-1105" t="-10000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e 95">
            <a:extLst>
              <a:ext uri="{FF2B5EF4-FFF2-40B4-BE49-F238E27FC236}">
                <a16:creationId xmlns:a16="http://schemas.microsoft.com/office/drawing/2014/main" id="{70C9C8D8-D10B-D27C-2D8A-A7A68ADA595A}"/>
              </a:ext>
            </a:extLst>
          </p:cNvPr>
          <p:cNvSpPr/>
          <p:nvPr/>
        </p:nvSpPr>
        <p:spPr>
          <a:xfrm>
            <a:off x="8801209" y="4780406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6F0A9544-6C97-D561-6B14-D24CF25CDD16}"/>
              </a:ext>
            </a:extLst>
          </p:cNvPr>
          <p:cNvSpPr/>
          <p:nvPr/>
        </p:nvSpPr>
        <p:spPr>
          <a:xfrm rot="18910962">
            <a:off x="9962735" y="415117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D1BE97BE-D701-342D-1674-C3E29B4CB1D5}"/>
              </a:ext>
            </a:extLst>
          </p:cNvPr>
          <p:cNvSpPr/>
          <p:nvPr/>
        </p:nvSpPr>
        <p:spPr>
          <a:xfrm rot="915767">
            <a:off x="9935244" y="5003075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8C63F0DA-37DA-F474-B446-82790E36D470}"/>
              </a:ext>
            </a:extLst>
          </p:cNvPr>
          <p:cNvSpPr/>
          <p:nvPr/>
        </p:nvSpPr>
        <p:spPr>
          <a:xfrm rot="20911658">
            <a:off x="10849644" y="548556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BEDD4C4B-4BA1-B709-218C-A03932E007EE}"/>
              </a:ext>
            </a:extLst>
          </p:cNvPr>
          <p:cNvSpPr/>
          <p:nvPr/>
        </p:nvSpPr>
        <p:spPr>
          <a:xfrm rot="20573567">
            <a:off x="11209579" y="402726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7549C127-2737-9493-C28E-932B463AD9B6}"/>
              </a:ext>
            </a:extLst>
          </p:cNvPr>
          <p:cNvCxnSpPr>
            <a:stCxn id="96" idx="7"/>
            <a:endCxn id="97" idx="2"/>
          </p:cNvCxnSpPr>
          <p:nvPr/>
        </p:nvCxnSpPr>
        <p:spPr>
          <a:xfrm flipV="1">
            <a:off x="9206247" y="4555679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2AE562D3-63AF-52F7-D65A-20AA82DD2E60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>
            <a:off x="9275740" y="5017672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4456DC55-C3E1-F4B9-3E7C-077761FD9E33}"/>
              </a:ext>
            </a:extLst>
          </p:cNvPr>
          <p:cNvCxnSpPr>
            <a:cxnSpLocks/>
            <a:stCxn id="97" idx="3"/>
            <a:endCxn id="98" idx="0"/>
          </p:cNvCxnSpPr>
          <p:nvPr/>
        </p:nvCxnSpPr>
        <p:spPr>
          <a:xfrm>
            <a:off x="10199244" y="4625707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ge forbindelse 103">
            <a:extLst>
              <a:ext uri="{FF2B5EF4-FFF2-40B4-BE49-F238E27FC236}">
                <a16:creationId xmlns:a16="http://schemas.microsoft.com/office/drawing/2014/main" id="{2E96F791-91FE-56EF-BD6F-6D945306C35D}"/>
              </a:ext>
            </a:extLst>
          </p:cNvPr>
          <p:cNvCxnSpPr>
            <a:cxnSpLocks/>
            <a:stCxn id="100" idx="2"/>
            <a:endCxn id="97" idx="5"/>
          </p:cNvCxnSpPr>
          <p:nvPr/>
        </p:nvCxnSpPr>
        <p:spPr>
          <a:xfrm flipH="1">
            <a:off x="10437265" y="4334327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74623646-6BC6-CD5C-FB37-8334471D054A}"/>
              </a:ext>
            </a:extLst>
          </p:cNvPr>
          <p:cNvCxnSpPr>
            <a:cxnSpLocks/>
            <a:stCxn id="99" idx="1"/>
            <a:endCxn id="98" idx="6"/>
          </p:cNvCxnSpPr>
          <p:nvPr/>
        </p:nvCxnSpPr>
        <p:spPr>
          <a:xfrm flipH="1" flipV="1">
            <a:off x="10401406" y="5302800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kstfelt 105">
                <a:extLst>
                  <a:ext uri="{FF2B5EF4-FFF2-40B4-BE49-F238E27FC236}">
                    <a16:creationId xmlns:a16="http://schemas.microsoft.com/office/drawing/2014/main" id="{537D19A7-B5C9-1E3E-6DB6-DFE7CDCB5836}"/>
                  </a:ext>
                </a:extLst>
              </p:cNvPr>
              <p:cNvSpPr txBox="1"/>
              <p:nvPr/>
            </p:nvSpPr>
            <p:spPr>
              <a:xfrm>
                <a:off x="8636194" y="3934912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6" name="Tekstfelt 105">
                <a:extLst>
                  <a:ext uri="{FF2B5EF4-FFF2-40B4-BE49-F238E27FC236}">
                    <a16:creationId xmlns:a16="http://schemas.microsoft.com/office/drawing/2014/main" id="{537D19A7-B5C9-1E3E-6DB6-DFE7CDCB5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194" y="3934912"/>
                <a:ext cx="358880" cy="730777"/>
              </a:xfrm>
              <a:prstGeom prst="rect">
                <a:avLst/>
              </a:prstGeom>
              <a:blipFill>
                <a:blip r:embed="rId12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kstfelt 106">
                <a:extLst>
                  <a:ext uri="{FF2B5EF4-FFF2-40B4-BE49-F238E27FC236}">
                    <a16:creationId xmlns:a16="http://schemas.microsoft.com/office/drawing/2014/main" id="{905EBF49-6E80-6DA6-BD9F-185A0D1FD2D4}"/>
                  </a:ext>
                </a:extLst>
              </p:cNvPr>
              <p:cNvSpPr txBox="1"/>
              <p:nvPr/>
            </p:nvSpPr>
            <p:spPr>
              <a:xfrm>
                <a:off x="9672815" y="3420860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7" name="Tekstfelt 106">
                <a:extLst>
                  <a:ext uri="{FF2B5EF4-FFF2-40B4-BE49-F238E27FC236}">
                    <a16:creationId xmlns:a16="http://schemas.microsoft.com/office/drawing/2014/main" id="{905EBF49-6E80-6DA6-BD9F-185A0D1FD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2815" y="3420860"/>
                <a:ext cx="358880" cy="730777"/>
              </a:xfrm>
              <a:prstGeom prst="rect">
                <a:avLst/>
              </a:prstGeom>
              <a:blipFill>
                <a:blip r:embed="rId13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kstfelt 107">
                <a:extLst>
                  <a:ext uri="{FF2B5EF4-FFF2-40B4-BE49-F238E27FC236}">
                    <a16:creationId xmlns:a16="http://schemas.microsoft.com/office/drawing/2014/main" id="{11CEC122-7568-915A-3EC3-9F4562CDF44E}"/>
                  </a:ext>
                </a:extLst>
              </p:cNvPr>
              <p:cNvSpPr txBox="1"/>
              <p:nvPr/>
            </p:nvSpPr>
            <p:spPr>
              <a:xfrm>
                <a:off x="11358850" y="5021000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8" name="Tekstfelt 107">
                <a:extLst>
                  <a:ext uri="{FF2B5EF4-FFF2-40B4-BE49-F238E27FC236}">
                    <a16:creationId xmlns:a16="http://schemas.microsoft.com/office/drawing/2014/main" id="{11CEC122-7568-915A-3EC3-9F4562CDF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8850" y="5021000"/>
                <a:ext cx="358880" cy="732573"/>
              </a:xfrm>
              <a:prstGeom prst="rect">
                <a:avLst/>
              </a:prstGeom>
              <a:blipFill>
                <a:blip r:embed="rId1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kstfelt 108">
                <a:extLst>
                  <a:ext uri="{FF2B5EF4-FFF2-40B4-BE49-F238E27FC236}">
                    <a16:creationId xmlns:a16="http://schemas.microsoft.com/office/drawing/2014/main" id="{0BB47D6E-7D80-0C4B-C7CF-119B3C289AD7}"/>
                  </a:ext>
                </a:extLst>
              </p:cNvPr>
              <p:cNvSpPr txBox="1"/>
              <p:nvPr/>
            </p:nvSpPr>
            <p:spPr>
              <a:xfrm>
                <a:off x="9425885" y="5225491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9" name="Tekstfelt 108">
                <a:extLst>
                  <a:ext uri="{FF2B5EF4-FFF2-40B4-BE49-F238E27FC236}">
                    <a16:creationId xmlns:a16="http://schemas.microsoft.com/office/drawing/2014/main" id="{0BB47D6E-7D80-0C4B-C7CF-119B3C289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885" y="5225491"/>
                <a:ext cx="358880" cy="732573"/>
              </a:xfrm>
              <a:prstGeom prst="rect">
                <a:avLst/>
              </a:prstGeom>
              <a:blipFill>
                <a:blip r:embed="rId1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kstfelt 109">
                <a:extLst>
                  <a:ext uri="{FF2B5EF4-FFF2-40B4-BE49-F238E27FC236}">
                    <a16:creationId xmlns:a16="http://schemas.microsoft.com/office/drawing/2014/main" id="{99DBA612-6362-D7D0-3A8B-58FCA484E9EB}"/>
                  </a:ext>
                </a:extLst>
              </p:cNvPr>
              <p:cNvSpPr txBox="1"/>
              <p:nvPr/>
            </p:nvSpPr>
            <p:spPr>
              <a:xfrm>
                <a:off x="11743407" y="3351071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0" name="Tekstfelt 109">
                <a:extLst>
                  <a:ext uri="{FF2B5EF4-FFF2-40B4-BE49-F238E27FC236}">
                    <a16:creationId xmlns:a16="http://schemas.microsoft.com/office/drawing/2014/main" id="{99DBA612-6362-D7D0-3A8B-58FCA484E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407" y="3351071"/>
                <a:ext cx="358880" cy="730777"/>
              </a:xfrm>
              <a:prstGeom prst="rect">
                <a:avLst/>
              </a:prstGeom>
              <a:blipFill>
                <a:blip r:embed="rId16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16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61AC-4CD4-C976-1858-B6DDA4F0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3BACF-8E61-DC73-575E-3370809F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 err="1"/>
              <a:t>Few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 </a:t>
            </a:r>
            <a:r>
              <a:rPr lang="da-DK" dirty="0" err="1"/>
              <a:t>since</a:t>
            </a:r>
            <a:r>
              <a:rPr lang="da-DK" dirty="0"/>
              <a:t> last time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A5D67D-D1DC-BFE1-DA8C-57DC9D5D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1822"/>
            <a:ext cx="10515600" cy="4351338"/>
          </a:xfrm>
        </p:spPr>
        <p:txBody>
          <a:bodyPr/>
          <a:lstStyle/>
          <a:p>
            <a:pPr lvl="1"/>
            <a:r>
              <a:rPr lang="da-DK" dirty="0" err="1"/>
              <a:t>Changed</a:t>
            </a:r>
            <a:r>
              <a:rPr lang="da-DK" dirty="0"/>
              <a:t> the </a:t>
            </a:r>
            <a:r>
              <a:rPr lang="da-DK" dirty="0" err="1"/>
              <a:t>embeddings</a:t>
            </a:r>
            <a:endParaRPr lang="da-DK" dirty="0"/>
          </a:p>
          <a:p>
            <a:pPr lvl="2"/>
            <a:r>
              <a:rPr lang="da-DK" dirty="0"/>
              <a:t>Now </a:t>
            </a:r>
            <a:r>
              <a:rPr lang="da-DK" dirty="0" err="1"/>
              <a:t>atomic</a:t>
            </a:r>
            <a:r>
              <a:rPr lang="da-DK" dirty="0"/>
              <a:t> </a:t>
            </a:r>
            <a:r>
              <a:rPr lang="da-DK" dirty="0" err="1"/>
              <a:t>embedding</a:t>
            </a:r>
            <a:r>
              <a:rPr lang="da-DK" dirty="0"/>
              <a:t> + </a:t>
            </a:r>
            <a:r>
              <a:rPr lang="da-DK" dirty="0" err="1"/>
              <a:t>active</a:t>
            </a:r>
            <a:r>
              <a:rPr lang="da-DK" dirty="0"/>
              <a:t> and non </a:t>
            </a:r>
            <a:r>
              <a:rPr lang="da-DK" dirty="0" err="1"/>
              <a:t>active</a:t>
            </a:r>
            <a:r>
              <a:rPr lang="da-DK" dirty="0"/>
              <a:t> site </a:t>
            </a:r>
            <a:r>
              <a:rPr lang="da-DK" dirty="0" err="1"/>
              <a:t>embeddings</a:t>
            </a:r>
            <a:endParaRPr lang="da-DK" dirty="0"/>
          </a:p>
          <a:p>
            <a:pPr lvl="2"/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learnable</a:t>
            </a:r>
            <a:endParaRPr lang="da-DK" dirty="0"/>
          </a:p>
          <a:p>
            <a:pPr lvl="1"/>
            <a:r>
              <a:rPr lang="da-DK" dirty="0"/>
              <a:t>Message </a:t>
            </a:r>
            <a:r>
              <a:rPr lang="da-DK" dirty="0" err="1"/>
              <a:t>passing</a:t>
            </a:r>
            <a:r>
              <a:rPr lang="da-DK" dirty="0"/>
              <a:t> still the same</a:t>
            </a:r>
          </a:p>
          <a:p>
            <a:pPr marL="914400" lvl="2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AB14AF3-69BE-A998-3E50-9C149D51F488}"/>
              </a:ext>
            </a:extLst>
          </p:cNvPr>
          <p:cNvSpPr/>
          <p:nvPr/>
        </p:nvSpPr>
        <p:spPr>
          <a:xfrm>
            <a:off x="314090" y="514458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827FE41-630D-7928-30D9-F73B6DD16C9B}"/>
              </a:ext>
            </a:extLst>
          </p:cNvPr>
          <p:cNvSpPr/>
          <p:nvPr/>
        </p:nvSpPr>
        <p:spPr>
          <a:xfrm rot="18910962">
            <a:off x="1475616" y="45153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BA2B40-D5DD-1500-F7BB-603523C05B08}"/>
              </a:ext>
            </a:extLst>
          </p:cNvPr>
          <p:cNvSpPr/>
          <p:nvPr/>
        </p:nvSpPr>
        <p:spPr>
          <a:xfrm rot="915767">
            <a:off x="1448125" y="5367251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3B58A97-FF98-2EF8-EF03-5DD076E48950}"/>
              </a:ext>
            </a:extLst>
          </p:cNvPr>
          <p:cNvSpPr/>
          <p:nvPr/>
        </p:nvSpPr>
        <p:spPr>
          <a:xfrm rot="20911658">
            <a:off x="2362525" y="584974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BDE725A-33E1-4D1D-D495-35B940F1C6DA}"/>
              </a:ext>
            </a:extLst>
          </p:cNvPr>
          <p:cNvSpPr/>
          <p:nvPr/>
        </p:nvSpPr>
        <p:spPr>
          <a:xfrm rot="20573567">
            <a:off x="2722460" y="4391443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13CBB357-3D16-6359-B031-1ADFB3DB8D01}"/>
              </a:ext>
            </a:extLst>
          </p:cNvPr>
          <p:cNvCxnSpPr>
            <a:stCxn id="5" idx="7"/>
            <a:endCxn id="6" idx="2"/>
          </p:cNvCxnSpPr>
          <p:nvPr/>
        </p:nvCxnSpPr>
        <p:spPr>
          <a:xfrm flipV="1">
            <a:off x="719128" y="4919855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0D97F100-850F-2AC3-2FBE-0051996EDADE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88621" y="5381848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BA723FA8-EC3B-F061-0751-87D3E49CE0E4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1712125" y="4989883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746CF1D1-971D-92E5-003A-F2C16AEFEBAD}"/>
              </a:ext>
            </a:extLst>
          </p:cNvPr>
          <p:cNvCxnSpPr>
            <a:cxnSpLocks/>
            <a:stCxn id="9" idx="2"/>
            <a:endCxn id="6" idx="5"/>
          </p:cNvCxnSpPr>
          <p:nvPr/>
        </p:nvCxnSpPr>
        <p:spPr>
          <a:xfrm flipH="1">
            <a:off x="1950146" y="4698503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C1FE2133-3262-E965-5F9A-238BFB6E413A}"/>
              </a:ext>
            </a:extLst>
          </p:cNvPr>
          <p:cNvCxnSpPr>
            <a:cxnSpLocks/>
            <a:stCxn id="8" idx="1"/>
            <a:endCxn id="7" idx="6"/>
          </p:cNvCxnSpPr>
          <p:nvPr/>
        </p:nvCxnSpPr>
        <p:spPr>
          <a:xfrm flipH="1" flipV="1">
            <a:off x="1914287" y="5666976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8785C99B-76A0-834E-1CD7-56802570CA4D}"/>
                  </a:ext>
                </a:extLst>
              </p:cNvPr>
              <p:cNvSpPr txBox="1"/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blipFill>
                <a:blip r:embed="rId4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B8080199-8D73-6B36-5DE5-6FBBB94E361B}"/>
                  </a:ext>
                </a:extLst>
              </p:cNvPr>
              <p:cNvSpPr txBox="1"/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blipFill>
                <a:blip r:embed="rId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65FCE569-EBBB-3E09-734A-2E648D9D59A0}"/>
                  </a:ext>
                </a:extLst>
              </p:cNvPr>
              <p:cNvSpPr txBox="1"/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blipFill>
                <a:blip r:embed="rId6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D861524D-BF00-7EEE-0772-9FC0F3A33356}"/>
                  </a:ext>
                </a:extLst>
              </p:cNvPr>
              <p:cNvSpPr txBox="1"/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blipFill>
                <a:blip r:embed="rId7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C6914F57-D401-A5D0-39FA-4C73E2B97583}"/>
                  </a:ext>
                </a:extLst>
              </p:cNvPr>
              <p:cNvSpPr txBox="1"/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06B37035-B246-B0EF-99D4-8299023A3948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55A96F6F-352A-85C1-E30B-F125C7B86CCD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kstfelt 82">
            <a:extLst>
              <a:ext uri="{FF2B5EF4-FFF2-40B4-BE49-F238E27FC236}">
                <a16:creationId xmlns:a16="http://schemas.microsoft.com/office/drawing/2014/main" id="{75D3EE02-84B9-7C05-8FBB-DBB739ED87BE}"/>
              </a:ext>
            </a:extLst>
          </p:cNvPr>
          <p:cNvSpPr txBox="1"/>
          <p:nvPr/>
        </p:nvSpPr>
        <p:spPr>
          <a:xfrm>
            <a:off x="3615168" y="6161845"/>
            <a:ext cx="5316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Embed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 atom via a </a:t>
            </a:r>
            <a:r>
              <a:rPr lang="da-DK" dirty="0" err="1"/>
              <a:t>learnable</a:t>
            </a:r>
            <a:r>
              <a:rPr lang="da-DK" dirty="0"/>
              <a:t> </a:t>
            </a:r>
            <a:r>
              <a:rPr lang="da-DK" dirty="0" err="1"/>
              <a:t>embedding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and sites via </a:t>
            </a:r>
            <a:r>
              <a:rPr lang="da-DK" dirty="0" err="1"/>
              <a:t>active</a:t>
            </a:r>
            <a:r>
              <a:rPr lang="da-DK" dirty="0"/>
              <a:t> and non </a:t>
            </a:r>
            <a:r>
              <a:rPr lang="da-DK" dirty="0" err="1"/>
              <a:t>active</a:t>
            </a:r>
            <a:r>
              <a:rPr lang="da-DK" dirty="0"/>
              <a:t> site </a:t>
            </a:r>
            <a:r>
              <a:rPr lang="da-DK" dirty="0" err="1"/>
              <a:t>embedding</a:t>
            </a:r>
            <a:endParaRPr lang="da-DK" dirty="0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672E7D8F-580E-316D-1830-8AC8EF4D0ABA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AD108FF0-AB99-5986-C511-06D133185013}"/>
                  </a:ext>
                </a:extLst>
              </p:cNvPr>
              <p:cNvSpPr txBox="1"/>
              <p:nvPr/>
            </p:nvSpPr>
            <p:spPr>
              <a:xfrm>
                <a:off x="9049098" y="4628708"/>
                <a:ext cx="262819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as </a:t>
                </a:r>
                <a:r>
                  <a:rPr lang="da-DK" dirty="0" err="1"/>
                  <a:t>before</a:t>
                </a:r>
                <a:r>
                  <a:rPr lang="da-DK" dirty="0"/>
                  <a:t> and </a:t>
                </a:r>
                <a:r>
                  <a:rPr lang="da-DK" dirty="0" err="1"/>
                  <a:t>get</a:t>
                </a:r>
                <a:r>
                  <a:rPr lang="da-DK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in same </a:t>
                </a:r>
                <a:r>
                  <a:rPr lang="da-DK" dirty="0" err="1"/>
                  <a:t>way</a:t>
                </a:r>
                <a:r>
                  <a:rPr lang="da-DK" dirty="0"/>
                  <a:t> as </a:t>
                </a:r>
                <a:r>
                  <a:rPr lang="da-DK" dirty="0" err="1"/>
                  <a:t>before</a:t>
                </a:r>
                <a:endParaRPr lang="da-DK" dirty="0"/>
              </a:p>
            </p:txBody>
          </p:sp>
        </mc:Choice>
        <mc:Fallback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AD108FF0-AB99-5986-C511-06D133185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098" y="4628708"/>
                <a:ext cx="2628190" cy="1200329"/>
              </a:xfrm>
              <a:prstGeom prst="rect">
                <a:avLst/>
              </a:prstGeom>
              <a:blipFill>
                <a:blip r:embed="rId10"/>
                <a:stretch>
                  <a:fillRect l="-1923" t="-2105" b="-736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lipse 9">
            <a:extLst>
              <a:ext uri="{FF2B5EF4-FFF2-40B4-BE49-F238E27FC236}">
                <a16:creationId xmlns:a16="http://schemas.microsoft.com/office/drawing/2014/main" id="{25CE62F6-0A0E-7120-B306-12913F140EBB}"/>
              </a:ext>
            </a:extLst>
          </p:cNvPr>
          <p:cNvSpPr/>
          <p:nvPr/>
        </p:nvSpPr>
        <p:spPr>
          <a:xfrm>
            <a:off x="4578977" y="488500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24FCA04-65E1-021E-0F59-00A390FC6B2D}"/>
              </a:ext>
            </a:extLst>
          </p:cNvPr>
          <p:cNvSpPr/>
          <p:nvPr/>
        </p:nvSpPr>
        <p:spPr>
          <a:xfrm rot="18910962">
            <a:off x="5740503" y="425577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0E76B9E-13FE-1A8A-8887-11303351F2B4}"/>
              </a:ext>
            </a:extLst>
          </p:cNvPr>
          <p:cNvSpPr/>
          <p:nvPr/>
        </p:nvSpPr>
        <p:spPr>
          <a:xfrm rot="915767">
            <a:off x="5713012" y="5107669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EC8242A-1873-A490-67D3-F2AA537789FF}"/>
              </a:ext>
            </a:extLst>
          </p:cNvPr>
          <p:cNvSpPr/>
          <p:nvPr/>
        </p:nvSpPr>
        <p:spPr>
          <a:xfrm rot="20911658">
            <a:off x="6627412" y="5590158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D01BB93-DF4C-F8EC-D12C-6451AF731444}"/>
              </a:ext>
            </a:extLst>
          </p:cNvPr>
          <p:cNvSpPr/>
          <p:nvPr/>
        </p:nvSpPr>
        <p:spPr>
          <a:xfrm rot="20573567">
            <a:off x="6987347" y="4131861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BC6787C9-6D01-0072-97EB-72D48C1BFE91}"/>
              </a:ext>
            </a:extLst>
          </p:cNvPr>
          <p:cNvCxnSpPr>
            <a:stCxn id="10" idx="7"/>
            <a:endCxn id="13" idx="2"/>
          </p:cNvCxnSpPr>
          <p:nvPr/>
        </p:nvCxnSpPr>
        <p:spPr>
          <a:xfrm flipV="1">
            <a:off x="4984015" y="4660273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1308EFE2-FD48-80EA-1B3B-8EEDECAA2E00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5053508" y="5122266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BE5580C1-CBA8-E524-50B0-0637EEF3A2B7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5977012" y="4730301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A935F55D-7BAA-A9F6-8FCA-C2F7DB027823}"/>
              </a:ext>
            </a:extLst>
          </p:cNvPr>
          <p:cNvCxnSpPr>
            <a:cxnSpLocks/>
            <a:stCxn id="16" idx="2"/>
            <a:endCxn id="13" idx="5"/>
          </p:cNvCxnSpPr>
          <p:nvPr/>
        </p:nvCxnSpPr>
        <p:spPr>
          <a:xfrm flipH="1">
            <a:off x="6215033" y="4438921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E7C410B4-149C-C7EB-9CC9-A6DA220EBFDB}"/>
              </a:ext>
            </a:extLst>
          </p:cNvPr>
          <p:cNvCxnSpPr>
            <a:cxnSpLocks/>
            <a:stCxn id="15" idx="1"/>
            <a:endCxn id="14" idx="6"/>
          </p:cNvCxnSpPr>
          <p:nvPr/>
        </p:nvCxnSpPr>
        <p:spPr>
          <a:xfrm flipH="1" flipV="1">
            <a:off x="6179174" y="5407394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7798B0A0-AF41-6A8F-3566-4CB9FDD51A98}"/>
                  </a:ext>
                </a:extLst>
              </p:cNvPr>
              <p:cNvSpPr txBox="1"/>
              <p:nvPr/>
            </p:nvSpPr>
            <p:spPr>
              <a:xfrm>
                <a:off x="4952888" y="3565524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7798B0A0-AF41-6A8F-3566-4CB9FDD51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888" y="3565524"/>
                <a:ext cx="1745671" cy="467564"/>
              </a:xfrm>
              <a:prstGeom prst="rect">
                <a:avLst/>
              </a:prstGeom>
              <a:blipFill>
                <a:blip r:embed="rId11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B2DDAF82-D58E-41E4-9B45-C9A7F5EFC49B}"/>
                  </a:ext>
                </a:extLst>
              </p:cNvPr>
              <p:cNvSpPr txBox="1"/>
              <p:nvPr/>
            </p:nvSpPr>
            <p:spPr>
              <a:xfrm>
                <a:off x="3695831" y="4294480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B2DDAF82-D58E-41E4-9B45-C9A7F5EFC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831" y="4294480"/>
                <a:ext cx="1494383" cy="467564"/>
              </a:xfrm>
              <a:prstGeom prst="rect">
                <a:avLst/>
              </a:prstGeom>
              <a:blipFill>
                <a:blip r:embed="rId12"/>
                <a:stretch>
                  <a:fillRect t="-5263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0FD955BA-7CC4-6559-3109-7B43AC2C8D9F}"/>
                  </a:ext>
                </a:extLst>
              </p:cNvPr>
              <p:cNvSpPr txBox="1"/>
              <p:nvPr/>
            </p:nvSpPr>
            <p:spPr>
              <a:xfrm>
                <a:off x="6821061" y="3503996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0FD955BA-7CC4-6559-3109-7B43AC2C8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061" y="3503996"/>
                <a:ext cx="1745671" cy="467564"/>
              </a:xfrm>
              <a:prstGeom prst="rect">
                <a:avLst/>
              </a:prstGeom>
              <a:blipFill>
                <a:blip r:embed="rId13"/>
                <a:stretch>
                  <a:fillRect t="-10811" b="-351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444D89F5-E619-5C54-A5AE-FB979F615A61}"/>
                  </a:ext>
                </a:extLst>
              </p:cNvPr>
              <p:cNvSpPr txBox="1"/>
              <p:nvPr/>
            </p:nvSpPr>
            <p:spPr>
              <a:xfrm>
                <a:off x="4497233" y="5577683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444D89F5-E619-5C54-A5AE-FB979F615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233" y="5577683"/>
                <a:ext cx="1494383" cy="467564"/>
              </a:xfrm>
              <a:prstGeom prst="rect">
                <a:avLst/>
              </a:prstGeom>
              <a:blipFill>
                <a:blip r:embed="rId14"/>
                <a:stretch>
                  <a:fillRect t="-10526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01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AF95C929-82E7-0B21-CE7D-26803B248BF6}"/>
              </a:ext>
            </a:extLst>
          </p:cNvPr>
          <p:cNvSpPr/>
          <p:nvPr/>
        </p:nvSpPr>
        <p:spPr>
          <a:xfrm>
            <a:off x="6773535" y="3479408"/>
            <a:ext cx="5418465" cy="2891320"/>
          </a:xfrm>
          <a:prstGeom prst="ellipse">
            <a:avLst/>
          </a:prstGeom>
          <a:solidFill>
            <a:srgbClr val="FFF1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FDEE89-170A-DC01-83C1-A54502DC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ED5C6A9-A40E-6E5D-7737-C7F1DA4E4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000" dirty="0"/>
                  <a:t>Trial dataset: 400 </a:t>
                </a:r>
                <a:r>
                  <a:rPr lang="da-DK" sz="2000" dirty="0" err="1"/>
                  <a:t>structures</a:t>
                </a:r>
                <a:r>
                  <a:rPr lang="da-DK" sz="2000" dirty="0"/>
                  <a:t> 50:50 split </a:t>
                </a:r>
                <a:r>
                  <a:rPr lang="da-DK" sz="2000" dirty="0" err="1"/>
                  <a:t>between</a:t>
                </a:r>
                <a:r>
                  <a:rPr lang="da-DK" sz="2000" dirty="0"/>
                  <a:t> 2 </a:t>
                </a:r>
                <a:r>
                  <a:rPr lang="da-DK" sz="2000" dirty="0" err="1"/>
                  <a:t>classes</a:t>
                </a:r>
                <a:endParaRPr lang="da-DK" sz="2000" dirty="0"/>
              </a:p>
              <a:p>
                <a:pPr lvl="1"/>
                <a:r>
                  <a:rPr lang="da-DK" sz="1600" dirty="0"/>
                  <a:t>Blue atoms: </a:t>
                </a:r>
                <a:r>
                  <a:rPr lang="da-DK" sz="1600" dirty="0" err="1"/>
                  <a:t>Pd</a:t>
                </a:r>
                <a:r>
                  <a:rPr lang="da-DK" sz="1600" dirty="0"/>
                  <a:t>, Yellow atoms: Au</a:t>
                </a:r>
              </a:p>
              <a:p>
                <a:r>
                  <a:rPr lang="da-DK" sz="2000" dirty="0"/>
                  <a:t>Set </a:t>
                </a:r>
                <a:r>
                  <a:rPr lang="da-DK" sz="2000" dirty="0" err="1"/>
                  <a:t>categorical</a:t>
                </a:r>
                <a:r>
                  <a:rPr lang="da-DK" sz="2000" dirty="0"/>
                  <a:t> </a:t>
                </a:r>
                <a:r>
                  <a:rPr lang="da-DK" sz="2000" dirty="0" err="1"/>
                  <a:t>space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𝐴𝑢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𝑃𝑑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𝑅h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𝐺𝑎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e>
                    </m:d>
                  </m:oMath>
                </a14:m>
                <a:endParaRPr lang="da-DK" sz="2000" b="0" dirty="0"/>
              </a:p>
              <a:p>
                <a:r>
                  <a:rPr lang="da-DK" sz="2000" dirty="0"/>
                  <a:t>Using </a:t>
                </a:r>
                <a:r>
                  <a:rPr lang="da-DK" sz="2000" dirty="0" err="1"/>
                  <a:t>Classifier</a:t>
                </a:r>
                <a:r>
                  <a:rPr lang="da-DK" sz="2000" dirty="0"/>
                  <a:t> </a:t>
                </a:r>
                <a:r>
                  <a:rPr lang="da-DK" sz="2000" dirty="0" err="1"/>
                  <a:t>free</a:t>
                </a:r>
                <a:r>
                  <a:rPr lang="da-DK" sz="2000" dirty="0"/>
                  <a:t> guidance: Drop </a:t>
                </a:r>
                <a:r>
                  <a:rPr lang="da-DK" sz="2000" dirty="0" err="1"/>
                  <a:t>probability</a:t>
                </a:r>
                <a:r>
                  <a:rPr lang="da-DK" sz="2000" dirty="0"/>
                  <a:t>: 10%</a:t>
                </a:r>
              </a:p>
              <a:p>
                <a:r>
                  <a:rPr lang="da-DK" sz="2000" dirty="0"/>
                  <a:t>1000 timesteps</a:t>
                </a:r>
              </a:p>
              <a:p>
                <a:r>
                  <a:rPr lang="da-DK" sz="2000" dirty="0" err="1"/>
                  <a:t>Tried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both</a:t>
                </a:r>
                <a:r>
                  <a:rPr lang="da-DK" sz="2000" dirty="0"/>
                  <a:t> Uniform transitions &amp; </a:t>
                </a:r>
                <a:r>
                  <a:rPr lang="da-DK" sz="2000" dirty="0" err="1"/>
                  <a:t>Absorbing</a:t>
                </a:r>
                <a:r>
                  <a:rPr lang="da-DK" sz="2000" dirty="0"/>
                  <a:t> </a:t>
                </a:r>
                <a:r>
                  <a:rPr lang="da-DK" sz="2000" dirty="0" err="1"/>
                  <a:t>state</a:t>
                </a:r>
                <a:endParaRPr lang="da-DK" sz="20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ED5C6A9-A40E-6E5D-7737-C7F1DA4E4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16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felt 7">
            <a:extLst>
              <a:ext uri="{FF2B5EF4-FFF2-40B4-BE49-F238E27FC236}">
                <a16:creationId xmlns:a16="http://schemas.microsoft.com/office/drawing/2014/main" id="{BE215E1F-7595-1D1D-C5FD-43C92F4C306B}"/>
              </a:ext>
            </a:extLst>
          </p:cNvPr>
          <p:cNvSpPr txBox="1"/>
          <p:nvPr/>
        </p:nvSpPr>
        <p:spPr>
          <a:xfrm>
            <a:off x="7555352" y="53078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E96C86C-BBA8-4F7E-EEC9-771B96D60298}"/>
              </a:ext>
            </a:extLst>
          </p:cNvPr>
          <p:cNvSpPr txBox="1"/>
          <p:nvPr/>
        </p:nvSpPr>
        <p:spPr>
          <a:xfrm>
            <a:off x="8828389" y="3041869"/>
            <a:ext cx="130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Training set</a:t>
            </a:r>
          </a:p>
        </p:txBody>
      </p:sp>
      <p:pic>
        <p:nvPicPr>
          <p:cNvPr id="10" name="Billede 9" descr="Et billede, der indeholder cirkel, gul, Farverigt&#10;&#10;AI-genereret indhold kan være ukorrekt.">
            <a:extLst>
              <a:ext uri="{FF2B5EF4-FFF2-40B4-BE49-F238E27FC236}">
                <a16:creationId xmlns:a16="http://schemas.microsoft.com/office/drawing/2014/main" id="{6A22EAC7-FF28-8A2C-5808-F7339FDC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864" y="3680160"/>
            <a:ext cx="1011428" cy="720000"/>
          </a:xfrm>
          <a:prstGeom prst="rect">
            <a:avLst/>
          </a:prstGeom>
        </p:spPr>
      </p:pic>
      <p:pic>
        <p:nvPicPr>
          <p:cNvPr id="14" name="Billede 13" descr="Et billede, der indeholder gul, cirkel, Farverigt&#10;&#10;AI-genereret indhold kan være ukorrekt.">
            <a:extLst>
              <a:ext uri="{FF2B5EF4-FFF2-40B4-BE49-F238E27FC236}">
                <a16:creationId xmlns:a16="http://schemas.microsoft.com/office/drawing/2014/main" id="{D620DCC8-46FA-63A9-E921-7823759B3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27" y="4565068"/>
            <a:ext cx="1011428" cy="720000"/>
          </a:xfrm>
          <a:prstGeom prst="rect">
            <a:avLst/>
          </a:prstGeom>
        </p:spPr>
      </p:pic>
      <p:pic>
        <p:nvPicPr>
          <p:cNvPr id="16" name="Billede 15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73317DD6-A2CF-8762-3EDE-C2538DBA3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9730" y="5174084"/>
            <a:ext cx="1003464" cy="720000"/>
          </a:xfrm>
          <a:prstGeom prst="rect">
            <a:avLst/>
          </a:prstGeom>
        </p:spPr>
      </p:pic>
      <p:pic>
        <p:nvPicPr>
          <p:cNvPr id="18" name="Billede 17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97FC06E8-1DA6-549E-39EC-10F95D45A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2953" y="4550132"/>
            <a:ext cx="1003464" cy="720000"/>
          </a:xfrm>
          <a:prstGeom prst="rect">
            <a:avLst/>
          </a:prstGeom>
        </p:spPr>
      </p:pic>
      <p:sp>
        <p:nvSpPr>
          <p:cNvPr id="19" name="Tekstfelt 18">
            <a:extLst>
              <a:ext uri="{FF2B5EF4-FFF2-40B4-BE49-F238E27FC236}">
                <a16:creationId xmlns:a16="http://schemas.microsoft.com/office/drawing/2014/main" id="{EA8415B6-F29D-CA4D-AFE7-55BCF2007097}"/>
              </a:ext>
            </a:extLst>
          </p:cNvPr>
          <p:cNvSpPr txBox="1"/>
          <p:nvPr/>
        </p:nvSpPr>
        <p:spPr>
          <a:xfrm>
            <a:off x="8422970" y="4434263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87BF30FF-A18A-6B39-2C2E-08967B98529A}"/>
              </a:ext>
            </a:extLst>
          </p:cNvPr>
          <p:cNvSpPr txBox="1"/>
          <p:nvPr/>
        </p:nvSpPr>
        <p:spPr>
          <a:xfrm>
            <a:off x="9693463" y="5915353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C8CCEBE9-E67A-41FA-799B-E1C4AAD25DA2}"/>
              </a:ext>
            </a:extLst>
          </p:cNvPr>
          <p:cNvSpPr txBox="1"/>
          <p:nvPr/>
        </p:nvSpPr>
        <p:spPr>
          <a:xfrm>
            <a:off x="10938725" y="52867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  <p:pic>
        <p:nvPicPr>
          <p:cNvPr id="23" name="Billede 22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D7F1521-A244-E24C-0799-4984427C0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157" y="4717743"/>
            <a:ext cx="1011429" cy="720000"/>
          </a:xfrm>
          <a:prstGeom prst="rect">
            <a:avLst/>
          </a:prstGeom>
        </p:spPr>
      </p:pic>
      <p:pic>
        <p:nvPicPr>
          <p:cNvPr id="25" name="Billede 24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BF3A37AD-04E7-DC41-B3ED-A57A255911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2586" y="3830132"/>
            <a:ext cx="1003465" cy="720000"/>
          </a:xfrm>
          <a:prstGeom prst="rect">
            <a:avLst/>
          </a:prstGeom>
        </p:spPr>
      </p:pic>
      <p:sp>
        <p:nvSpPr>
          <p:cNvPr id="26" name="Tekstfelt 25">
            <a:extLst>
              <a:ext uri="{FF2B5EF4-FFF2-40B4-BE49-F238E27FC236}">
                <a16:creationId xmlns:a16="http://schemas.microsoft.com/office/drawing/2014/main" id="{A27FFC1D-A2F7-DD1A-1817-A82BD1C258DD}"/>
              </a:ext>
            </a:extLst>
          </p:cNvPr>
          <p:cNvSpPr txBox="1"/>
          <p:nvPr/>
        </p:nvSpPr>
        <p:spPr>
          <a:xfrm>
            <a:off x="8609935" y="5505950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7A8E42E0-B5D8-5105-2321-63118DEC1C29}"/>
              </a:ext>
            </a:extLst>
          </p:cNvPr>
          <p:cNvSpPr txBox="1"/>
          <p:nvPr/>
        </p:nvSpPr>
        <p:spPr>
          <a:xfrm>
            <a:off x="9738781" y="45714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</p:spTree>
    <p:extLst>
      <p:ext uri="{BB962C8B-B14F-4D97-AF65-F5344CB8AC3E}">
        <p14:creationId xmlns:p14="http://schemas.microsoft.com/office/powerpoint/2010/main" val="12434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C0832AC-B9C8-1000-255E-04546E1C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27" y="-366331"/>
            <a:ext cx="10515600" cy="1325563"/>
          </a:xfrm>
        </p:spPr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9" name="Afrundet rektangel 41">
            <a:extLst>
              <a:ext uri="{FF2B5EF4-FFF2-40B4-BE49-F238E27FC236}">
                <a16:creationId xmlns:a16="http://schemas.microsoft.com/office/drawing/2014/main" id="{252B0226-77A2-5710-DDBB-3E143E1571B3}"/>
              </a:ext>
            </a:extLst>
          </p:cNvPr>
          <p:cNvSpPr/>
          <p:nvPr/>
        </p:nvSpPr>
        <p:spPr>
          <a:xfrm>
            <a:off x="59306" y="1348565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451F0ECF-E193-1279-AB18-D83BB9742C23}"/>
              </a:ext>
            </a:extLst>
          </p:cNvPr>
          <p:cNvSpPr/>
          <p:nvPr/>
        </p:nvSpPr>
        <p:spPr>
          <a:xfrm>
            <a:off x="6343009" y="1310086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20" name="Pladsholder til indhold 19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85B77D26-8024-CE5A-44DA-442A73391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129" y="4922334"/>
            <a:ext cx="2399999" cy="1800000"/>
          </a:xfrm>
        </p:spPr>
      </p:pic>
      <p:pic>
        <p:nvPicPr>
          <p:cNvPr id="22" name="Billede 21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AEAE2641-9789-0225-FE7A-E5CF75431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73" y="3356727"/>
            <a:ext cx="2399999" cy="1800000"/>
          </a:xfrm>
          <a:prstGeom prst="rect">
            <a:avLst/>
          </a:prstGeom>
        </p:spPr>
      </p:pic>
      <p:pic>
        <p:nvPicPr>
          <p:cNvPr id="24" name="Billede 23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EE6A171D-9425-7B80-18A8-6C5BBE67F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468" y="1607753"/>
            <a:ext cx="2400000" cy="1800000"/>
          </a:xfrm>
          <a:prstGeom prst="rect">
            <a:avLst/>
          </a:prstGeom>
        </p:spPr>
      </p:pic>
      <p:pic>
        <p:nvPicPr>
          <p:cNvPr id="26" name="Billede 25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DB05E38F-797B-6FF8-9B03-AA410F7D7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5" y="3324817"/>
            <a:ext cx="2399999" cy="1800000"/>
          </a:xfrm>
          <a:prstGeom prst="rect">
            <a:avLst/>
          </a:prstGeom>
        </p:spPr>
      </p:pic>
      <p:pic>
        <p:nvPicPr>
          <p:cNvPr id="28" name="Billede 27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1BE5C18D-ED61-687E-834C-F088F9B53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07" y="1591961"/>
            <a:ext cx="2400000" cy="1800000"/>
          </a:xfrm>
          <a:prstGeom prst="rect">
            <a:avLst/>
          </a:prstGeom>
        </p:spPr>
      </p:pic>
      <p:pic>
        <p:nvPicPr>
          <p:cNvPr id="30" name="Billede 29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B9EB74DB-827F-6A19-DF4F-F2FA6471B5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5751" y="1544057"/>
            <a:ext cx="2400000" cy="1800000"/>
          </a:xfrm>
          <a:prstGeom prst="rect">
            <a:avLst/>
          </a:prstGeom>
        </p:spPr>
      </p:pic>
      <p:pic>
        <p:nvPicPr>
          <p:cNvPr id="32" name="Billede 31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7FC6BFD3-6DB6-4DEB-CB5F-0A9079AE96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3880" y="1524817"/>
            <a:ext cx="2400000" cy="1800000"/>
          </a:xfrm>
          <a:prstGeom prst="rect">
            <a:avLst/>
          </a:prstGeom>
        </p:spPr>
      </p:pic>
      <p:pic>
        <p:nvPicPr>
          <p:cNvPr id="34" name="Billede 33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CA1D8240-5B8F-22AC-5A1E-07EFEA0F6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0140" y="3385818"/>
            <a:ext cx="2400000" cy="1800000"/>
          </a:xfrm>
          <a:prstGeom prst="rect">
            <a:avLst/>
          </a:prstGeom>
        </p:spPr>
      </p:pic>
      <p:pic>
        <p:nvPicPr>
          <p:cNvPr id="36" name="Billede 35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D9D89060-928B-91A1-F191-37C0ACD3CC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6758" y="4922334"/>
            <a:ext cx="2400000" cy="1800000"/>
          </a:xfrm>
          <a:prstGeom prst="rect">
            <a:avLst/>
          </a:prstGeom>
        </p:spPr>
      </p:pic>
      <p:pic>
        <p:nvPicPr>
          <p:cNvPr id="38" name="Billede 37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44DE1FE3-F3CF-9C00-0008-D907C7ED4F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1361" y="3337357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6DDC17D-C289-5128-A530-8ADE08D8C8F4}"/>
                  </a:ext>
                </a:extLst>
              </p:cNvPr>
              <p:cNvSpPr txBox="1"/>
              <p:nvPr/>
            </p:nvSpPr>
            <p:spPr>
              <a:xfrm>
                <a:off x="1073730" y="554829"/>
                <a:ext cx="69820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Absorbing </a:t>
                </a:r>
                <a:r>
                  <a:rPr lang="da-DK" dirty="0" err="1"/>
                  <a:t>state</a:t>
                </a:r>
                <a:r>
                  <a:rPr lang="da-DK" dirty="0"/>
                  <a:t> - Cosine time </a:t>
                </a:r>
                <a:r>
                  <a:rPr lang="da-DK" dirty="0" err="1"/>
                  <a:t>schedule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;1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Guidance </a:t>
                </a:r>
                <a:r>
                  <a:rPr lang="da-DK" dirty="0" err="1"/>
                  <a:t>scale</a:t>
                </a:r>
                <a:r>
                  <a:rPr lang="da-DK" dirty="0"/>
                  <a:t>: 2.0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</p:txBody>
          </p:sp>
        </mc:Choice>
        <mc:Fallback xmlns="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6DDC17D-C289-5128-A530-8ADE08D8C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0" y="554829"/>
                <a:ext cx="6982021" cy="923330"/>
              </a:xfrm>
              <a:prstGeom prst="rect">
                <a:avLst/>
              </a:prstGeom>
              <a:blipFill>
                <a:blip r:embed="rId12"/>
                <a:stretch>
                  <a:fillRect l="-544" t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51C62D26-5CA6-3B2D-7FD8-70BE8C4451D6}"/>
              </a:ext>
            </a:extLst>
          </p:cNvPr>
          <p:cNvSpPr txBox="1"/>
          <p:nvPr/>
        </p:nvSpPr>
        <p:spPr>
          <a:xfrm>
            <a:off x="1607763" y="13886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1 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D41D9CA-D9E9-1E78-D08D-8034A25EDB53}"/>
              </a:ext>
            </a:extLst>
          </p:cNvPr>
          <p:cNvSpPr txBox="1"/>
          <p:nvPr/>
        </p:nvSpPr>
        <p:spPr>
          <a:xfrm>
            <a:off x="7970306" y="136402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2 </a:t>
            </a:r>
          </a:p>
        </p:txBody>
      </p:sp>
    </p:spTree>
    <p:extLst>
      <p:ext uri="{BB962C8B-B14F-4D97-AF65-F5344CB8AC3E}">
        <p14:creationId xmlns:p14="http://schemas.microsoft.com/office/powerpoint/2010/main" val="4171689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A3A-68D3-D4DF-B810-C1B2277F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47D2BC3-BC29-9FF6-B20E-EB9BC01C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24" y="-404649"/>
            <a:ext cx="10515600" cy="1325563"/>
          </a:xfrm>
        </p:spPr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9" name="Afrundet rektangel 41">
            <a:extLst>
              <a:ext uri="{FF2B5EF4-FFF2-40B4-BE49-F238E27FC236}">
                <a16:creationId xmlns:a16="http://schemas.microsoft.com/office/drawing/2014/main" id="{BE98295B-D467-03A3-44C1-40B9228EDD97}"/>
              </a:ext>
            </a:extLst>
          </p:cNvPr>
          <p:cNvSpPr/>
          <p:nvPr/>
        </p:nvSpPr>
        <p:spPr>
          <a:xfrm>
            <a:off x="59306" y="1348565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0CC12255-A8F2-3558-A50A-BCEEA863FDB8}"/>
              </a:ext>
            </a:extLst>
          </p:cNvPr>
          <p:cNvSpPr/>
          <p:nvPr/>
        </p:nvSpPr>
        <p:spPr>
          <a:xfrm>
            <a:off x="6343009" y="1310086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6" name="Billede 5" descr="Et billede, der indeholder clipart, cirkel, Grafik, tegneserie&#10;&#10;AI-genereret indhold kan være ukorrekt.">
            <a:extLst>
              <a:ext uri="{FF2B5EF4-FFF2-40B4-BE49-F238E27FC236}">
                <a16:creationId xmlns:a16="http://schemas.microsoft.com/office/drawing/2014/main" id="{858BDAD7-10B5-9C67-9CA5-3DE39DF5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019" y="3301512"/>
            <a:ext cx="2400000" cy="1800000"/>
          </a:xfrm>
          <a:prstGeom prst="rect">
            <a:avLst/>
          </a:prstGeom>
        </p:spPr>
      </p:pic>
      <p:pic>
        <p:nvPicPr>
          <p:cNvPr id="8" name="Billede 7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AEAC9111-0776-B9E2-ECBB-325A3CD0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320" y="1570538"/>
            <a:ext cx="2400000" cy="1800000"/>
          </a:xfrm>
          <a:prstGeom prst="rect">
            <a:avLst/>
          </a:prstGeom>
        </p:spPr>
      </p:pic>
      <p:pic>
        <p:nvPicPr>
          <p:cNvPr id="10" name="Billede 9" descr="Et billede, der indeholder clipart, tegneserie&#10;&#10;AI-genereret indhold kan være ukorrekt.">
            <a:extLst>
              <a:ext uri="{FF2B5EF4-FFF2-40B4-BE49-F238E27FC236}">
                <a16:creationId xmlns:a16="http://schemas.microsoft.com/office/drawing/2014/main" id="{F26B72D9-A29E-FE00-22FF-298654FEE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79" y="4934526"/>
            <a:ext cx="2400000" cy="1800000"/>
          </a:xfrm>
          <a:prstGeom prst="rect">
            <a:avLst/>
          </a:prstGeom>
        </p:spPr>
      </p:pic>
      <p:pic>
        <p:nvPicPr>
          <p:cNvPr id="12" name="Billede 11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177A5225-B22E-CA89-25A8-12031E061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13" y="3190526"/>
            <a:ext cx="2400000" cy="1800000"/>
          </a:xfrm>
          <a:prstGeom prst="rect">
            <a:avLst/>
          </a:prstGeom>
        </p:spPr>
      </p:pic>
      <p:pic>
        <p:nvPicPr>
          <p:cNvPr id="14" name="Billede 13" descr="Et billede, der indeholder cirkel, Farverigt, clipart, Grafik&#10;&#10;AI-genereret indhold kan være ukorrekt.">
            <a:extLst>
              <a:ext uri="{FF2B5EF4-FFF2-40B4-BE49-F238E27FC236}">
                <a16:creationId xmlns:a16="http://schemas.microsoft.com/office/drawing/2014/main" id="{6CF74209-9AB9-1142-2912-1F7F722D2A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17" y="1609182"/>
            <a:ext cx="2400000" cy="1800000"/>
          </a:xfrm>
          <a:prstGeom prst="rect">
            <a:avLst/>
          </a:prstGeom>
        </p:spPr>
      </p:pic>
      <p:pic>
        <p:nvPicPr>
          <p:cNvPr id="16" name="Billede 15" descr="Et billede, der indeholder cirkel, clipart, Farverigt, tegneserie&#10;&#10;AI-genereret indhold kan være ukorrekt.">
            <a:extLst>
              <a:ext uri="{FF2B5EF4-FFF2-40B4-BE49-F238E27FC236}">
                <a16:creationId xmlns:a16="http://schemas.microsoft.com/office/drawing/2014/main" id="{D9A29A64-3969-6B2E-9430-A6FD286F7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457" y="1586777"/>
            <a:ext cx="2400000" cy="1800000"/>
          </a:xfrm>
          <a:prstGeom prst="rect">
            <a:avLst/>
          </a:prstGeom>
        </p:spPr>
      </p:pic>
      <p:pic>
        <p:nvPicPr>
          <p:cNvPr id="18" name="Billede 17" descr="Et billede, der indeholder cirkel, clipart, tegneserie&#10;&#10;AI-genereret indhold kan være ukorrekt.">
            <a:extLst>
              <a:ext uri="{FF2B5EF4-FFF2-40B4-BE49-F238E27FC236}">
                <a16:creationId xmlns:a16="http://schemas.microsoft.com/office/drawing/2014/main" id="{02F325DC-EE31-368B-A743-0C49A54C8B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8502" y="1482866"/>
            <a:ext cx="2400000" cy="1800000"/>
          </a:xfrm>
          <a:prstGeom prst="rect">
            <a:avLst/>
          </a:prstGeom>
        </p:spPr>
      </p:pic>
      <p:pic>
        <p:nvPicPr>
          <p:cNvPr id="21" name="Billede 20" descr="Et billede, der indeholder clipart, cirkel, Farverigt, Grafik&#10;&#10;AI-genereret indhold kan være ukorrekt.">
            <a:extLst>
              <a:ext uri="{FF2B5EF4-FFF2-40B4-BE49-F238E27FC236}">
                <a16:creationId xmlns:a16="http://schemas.microsoft.com/office/drawing/2014/main" id="{962F79E7-0773-EB5B-CD0C-024676E2EE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3905" y="3152047"/>
            <a:ext cx="2400000" cy="1800000"/>
          </a:xfrm>
          <a:prstGeom prst="rect">
            <a:avLst/>
          </a:prstGeom>
        </p:spPr>
      </p:pic>
      <p:pic>
        <p:nvPicPr>
          <p:cNvPr id="25" name="Billede 24" descr="Et billede, der indeholder cirkel, Farverigt, clipart, tegneserie&#10;&#10;AI-genereret indhold kan være ukorrekt.">
            <a:extLst>
              <a:ext uri="{FF2B5EF4-FFF2-40B4-BE49-F238E27FC236}">
                <a16:creationId xmlns:a16="http://schemas.microsoft.com/office/drawing/2014/main" id="{FE48DEF1-1353-D1C3-B960-B1910156D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246" y="3301512"/>
            <a:ext cx="2400000" cy="1800000"/>
          </a:xfrm>
          <a:prstGeom prst="rect">
            <a:avLst/>
          </a:prstGeom>
        </p:spPr>
      </p:pic>
      <p:pic>
        <p:nvPicPr>
          <p:cNvPr id="29" name="Billede 28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144B811B-2D52-2D69-3C55-674FD1F590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2788" y="4934526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B285847D-F6C8-E7BE-CFB6-CC2A00D529A2}"/>
                  </a:ext>
                </a:extLst>
              </p:cNvPr>
              <p:cNvSpPr txBox="1"/>
              <p:nvPr/>
            </p:nvSpPr>
            <p:spPr>
              <a:xfrm>
                <a:off x="1073730" y="554829"/>
                <a:ext cx="86386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Uniform transitions - Cosine time </a:t>
                </a:r>
                <a:r>
                  <a:rPr lang="da-DK" dirty="0" err="1"/>
                  <a:t>schedule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Guidance </a:t>
                </a:r>
                <a:r>
                  <a:rPr lang="da-DK" dirty="0" err="1"/>
                  <a:t>scale</a:t>
                </a:r>
                <a:r>
                  <a:rPr lang="da-DK" dirty="0"/>
                  <a:t>: 2.0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B285847D-F6C8-E7BE-CFB6-CC2A00D52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0" y="554829"/>
                <a:ext cx="8638681" cy="923330"/>
              </a:xfrm>
              <a:prstGeom prst="rect">
                <a:avLst/>
              </a:prstGeom>
              <a:blipFill>
                <a:blip r:embed="rId12"/>
                <a:stretch>
                  <a:fillRect l="-441" t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6FC5C103-10EF-0829-810E-140BE0079BF2}"/>
              </a:ext>
            </a:extLst>
          </p:cNvPr>
          <p:cNvSpPr txBox="1"/>
          <p:nvPr/>
        </p:nvSpPr>
        <p:spPr>
          <a:xfrm>
            <a:off x="1607763" y="13886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1 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E9F7B423-CF21-3638-1D02-2C590A6F71D1}"/>
              </a:ext>
            </a:extLst>
          </p:cNvPr>
          <p:cNvSpPr txBox="1"/>
          <p:nvPr/>
        </p:nvSpPr>
        <p:spPr>
          <a:xfrm>
            <a:off x="7970306" y="136402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2 </a:t>
            </a:r>
          </a:p>
        </p:txBody>
      </p:sp>
    </p:spTree>
    <p:extLst>
      <p:ext uri="{BB962C8B-B14F-4D97-AF65-F5344CB8AC3E}">
        <p14:creationId xmlns:p14="http://schemas.microsoft.com/office/powerpoint/2010/main" val="751911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251AB-1C01-CCBF-525B-6A1474FC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Tried</a:t>
            </a:r>
            <a:r>
              <a:rPr lang="da-DK" dirty="0"/>
              <a:t> </a:t>
            </a:r>
            <a:r>
              <a:rPr lang="da-DK" dirty="0" err="1"/>
              <a:t>conditioning</a:t>
            </a:r>
            <a:r>
              <a:rPr lang="da-DK" dirty="0"/>
              <a:t> on the </a:t>
            </a:r>
            <a:r>
              <a:rPr lang="da-DK" dirty="0" err="1"/>
              <a:t>reaction</a:t>
            </a:r>
            <a:r>
              <a:rPr lang="da-DK" dirty="0"/>
              <a:t> rate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D233FD8-CF1E-FF11-B957-5BB0DC3F8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721"/>
                <a:ext cx="10515600" cy="4351338"/>
              </a:xfrm>
            </p:spPr>
            <p:txBody>
              <a:bodyPr/>
              <a:lstStyle/>
              <a:p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:r>
                  <a:rPr lang="da-DK" dirty="0" err="1"/>
                  <a:t>im</a:t>
                </a:r>
                <a:r>
                  <a:rPr lang="da-DK" dirty="0"/>
                  <a:t> at </a:t>
                </a:r>
                <a:r>
                  <a:rPr lang="da-DK" dirty="0" err="1"/>
                  <a:t>now</a:t>
                </a:r>
                <a:r>
                  <a:rPr lang="da-DK" dirty="0"/>
                  <a:t>.</a:t>
                </a:r>
              </a:p>
              <a:p>
                <a:r>
                  <a:rPr lang="da-DK" dirty="0" err="1"/>
                  <a:t>Tried</a:t>
                </a:r>
                <a:r>
                  <a:rPr lang="da-DK" dirty="0"/>
                  <a:t> class-divisions &amp; samples from </a:t>
                </a:r>
                <a:r>
                  <a:rPr lang="da-DK" dirty="0" err="1"/>
                  <a:t>GeneticAlgorithm</a:t>
                </a:r>
                <a:endParaRPr lang="da-DK" dirty="0"/>
              </a:p>
              <a:p>
                <a:pPr lvl="1"/>
                <a:r>
                  <a:rPr lang="da-DK" dirty="0"/>
                  <a:t>Element pool: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𝐴𝑢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𝑃𝑑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𝑅h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𝐶𝑢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Num</a:t>
                </a:r>
                <a:r>
                  <a:rPr lang="da-DK" dirty="0"/>
                  <a:t>. samples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∼5000</m:t>
                    </m:r>
                  </m:oMath>
                </a14:m>
                <a:r>
                  <a:rPr lang="da-DK" dirty="0"/>
                  <a:t> 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D233FD8-CF1E-FF11-B957-5BB0DC3F8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721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lede 6">
            <a:extLst>
              <a:ext uri="{FF2B5EF4-FFF2-40B4-BE49-F238E27FC236}">
                <a16:creationId xmlns:a16="http://schemas.microsoft.com/office/drawing/2014/main" id="{1F794A03-AA06-05A4-04D8-95038B57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134805"/>
            <a:ext cx="118967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8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 descr="Et billede, der indeholder tekst, skærmbillede, Kurve, Parallel&#10;&#10;AI-genereret indhold kan være ukorrekt.">
            <a:extLst>
              <a:ext uri="{FF2B5EF4-FFF2-40B4-BE49-F238E27FC236}">
                <a16:creationId xmlns:a16="http://schemas.microsoft.com/office/drawing/2014/main" id="{A372E2BB-4C85-ADED-BE18-85CA0D4F5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"/>
            <a:ext cx="4450821" cy="6676232"/>
          </a:xfrm>
        </p:spPr>
      </p:pic>
      <p:pic>
        <p:nvPicPr>
          <p:cNvPr id="6" name="Billede 5" descr="Et billede, der indeholder tekst, skærmbillede, linje/række, Parallel&#10;&#10;AI-genereret indhold kan være ukorrekt.">
            <a:extLst>
              <a:ext uri="{FF2B5EF4-FFF2-40B4-BE49-F238E27FC236}">
                <a16:creationId xmlns:a16="http://schemas.microsoft.com/office/drawing/2014/main" id="{F031293B-E95F-B48C-1218-8D4F15C15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8" y="0"/>
            <a:ext cx="4450822" cy="667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5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EC8F-0587-8E1F-292E-B270543C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dsholder til indhold 6" descr="Et billede, der indeholder tekst, skærmbillede, Kurve, linje/række&#10;&#10;AI-genereret indhold kan være ukorrekt.">
            <a:extLst>
              <a:ext uri="{FF2B5EF4-FFF2-40B4-BE49-F238E27FC236}">
                <a16:creationId xmlns:a16="http://schemas.microsoft.com/office/drawing/2014/main" id="{5641BAD7-E2DB-46D1-8CDA-A8421014F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54" y="74215"/>
            <a:ext cx="4473046" cy="6709569"/>
          </a:xfrm>
        </p:spPr>
      </p:pic>
      <p:pic>
        <p:nvPicPr>
          <p:cNvPr id="10" name="Pladsholder til indhold 5" descr="Et billede, der indeholder tekst, skærmbillede, Kurve, linje/række&#10;&#10;AI-genereret indhold kan være ukorrekt.">
            <a:extLst>
              <a:ext uri="{FF2B5EF4-FFF2-40B4-BE49-F238E27FC236}">
                <a16:creationId xmlns:a16="http://schemas.microsoft.com/office/drawing/2014/main" id="{E950076D-9AD0-918E-6CE1-F6D863A01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76" y="70246"/>
            <a:ext cx="4525169" cy="678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88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4C4F2-0BC8-6632-E490-E47A611B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Unconditional</a:t>
            </a:r>
            <a:r>
              <a:rPr lang="da-DK" dirty="0"/>
              <a:t> generation on high rates </a:t>
            </a:r>
            <a:r>
              <a:rPr lang="da-DK" dirty="0" err="1"/>
              <a:t>only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137469-BE73-A44F-12B3-6A69FC0E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Still not </a:t>
            </a:r>
            <a:r>
              <a:rPr lang="da-DK" dirty="0" err="1"/>
              <a:t>great</a:t>
            </a:r>
            <a:endParaRPr lang="da-DK" dirty="0"/>
          </a:p>
          <a:p>
            <a:r>
              <a:rPr lang="da-DK" dirty="0"/>
              <a:t>All samples have 3Cu + 1Pd on </a:t>
            </a:r>
            <a:r>
              <a:rPr lang="da-DK" dirty="0" err="1"/>
              <a:t>active</a:t>
            </a:r>
            <a:r>
              <a:rPr lang="da-DK" dirty="0"/>
              <a:t> sites,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samples do i </a:t>
            </a:r>
            <a:r>
              <a:rPr lang="da-DK" dirty="0" err="1"/>
              <a:t>get</a:t>
            </a:r>
            <a:r>
              <a:rPr lang="da-DK" dirty="0"/>
              <a:t> with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configuration</a:t>
            </a:r>
            <a:r>
              <a:rPr lang="da-DK" dirty="0"/>
              <a:t>?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FB29806-9EA5-EBF2-F606-954FDA1BF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3" y="3330108"/>
            <a:ext cx="6642946" cy="3527892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304A4723-49A2-426A-BA0D-51AED880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933" y="2937163"/>
            <a:ext cx="1774362" cy="1717964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FAD64590-2665-8EA1-14E4-747C08FDB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295" y="2937163"/>
            <a:ext cx="1774362" cy="1717964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4F072406-F140-EEE0-9F5F-9ED0BEAB9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933" y="4655127"/>
            <a:ext cx="1774363" cy="171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92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33F83C-09C0-853D-AE15-C72080A5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Unconditional</a:t>
            </a:r>
            <a:r>
              <a:rPr lang="da-DK" dirty="0"/>
              <a:t> generation on high rates </a:t>
            </a:r>
            <a:r>
              <a:rPr lang="da-DK" dirty="0" err="1"/>
              <a:t>only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8EDAAD-42CB-BF25-188F-DB0D822F6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If model </a:t>
                </a:r>
                <a:r>
                  <a:rPr lang="da-DK" dirty="0" err="1"/>
                  <a:t>cannot</a:t>
                </a:r>
                <a:r>
                  <a:rPr lang="da-DK" dirty="0"/>
                  <a:t> </a:t>
                </a:r>
                <a:r>
                  <a:rPr lang="da-DK" dirty="0" err="1"/>
                  <a:t>distinguish</a:t>
                </a:r>
                <a:r>
                  <a:rPr lang="da-DK" dirty="0"/>
                  <a:t> the </a:t>
                </a:r>
                <a:r>
                  <a:rPr lang="da-DK" dirty="0" err="1"/>
                  <a:t>environments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end up with average </a:t>
                </a:r>
                <a:r>
                  <a:rPr lang="da-DK" dirty="0" err="1"/>
                  <a:t>statistics</a:t>
                </a:r>
                <a:r>
                  <a:rPr lang="da-DK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𝐴𝑡𝑜𝑚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𝐴𝑡𝑜𝑚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𝑃𝑑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Independently</a:t>
                </a:r>
                <a:r>
                  <a:rPr lang="da-DK" dirty="0"/>
                  <a:t> of site or prior </a:t>
                </a:r>
                <a:r>
                  <a:rPr lang="da-DK" dirty="0" err="1"/>
                  <a:t>configuration</a:t>
                </a:r>
                <a:endParaRPr lang="da-DK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𝑃𝑑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=4⋅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⋅0.25∼0.42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8EDAAD-42CB-BF25-188F-DB0D822F6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35E59ACA-F0CD-3FF6-90EB-B93025120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990" y="2719656"/>
            <a:ext cx="3762131" cy="413834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CE7EF21-05D7-B82B-83E0-9B91701B4061}"/>
              </a:ext>
            </a:extLst>
          </p:cNvPr>
          <p:cNvSpPr/>
          <p:nvPr/>
        </p:nvSpPr>
        <p:spPr>
          <a:xfrm rot="18777700">
            <a:off x="1522030" y="4441719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F07BEE0-0EDE-3CA0-7F9E-90FFF1FFD90B}"/>
              </a:ext>
            </a:extLst>
          </p:cNvPr>
          <p:cNvSpPr/>
          <p:nvPr/>
        </p:nvSpPr>
        <p:spPr>
          <a:xfrm rot="290352">
            <a:off x="1507020" y="5078571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20E6C4F-5B56-A7FA-73EC-8D047ED7B665}"/>
              </a:ext>
            </a:extLst>
          </p:cNvPr>
          <p:cNvSpPr/>
          <p:nvPr/>
        </p:nvSpPr>
        <p:spPr>
          <a:xfrm rot="18977281">
            <a:off x="850945" y="4441719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19DE9AB7-B801-F99B-FD3B-005B0A3A7B6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301583" y="5293455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72A92728-168E-7A8D-47E6-D3B0088318C0}"/>
              </a:ext>
            </a:extLst>
          </p:cNvPr>
          <p:cNvCxnSpPr>
            <a:stCxn id="6" idx="3"/>
            <a:endCxn id="7" idx="0"/>
          </p:cNvCxnSpPr>
          <p:nvPr/>
        </p:nvCxnSpPr>
        <p:spPr>
          <a:xfrm flipH="1">
            <a:off x="1764302" y="4916101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B3C61B4F-E1E8-11AC-F20E-B39F08D55AB3}"/>
              </a:ext>
            </a:extLst>
          </p:cNvPr>
          <p:cNvCxnSpPr>
            <a:stCxn id="8" idx="5"/>
            <a:endCxn id="6" idx="1"/>
          </p:cNvCxnSpPr>
          <p:nvPr/>
        </p:nvCxnSpPr>
        <p:spPr>
          <a:xfrm>
            <a:off x="1325417" y="4684318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Lige forbindelse 33">
            <a:extLst>
              <a:ext uri="{FF2B5EF4-FFF2-40B4-BE49-F238E27FC236}">
                <a16:creationId xmlns:a16="http://schemas.microsoft.com/office/drawing/2014/main" id="{B1F5CEEF-6EEA-3714-5A72-EC6B8E99A781}"/>
              </a:ext>
            </a:extLst>
          </p:cNvPr>
          <p:cNvCxnSpPr>
            <a:cxnSpLocks/>
            <a:stCxn id="8" idx="3"/>
            <a:endCxn id="36" idx="0"/>
          </p:cNvCxnSpPr>
          <p:nvPr/>
        </p:nvCxnSpPr>
        <p:spPr>
          <a:xfrm flipH="1">
            <a:off x="1071494" y="4916191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B6D7062C-9819-78B6-08B8-3F25E1B0E203}"/>
              </a:ext>
            </a:extLst>
          </p:cNvPr>
          <p:cNvSpPr/>
          <p:nvPr/>
        </p:nvSpPr>
        <p:spPr>
          <a:xfrm rot="187378">
            <a:off x="821302" y="5056189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209F8281-0CA7-C7B9-BF4D-9AAE3CD353D0}"/>
              </a:ext>
            </a:extLst>
          </p:cNvPr>
          <p:cNvSpPr/>
          <p:nvPr/>
        </p:nvSpPr>
        <p:spPr>
          <a:xfrm rot="18777700">
            <a:off x="4804628" y="441838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F70A72C3-10D2-CCD9-5352-D2D865E4193F}"/>
              </a:ext>
            </a:extLst>
          </p:cNvPr>
          <p:cNvSpPr/>
          <p:nvPr/>
        </p:nvSpPr>
        <p:spPr>
          <a:xfrm rot="290352">
            <a:off x="4789618" y="5055235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3C4D86AC-D32D-4564-FF4A-EC58CAB7B9AA}"/>
              </a:ext>
            </a:extLst>
          </p:cNvPr>
          <p:cNvSpPr/>
          <p:nvPr/>
        </p:nvSpPr>
        <p:spPr>
          <a:xfrm rot="18977281">
            <a:off x="4133543" y="4418383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3089CF4C-5D2B-F3E7-AA9A-51CF9E9E14C6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4584181" y="5270119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88FAF65B-65F1-7CE1-0AF1-E24D7385A98B}"/>
              </a:ext>
            </a:extLst>
          </p:cNvPr>
          <p:cNvCxnSpPr>
            <a:cxnSpLocks/>
            <a:stCxn id="47" idx="3"/>
            <a:endCxn id="48" idx="0"/>
          </p:cNvCxnSpPr>
          <p:nvPr/>
        </p:nvCxnSpPr>
        <p:spPr>
          <a:xfrm flipH="1">
            <a:off x="5046900" y="4892765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EBE02031-2A3C-EB43-A979-4AE7E9292044}"/>
              </a:ext>
            </a:extLst>
          </p:cNvPr>
          <p:cNvCxnSpPr>
            <a:cxnSpLocks/>
            <a:stCxn id="49" idx="5"/>
            <a:endCxn id="47" idx="1"/>
          </p:cNvCxnSpPr>
          <p:nvPr/>
        </p:nvCxnSpPr>
        <p:spPr>
          <a:xfrm>
            <a:off x="4608015" y="4660982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Lige forbindelse 52">
            <a:extLst>
              <a:ext uri="{FF2B5EF4-FFF2-40B4-BE49-F238E27FC236}">
                <a16:creationId xmlns:a16="http://schemas.microsoft.com/office/drawing/2014/main" id="{8A86A659-3376-E7BF-6715-5E7D8301398A}"/>
              </a:ext>
            </a:extLst>
          </p:cNvPr>
          <p:cNvCxnSpPr>
            <a:cxnSpLocks/>
            <a:stCxn id="49" idx="3"/>
            <a:endCxn id="54" idx="0"/>
          </p:cNvCxnSpPr>
          <p:nvPr/>
        </p:nvCxnSpPr>
        <p:spPr>
          <a:xfrm flipH="1">
            <a:off x="4354092" y="4892855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32570725-6EA9-19D8-B112-38B6360D579E}"/>
              </a:ext>
            </a:extLst>
          </p:cNvPr>
          <p:cNvSpPr/>
          <p:nvPr/>
        </p:nvSpPr>
        <p:spPr>
          <a:xfrm rot="187378">
            <a:off x="4103900" y="503285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FEA3115C-F626-D56E-9C1D-4DE0D4628E50}"/>
              </a:ext>
            </a:extLst>
          </p:cNvPr>
          <p:cNvSpPr/>
          <p:nvPr/>
        </p:nvSpPr>
        <p:spPr>
          <a:xfrm rot="18777700">
            <a:off x="3170330" y="4440637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4A8C544-8E25-2938-6501-B70DC24D9330}"/>
              </a:ext>
            </a:extLst>
          </p:cNvPr>
          <p:cNvSpPr/>
          <p:nvPr/>
        </p:nvSpPr>
        <p:spPr>
          <a:xfrm rot="290352">
            <a:off x="3155320" y="5077489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8D21303-1E4B-9DE2-9276-6CC0A9D44541}"/>
              </a:ext>
            </a:extLst>
          </p:cNvPr>
          <p:cNvSpPr/>
          <p:nvPr/>
        </p:nvSpPr>
        <p:spPr>
          <a:xfrm rot="18977281">
            <a:off x="2499245" y="4440637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62" name="Lige forbindelse 61">
            <a:extLst>
              <a:ext uri="{FF2B5EF4-FFF2-40B4-BE49-F238E27FC236}">
                <a16:creationId xmlns:a16="http://schemas.microsoft.com/office/drawing/2014/main" id="{89D55CF2-DFBF-FA00-7C62-847E031200AD}"/>
              </a:ext>
            </a:extLst>
          </p:cNvPr>
          <p:cNvCxnSpPr>
            <a:cxnSpLocks/>
            <a:endCxn id="60" idx="2"/>
          </p:cNvCxnSpPr>
          <p:nvPr/>
        </p:nvCxnSpPr>
        <p:spPr>
          <a:xfrm>
            <a:off x="2949883" y="5292373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Lige forbindelse 62">
            <a:extLst>
              <a:ext uri="{FF2B5EF4-FFF2-40B4-BE49-F238E27FC236}">
                <a16:creationId xmlns:a16="http://schemas.microsoft.com/office/drawing/2014/main" id="{78CC920D-ECA3-9BC1-134F-65EEDF9EF972}"/>
              </a:ext>
            </a:extLst>
          </p:cNvPr>
          <p:cNvCxnSpPr>
            <a:stCxn id="59" idx="3"/>
            <a:endCxn id="60" idx="0"/>
          </p:cNvCxnSpPr>
          <p:nvPr/>
        </p:nvCxnSpPr>
        <p:spPr>
          <a:xfrm flipH="1">
            <a:off x="3412602" y="4915019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Lige forbindelse 63">
            <a:extLst>
              <a:ext uri="{FF2B5EF4-FFF2-40B4-BE49-F238E27FC236}">
                <a16:creationId xmlns:a16="http://schemas.microsoft.com/office/drawing/2014/main" id="{77DA26C6-576C-EE34-571D-EA612E6A19CD}"/>
              </a:ext>
            </a:extLst>
          </p:cNvPr>
          <p:cNvCxnSpPr>
            <a:stCxn id="61" idx="5"/>
            <a:endCxn id="59" idx="1"/>
          </p:cNvCxnSpPr>
          <p:nvPr/>
        </p:nvCxnSpPr>
        <p:spPr>
          <a:xfrm>
            <a:off x="2973717" y="4683236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Lige forbindelse 64">
            <a:extLst>
              <a:ext uri="{FF2B5EF4-FFF2-40B4-BE49-F238E27FC236}">
                <a16:creationId xmlns:a16="http://schemas.microsoft.com/office/drawing/2014/main" id="{8999D8DD-188B-1352-021E-3CE996B7DAD5}"/>
              </a:ext>
            </a:extLst>
          </p:cNvPr>
          <p:cNvCxnSpPr>
            <a:cxnSpLocks/>
            <a:stCxn id="61" idx="3"/>
            <a:endCxn id="66" idx="0"/>
          </p:cNvCxnSpPr>
          <p:nvPr/>
        </p:nvCxnSpPr>
        <p:spPr>
          <a:xfrm flipH="1">
            <a:off x="2719794" y="4915109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Ellipse 65">
            <a:extLst>
              <a:ext uri="{FF2B5EF4-FFF2-40B4-BE49-F238E27FC236}">
                <a16:creationId xmlns:a16="http://schemas.microsoft.com/office/drawing/2014/main" id="{7BFD5003-1A15-00B7-EA8D-A42617563E00}"/>
              </a:ext>
            </a:extLst>
          </p:cNvPr>
          <p:cNvSpPr/>
          <p:nvPr/>
        </p:nvSpPr>
        <p:spPr>
          <a:xfrm rot="187378">
            <a:off x="2469602" y="5055107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7F93BD2-1A82-4C98-511F-91FE601A7739}"/>
              </a:ext>
            </a:extLst>
          </p:cNvPr>
          <p:cNvSpPr/>
          <p:nvPr/>
        </p:nvSpPr>
        <p:spPr>
          <a:xfrm rot="18777700">
            <a:off x="6477417" y="4441593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2214B80-1E04-C8FB-0440-31277D6C4CE4}"/>
              </a:ext>
            </a:extLst>
          </p:cNvPr>
          <p:cNvSpPr/>
          <p:nvPr/>
        </p:nvSpPr>
        <p:spPr>
          <a:xfrm rot="290352">
            <a:off x="6462407" y="5078445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EB71CBC9-BA40-7C06-39C8-9DEC8F7A9E26}"/>
              </a:ext>
            </a:extLst>
          </p:cNvPr>
          <p:cNvSpPr/>
          <p:nvPr/>
        </p:nvSpPr>
        <p:spPr>
          <a:xfrm rot="18977281">
            <a:off x="5806332" y="444159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520D57D9-655F-74A3-9B8A-EC7FB8B373FC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6256970" y="5293329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992537E7-B34E-0B6C-8A6D-4B6EF743F5A6}"/>
              </a:ext>
            </a:extLst>
          </p:cNvPr>
          <p:cNvCxnSpPr>
            <a:stCxn id="67" idx="3"/>
            <a:endCxn id="68" idx="0"/>
          </p:cNvCxnSpPr>
          <p:nvPr/>
        </p:nvCxnSpPr>
        <p:spPr>
          <a:xfrm flipH="1">
            <a:off x="6719689" y="4915975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3BD8CEE3-53F1-8250-D82F-0C5E9CD18A18}"/>
              </a:ext>
            </a:extLst>
          </p:cNvPr>
          <p:cNvCxnSpPr>
            <a:stCxn id="69" idx="5"/>
            <a:endCxn id="67" idx="1"/>
          </p:cNvCxnSpPr>
          <p:nvPr/>
        </p:nvCxnSpPr>
        <p:spPr>
          <a:xfrm>
            <a:off x="6280804" y="4684192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Lige forbindelse 72">
            <a:extLst>
              <a:ext uri="{FF2B5EF4-FFF2-40B4-BE49-F238E27FC236}">
                <a16:creationId xmlns:a16="http://schemas.microsoft.com/office/drawing/2014/main" id="{567C2F05-DF44-B524-3F74-7F8D43C646D1}"/>
              </a:ext>
            </a:extLst>
          </p:cNvPr>
          <p:cNvCxnSpPr>
            <a:cxnSpLocks/>
            <a:stCxn id="69" idx="3"/>
            <a:endCxn id="74" idx="0"/>
          </p:cNvCxnSpPr>
          <p:nvPr/>
        </p:nvCxnSpPr>
        <p:spPr>
          <a:xfrm flipH="1">
            <a:off x="6026881" y="4916065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Ellipse 73">
            <a:extLst>
              <a:ext uri="{FF2B5EF4-FFF2-40B4-BE49-F238E27FC236}">
                <a16:creationId xmlns:a16="http://schemas.microsoft.com/office/drawing/2014/main" id="{2BE81F2C-2E46-CAF1-1F6F-7B0EF3FDDFB3}"/>
              </a:ext>
            </a:extLst>
          </p:cNvPr>
          <p:cNvSpPr/>
          <p:nvPr/>
        </p:nvSpPr>
        <p:spPr>
          <a:xfrm rot="187378">
            <a:off x="5776689" y="505606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2533A0B4-B708-2C84-1463-84EF46A59239}"/>
                  </a:ext>
                </a:extLst>
              </p:cNvPr>
              <p:cNvSpPr txBox="1"/>
              <p:nvPr/>
            </p:nvSpPr>
            <p:spPr>
              <a:xfrm>
                <a:off x="2004089" y="4778967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2533A0B4-B708-2C84-1463-84EF46A59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089" y="4778967"/>
                <a:ext cx="401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kstfelt 78">
                <a:extLst>
                  <a:ext uri="{FF2B5EF4-FFF2-40B4-BE49-F238E27FC236}">
                    <a16:creationId xmlns:a16="http://schemas.microsoft.com/office/drawing/2014/main" id="{F90AAF0E-6274-A29A-D89B-CAF4B8301106}"/>
                  </a:ext>
                </a:extLst>
              </p:cNvPr>
              <p:cNvSpPr txBox="1"/>
              <p:nvPr/>
            </p:nvSpPr>
            <p:spPr>
              <a:xfrm>
                <a:off x="3671867" y="4762769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9" name="Tekstfelt 78">
                <a:extLst>
                  <a:ext uri="{FF2B5EF4-FFF2-40B4-BE49-F238E27FC236}">
                    <a16:creationId xmlns:a16="http://schemas.microsoft.com/office/drawing/2014/main" id="{F90AAF0E-6274-A29A-D89B-CAF4B8301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867" y="4762769"/>
                <a:ext cx="401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kstfelt 79">
                <a:extLst>
                  <a:ext uri="{FF2B5EF4-FFF2-40B4-BE49-F238E27FC236}">
                    <a16:creationId xmlns:a16="http://schemas.microsoft.com/office/drawing/2014/main" id="{075391B6-31D2-18FA-67B1-EEC41B886892}"/>
                  </a:ext>
                </a:extLst>
              </p:cNvPr>
              <p:cNvSpPr txBox="1"/>
              <p:nvPr/>
            </p:nvSpPr>
            <p:spPr>
              <a:xfrm>
                <a:off x="5315285" y="4762769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80" name="Tekstfelt 79">
                <a:extLst>
                  <a:ext uri="{FF2B5EF4-FFF2-40B4-BE49-F238E27FC236}">
                    <a16:creationId xmlns:a16="http://schemas.microsoft.com/office/drawing/2014/main" id="{075391B6-31D2-18FA-67B1-EEC41B886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285" y="4762769"/>
                <a:ext cx="401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204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09A6A-17AC-1D79-6640-41E53652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Unconditional</a:t>
            </a:r>
            <a:r>
              <a:rPr lang="da-DK" dirty="0"/>
              <a:t> generation on high rates </a:t>
            </a:r>
            <a:r>
              <a:rPr lang="da-DK" dirty="0" err="1"/>
              <a:t>only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3BF728-3F67-D66C-CB0B-E0FF927C9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But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happen</a:t>
            </a:r>
            <a:r>
              <a:rPr lang="da-DK" dirty="0"/>
              <a:t>? I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very</a:t>
            </a:r>
            <a:r>
              <a:rPr lang="da-DK" dirty="0"/>
              <a:t> </a:t>
            </a:r>
            <a:r>
              <a:rPr lang="da-DK" dirty="0" err="1"/>
              <a:t>confused</a:t>
            </a:r>
            <a:endParaRPr lang="da-DK" dirty="0"/>
          </a:p>
          <a:p>
            <a:pPr lvl="1"/>
            <a:r>
              <a:rPr lang="da-DK" dirty="0" err="1"/>
              <a:t>Thought</a:t>
            </a:r>
            <a:r>
              <a:rPr lang="da-DK" dirty="0"/>
              <a:t> </a:t>
            </a:r>
            <a:r>
              <a:rPr lang="da-DK" dirty="0" err="1"/>
              <a:t>messsage</a:t>
            </a:r>
            <a:r>
              <a:rPr lang="da-DK" dirty="0"/>
              <a:t> </a:t>
            </a:r>
            <a:r>
              <a:rPr lang="da-DK" dirty="0" err="1"/>
              <a:t>passing</a:t>
            </a:r>
            <a:r>
              <a:rPr lang="da-DK" dirty="0"/>
              <a:t> </a:t>
            </a:r>
            <a:r>
              <a:rPr lang="da-DK" dirty="0" err="1"/>
              <a:t>would</a:t>
            </a:r>
            <a:r>
              <a:rPr lang="da-DK" dirty="0"/>
              <a:t> </a:t>
            </a:r>
            <a:r>
              <a:rPr lang="da-DK" dirty="0" err="1"/>
              <a:t>allow</a:t>
            </a:r>
            <a:r>
              <a:rPr lang="da-DK" dirty="0"/>
              <a:t> </a:t>
            </a:r>
            <a:r>
              <a:rPr lang="da-DK" dirty="0" err="1"/>
              <a:t>prediction</a:t>
            </a:r>
            <a:r>
              <a:rPr lang="da-DK" dirty="0"/>
              <a:t> of ”missing sites”</a:t>
            </a:r>
          </a:p>
          <a:p>
            <a:pPr lvl="1"/>
            <a:r>
              <a:rPr lang="da-DK" dirty="0"/>
              <a:t>It </a:t>
            </a:r>
            <a:r>
              <a:rPr lang="da-DK" dirty="0" err="1"/>
              <a:t>worked</a:t>
            </a:r>
            <a:r>
              <a:rPr lang="da-DK" dirty="0"/>
              <a:t> in </a:t>
            </a:r>
            <a:r>
              <a:rPr lang="da-DK" dirty="0" err="1"/>
              <a:t>my</a:t>
            </a:r>
            <a:r>
              <a:rPr lang="da-DK" dirty="0"/>
              <a:t> simple case but not </a:t>
            </a:r>
            <a:r>
              <a:rPr lang="da-DK" dirty="0" err="1"/>
              <a:t>here</a:t>
            </a:r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08486F0-7BB3-9766-CF5D-D42E4867C646}"/>
              </a:ext>
            </a:extLst>
          </p:cNvPr>
          <p:cNvSpPr/>
          <p:nvPr/>
        </p:nvSpPr>
        <p:spPr>
          <a:xfrm rot="18777700">
            <a:off x="2565050" y="3270534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93554B4-FE11-FD55-4F6D-47E6F70436E4}"/>
              </a:ext>
            </a:extLst>
          </p:cNvPr>
          <p:cNvSpPr/>
          <p:nvPr/>
        </p:nvSpPr>
        <p:spPr>
          <a:xfrm rot="290352">
            <a:off x="2550040" y="3907386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9689A51-239D-98D8-C938-AC7D0D1D9D0A}"/>
              </a:ext>
            </a:extLst>
          </p:cNvPr>
          <p:cNvSpPr/>
          <p:nvPr/>
        </p:nvSpPr>
        <p:spPr>
          <a:xfrm rot="18977281">
            <a:off x="1893965" y="3270534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B4FC68E2-6D8F-32E9-5C01-45FE313B16E0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2344603" y="4122270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B66EB00F-1C90-9783-4063-08022AA91038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2807322" y="3744916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6D4B4559-8419-B436-F2C1-F3A514E2F981}"/>
              </a:ext>
            </a:extLst>
          </p:cNvPr>
          <p:cNvCxnSpPr>
            <a:stCxn id="6" idx="5"/>
            <a:endCxn id="4" idx="1"/>
          </p:cNvCxnSpPr>
          <p:nvPr/>
        </p:nvCxnSpPr>
        <p:spPr>
          <a:xfrm>
            <a:off x="2368437" y="3513133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FF900195-04C0-D1A3-1955-8572763C61C8}"/>
              </a:ext>
            </a:extLst>
          </p:cNvPr>
          <p:cNvCxnSpPr>
            <a:cxnSpLocks/>
            <a:stCxn id="6" idx="3"/>
            <a:endCxn id="11" idx="0"/>
          </p:cNvCxnSpPr>
          <p:nvPr/>
        </p:nvCxnSpPr>
        <p:spPr>
          <a:xfrm flipH="1">
            <a:off x="2114514" y="3745006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FF3EC00F-E576-C58C-DC5D-E96AEB265D81}"/>
              </a:ext>
            </a:extLst>
          </p:cNvPr>
          <p:cNvSpPr/>
          <p:nvPr/>
        </p:nvSpPr>
        <p:spPr>
          <a:xfrm rot="187378">
            <a:off x="1864322" y="3885004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183A1B1-188D-F802-1F68-90DCEBF8935F}"/>
              </a:ext>
            </a:extLst>
          </p:cNvPr>
          <p:cNvSpPr/>
          <p:nvPr/>
        </p:nvSpPr>
        <p:spPr>
          <a:xfrm rot="18777700">
            <a:off x="4588352" y="329983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B2647C6-5406-8700-ABD0-AB88914A4C4F}"/>
              </a:ext>
            </a:extLst>
          </p:cNvPr>
          <p:cNvSpPr/>
          <p:nvPr/>
        </p:nvSpPr>
        <p:spPr>
          <a:xfrm rot="290352">
            <a:off x="4573342" y="3936685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551C735-BAB1-25BC-249D-80EEE3028F65}"/>
              </a:ext>
            </a:extLst>
          </p:cNvPr>
          <p:cNvSpPr/>
          <p:nvPr/>
        </p:nvSpPr>
        <p:spPr>
          <a:xfrm rot="18977281">
            <a:off x="3917267" y="329983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1EB48CF6-467A-05C5-E993-E9EB66D3384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367905" y="4151569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FCEDEE23-4CDD-0A92-D885-648528E05619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 flipH="1">
            <a:off x="4830624" y="3774215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1645B392-4938-6C03-D039-8108C41145C2}"/>
              </a:ext>
            </a:extLst>
          </p:cNvPr>
          <p:cNvCxnSpPr>
            <a:stCxn id="14" idx="5"/>
            <a:endCxn id="12" idx="1"/>
          </p:cNvCxnSpPr>
          <p:nvPr/>
        </p:nvCxnSpPr>
        <p:spPr>
          <a:xfrm>
            <a:off x="4391739" y="3542432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32C86AB9-4DD0-3A95-956B-98AFA3E68F01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H="1">
            <a:off x="4137816" y="3774305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Ellipse 18">
            <a:extLst>
              <a:ext uri="{FF2B5EF4-FFF2-40B4-BE49-F238E27FC236}">
                <a16:creationId xmlns:a16="http://schemas.microsoft.com/office/drawing/2014/main" id="{571F8536-3F91-9156-4CFA-640ABE7D9B65}"/>
              </a:ext>
            </a:extLst>
          </p:cNvPr>
          <p:cNvSpPr/>
          <p:nvPr/>
        </p:nvSpPr>
        <p:spPr>
          <a:xfrm rot="187378">
            <a:off x="3887624" y="3914303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C78033"/>
              </a:solidFill>
            </a:endParaRPr>
          </a:p>
        </p:txBody>
      </p: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A62A2EC0-8E15-B78F-15A1-02F6E2036179}"/>
              </a:ext>
            </a:extLst>
          </p:cNvPr>
          <p:cNvCxnSpPr/>
          <p:nvPr/>
        </p:nvCxnSpPr>
        <p:spPr>
          <a:xfrm>
            <a:off x="3137648" y="3843130"/>
            <a:ext cx="6814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2EA3B704-B6B8-49CB-15C0-626D560A6462}"/>
                  </a:ext>
                </a:extLst>
              </p:cNvPr>
              <p:cNvSpPr txBox="1"/>
              <p:nvPr/>
            </p:nvSpPr>
            <p:spPr>
              <a:xfrm>
                <a:off x="1858394" y="4430386"/>
                <a:ext cx="1178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2EA3B704-B6B8-49CB-15C0-626D560A6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394" y="4430386"/>
                <a:ext cx="1178700" cy="276999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kstfelt 22">
            <a:extLst>
              <a:ext uri="{FF2B5EF4-FFF2-40B4-BE49-F238E27FC236}">
                <a16:creationId xmlns:a16="http://schemas.microsoft.com/office/drawing/2014/main" id="{19E44F51-8462-54EB-10BD-A2CC91FE98D1}"/>
              </a:ext>
            </a:extLst>
          </p:cNvPr>
          <p:cNvSpPr txBox="1"/>
          <p:nvPr/>
        </p:nvSpPr>
        <p:spPr>
          <a:xfrm>
            <a:off x="1239519" y="43281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24950B29-2C43-2F8C-253D-B161AC5B9213}"/>
                  </a:ext>
                </a:extLst>
              </p:cNvPr>
              <p:cNvSpPr txBox="1"/>
              <p:nvPr/>
            </p:nvSpPr>
            <p:spPr>
              <a:xfrm>
                <a:off x="3888343" y="4444880"/>
                <a:ext cx="1178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24" name="Tekstfelt 23">
                <a:extLst>
                  <a:ext uri="{FF2B5EF4-FFF2-40B4-BE49-F238E27FC236}">
                    <a16:creationId xmlns:a16="http://schemas.microsoft.com/office/drawing/2014/main" id="{24950B29-2C43-2F8C-253D-B161AC5B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343" y="4444880"/>
                <a:ext cx="1178700" cy="276999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kstfelt 24">
            <a:extLst>
              <a:ext uri="{FF2B5EF4-FFF2-40B4-BE49-F238E27FC236}">
                <a16:creationId xmlns:a16="http://schemas.microsoft.com/office/drawing/2014/main" id="{5F71142D-C386-323C-0450-21EB815FF7E7}"/>
              </a:ext>
            </a:extLst>
          </p:cNvPr>
          <p:cNvSpPr txBox="1"/>
          <p:nvPr/>
        </p:nvSpPr>
        <p:spPr>
          <a:xfrm>
            <a:off x="3010778" y="3451256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sample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5CF01374-4221-1A8A-580C-80F5889773D8}"/>
              </a:ext>
            </a:extLst>
          </p:cNvPr>
          <p:cNvSpPr/>
          <p:nvPr/>
        </p:nvSpPr>
        <p:spPr>
          <a:xfrm rot="18777700">
            <a:off x="6796210" y="3342058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F3345F73-0BAF-A550-E39C-2206367F55C3}"/>
              </a:ext>
            </a:extLst>
          </p:cNvPr>
          <p:cNvSpPr/>
          <p:nvPr/>
        </p:nvSpPr>
        <p:spPr>
          <a:xfrm rot="290352">
            <a:off x="6781200" y="3978910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2B72509-2333-899D-1BE2-1196FB1D73C8}"/>
              </a:ext>
            </a:extLst>
          </p:cNvPr>
          <p:cNvSpPr/>
          <p:nvPr/>
        </p:nvSpPr>
        <p:spPr>
          <a:xfrm rot="18977281">
            <a:off x="6125125" y="3342058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1C95E54C-B2B4-931F-9B24-E84E6D931D04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6575763" y="4193794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D67B8424-E2C8-5E49-D3FB-C92EF69AFC92}"/>
              </a:ext>
            </a:extLst>
          </p:cNvPr>
          <p:cNvCxnSpPr>
            <a:stCxn id="44" idx="3"/>
            <a:endCxn id="45" idx="0"/>
          </p:cNvCxnSpPr>
          <p:nvPr/>
        </p:nvCxnSpPr>
        <p:spPr>
          <a:xfrm flipH="1">
            <a:off x="7038482" y="3816440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93F51208-F0B6-42C8-288C-A2204E45E266}"/>
              </a:ext>
            </a:extLst>
          </p:cNvPr>
          <p:cNvCxnSpPr>
            <a:stCxn id="46" idx="5"/>
            <a:endCxn id="44" idx="1"/>
          </p:cNvCxnSpPr>
          <p:nvPr/>
        </p:nvCxnSpPr>
        <p:spPr>
          <a:xfrm>
            <a:off x="6599597" y="3584657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1A1CBF81-68C5-8CE9-1B3E-ADF9F2DA8CE7}"/>
              </a:ext>
            </a:extLst>
          </p:cNvPr>
          <p:cNvCxnSpPr>
            <a:cxnSpLocks/>
            <a:stCxn id="46" idx="3"/>
            <a:endCxn id="51" idx="0"/>
          </p:cNvCxnSpPr>
          <p:nvPr/>
        </p:nvCxnSpPr>
        <p:spPr>
          <a:xfrm flipH="1">
            <a:off x="6345674" y="3816530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5ACAD44A-C444-F441-9BEA-06565A01F500}"/>
              </a:ext>
            </a:extLst>
          </p:cNvPr>
          <p:cNvSpPr/>
          <p:nvPr/>
        </p:nvSpPr>
        <p:spPr>
          <a:xfrm rot="187378">
            <a:off x="6095482" y="3956528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6A6EEFA7-678E-6F32-79E8-D640A2C56F54}"/>
              </a:ext>
            </a:extLst>
          </p:cNvPr>
          <p:cNvSpPr/>
          <p:nvPr/>
        </p:nvSpPr>
        <p:spPr>
          <a:xfrm rot="18777700">
            <a:off x="8819512" y="3371357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52C6C3A1-3265-6E1B-256C-7561C272F69C}"/>
              </a:ext>
            </a:extLst>
          </p:cNvPr>
          <p:cNvSpPr/>
          <p:nvPr/>
        </p:nvSpPr>
        <p:spPr>
          <a:xfrm rot="290352">
            <a:off x="8804502" y="4008209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F68BA50B-5895-7DF1-B781-F6178B7F29FE}"/>
              </a:ext>
            </a:extLst>
          </p:cNvPr>
          <p:cNvSpPr/>
          <p:nvPr/>
        </p:nvSpPr>
        <p:spPr>
          <a:xfrm rot="18977281">
            <a:off x="8148427" y="3371357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55" name="Lige forbindelse 54">
            <a:extLst>
              <a:ext uri="{FF2B5EF4-FFF2-40B4-BE49-F238E27FC236}">
                <a16:creationId xmlns:a16="http://schemas.microsoft.com/office/drawing/2014/main" id="{6C47DC6C-F400-7BD7-671F-32478BD9B447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8599065" y="4223093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Lige forbindelse 55">
            <a:extLst>
              <a:ext uri="{FF2B5EF4-FFF2-40B4-BE49-F238E27FC236}">
                <a16:creationId xmlns:a16="http://schemas.microsoft.com/office/drawing/2014/main" id="{7D09F308-E988-D067-65C7-7682011FC6AA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9061784" y="3845739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Lige forbindelse 56">
            <a:extLst>
              <a:ext uri="{FF2B5EF4-FFF2-40B4-BE49-F238E27FC236}">
                <a16:creationId xmlns:a16="http://schemas.microsoft.com/office/drawing/2014/main" id="{F404FB93-17FC-8566-0554-2159234F243A}"/>
              </a:ext>
            </a:extLst>
          </p:cNvPr>
          <p:cNvCxnSpPr>
            <a:stCxn id="54" idx="5"/>
            <a:endCxn id="52" idx="1"/>
          </p:cNvCxnSpPr>
          <p:nvPr/>
        </p:nvCxnSpPr>
        <p:spPr>
          <a:xfrm>
            <a:off x="8622899" y="3613956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Lige forbindelse 57">
            <a:extLst>
              <a:ext uri="{FF2B5EF4-FFF2-40B4-BE49-F238E27FC236}">
                <a16:creationId xmlns:a16="http://schemas.microsoft.com/office/drawing/2014/main" id="{3B57FB2F-AFAC-CFC0-6441-D7629BD53D47}"/>
              </a:ext>
            </a:extLst>
          </p:cNvPr>
          <p:cNvCxnSpPr>
            <a:cxnSpLocks/>
            <a:stCxn id="54" idx="3"/>
            <a:endCxn id="59" idx="0"/>
          </p:cNvCxnSpPr>
          <p:nvPr/>
        </p:nvCxnSpPr>
        <p:spPr>
          <a:xfrm flipH="1">
            <a:off x="8368976" y="3845829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Ellipse 58">
            <a:extLst>
              <a:ext uri="{FF2B5EF4-FFF2-40B4-BE49-F238E27FC236}">
                <a16:creationId xmlns:a16="http://schemas.microsoft.com/office/drawing/2014/main" id="{5B1A1D02-D7B8-160B-287F-B2E49D40BF0F}"/>
              </a:ext>
            </a:extLst>
          </p:cNvPr>
          <p:cNvSpPr/>
          <p:nvPr/>
        </p:nvSpPr>
        <p:spPr>
          <a:xfrm rot="187378">
            <a:off x="8118784" y="3985827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C78033"/>
              </a:solidFill>
            </a:endParaRPr>
          </a:p>
        </p:txBody>
      </p:sp>
      <p:cxnSp>
        <p:nvCxnSpPr>
          <p:cNvPr id="60" name="Lige pilforbindelse 59">
            <a:extLst>
              <a:ext uri="{FF2B5EF4-FFF2-40B4-BE49-F238E27FC236}">
                <a16:creationId xmlns:a16="http://schemas.microsoft.com/office/drawing/2014/main" id="{D054CC1A-858D-EA20-6252-CFDE2AFDFC64}"/>
              </a:ext>
            </a:extLst>
          </p:cNvPr>
          <p:cNvCxnSpPr/>
          <p:nvPr/>
        </p:nvCxnSpPr>
        <p:spPr>
          <a:xfrm>
            <a:off x="7368808" y="3914654"/>
            <a:ext cx="6814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kstfelt 60">
                <a:extLst>
                  <a:ext uri="{FF2B5EF4-FFF2-40B4-BE49-F238E27FC236}">
                    <a16:creationId xmlns:a16="http://schemas.microsoft.com/office/drawing/2014/main" id="{8F3BD366-A579-D7F6-E33D-0B34D103FF72}"/>
                  </a:ext>
                </a:extLst>
              </p:cNvPr>
              <p:cNvSpPr txBox="1"/>
              <p:nvPr/>
            </p:nvSpPr>
            <p:spPr>
              <a:xfrm>
                <a:off x="6089554" y="4501910"/>
                <a:ext cx="1178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61" name="Tekstfelt 60">
                <a:extLst>
                  <a:ext uri="{FF2B5EF4-FFF2-40B4-BE49-F238E27FC236}">
                    <a16:creationId xmlns:a16="http://schemas.microsoft.com/office/drawing/2014/main" id="{8F3BD366-A579-D7F6-E33D-0B34D103F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554" y="4501910"/>
                <a:ext cx="1178700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kstfelt 61">
            <a:extLst>
              <a:ext uri="{FF2B5EF4-FFF2-40B4-BE49-F238E27FC236}">
                <a16:creationId xmlns:a16="http://schemas.microsoft.com/office/drawing/2014/main" id="{C59407F8-0438-D962-5E50-8064EA52F0B3}"/>
              </a:ext>
            </a:extLst>
          </p:cNvPr>
          <p:cNvSpPr txBox="1"/>
          <p:nvPr/>
        </p:nvSpPr>
        <p:spPr>
          <a:xfrm>
            <a:off x="5658929" y="5925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kstfelt 62">
                <a:extLst>
                  <a:ext uri="{FF2B5EF4-FFF2-40B4-BE49-F238E27FC236}">
                    <a16:creationId xmlns:a16="http://schemas.microsoft.com/office/drawing/2014/main" id="{025781E3-6DB0-667F-B1C9-6A511E571399}"/>
                  </a:ext>
                </a:extLst>
              </p:cNvPr>
              <p:cNvSpPr txBox="1"/>
              <p:nvPr/>
            </p:nvSpPr>
            <p:spPr>
              <a:xfrm>
                <a:off x="8119503" y="4516404"/>
                <a:ext cx="1178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63" name="Tekstfelt 62">
                <a:extLst>
                  <a:ext uri="{FF2B5EF4-FFF2-40B4-BE49-F238E27FC236}">
                    <a16:creationId xmlns:a16="http://schemas.microsoft.com/office/drawing/2014/main" id="{025781E3-6DB0-667F-B1C9-6A511E571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503" y="4516404"/>
                <a:ext cx="1178700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kstfelt 63">
            <a:extLst>
              <a:ext uri="{FF2B5EF4-FFF2-40B4-BE49-F238E27FC236}">
                <a16:creationId xmlns:a16="http://schemas.microsoft.com/office/drawing/2014/main" id="{A427C0D3-A37B-BA70-FA05-C8CF6487DCAA}"/>
              </a:ext>
            </a:extLst>
          </p:cNvPr>
          <p:cNvSpPr txBox="1"/>
          <p:nvPr/>
        </p:nvSpPr>
        <p:spPr>
          <a:xfrm>
            <a:off x="7241938" y="3522780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sample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C245976-815F-D8DE-3821-993D1721385F}"/>
              </a:ext>
            </a:extLst>
          </p:cNvPr>
          <p:cNvSpPr/>
          <p:nvPr/>
        </p:nvSpPr>
        <p:spPr>
          <a:xfrm rot="18777700">
            <a:off x="2449493" y="5234570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3383627F-1613-6722-47CC-D7E5C8809A3B}"/>
              </a:ext>
            </a:extLst>
          </p:cNvPr>
          <p:cNvSpPr/>
          <p:nvPr/>
        </p:nvSpPr>
        <p:spPr>
          <a:xfrm rot="290352">
            <a:off x="2434483" y="5871422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F6428AE-7DE9-98E5-3881-BA5C08A84AE3}"/>
              </a:ext>
            </a:extLst>
          </p:cNvPr>
          <p:cNvSpPr/>
          <p:nvPr/>
        </p:nvSpPr>
        <p:spPr>
          <a:xfrm rot="18977281">
            <a:off x="1778408" y="5234570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68" name="Lige forbindelse 67">
            <a:extLst>
              <a:ext uri="{FF2B5EF4-FFF2-40B4-BE49-F238E27FC236}">
                <a16:creationId xmlns:a16="http://schemas.microsoft.com/office/drawing/2014/main" id="{828B8E2B-7D20-FDBC-797D-FDCE3AC2CDD9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2229046" y="6086306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Lige forbindelse 68">
            <a:extLst>
              <a:ext uri="{FF2B5EF4-FFF2-40B4-BE49-F238E27FC236}">
                <a16:creationId xmlns:a16="http://schemas.microsoft.com/office/drawing/2014/main" id="{415EB5B3-A221-A649-B14D-14F28CD1D6A4}"/>
              </a:ext>
            </a:extLst>
          </p:cNvPr>
          <p:cNvCxnSpPr>
            <a:stCxn id="65" idx="3"/>
            <a:endCxn id="66" idx="0"/>
          </p:cNvCxnSpPr>
          <p:nvPr/>
        </p:nvCxnSpPr>
        <p:spPr>
          <a:xfrm flipH="1">
            <a:off x="2691765" y="5708952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17531C46-7C7C-36E2-54C3-2A5FA879DAF0}"/>
              </a:ext>
            </a:extLst>
          </p:cNvPr>
          <p:cNvCxnSpPr>
            <a:stCxn id="67" idx="5"/>
            <a:endCxn id="65" idx="1"/>
          </p:cNvCxnSpPr>
          <p:nvPr/>
        </p:nvCxnSpPr>
        <p:spPr>
          <a:xfrm>
            <a:off x="2252880" y="5477169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352B9357-1731-441C-D5E2-D259758172E4}"/>
              </a:ext>
            </a:extLst>
          </p:cNvPr>
          <p:cNvCxnSpPr>
            <a:cxnSpLocks/>
            <a:stCxn id="67" idx="3"/>
            <a:endCxn id="72" idx="0"/>
          </p:cNvCxnSpPr>
          <p:nvPr/>
        </p:nvCxnSpPr>
        <p:spPr>
          <a:xfrm flipH="1">
            <a:off x="1998957" y="5709042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Ellipse 71">
            <a:extLst>
              <a:ext uri="{FF2B5EF4-FFF2-40B4-BE49-F238E27FC236}">
                <a16:creationId xmlns:a16="http://schemas.microsoft.com/office/drawing/2014/main" id="{F5FABDFD-901D-A809-66C7-FFF72235CCD9}"/>
              </a:ext>
            </a:extLst>
          </p:cNvPr>
          <p:cNvSpPr/>
          <p:nvPr/>
        </p:nvSpPr>
        <p:spPr>
          <a:xfrm rot="187378">
            <a:off x="1748765" y="5849040"/>
            <a:ext cx="474531" cy="4745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8EC72B49-0E92-8271-F782-A26C125A87BC}"/>
              </a:ext>
            </a:extLst>
          </p:cNvPr>
          <p:cNvSpPr/>
          <p:nvPr/>
        </p:nvSpPr>
        <p:spPr>
          <a:xfrm rot="18777700">
            <a:off x="4472795" y="5263869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E8FAC125-ACBE-5BE5-5661-ACA65502D693}"/>
              </a:ext>
            </a:extLst>
          </p:cNvPr>
          <p:cNvSpPr/>
          <p:nvPr/>
        </p:nvSpPr>
        <p:spPr>
          <a:xfrm rot="290352">
            <a:off x="4457785" y="5900721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B4C7F87C-2CEE-2E46-C991-9919F856CDB4}"/>
              </a:ext>
            </a:extLst>
          </p:cNvPr>
          <p:cNvSpPr/>
          <p:nvPr/>
        </p:nvSpPr>
        <p:spPr>
          <a:xfrm rot="18977281">
            <a:off x="3801710" y="5263869"/>
            <a:ext cx="474531" cy="474531"/>
          </a:xfrm>
          <a:prstGeom prst="ellipse">
            <a:avLst/>
          </a:prstGeom>
          <a:solidFill>
            <a:srgbClr val="C78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76" name="Lige forbindelse 75">
            <a:extLst>
              <a:ext uri="{FF2B5EF4-FFF2-40B4-BE49-F238E27FC236}">
                <a16:creationId xmlns:a16="http://schemas.microsoft.com/office/drawing/2014/main" id="{49B19860-8E5C-3D4F-4764-6890793AF356}"/>
              </a:ext>
            </a:extLst>
          </p:cNvPr>
          <p:cNvCxnSpPr>
            <a:cxnSpLocks/>
            <a:endCxn id="74" idx="2"/>
          </p:cNvCxnSpPr>
          <p:nvPr/>
        </p:nvCxnSpPr>
        <p:spPr>
          <a:xfrm>
            <a:off x="4252348" y="6115605"/>
            <a:ext cx="206283" cy="23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Lige forbindelse 76">
            <a:extLst>
              <a:ext uri="{FF2B5EF4-FFF2-40B4-BE49-F238E27FC236}">
                <a16:creationId xmlns:a16="http://schemas.microsoft.com/office/drawing/2014/main" id="{C196F6FC-2372-B7E6-4135-770907E32764}"/>
              </a:ext>
            </a:extLst>
          </p:cNvPr>
          <p:cNvCxnSpPr>
            <a:stCxn id="73" idx="3"/>
            <a:endCxn id="74" idx="0"/>
          </p:cNvCxnSpPr>
          <p:nvPr/>
        </p:nvCxnSpPr>
        <p:spPr>
          <a:xfrm flipH="1">
            <a:off x="4715067" y="5738251"/>
            <a:ext cx="3433" cy="1633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Lige forbindelse 77">
            <a:extLst>
              <a:ext uri="{FF2B5EF4-FFF2-40B4-BE49-F238E27FC236}">
                <a16:creationId xmlns:a16="http://schemas.microsoft.com/office/drawing/2014/main" id="{3D2A548D-5D0A-8744-2621-672551DEBD07}"/>
              </a:ext>
            </a:extLst>
          </p:cNvPr>
          <p:cNvCxnSpPr>
            <a:stCxn id="75" idx="5"/>
            <a:endCxn id="73" idx="1"/>
          </p:cNvCxnSpPr>
          <p:nvPr/>
        </p:nvCxnSpPr>
        <p:spPr>
          <a:xfrm>
            <a:off x="4276182" y="5506468"/>
            <a:ext cx="196762" cy="31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Lige forbindelse 78">
            <a:extLst>
              <a:ext uri="{FF2B5EF4-FFF2-40B4-BE49-F238E27FC236}">
                <a16:creationId xmlns:a16="http://schemas.microsoft.com/office/drawing/2014/main" id="{4FC4C9AF-07CA-08E2-3BA9-9390088D4778}"/>
              </a:ext>
            </a:extLst>
          </p:cNvPr>
          <p:cNvCxnSpPr>
            <a:cxnSpLocks/>
            <a:stCxn id="75" idx="3"/>
            <a:endCxn id="80" idx="0"/>
          </p:cNvCxnSpPr>
          <p:nvPr/>
        </p:nvCxnSpPr>
        <p:spPr>
          <a:xfrm flipH="1">
            <a:off x="4022259" y="5738341"/>
            <a:ext cx="11383" cy="140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Ellipse 79">
            <a:extLst>
              <a:ext uri="{FF2B5EF4-FFF2-40B4-BE49-F238E27FC236}">
                <a16:creationId xmlns:a16="http://schemas.microsoft.com/office/drawing/2014/main" id="{F0D6A422-85B8-5641-EB27-730A0730F8ED}"/>
              </a:ext>
            </a:extLst>
          </p:cNvPr>
          <p:cNvSpPr/>
          <p:nvPr/>
        </p:nvSpPr>
        <p:spPr>
          <a:xfrm rot="187378">
            <a:off x="3772067" y="5878339"/>
            <a:ext cx="474531" cy="474531"/>
          </a:xfrm>
          <a:prstGeom prst="ellipse">
            <a:avLst/>
          </a:prstGeom>
          <a:solidFill>
            <a:srgbClr val="0169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016985"/>
              </a:solidFill>
            </a:endParaRPr>
          </a:p>
        </p:txBody>
      </p:sp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9A1E15CA-0E45-067D-75CA-48624DA25994}"/>
              </a:ext>
            </a:extLst>
          </p:cNvPr>
          <p:cNvCxnSpPr/>
          <p:nvPr/>
        </p:nvCxnSpPr>
        <p:spPr>
          <a:xfrm>
            <a:off x="3022091" y="5807166"/>
            <a:ext cx="6814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kstfelt 81">
                <a:extLst>
                  <a:ext uri="{FF2B5EF4-FFF2-40B4-BE49-F238E27FC236}">
                    <a16:creationId xmlns:a16="http://schemas.microsoft.com/office/drawing/2014/main" id="{84642083-5EDC-9F9E-0E58-A568F6D38D5B}"/>
                  </a:ext>
                </a:extLst>
              </p:cNvPr>
              <p:cNvSpPr txBox="1"/>
              <p:nvPr/>
            </p:nvSpPr>
            <p:spPr>
              <a:xfrm>
                <a:off x="1742837" y="6394422"/>
                <a:ext cx="1178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82" name="Tekstfelt 81">
                <a:extLst>
                  <a:ext uri="{FF2B5EF4-FFF2-40B4-BE49-F238E27FC236}">
                    <a16:creationId xmlns:a16="http://schemas.microsoft.com/office/drawing/2014/main" id="{84642083-5EDC-9F9E-0E58-A568F6D38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837" y="6394422"/>
                <a:ext cx="1178700" cy="276999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4CA9E60-ACA8-8F1A-DA9E-1C2137EAC226}"/>
                  </a:ext>
                </a:extLst>
              </p:cNvPr>
              <p:cNvSpPr txBox="1"/>
              <p:nvPr/>
            </p:nvSpPr>
            <p:spPr>
              <a:xfrm>
                <a:off x="3772786" y="6408916"/>
                <a:ext cx="11787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4CA9E60-ACA8-8F1A-DA9E-1C2137EAC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786" y="6408916"/>
                <a:ext cx="1178700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kstfelt 83">
            <a:extLst>
              <a:ext uri="{FF2B5EF4-FFF2-40B4-BE49-F238E27FC236}">
                <a16:creationId xmlns:a16="http://schemas.microsoft.com/office/drawing/2014/main" id="{07D0B5EE-7CA4-8D88-E2D0-D49113A23688}"/>
              </a:ext>
            </a:extLst>
          </p:cNvPr>
          <p:cNvSpPr txBox="1"/>
          <p:nvPr/>
        </p:nvSpPr>
        <p:spPr>
          <a:xfrm>
            <a:off x="2895221" y="5415292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2179567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3811C-6550-B7D5-3B22-37C4B2DC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the problem?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BBBC1BF-5E3C-769E-E996-C58F6C41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Left</a:t>
            </a:r>
            <a:r>
              <a:rPr lang="da-DK" dirty="0"/>
              <a:t> </a:t>
            </a:r>
            <a:r>
              <a:rPr lang="da-DK" dirty="0" err="1"/>
              <a:t>me</a:t>
            </a:r>
            <a:r>
              <a:rPr lang="da-DK" dirty="0"/>
              <a:t> with 3 options:</a:t>
            </a:r>
          </a:p>
          <a:p>
            <a:pPr lvl="1"/>
            <a:r>
              <a:rPr lang="da-DK" dirty="0"/>
              <a:t>GNN </a:t>
            </a:r>
            <a:r>
              <a:rPr lang="da-DK" dirty="0" err="1"/>
              <a:t>cannot</a:t>
            </a:r>
            <a:r>
              <a:rPr lang="da-DK" dirty="0"/>
              <a:t> </a:t>
            </a:r>
            <a:r>
              <a:rPr lang="da-DK" dirty="0" err="1"/>
              <a:t>resolve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</a:t>
            </a:r>
            <a:r>
              <a:rPr lang="da-DK" dirty="0" err="1"/>
              <a:t>environments</a:t>
            </a:r>
            <a:r>
              <a:rPr lang="da-DK" dirty="0"/>
              <a:t> </a:t>
            </a:r>
            <a:r>
              <a:rPr lang="da-DK" dirty="0" err="1"/>
              <a:t>even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noise</a:t>
            </a:r>
            <a:r>
              <a:rPr lang="da-DK" dirty="0"/>
              <a:t> is present?</a:t>
            </a:r>
          </a:p>
          <a:p>
            <a:pPr lvl="1"/>
            <a:r>
              <a:rPr lang="da-DK" dirty="0" err="1"/>
              <a:t>Maybe</a:t>
            </a:r>
            <a:r>
              <a:rPr lang="da-DK" dirty="0"/>
              <a:t> the ”</a:t>
            </a:r>
            <a:r>
              <a:rPr lang="da-DK" dirty="0" err="1"/>
              <a:t>vanilla</a:t>
            </a:r>
            <a:r>
              <a:rPr lang="da-DK" dirty="0"/>
              <a:t>” D3PM </a:t>
            </a:r>
            <a:r>
              <a:rPr lang="da-DK" dirty="0" err="1"/>
              <a:t>implementation</a:t>
            </a:r>
            <a:r>
              <a:rPr lang="da-DK" dirty="0"/>
              <a:t> is not </a:t>
            </a:r>
            <a:r>
              <a:rPr lang="da-DK" dirty="0" err="1"/>
              <a:t>well</a:t>
            </a:r>
            <a:r>
              <a:rPr lang="da-DK" dirty="0"/>
              <a:t> </a:t>
            </a:r>
            <a:r>
              <a:rPr lang="da-DK" dirty="0" err="1"/>
              <a:t>suited</a:t>
            </a:r>
            <a:r>
              <a:rPr lang="da-DK" dirty="0"/>
              <a:t>?</a:t>
            </a:r>
          </a:p>
          <a:p>
            <a:pPr lvl="2"/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produce</a:t>
            </a:r>
            <a:r>
              <a:rPr lang="da-DK" dirty="0"/>
              <a:t> </a:t>
            </a:r>
            <a:r>
              <a:rPr lang="da-DK" dirty="0" err="1"/>
              <a:t>probabilites</a:t>
            </a:r>
            <a:r>
              <a:rPr lang="da-DK" dirty="0"/>
              <a:t> for all atoms at </a:t>
            </a:r>
            <a:r>
              <a:rPr lang="da-DK" dirty="0" err="1"/>
              <a:t>once</a:t>
            </a:r>
            <a:r>
              <a:rPr lang="da-DK" dirty="0"/>
              <a:t> and sample </a:t>
            </a:r>
            <a:r>
              <a:rPr lang="da-DK" dirty="0" err="1"/>
              <a:t>independently</a:t>
            </a:r>
            <a:endParaRPr lang="da-DK" dirty="0"/>
          </a:p>
          <a:p>
            <a:pPr lvl="1"/>
            <a:r>
              <a:rPr lang="da-DK" dirty="0" err="1"/>
              <a:t>Maybe</a:t>
            </a:r>
            <a:r>
              <a:rPr lang="da-DK" dirty="0"/>
              <a:t> a bug in the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somewhere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02949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46C8E-532B-7F1D-7C12-AC9C5ACA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434D2C-6B67-3D81-FA93-3C830D4AF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Started </a:t>
            </a:r>
            <a:r>
              <a:rPr lang="da-DK" dirty="0" err="1"/>
              <a:t>testing</a:t>
            </a:r>
            <a:r>
              <a:rPr lang="da-DK" dirty="0"/>
              <a:t> the GNN backbone </a:t>
            </a:r>
            <a:r>
              <a:rPr lang="da-DK" dirty="0" err="1"/>
              <a:t>seperately</a:t>
            </a:r>
            <a:endParaRPr lang="da-DK" dirty="0"/>
          </a:p>
          <a:p>
            <a:pPr lvl="1"/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</a:t>
            </a:r>
            <a:r>
              <a:rPr lang="da-DK" dirty="0" err="1"/>
              <a:t>predict</a:t>
            </a:r>
            <a:r>
              <a:rPr lang="da-DK" dirty="0"/>
              <a:t> rates </a:t>
            </a:r>
            <a:r>
              <a:rPr lang="da-DK" dirty="0" err="1"/>
              <a:t>if</a:t>
            </a:r>
            <a:r>
              <a:rPr lang="da-DK" dirty="0"/>
              <a:t> it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distinguish</a:t>
            </a: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236B3AF-187D-6954-466E-FC862BED0C93}"/>
              </a:ext>
            </a:extLst>
          </p:cNvPr>
          <p:cNvSpPr/>
          <p:nvPr/>
        </p:nvSpPr>
        <p:spPr>
          <a:xfrm>
            <a:off x="5284376" y="447632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58B6FA2-2B49-CAFF-B5B6-9CD777098538}"/>
              </a:ext>
            </a:extLst>
          </p:cNvPr>
          <p:cNvSpPr/>
          <p:nvPr/>
        </p:nvSpPr>
        <p:spPr>
          <a:xfrm rot="18910962">
            <a:off x="6445902" y="384709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08BD269-9530-2D71-2536-FE4DEDF95411}"/>
              </a:ext>
            </a:extLst>
          </p:cNvPr>
          <p:cNvSpPr/>
          <p:nvPr/>
        </p:nvSpPr>
        <p:spPr>
          <a:xfrm rot="915767">
            <a:off x="6418411" y="4698989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A6B658B-FE7A-C9C9-8A05-220A2C39BA58}"/>
              </a:ext>
            </a:extLst>
          </p:cNvPr>
          <p:cNvSpPr/>
          <p:nvPr/>
        </p:nvSpPr>
        <p:spPr>
          <a:xfrm rot="20911658">
            <a:off x="7332811" y="5181478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13901B3-A068-D750-35AB-0265E6BCB1DA}"/>
              </a:ext>
            </a:extLst>
          </p:cNvPr>
          <p:cNvSpPr/>
          <p:nvPr/>
        </p:nvSpPr>
        <p:spPr>
          <a:xfrm rot="20573567">
            <a:off x="7692746" y="3723181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43F302BE-AB10-068E-9D1D-8CFDC9B16ACE}"/>
              </a:ext>
            </a:extLst>
          </p:cNvPr>
          <p:cNvCxnSpPr>
            <a:stCxn id="14" idx="7"/>
            <a:endCxn id="15" idx="2"/>
          </p:cNvCxnSpPr>
          <p:nvPr/>
        </p:nvCxnSpPr>
        <p:spPr>
          <a:xfrm flipV="1">
            <a:off x="5689414" y="4251593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44DFC3E0-6728-8B63-9456-787C7643D0CB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5758907" y="4713586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3A00D787-5858-704B-E033-13BCFC5C1BC8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6682411" y="4321621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970074DE-46E4-43CC-99DC-C863DE98C66C}"/>
              </a:ext>
            </a:extLst>
          </p:cNvPr>
          <p:cNvCxnSpPr>
            <a:cxnSpLocks/>
            <a:stCxn id="18" idx="2"/>
            <a:endCxn id="15" idx="5"/>
          </p:cNvCxnSpPr>
          <p:nvPr/>
        </p:nvCxnSpPr>
        <p:spPr>
          <a:xfrm flipH="1">
            <a:off x="6920432" y="4030241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5BC310E3-0613-FCA6-298F-5EA2B8618CCB}"/>
              </a:ext>
            </a:extLst>
          </p:cNvPr>
          <p:cNvCxnSpPr>
            <a:cxnSpLocks/>
            <a:stCxn id="17" idx="1"/>
            <a:endCxn id="16" idx="6"/>
          </p:cNvCxnSpPr>
          <p:nvPr/>
        </p:nvCxnSpPr>
        <p:spPr>
          <a:xfrm flipH="1" flipV="1">
            <a:off x="6884573" y="4998714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uet forbindelse 28">
            <a:extLst>
              <a:ext uri="{FF2B5EF4-FFF2-40B4-BE49-F238E27FC236}">
                <a16:creationId xmlns:a16="http://schemas.microsoft.com/office/drawing/2014/main" id="{D5772526-3DA8-095E-1F06-EBA8B68AFE3E}"/>
              </a:ext>
            </a:extLst>
          </p:cNvPr>
          <p:cNvCxnSpPr>
            <a:cxnSpLocks/>
            <a:stCxn id="15" idx="1"/>
            <a:endCxn id="14" idx="0"/>
          </p:cNvCxnSpPr>
          <p:nvPr/>
        </p:nvCxnSpPr>
        <p:spPr>
          <a:xfrm rot="16200000" flipH="1" flipV="1">
            <a:off x="5787413" y="3817829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Buet forbindelse 29">
            <a:extLst>
              <a:ext uri="{FF2B5EF4-FFF2-40B4-BE49-F238E27FC236}">
                <a16:creationId xmlns:a16="http://schemas.microsoft.com/office/drawing/2014/main" id="{F65B4678-FD8D-49F3-92A0-4F5C0C88AA52}"/>
              </a:ext>
            </a:extLst>
          </p:cNvPr>
          <p:cNvCxnSpPr>
            <a:cxnSpLocks/>
            <a:stCxn id="16" idx="4"/>
            <a:endCxn id="14" idx="4"/>
          </p:cNvCxnSpPr>
          <p:nvPr/>
        </p:nvCxnSpPr>
        <p:spPr>
          <a:xfrm rot="5400000" flipH="1">
            <a:off x="5950280" y="4522213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1C3BEE2F-2EEA-9C21-7B2A-A5AE8E9E3786}"/>
                  </a:ext>
                </a:extLst>
              </p:cNvPr>
              <p:cNvSpPr txBox="1"/>
              <p:nvPr/>
            </p:nvSpPr>
            <p:spPr>
              <a:xfrm>
                <a:off x="1258103" y="5896739"/>
                <a:ext cx="15553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1C3BEE2F-2EEA-9C21-7B2A-A5AE8E9E3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03" y="5896739"/>
                <a:ext cx="1555362" cy="369332"/>
              </a:xfrm>
              <a:prstGeom prst="rect">
                <a:avLst/>
              </a:prstGeom>
              <a:blipFill>
                <a:blip r:embed="rId2"/>
                <a:stretch>
                  <a:fillRect l="-2419" t="-666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A537C60D-282D-2E3B-36CB-E50517423F94}"/>
              </a:ext>
            </a:extLst>
          </p:cNvPr>
          <p:cNvCxnSpPr>
            <a:cxnSpLocks/>
          </p:cNvCxnSpPr>
          <p:nvPr/>
        </p:nvCxnSpPr>
        <p:spPr>
          <a:xfrm>
            <a:off x="4004836" y="4708937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ktangel 32">
            <a:extLst>
              <a:ext uri="{FF2B5EF4-FFF2-40B4-BE49-F238E27FC236}">
                <a16:creationId xmlns:a16="http://schemas.microsoft.com/office/drawing/2014/main" id="{5B3A6E93-7B25-DEA3-E6D4-692A7FFB0E40}"/>
              </a:ext>
            </a:extLst>
          </p:cNvPr>
          <p:cNvSpPr/>
          <p:nvPr/>
        </p:nvSpPr>
        <p:spPr>
          <a:xfrm>
            <a:off x="5182376" y="368852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8F88AD0-06D3-F569-B30D-E00453042761}"/>
              </a:ext>
            </a:extLst>
          </p:cNvPr>
          <p:cNvSpPr/>
          <p:nvPr/>
        </p:nvSpPr>
        <p:spPr>
          <a:xfrm>
            <a:off x="5182376" y="3893151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5" name="Rektangel 34">
            <a:extLst>
              <a:ext uri="{FF2B5EF4-FFF2-40B4-BE49-F238E27FC236}">
                <a16:creationId xmlns:a16="http://schemas.microsoft.com/office/drawing/2014/main" id="{CB5C294B-9FD2-91B8-06AA-577FE23E98A7}"/>
              </a:ext>
            </a:extLst>
          </p:cNvPr>
          <p:cNvSpPr/>
          <p:nvPr/>
        </p:nvSpPr>
        <p:spPr>
          <a:xfrm>
            <a:off x="5181462" y="4096241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840C5006-CAE4-6C5D-CC0F-78DC4B16864D}"/>
              </a:ext>
            </a:extLst>
          </p:cNvPr>
          <p:cNvSpPr/>
          <p:nvPr/>
        </p:nvSpPr>
        <p:spPr>
          <a:xfrm>
            <a:off x="6844574" y="3429684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37" name="Rektangel 36">
            <a:extLst>
              <a:ext uri="{FF2B5EF4-FFF2-40B4-BE49-F238E27FC236}">
                <a16:creationId xmlns:a16="http://schemas.microsoft.com/office/drawing/2014/main" id="{B81B56F8-20EE-E34A-BE0E-F693D69F8397}"/>
              </a:ext>
            </a:extLst>
          </p:cNvPr>
          <p:cNvSpPr/>
          <p:nvPr/>
        </p:nvSpPr>
        <p:spPr>
          <a:xfrm>
            <a:off x="6844574" y="322659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27DE0419-B102-7676-B2C6-E08CBEC2F25D}"/>
              </a:ext>
            </a:extLst>
          </p:cNvPr>
          <p:cNvSpPr/>
          <p:nvPr/>
        </p:nvSpPr>
        <p:spPr>
          <a:xfrm>
            <a:off x="6844574" y="3610350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CDE56A80-3265-93AC-25A9-55A0973052D6}"/>
              </a:ext>
            </a:extLst>
          </p:cNvPr>
          <p:cNvCxnSpPr>
            <a:cxnSpLocks/>
          </p:cNvCxnSpPr>
          <p:nvPr/>
        </p:nvCxnSpPr>
        <p:spPr>
          <a:xfrm>
            <a:off x="8226574" y="4778005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obbeltparentes 39">
            <a:extLst>
              <a:ext uri="{FF2B5EF4-FFF2-40B4-BE49-F238E27FC236}">
                <a16:creationId xmlns:a16="http://schemas.microsoft.com/office/drawing/2014/main" id="{FA8C4213-3EA7-6149-60FA-732648AD49F6}"/>
              </a:ext>
            </a:extLst>
          </p:cNvPr>
          <p:cNvSpPr/>
          <p:nvPr/>
        </p:nvSpPr>
        <p:spPr>
          <a:xfrm>
            <a:off x="5062252" y="3610350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Dobbeltparentes 40">
            <a:extLst>
              <a:ext uri="{FF2B5EF4-FFF2-40B4-BE49-F238E27FC236}">
                <a16:creationId xmlns:a16="http://schemas.microsoft.com/office/drawing/2014/main" id="{7A597617-AF33-9294-D056-A5CDEFBE8DCD}"/>
              </a:ext>
            </a:extLst>
          </p:cNvPr>
          <p:cNvSpPr/>
          <p:nvPr/>
        </p:nvSpPr>
        <p:spPr>
          <a:xfrm>
            <a:off x="6715213" y="3139234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8220B550-6BE6-43EB-780B-E8DE7E86E0E4}"/>
              </a:ext>
            </a:extLst>
          </p:cNvPr>
          <p:cNvSpPr txBox="1"/>
          <p:nvPr/>
        </p:nvSpPr>
        <p:spPr>
          <a:xfrm>
            <a:off x="4402746" y="377685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latin typeface="Cambria Math" panose="02040503050406030204" pitchFamily="18" charset="0"/>
                <a:ea typeface="Cambria Math" panose="02040503050406030204" pitchFamily="18" charset="0"/>
              </a:rPr>
              <a:t>MLP</a:t>
            </a:r>
          </a:p>
        </p:txBody>
      </p:sp>
      <p:sp>
        <p:nvSpPr>
          <p:cNvPr id="43" name="Tekstfelt 42">
            <a:extLst>
              <a:ext uri="{FF2B5EF4-FFF2-40B4-BE49-F238E27FC236}">
                <a16:creationId xmlns:a16="http://schemas.microsoft.com/office/drawing/2014/main" id="{DE95CD95-0439-2B91-EF00-F86FCDAF426A}"/>
              </a:ext>
            </a:extLst>
          </p:cNvPr>
          <p:cNvSpPr txBox="1"/>
          <p:nvPr/>
        </p:nvSpPr>
        <p:spPr>
          <a:xfrm>
            <a:off x="6107857" y="330182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latin typeface="Cambria Math" panose="02040503050406030204" pitchFamily="18" charset="0"/>
                <a:ea typeface="Cambria Math" panose="02040503050406030204" pitchFamily="18" charset="0"/>
              </a:rPr>
              <a:t>MLP</a:t>
            </a:r>
          </a:p>
        </p:txBody>
      </p:sp>
      <p:sp>
        <p:nvSpPr>
          <p:cNvPr id="44" name="Tekstfelt 43">
            <a:extLst>
              <a:ext uri="{FF2B5EF4-FFF2-40B4-BE49-F238E27FC236}">
                <a16:creationId xmlns:a16="http://schemas.microsoft.com/office/drawing/2014/main" id="{47CFEE32-13E1-DE77-3CF1-7E1516C8E4C3}"/>
              </a:ext>
            </a:extLst>
          </p:cNvPr>
          <p:cNvSpPr txBox="1"/>
          <p:nvPr/>
        </p:nvSpPr>
        <p:spPr>
          <a:xfrm>
            <a:off x="4620761" y="5846544"/>
            <a:ext cx="418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Do message </a:t>
            </a:r>
            <a:r>
              <a:rPr lang="da-DK" dirty="0" err="1"/>
              <a:t>passing</a:t>
            </a:r>
            <a:r>
              <a:rPr lang="da-DK" dirty="0"/>
              <a:t> and </a:t>
            </a:r>
            <a:r>
              <a:rPr lang="da-DK" dirty="0" err="1"/>
              <a:t>finally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MLP</a:t>
            </a:r>
            <a:br>
              <a:rPr lang="da-DK" dirty="0"/>
            </a:br>
            <a:r>
              <a:rPr lang="da-DK" dirty="0"/>
              <a:t>to </a:t>
            </a:r>
            <a:r>
              <a:rPr lang="da-DK" dirty="0" err="1"/>
              <a:t>predict</a:t>
            </a:r>
            <a:r>
              <a:rPr lang="da-DK" dirty="0"/>
              <a:t> rate of </a:t>
            </a:r>
            <a:r>
              <a:rPr lang="da-DK" dirty="0" err="1"/>
              <a:t>i’th</a:t>
            </a:r>
            <a:r>
              <a:rPr lang="da-DK" dirty="0"/>
              <a:t> atom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kstfelt 44">
                <a:extLst>
                  <a:ext uri="{FF2B5EF4-FFF2-40B4-BE49-F238E27FC236}">
                    <a16:creationId xmlns:a16="http://schemas.microsoft.com/office/drawing/2014/main" id="{D3243892-D72B-0E02-C13D-2AD8092BE8CF}"/>
                  </a:ext>
                </a:extLst>
              </p:cNvPr>
              <p:cNvSpPr txBox="1"/>
              <p:nvPr/>
            </p:nvSpPr>
            <p:spPr>
              <a:xfrm>
                <a:off x="5651003" y="3298027"/>
                <a:ext cx="6266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5" name="Tekstfelt 44">
                <a:extLst>
                  <a:ext uri="{FF2B5EF4-FFF2-40B4-BE49-F238E27FC236}">
                    <a16:creationId xmlns:a16="http://schemas.microsoft.com/office/drawing/2014/main" id="{D3243892-D72B-0E02-C13D-2AD8092BE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003" y="3298027"/>
                <a:ext cx="6266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kstfelt 45">
                <a:extLst>
                  <a:ext uri="{FF2B5EF4-FFF2-40B4-BE49-F238E27FC236}">
                    <a16:creationId xmlns:a16="http://schemas.microsoft.com/office/drawing/2014/main" id="{C859F6E4-FAB1-A07E-8113-4F6EF4585A5B}"/>
                  </a:ext>
                </a:extLst>
              </p:cNvPr>
              <p:cNvSpPr txBox="1"/>
              <p:nvPr/>
            </p:nvSpPr>
            <p:spPr>
              <a:xfrm>
                <a:off x="9184442" y="4342373"/>
                <a:ext cx="1189428" cy="87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6" name="Tekstfelt 45">
                <a:extLst>
                  <a:ext uri="{FF2B5EF4-FFF2-40B4-BE49-F238E27FC236}">
                    <a16:creationId xmlns:a16="http://schemas.microsoft.com/office/drawing/2014/main" id="{C859F6E4-FAB1-A07E-8113-4F6EF4585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42" y="4342373"/>
                <a:ext cx="1189428" cy="871264"/>
              </a:xfrm>
              <a:prstGeom prst="rect">
                <a:avLst/>
              </a:prstGeom>
              <a:blipFill>
                <a:blip r:embed="rId4"/>
                <a:stretch>
                  <a:fillRect l="-25532" t="-92857" r="-21277" b="-148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kstfelt 46">
                <a:extLst>
                  <a:ext uri="{FF2B5EF4-FFF2-40B4-BE49-F238E27FC236}">
                    <a16:creationId xmlns:a16="http://schemas.microsoft.com/office/drawing/2014/main" id="{97123939-9A49-5324-F614-BFF3408C7333}"/>
                  </a:ext>
                </a:extLst>
              </p:cNvPr>
              <p:cNvSpPr txBox="1"/>
              <p:nvPr/>
            </p:nvSpPr>
            <p:spPr>
              <a:xfrm>
                <a:off x="3947372" y="3766113"/>
                <a:ext cx="6266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7" name="Tekstfelt 46">
                <a:extLst>
                  <a:ext uri="{FF2B5EF4-FFF2-40B4-BE49-F238E27FC236}">
                    <a16:creationId xmlns:a16="http://schemas.microsoft.com/office/drawing/2014/main" id="{97123939-9A49-5324-F614-BFF3408C7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372" y="3766113"/>
                <a:ext cx="6266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kstfelt 47">
            <a:extLst>
              <a:ext uri="{FF2B5EF4-FFF2-40B4-BE49-F238E27FC236}">
                <a16:creationId xmlns:a16="http://schemas.microsoft.com/office/drawing/2014/main" id="{4FB829B3-D8F2-F087-D3A9-877B3C9B6880}"/>
              </a:ext>
            </a:extLst>
          </p:cNvPr>
          <p:cNvSpPr txBox="1"/>
          <p:nvPr/>
        </p:nvSpPr>
        <p:spPr>
          <a:xfrm>
            <a:off x="9286572" y="5846064"/>
            <a:ext cx="2377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Sum the </a:t>
            </a:r>
            <a:r>
              <a:rPr lang="da-DK" dirty="0" err="1"/>
              <a:t>individual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rates to </a:t>
            </a:r>
            <a:r>
              <a:rPr lang="da-DK" dirty="0" err="1"/>
              <a:t>get</a:t>
            </a:r>
            <a:r>
              <a:rPr lang="da-DK" dirty="0"/>
              <a:t> global rate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0986E0DA-F9B3-BD78-D3FA-CF7164F726FE}"/>
              </a:ext>
            </a:extLst>
          </p:cNvPr>
          <p:cNvSpPr/>
          <p:nvPr/>
        </p:nvSpPr>
        <p:spPr>
          <a:xfrm>
            <a:off x="921798" y="44471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800AA300-3ECF-168E-2A0E-4B703B41FFF4}"/>
              </a:ext>
            </a:extLst>
          </p:cNvPr>
          <p:cNvSpPr/>
          <p:nvPr/>
        </p:nvSpPr>
        <p:spPr>
          <a:xfrm rot="18910962">
            <a:off x="2083324" y="381792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5B78D953-125E-AC87-8B39-2F6C651F6A2F}"/>
              </a:ext>
            </a:extLst>
          </p:cNvPr>
          <p:cNvSpPr/>
          <p:nvPr/>
        </p:nvSpPr>
        <p:spPr>
          <a:xfrm rot="915767">
            <a:off x="2055833" y="4669823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DB57DE0-5035-4FBD-0D84-71F48F6570E6}"/>
              </a:ext>
            </a:extLst>
          </p:cNvPr>
          <p:cNvSpPr/>
          <p:nvPr/>
        </p:nvSpPr>
        <p:spPr>
          <a:xfrm rot="20911658">
            <a:off x="2970233" y="515231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C5E2D39-0701-5407-F745-3822E591FCC1}"/>
              </a:ext>
            </a:extLst>
          </p:cNvPr>
          <p:cNvSpPr/>
          <p:nvPr/>
        </p:nvSpPr>
        <p:spPr>
          <a:xfrm rot="20573567">
            <a:off x="3330168" y="3694015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68" name="Lige forbindelse 67">
            <a:extLst>
              <a:ext uri="{FF2B5EF4-FFF2-40B4-BE49-F238E27FC236}">
                <a16:creationId xmlns:a16="http://schemas.microsoft.com/office/drawing/2014/main" id="{FA84F404-9542-5572-D01E-D02EF9200E50}"/>
              </a:ext>
            </a:extLst>
          </p:cNvPr>
          <p:cNvCxnSpPr>
            <a:stCxn id="63" idx="7"/>
            <a:endCxn id="64" idx="2"/>
          </p:cNvCxnSpPr>
          <p:nvPr/>
        </p:nvCxnSpPr>
        <p:spPr>
          <a:xfrm flipV="1">
            <a:off x="1326836" y="4222427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ge forbindelse 68">
            <a:extLst>
              <a:ext uri="{FF2B5EF4-FFF2-40B4-BE49-F238E27FC236}">
                <a16:creationId xmlns:a16="http://schemas.microsoft.com/office/drawing/2014/main" id="{0004E0D1-8D75-0ADC-F55A-FBC74D76B6D9}"/>
              </a:ext>
            </a:extLst>
          </p:cNvPr>
          <p:cNvCxnSpPr>
            <a:cxnSpLocks/>
            <a:stCxn id="63" idx="6"/>
            <a:endCxn id="65" idx="2"/>
          </p:cNvCxnSpPr>
          <p:nvPr/>
        </p:nvCxnSpPr>
        <p:spPr>
          <a:xfrm>
            <a:off x="1396329" y="4684420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B9F492C1-F137-CB7F-B8E3-ACEBA9F265D1}"/>
              </a:ext>
            </a:extLst>
          </p:cNvPr>
          <p:cNvCxnSpPr>
            <a:cxnSpLocks/>
            <a:stCxn id="64" idx="3"/>
            <a:endCxn id="65" idx="0"/>
          </p:cNvCxnSpPr>
          <p:nvPr/>
        </p:nvCxnSpPr>
        <p:spPr>
          <a:xfrm>
            <a:off x="2319833" y="4292455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AC56DF16-EAB9-A042-078D-53B05F7F85D1}"/>
              </a:ext>
            </a:extLst>
          </p:cNvPr>
          <p:cNvCxnSpPr>
            <a:cxnSpLocks/>
            <a:stCxn id="67" idx="2"/>
            <a:endCxn id="64" idx="5"/>
          </p:cNvCxnSpPr>
          <p:nvPr/>
        </p:nvCxnSpPr>
        <p:spPr>
          <a:xfrm flipH="1">
            <a:off x="2557854" y="4001075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FFA7A2AD-A635-4DAE-3EBF-B31E1E5F7827}"/>
              </a:ext>
            </a:extLst>
          </p:cNvPr>
          <p:cNvCxnSpPr>
            <a:cxnSpLocks/>
            <a:stCxn id="66" idx="1"/>
            <a:endCxn id="65" idx="6"/>
          </p:cNvCxnSpPr>
          <p:nvPr/>
        </p:nvCxnSpPr>
        <p:spPr>
          <a:xfrm flipH="1" flipV="1">
            <a:off x="2521995" y="4969548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kstfelt 72">
                <a:extLst>
                  <a:ext uri="{FF2B5EF4-FFF2-40B4-BE49-F238E27FC236}">
                    <a16:creationId xmlns:a16="http://schemas.microsoft.com/office/drawing/2014/main" id="{B68D1635-9059-6EC6-5CE7-3D1649223B64}"/>
                  </a:ext>
                </a:extLst>
              </p:cNvPr>
              <p:cNvSpPr txBox="1"/>
              <p:nvPr/>
            </p:nvSpPr>
            <p:spPr>
              <a:xfrm>
                <a:off x="1295709" y="3127678"/>
                <a:ext cx="1494383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3" name="Tekstfelt 72">
                <a:extLst>
                  <a:ext uri="{FF2B5EF4-FFF2-40B4-BE49-F238E27FC236}">
                    <a16:creationId xmlns:a16="http://schemas.microsoft.com/office/drawing/2014/main" id="{B68D1635-9059-6EC6-5CE7-3D164922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709" y="3127678"/>
                <a:ext cx="1494383" cy="467500"/>
              </a:xfrm>
              <a:prstGeom prst="rect">
                <a:avLst/>
              </a:prstGeom>
              <a:blipFill>
                <a:blip r:embed="rId6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kstfelt 73">
                <a:extLst>
                  <a:ext uri="{FF2B5EF4-FFF2-40B4-BE49-F238E27FC236}">
                    <a16:creationId xmlns:a16="http://schemas.microsoft.com/office/drawing/2014/main" id="{0E4E7D8D-23BD-1E2B-7605-5153EB6929AB}"/>
                  </a:ext>
                </a:extLst>
              </p:cNvPr>
              <p:cNvSpPr txBox="1"/>
              <p:nvPr/>
            </p:nvSpPr>
            <p:spPr>
              <a:xfrm>
                <a:off x="38652" y="3856634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4" name="Tekstfelt 73">
                <a:extLst>
                  <a:ext uri="{FF2B5EF4-FFF2-40B4-BE49-F238E27FC236}">
                    <a16:creationId xmlns:a16="http://schemas.microsoft.com/office/drawing/2014/main" id="{0E4E7D8D-23BD-1E2B-7605-5153EB692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2" y="3856634"/>
                <a:ext cx="1494383" cy="467564"/>
              </a:xfrm>
              <a:prstGeom prst="rect">
                <a:avLst/>
              </a:prstGeom>
              <a:blipFill>
                <a:blip r:embed="rId7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kstfelt 74">
                <a:extLst>
                  <a:ext uri="{FF2B5EF4-FFF2-40B4-BE49-F238E27FC236}">
                    <a16:creationId xmlns:a16="http://schemas.microsoft.com/office/drawing/2014/main" id="{AFCBD7B9-EE2C-5427-D399-3CFA810C8358}"/>
                  </a:ext>
                </a:extLst>
              </p:cNvPr>
              <p:cNvSpPr txBox="1"/>
              <p:nvPr/>
            </p:nvSpPr>
            <p:spPr>
              <a:xfrm>
                <a:off x="3163882" y="3066150"/>
                <a:ext cx="154850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5" name="Tekstfelt 74">
                <a:extLst>
                  <a:ext uri="{FF2B5EF4-FFF2-40B4-BE49-F238E27FC236}">
                    <a16:creationId xmlns:a16="http://schemas.microsoft.com/office/drawing/2014/main" id="{AFCBD7B9-EE2C-5427-D399-3CFA810C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882" y="3066150"/>
                <a:ext cx="1548501" cy="467564"/>
              </a:xfrm>
              <a:prstGeom prst="rect">
                <a:avLst/>
              </a:prstGeom>
              <a:blipFill>
                <a:blip r:embed="rId8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98319F70-2A58-A344-9903-E2B58B89C98F}"/>
                  </a:ext>
                </a:extLst>
              </p:cNvPr>
              <p:cNvSpPr txBox="1"/>
              <p:nvPr/>
            </p:nvSpPr>
            <p:spPr>
              <a:xfrm>
                <a:off x="840054" y="5139837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98319F70-2A58-A344-9903-E2B58B89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4" y="5139837"/>
                <a:ext cx="1494383" cy="467564"/>
              </a:xfrm>
              <a:prstGeom prst="rect">
                <a:avLst/>
              </a:prstGeom>
              <a:blipFill>
                <a:blip r:embed="rId9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467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A1E39-0C31-B72D-DA98-5D22455C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p:pic>
        <p:nvPicPr>
          <p:cNvPr id="5" name="Pladsholder til indhold 4" descr="Et billede, der indeholder tekst, skærmbillede, diagram, linje/række&#10;&#10;AI-genereret indhold kan være ukorrekt.">
            <a:extLst>
              <a:ext uri="{FF2B5EF4-FFF2-40B4-BE49-F238E27FC236}">
                <a16:creationId xmlns:a16="http://schemas.microsoft.com/office/drawing/2014/main" id="{CFBB0A2C-6990-E3C2-80F9-AC3B8AE4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1437" y="1401249"/>
            <a:ext cx="6540563" cy="4905422"/>
          </a:xfrm>
        </p:spPr>
      </p:pic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C5496FB7-A201-36C9-A760-1FC921F1CC5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This </a:t>
            </a:r>
            <a:r>
              <a:rPr lang="da-DK" dirty="0" err="1"/>
              <a:t>works</a:t>
            </a:r>
            <a:r>
              <a:rPr lang="da-DK" dirty="0"/>
              <a:t>!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113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BED27-60A9-C159-503D-35DEBA94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9C2B21-85B1-C65D-038C-3F5446911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So it is </a:t>
            </a:r>
            <a:r>
              <a:rPr lang="da-DK" dirty="0" err="1"/>
              <a:t>possible</a:t>
            </a:r>
            <a:r>
              <a:rPr lang="da-DK" dirty="0"/>
              <a:t> to </a:t>
            </a:r>
            <a:r>
              <a:rPr lang="da-DK" dirty="0" err="1"/>
              <a:t>distinguish</a:t>
            </a:r>
            <a:r>
              <a:rPr lang="da-DK" dirty="0"/>
              <a:t> the </a:t>
            </a:r>
            <a:r>
              <a:rPr lang="da-DK" dirty="0" err="1"/>
              <a:t>structures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the GNN</a:t>
            </a:r>
          </a:p>
          <a:p>
            <a:pPr lvl="1"/>
            <a:r>
              <a:rPr lang="da-DK" dirty="0"/>
              <a:t>Main difference </a:t>
            </a:r>
            <a:r>
              <a:rPr lang="da-DK" dirty="0" err="1"/>
              <a:t>here</a:t>
            </a:r>
            <a:r>
              <a:rPr lang="da-DK" dirty="0"/>
              <a:t> is the ”global </a:t>
            </a:r>
            <a:r>
              <a:rPr lang="da-DK" dirty="0" err="1"/>
              <a:t>pooling</a:t>
            </a:r>
            <a:r>
              <a:rPr lang="da-DK" dirty="0"/>
              <a:t>” at the end</a:t>
            </a:r>
          </a:p>
          <a:p>
            <a:pPr lvl="2"/>
            <a:r>
              <a:rPr lang="da-DK" dirty="0" err="1"/>
              <a:t>Allows</a:t>
            </a:r>
            <a:r>
              <a:rPr lang="da-DK" dirty="0"/>
              <a:t> all atoms to ”</a:t>
            </a:r>
            <a:r>
              <a:rPr lang="da-DK" dirty="0" err="1"/>
              <a:t>attend</a:t>
            </a:r>
            <a:r>
              <a:rPr lang="da-DK" dirty="0"/>
              <a:t>” to </a:t>
            </a:r>
            <a:r>
              <a:rPr lang="da-DK" dirty="0" err="1"/>
              <a:t>property</a:t>
            </a:r>
            <a:endParaRPr lang="da-DK" dirty="0"/>
          </a:p>
          <a:p>
            <a:pPr lvl="2"/>
            <a:endParaRPr lang="da-DK" dirty="0"/>
          </a:p>
          <a:p>
            <a:pPr marL="914400" lvl="2" indent="0">
              <a:buNone/>
            </a:pPr>
            <a:endParaRPr lang="da-DK" dirty="0"/>
          </a:p>
          <a:p>
            <a:pPr marL="914400" lvl="2" indent="0">
              <a:buNone/>
            </a:pPr>
            <a:endParaRPr lang="da-DK" dirty="0"/>
          </a:p>
          <a:p>
            <a:pPr lvl="1"/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 </a:t>
            </a:r>
            <a:r>
              <a:rPr lang="da-DK" dirty="0" err="1"/>
              <a:t>added</a:t>
            </a:r>
            <a:r>
              <a:rPr lang="da-DK" dirty="0"/>
              <a:t> </a:t>
            </a:r>
            <a:r>
              <a:rPr lang="da-DK" dirty="0" err="1"/>
              <a:t>similar</a:t>
            </a:r>
            <a:r>
              <a:rPr lang="da-DK" dirty="0"/>
              <a:t> </a:t>
            </a:r>
            <a:r>
              <a:rPr lang="da-DK" dirty="0" err="1"/>
              <a:t>thing</a:t>
            </a:r>
            <a:r>
              <a:rPr lang="da-DK" dirty="0"/>
              <a:t> to </a:t>
            </a:r>
            <a:r>
              <a:rPr lang="da-DK" dirty="0" err="1"/>
              <a:t>my</a:t>
            </a:r>
            <a:r>
              <a:rPr lang="da-DK" dirty="0"/>
              <a:t> diffusion model?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56FD0C29-65FE-54BA-ABE7-FCCCC246E958}"/>
                  </a:ext>
                </a:extLst>
              </p:cNvPr>
              <p:cNvSpPr txBox="1"/>
              <p:nvPr/>
            </p:nvSpPr>
            <p:spPr>
              <a:xfrm>
                <a:off x="4050056" y="2993368"/>
                <a:ext cx="1189428" cy="87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56FD0C29-65FE-54BA-ABE7-FCCCC246E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056" y="2993368"/>
                <a:ext cx="1189428" cy="871264"/>
              </a:xfrm>
              <a:prstGeom prst="rect">
                <a:avLst/>
              </a:prstGeom>
              <a:blipFill>
                <a:blip r:embed="rId2"/>
                <a:stretch>
                  <a:fillRect l="-24211" t="-94286" r="-21053" b="-148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08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0B274-5B8F-E35A-EAC7-A1537DB5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CDFA8-71E3-1208-62CD-EFE22903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3FBBC27-B651-7567-CDBA-71145D57F5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How I </a:t>
                </a:r>
                <a:r>
                  <a:rPr lang="da-DK" dirty="0" err="1"/>
                  <a:t>initially</a:t>
                </a:r>
                <a:r>
                  <a:rPr lang="da-DK" dirty="0"/>
                  <a:t> </a:t>
                </a:r>
                <a:r>
                  <a:rPr lang="da-DK" dirty="0" err="1"/>
                  <a:t>attempted</a:t>
                </a:r>
                <a:r>
                  <a:rPr lang="da-DK" dirty="0"/>
                  <a:t> the </a:t>
                </a:r>
                <a:r>
                  <a:rPr lang="da-DK" dirty="0" err="1"/>
                  <a:t>pooling</a:t>
                </a:r>
                <a:r>
                  <a:rPr lang="da-DK" dirty="0"/>
                  <a:t>.</a:t>
                </a:r>
              </a:p>
              <a:p>
                <a:pPr lvl="1"/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as </a:t>
                </a:r>
                <a:r>
                  <a:rPr lang="da-DK" dirty="0" err="1"/>
                  <a:t>before</a:t>
                </a:r>
                <a:r>
                  <a:rPr lang="da-DK" dirty="0"/>
                  <a:t> for </a:t>
                </a:r>
                <a14:m>
                  <m:oMath xmlns:m="http://schemas.openxmlformats.org/officeDocument/2006/math">
                    <m:r>
                      <a:rPr lang="da-DK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a-DK" dirty="0"/>
                  <a:t> iterations</a:t>
                </a:r>
              </a:p>
              <a:p>
                <a:pPr lvl="1"/>
                <a:endParaRPr lang="da-DK" dirty="0"/>
              </a:p>
              <a:p>
                <a:pPr lvl="1"/>
                <a:endParaRPr lang="da-DK" dirty="0"/>
              </a:p>
              <a:p>
                <a:pPr lvl="1"/>
                <a:r>
                  <a:rPr lang="da-DK" dirty="0"/>
                  <a:t>Pool by </a:t>
                </a:r>
                <a:r>
                  <a:rPr lang="da-DK" dirty="0" err="1"/>
                  <a:t>mean</a:t>
                </a:r>
                <a:r>
                  <a:rPr lang="da-DK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𝑔𝑙𝑜𝑏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da-DK" dirty="0"/>
              </a:p>
              <a:p>
                <a:pPr lvl="1"/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3FBBC27-B651-7567-CDBA-71145D57F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4162CA88-7565-D49A-28A6-AC4A67671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00" y="1758448"/>
            <a:ext cx="4303284" cy="917762"/>
          </a:xfrm>
          <a:prstGeom prst="rect">
            <a:avLst/>
          </a:prstGeom>
        </p:spPr>
      </p:pic>
      <p:sp>
        <p:nvSpPr>
          <p:cNvPr id="42" name="Ellipse 41">
            <a:extLst>
              <a:ext uri="{FF2B5EF4-FFF2-40B4-BE49-F238E27FC236}">
                <a16:creationId xmlns:a16="http://schemas.microsoft.com/office/drawing/2014/main" id="{A00A9304-3594-A035-D52C-96E27D55055F}"/>
              </a:ext>
            </a:extLst>
          </p:cNvPr>
          <p:cNvSpPr/>
          <p:nvPr/>
        </p:nvSpPr>
        <p:spPr>
          <a:xfrm>
            <a:off x="4894708" y="496958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280D6C3-782A-2DD4-B961-95F0C6B9292C}"/>
              </a:ext>
            </a:extLst>
          </p:cNvPr>
          <p:cNvSpPr/>
          <p:nvPr/>
        </p:nvSpPr>
        <p:spPr>
          <a:xfrm rot="18910962">
            <a:off x="6056234" y="43403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71D7E41-B5AA-1DED-3D13-11296CCD5785}"/>
              </a:ext>
            </a:extLst>
          </p:cNvPr>
          <p:cNvSpPr/>
          <p:nvPr/>
        </p:nvSpPr>
        <p:spPr>
          <a:xfrm rot="915767">
            <a:off x="6028743" y="519225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5A6C6FE-E480-70B6-4965-B3450608BD44}"/>
              </a:ext>
            </a:extLst>
          </p:cNvPr>
          <p:cNvSpPr/>
          <p:nvPr/>
        </p:nvSpPr>
        <p:spPr>
          <a:xfrm rot="20911658">
            <a:off x="6943143" y="567474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38CD4547-241B-CC62-3822-C9FAD6281483}"/>
              </a:ext>
            </a:extLst>
          </p:cNvPr>
          <p:cNvSpPr/>
          <p:nvPr/>
        </p:nvSpPr>
        <p:spPr>
          <a:xfrm rot="20573567">
            <a:off x="7303078" y="4216444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F73AB2B6-A1B2-28EF-237B-202023A06179}"/>
              </a:ext>
            </a:extLst>
          </p:cNvPr>
          <p:cNvCxnSpPr>
            <a:stCxn id="42" idx="7"/>
            <a:endCxn id="43" idx="2"/>
          </p:cNvCxnSpPr>
          <p:nvPr/>
        </p:nvCxnSpPr>
        <p:spPr>
          <a:xfrm flipV="1">
            <a:off x="5299746" y="4744856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7C33638D-B5B5-5F6C-663F-9C99AD44B9A9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369239" y="5206849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94905109-16F8-D50E-4CBE-8D8AF00EB2BC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6292743" y="4814884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99D87772-0851-9112-66DC-870C57D79073}"/>
              </a:ext>
            </a:extLst>
          </p:cNvPr>
          <p:cNvCxnSpPr>
            <a:cxnSpLocks/>
            <a:stCxn id="46" idx="2"/>
            <a:endCxn id="43" idx="5"/>
          </p:cNvCxnSpPr>
          <p:nvPr/>
        </p:nvCxnSpPr>
        <p:spPr>
          <a:xfrm flipH="1">
            <a:off x="6530764" y="4523504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B32E680F-6655-35A4-1F84-3234D1280780}"/>
              </a:ext>
            </a:extLst>
          </p:cNvPr>
          <p:cNvCxnSpPr>
            <a:cxnSpLocks/>
            <a:stCxn id="45" idx="1"/>
            <a:endCxn id="44" idx="6"/>
          </p:cNvCxnSpPr>
          <p:nvPr/>
        </p:nvCxnSpPr>
        <p:spPr>
          <a:xfrm flipH="1" flipV="1">
            <a:off x="6494905" y="5491977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Buet forbindelse 68">
            <a:extLst>
              <a:ext uri="{FF2B5EF4-FFF2-40B4-BE49-F238E27FC236}">
                <a16:creationId xmlns:a16="http://schemas.microsoft.com/office/drawing/2014/main" id="{5C2ECA69-9A27-6115-A40D-7A110539BEE2}"/>
              </a:ext>
            </a:extLst>
          </p:cNvPr>
          <p:cNvCxnSpPr>
            <a:cxnSpLocks/>
            <a:stCxn id="43" idx="1"/>
            <a:endCxn id="42" idx="0"/>
          </p:cNvCxnSpPr>
          <p:nvPr/>
        </p:nvCxnSpPr>
        <p:spPr>
          <a:xfrm rot="16200000" flipH="1" flipV="1">
            <a:off x="5397745" y="4311092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uet forbindelse 70">
            <a:extLst>
              <a:ext uri="{FF2B5EF4-FFF2-40B4-BE49-F238E27FC236}">
                <a16:creationId xmlns:a16="http://schemas.microsoft.com/office/drawing/2014/main" id="{B99D17EB-8C32-2325-A2D4-57FEC76297F1}"/>
              </a:ext>
            </a:extLst>
          </p:cNvPr>
          <p:cNvCxnSpPr>
            <a:cxnSpLocks/>
            <a:stCxn id="44" idx="4"/>
            <a:endCxn id="42" idx="4"/>
          </p:cNvCxnSpPr>
          <p:nvPr/>
        </p:nvCxnSpPr>
        <p:spPr>
          <a:xfrm rot="5400000" flipH="1">
            <a:off x="5560612" y="5015476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EAC0587E-607D-D39B-5BD0-846B8E724770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5EF3E40A-985F-3C47-DF00-A1F71385CDCA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795F74CD-C03D-56C8-FB01-DDFCD77969B2}"/>
                  </a:ext>
                </a:extLst>
              </p:cNvPr>
              <p:cNvSpPr txBox="1"/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N-times. At the </a:t>
                </a:r>
                <a:r>
                  <a:rPr lang="da-DK" dirty="0" err="1"/>
                  <a:t>very</a:t>
                </a:r>
                <a:r>
                  <a:rPr lang="da-DK" dirty="0"/>
                  <a:t> end </a:t>
                </a:r>
                <a:r>
                  <a:rPr lang="da-DK" dirty="0" err="1"/>
                  <a:t>apply</a:t>
                </a:r>
                <a:r>
                  <a:rPr lang="da-DK" dirty="0"/>
                  <a:t>  </a:t>
                </a:r>
                <a:r>
                  <a:rPr lang="da-DK" dirty="0" err="1"/>
                  <a:t>softmax</a:t>
                </a:r>
                <a:r>
                  <a:rPr lang="da-DK" dirty="0"/>
                  <a:t> , so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atom-wisely</a:t>
                </a:r>
              </a:p>
            </p:txBody>
          </p:sp>
        </mc:Choice>
        <mc:Fallback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795F74CD-C03D-56C8-FB01-DDFCD779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blipFill>
                <a:blip r:embed="rId10"/>
                <a:stretch>
                  <a:fillRect l="-952" t="-5769" b="-11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ktangel 83">
            <a:extLst>
              <a:ext uri="{FF2B5EF4-FFF2-40B4-BE49-F238E27FC236}">
                <a16:creationId xmlns:a16="http://schemas.microsoft.com/office/drawing/2014/main" id="{02223B39-8CCD-F353-460D-ECDF43A57E2E}"/>
              </a:ext>
            </a:extLst>
          </p:cNvPr>
          <p:cNvSpPr/>
          <p:nvPr/>
        </p:nvSpPr>
        <p:spPr>
          <a:xfrm>
            <a:off x="4792708" y="4181790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2F52B3F2-A693-8D41-C2B5-595B32BCEC42}"/>
              </a:ext>
            </a:extLst>
          </p:cNvPr>
          <p:cNvSpPr/>
          <p:nvPr/>
        </p:nvSpPr>
        <p:spPr>
          <a:xfrm>
            <a:off x="4792708" y="438641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96F20D79-EABD-30CF-B572-506D7460AAD4}"/>
              </a:ext>
            </a:extLst>
          </p:cNvPr>
          <p:cNvSpPr/>
          <p:nvPr/>
        </p:nvSpPr>
        <p:spPr>
          <a:xfrm>
            <a:off x="4791794" y="4589504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5F8B1052-C49A-31C9-D6E1-E38358254CF5}"/>
              </a:ext>
            </a:extLst>
          </p:cNvPr>
          <p:cNvSpPr/>
          <p:nvPr/>
        </p:nvSpPr>
        <p:spPr>
          <a:xfrm>
            <a:off x="6454906" y="392294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5C648853-C9AB-B761-9682-8B1EADDE17EB}"/>
              </a:ext>
            </a:extLst>
          </p:cNvPr>
          <p:cNvSpPr/>
          <p:nvPr/>
        </p:nvSpPr>
        <p:spPr>
          <a:xfrm>
            <a:off x="6454906" y="3719857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B8EB31E2-0867-2A24-C269-85B574B6C75C}"/>
              </a:ext>
            </a:extLst>
          </p:cNvPr>
          <p:cNvSpPr/>
          <p:nvPr/>
        </p:nvSpPr>
        <p:spPr>
          <a:xfrm>
            <a:off x="6454906" y="4103613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000E80D2-5D21-563B-A05A-939C0DB02F29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8B144FBF-ED32-67AC-33A9-5A68C37E9E93}"/>
                  </a:ext>
                </a:extLst>
              </p:cNvPr>
              <p:cNvSpPr txBox="1"/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blipFill>
                <a:blip r:embed="rId11"/>
                <a:stretch>
                  <a:fillRect l="-1105" t="-10000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e 95">
            <a:extLst>
              <a:ext uri="{FF2B5EF4-FFF2-40B4-BE49-F238E27FC236}">
                <a16:creationId xmlns:a16="http://schemas.microsoft.com/office/drawing/2014/main" id="{E5F480D9-6504-CC96-6041-D4DD704ECBB1}"/>
              </a:ext>
            </a:extLst>
          </p:cNvPr>
          <p:cNvSpPr/>
          <p:nvPr/>
        </p:nvSpPr>
        <p:spPr>
          <a:xfrm>
            <a:off x="8801209" y="4780406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826B7EEB-0BFA-6F0F-D9B6-E3031997BD46}"/>
              </a:ext>
            </a:extLst>
          </p:cNvPr>
          <p:cNvSpPr/>
          <p:nvPr/>
        </p:nvSpPr>
        <p:spPr>
          <a:xfrm rot="18910962">
            <a:off x="9962735" y="4151177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584502B8-723B-F305-F3CC-BB4B989E0B4D}"/>
              </a:ext>
            </a:extLst>
          </p:cNvPr>
          <p:cNvSpPr/>
          <p:nvPr/>
        </p:nvSpPr>
        <p:spPr>
          <a:xfrm rot="915767">
            <a:off x="9935244" y="5003075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9D36BABF-E74D-80CD-534C-81ABCA72B40D}"/>
              </a:ext>
            </a:extLst>
          </p:cNvPr>
          <p:cNvSpPr/>
          <p:nvPr/>
        </p:nvSpPr>
        <p:spPr>
          <a:xfrm rot="20911658">
            <a:off x="10849644" y="548556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E7AA5502-29D2-7B74-70E4-F327ECFAAF38}"/>
              </a:ext>
            </a:extLst>
          </p:cNvPr>
          <p:cNvSpPr/>
          <p:nvPr/>
        </p:nvSpPr>
        <p:spPr>
          <a:xfrm rot="20573567">
            <a:off x="11209579" y="402726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521EF62A-3473-9CEC-B677-835ABD496591}"/>
              </a:ext>
            </a:extLst>
          </p:cNvPr>
          <p:cNvCxnSpPr>
            <a:stCxn id="96" idx="7"/>
            <a:endCxn id="97" idx="2"/>
          </p:cNvCxnSpPr>
          <p:nvPr/>
        </p:nvCxnSpPr>
        <p:spPr>
          <a:xfrm flipV="1">
            <a:off x="9206247" y="4555679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56862C89-0414-E5B7-F6D2-FC9E3C6B04A6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>
            <a:off x="9275740" y="5017672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13B01077-9AEA-99F9-393E-1AAB991CC82E}"/>
              </a:ext>
            </a:extLst>
          </p:cNvPr>
          <p:cNvCxnSpPr>
            <a:cxnSpLocks/>
            <a:stCxn id="97" idx="3"/>
            <a:endCxn id="98" idx="0"/>
          </p:cNvCxnSpPr>
          <p:nvPr/>
        </p:nvCxnSpPr>
        <p:spPr>
          <a:xfrm>
            <a:off x="10199244" y="4625707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ge forbindelse 103">
            <a:extLst>
              <a:ext uri="{FF2B5EF4-FFF2-40B4-BE49-F238E27FC236}">
                <a16:creationId xmlns:a16="http://schemas.microsoft.com/office/drawing/2014/main" id="{54DD2327-D1F2-F14D-C43A-0B79F18118EC}"/>
              </a:ext>
            </a:extLst>
          </p:cNvPr>
          <p:cNvCxnSpPr>
            <a:cxnSpLocks/>
            <a:stCxn id="100" idx="2"/>
            <a:endCxn id="97" idx="5"/>
          </p:cNvCxnSpPr>
          <p:nvPr/>
        </p:nvCxnSpPr>
        <p:spPr>
          <a:xfrm flipH="1">
            <a:off x="10437265" y="4334327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329DE0EB-2BB6-41B4-C16A-D9EDB73E7664}"/>
              </a:ext>
            </a:extLst>
          </p:cNvPr>
          <p:cNvCxnSpPr>
            <a:cxnSpLocks/>
            <a:stCxn id="99" idx="1"/>
            <a:endCxn id="98" idx="6"/>
          </p:cNvCxnSpPr>
          <p:nvPr/>
        </p:nvCxnSpPr>
        <p:spPr>
          <a:xfrm flipH="1" flipV="1">
            <a:off x="10401406" y="5302800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602FDF62-A41C-7923-1957-070D543B5641}"/>
                  </a:ext>
                </a:extLst>
              </p:cNvPr>
              <p:cNvSpPr txBox="1"/>
              <p:nvPr/>
            </p:nvSpPr>
            <p:spPr>
              <a:xfrm>
                <a:off x="8397869" y="2996933"/>
                <a:ext cx="3048975" cy="553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𝑔𝑙𝑜𝑏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602FDF62-A41C-7923-1957-070D543B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869" y="2996933"/>
                <a:ext cx="3048975" cy="553549"/>
              </a:xfrm>
              <a:prstGeom prst="rect">
                <a:avLst/>
              </a:prstGeom>
              <a:blipFill>
                <a:blip r:embed="rId1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284F1654-1554-871A-BED9-433792E9861B}"/>
              </a:ext>
            </a:extLst>
          </p:cNvPr>
          <p:cNvCxnSpPr>
            <a:cxnSpLocks/>
          </p:cNvCxnSpPr>
          <p:nvPr/>
        </p:nvCxnSpPr>
        <p:spPr>
          <a:xfrm>
            <a:off x="9367520" y="3481893"/>
            <a:ext cx="574925" cy="699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5189293E-20E1-CB5C-7084-E4DB5E5E288F}"/>
              </a:ext>
            </a:extLst>
          </p:cNvPr>
          <p:cNvSpPr/>
          <p:nvPr/>
        </p:nvSpPr>
        <p:spPr>
          <a:xfrm>
            <a:off x="880103" y="490929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F8B73B6-75E2-D958-B831-4DB8CA370495}"/>
              </a:ext>
            </a:extLst>
          </p:cNvPr>
          <p:cNvSpPr/>
          <p:nvPr/>
        </p:nvSpPr>
        <p:spPr>
          <a:xfrm rot="18910962">
            <a:off x="2041629" y="4280066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CE353AD-2108-D939-0485-E07E72932201}"/>
              </a:ext>
            </a:extLst>
          </p:cNvPr>
          <p:cNvSpPr/>
          <p:nvPr/>
        </p:nvSpPr>
        <p:spPr>
          <a:xfrm rot="915767">
            <a:off x="2014138" y="5131964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809B3CF-E9EA-9022-5AE2-02B5B80C754C}"/>
              </a:ext>
            </a:extLst>
          </p:cNvPr>
          <p:cNvSpPr/>
          <p:nvPr/>
        </p:nvSpPr>
        <p:spPr>
          <a:xfrm rot="20911658">
            <a:off x="2928538" y="56144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A2DA141C-0CED-EBDF-5986-5B83CF055775}"/>
              </a:ext>
            </a:extLst>
          </p:cNvPr>
          <p:cNvSpPr/>
          <p:nvPr/>
        </p:nvSpPr>
        <p:spPr>
          <a:xfrm rot="20573567">
            <a:off x="3288473" y="4156156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E5137F1B-5EC5-10F3-E1C2-0169C2B012DF}"/>
              </a:ext>
            </a:extLst>
          </p:cNvPr>
          <p:cNvCxnSpPr>
            <a:stCxn id="17" idx="7"/>
            <a:endCxn id="19" idx="2"/>
          </p:cNvCxnSpPr>
          <p:nvPr/>
        </p:nvCxnSpPr>
        <p:spPr>
          <a:xfrm flipV="1">
            <a:off x="1285141" y="4684568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64AC5B68-BD78-8BDB-1EDB-81A5795166D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354634" y="5146561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9799BAC7-07E4-8022-8C36-A4D20F8A59AC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2278138" y="4754596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25D57D81-4F5F-372E-5A7F-86A01A6844AE}"/>
              </a:ext>
            </a:extLst>
          </p:cNvPr>
          <p:cNvCxnSpPr>
            <a:cxnSpLocks/>
            <a:stCxn id="23" idx="2"/>
            <a:endCxn id="19" idx="5"/>
          </p:cNvCxnSpPr>
          <p:nvPr/>
        </p:nvCxnSpPr>
        <p:spPr>
          <a:xfrm flipH="1">
            <a:off x="2516159" y="4463216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ge forbindelse 28">
            <a:extLst>
              <a:ext uri="{FF2B5EF4-FFF2-40B4-BE49-F238E27FC236}">
                <a16:creationId xmlns:a16="http://schemas.microsoft.com/office/drawing/2014/main" id="{3AC001A0-92FB-A3B5-0173-03AD967125C7}"/>
              </a:ext>
            </a:extLst>
          </p:cNvPr>
          <p:cNvCxnSpPr>
            <a:cxnSpLocks/>
            <a:stCxn id="22" idx="1"/>
            <a:endCxn id="20" idx="6"/>
          </p:cNvCxnSpPr>
          <p:nvPr/>
        </p:nvCxnSpPr>
        <p:spPr>
          <a:xfrm flipH="1" flipV="1">
            <a:off x="2480300" y="5431689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A02DEB72-C3AF-B54F-6DE1-7700A6DD23F8}"/>
                  </a:ext>
                </a:extLst>
              </p:cNvPr>
              <p:cNvSpPr txBox="1"/>
              <p:nvPr/>
            </p:nvSpPr>
            <p:spPr>
              <a:xfrm>
                <a:off x="1254014" y="3589819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A02DEB72-C3AF-B54F-6DE1-7700A6DD2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014" y="3589819"/>
                <a:ext cx="1745671" cy="467564"/>
              </a:xfrm>
              <a:prstGeom prst="rect">
                <a:avLst/>
              </a:prstGeom>
              <a:blipFill>
                <a:blip r:embed="rId13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FCAA6B91-75A7-3FD0-E628-BF428691F3AD}"/>
                  </a:ext>
                </a:extLst>
              </p:cNvPr>
              <p:cNvSpPr txBox="1"/>
              <p:nvPr/>
            </p:nvSpPr>
            <p:spPr>
              <a:xfrm>
                <a:off x="-3043" y="4318775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FCAA6B91-75A7-3FD0-E628-BF428691F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3" y="4318775"/>
                <a:ext cx="1494383" cy="467564"/>
              </a:xfrm>
              <a:prstGeom prst="rect">
                <a:avLst/>
              </a:prstGeom>
              <a:blipFill>
                <a:blip r:embed="rId14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0E07C026-63AB-0CCC-EAFB-03D30FE92148}"/>
                  </a:ext>
                </a:extLst>
              </p:cNvPr>
              <p:cNvSpPr txBox="1"/>
              <p:nvPr/>
            </p:nvSpPr>
            <p:spPr>
              <a:xfrm>
                <a:off x="3122187" y="3528291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0E07C026-63AB-0CCC-EAFB-03D30FE92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87" y="3528291"/>
                <a:ext cx="1745671" cy="467564"/>
              </a:xfrm>
              <a:prstGeom prst="rect">
                <a:avLst/>
              </a:prstGeom>
              <a:blipFill>
                <a:blip r:embed="rId15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39C85EF7-25F0-6EE9-CFFC-2936C4B2E75B}"/>
                  </a:ext>
                </a:extLst>
              </p:cNvPr>
              <p:cNvSpPr txBox="1"/>
              <p:nvPr/>
            </p:nvSpPr>
            <p:spPr>
              <a:xfrm>
                <a:off x="798359" y="5601978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39C85EF7-25F0-6EE9-CFFC-2936C4B2E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59" y="5601978"/>
                <a:ext cx="1494383" cy="467564"/>
              </a:xfrm>
              <a:prstGeom prst="rect">
                <a:avLst/>
              </a:prstGeom>
              <a:blipFill>
                <a:blip r:embed="rId16"/>
                <a:stretch>
                  <a:fillRect t="-10526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286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3E60A-BC2E-F581-59A8-99408476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Did it </a:t>
            </a:r>
            <a:r>
              <a:rPr lang="da-DK" dirty="0" err="1"/>
              <a:t>help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9BABD0-2B3D-63FF-8398-7F295A4AE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5" y="1410509"/>
            <a:ext cx="10515600" cy="4351338"/>
          </a:xfrm>
        </p:spPr>
        <p:txBody>
          <a:bodyPr/>
          <a:lstStyle/>
          <a:p>
            <a:r>
              <a:rPr lang="da-DK" dirty="0"/>
              <a:t>Yes! – </a:t>
            </a:r>
            <a:r>
              <a:rPr lang="da-DK" dirty="0" err="1"/>
              <a:t>Somewhat</a:t>
            </a:r>
            <a:endParaRPr lang="da-DK" dirty="0"/>
          </a:p>
          <a:p>
            <a:pPr lvl="1"/>
            <a:r>
              <a:rPr lang="da-DK" dirty="0"/>
              <a:t>Distributions </a:t>
            </a:r>
            <a:r>
              <a:rPr lang="da-DK" dirty="0" err="1"/>
              <a:t>are</a:t>
            </a:r>
            <a:r>
              <a:rPr lang="da-DK" dirty="0"/>
              <a:t> still </a:t>
            </a:r>
            <a:r>
              <a:rPr lang="da-DK" dirty="0" err="1"/>
              <a:t>slightly</a:t>
            </a:r>
            <a:r>
              <a:rPr lang="da-DK" dirty="0"/>
              <a:t> </a:t>
            </a:r>
            <a:r>
              <a:rPr lang="da-DK" dirty="0" err="1"/>
              <a:t>shifted</a:t>
            </a:r>
            <a:r>
              <a:rPr lang="da-DK" dirty="0"/>
              <a:t>?</a:t>
            </a:r>
          </a:p>
          <a:p>
            <a:pPr lvl="1"/>
            <a:r>
              <a:rPr lang="da-DK" dirty="0" err="1"/>
              <a:t>Maybe</a:t>
            </a:r>
            <a:r>
              <a:rPr lang="da-DK" dirty="0"/>
              <a:t> ”Attention is all I </a:t>
            </a:r>
            <a:r>
              <a:rPr lang="da-DK" dirty="0" err="1"/>
              <a:t>need</a:t>
            </a:r>
            <a:r>
              <a:rPr lang="da-DK" dirty="0"/>
              <a:t>”</a:t>
            </a:r>
          </a:p>
          <a:p>
            <a:pPr lvl="1"/>
            <a:r>
              <a:rPr lang="da-DK" dirty="0" err="1"/>
              <a:t>Almost</a:t>
            </a:r>
            <a:r>
              <a:rPr lang="da-DK" dirty="0"/>
              <a:t> spot on with % of elements in</a:t>
            </a:r>
            <a:br>
              <a:rPr lang="da-DK" dirty="0"/>
            </a:br>
            <a:r>
              <a:rPr lang="da-DK" dirty="0" err="1"/>
              <a:t>structures</a:t>
            </a:r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2946B9D8-A981-5E02-6E34-70702D15E591}"/>
              </a:ext>
            </a:extLst>
          </p:cNvPr>
          <p:cNvSpPr txBox="1"/>
          <p:nvPr/>
        </p:nvSpPr>
        <p:spPr>
          <a:xfrm>
            <a:off x="1260983" y="3498904"/>
            <a:ext cx="36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Mean </a:t>
            </a:r>
            <a:r>
              <a:rPr lang="da-DK" dirty="0" err="1"/>
              <a:t>pooling</a:t>
            </a:r>
            <a:endParaRPr lang="da-DK" dirty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BB683724-4D18-E6CD-C516-BE42F9D664DC}"/>
              </a:ext>
            </a:extLst>
          </p:cNvPr>
          <p:cNvSpPr txBox="1"/>
          <p:nvPr/>
        </p:nvSpPr>
        <p:spPr>
          <a:xfrm>
            <a:off x="7659387" y="3551541"/>
            <a:ext cx="36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Attention </a:t>
            </a:r>
            <a:r>
              <a:rPr lang="da-DK" dirty="0" err="1"/>
              <a:t>based</a:t>
            </a:r>
            <a:r>
              <a:rPr lang="da-DK" dirty="0"/>
              <a:t> </a:t>
            </a:r>
            <a:r>
              <a:rPr lang="da-DK" dirty="0" err="1"/>
              <a:t>pooling</a:t>
            </a:r>
            <a:endParaRPr lang="da-DK" dirty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F544FA06-5202-7D53-0022-D67939F7548F}"/>
              </a:ext>
            </a:extLst>
          </p:cNvPr>
          <p:cNvSpPr txBox="1"/>
          <p:nvPr/>
        </p:nvSpPr>
        <p:spPr>
          <a:xfrm>
            <a:off x="7487970" y="98640"/>
            <a:ext cx="390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No </a:t>
            </a:r>
            <a:r>
              <a:rPr lang="da-DK" dirty="0" err="1"/>
              <a:t>pooling</a:t>
            </a:r>
            <a:r>
              <a:rPr lang="da-DK" dirty="0"/>
              <a:t>, as </a:t>
            </a:r>
            <a:r>
              <a:rPr lang="da-DK" dirty="0" err="1"/>
              <a:t>initially</a:t>
            </a:r>
            <a:r>
              <a:rPr lang="da-DK" dirty="0"/>
              <a:t> </a:t>
            </a:r>
            <a:r>
              <a:rPr lang="da-DK" dirty="0" err="1"/>
              <a:t>implemented</a:t>
            </a:r>
            <a:endParaRPr lang="da-DK" dirty="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956AA289-8A15-DED4-1CC7-C02B0108D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76" y="405252"/>
            <a:ext cx="5336702" cy="2866571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ED96E13C-7F62-9E85-B290-045E5201C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77" y="3841342"/>
            <a:ext cx="5336701" cy="2866571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AA5D4E47-8E5F-DAB5-F071-CDB08D48B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24" y="3804593"/>
            <a:ext cx="5473531" cy="29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78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B882-410B-3404-B45A-E663F01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E8825-F645-A8B8-0B9F-15CBAACA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Did it </a:t>
            </a:r>
            <a:r>
              <a:rPr lang="da-DK" dirty="0" err="1"/>
              <a:t>help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869FCE-FE76-1A38-D869-0FB01C4E9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011" y="1849920"/>
            <a:ext cx="10515600" cy="4351338"/>
          </a:xfrm>
        </p:spPr>
        <p:txBody>
          <a:bodyPr/>
          <a:lstStyle/>
          <a:p>
            <a:r>
              <a:rPr lang="da-DK" dirty="0"/>
              <a:t>Yes! – </a:t>
            </a:r>
            <a:r>
              <a:rPr lang="da-DK" dirty="0" err="1"/>
              <a:t>Somewhat</a:t>
            </a:r>
            <a:endParaRPr lang="da-DK" dirty="0"/>
          </a:p>
          <a:p>
            <a:pPr lvl="1"/>
            <a:r>
              <a:rPr lang="da-DK" dirty="0"/>
              <a:t>Distributions </a:t>
            </a:r>
            <a:r>
              <a:rPr lang="da-DK" dirty="0" err="1"/>
              <a:t>are</a:t>
            </a:r>
            <a:r>
              <a:rPr lang="da-DK" dirty="0"/>
              <a:t> still </a:t>
            </a:r>
            <a:r>
              <a:rPr lang="da-DK" dirty="0" err="1"/>
              <a:t>slightly</a:t>
            </a:r>
            <a:r>
              <a:rPr lang="da-DK" dirty="0"/>
              <a:t> </a:t>
            </a:r>
            <a:r>
              <a:rPr lang="da-DK" dirty="0" err="1"/>
              <a:t>shifted</a:t>
            </a:r>
            <a:r>
              <a:rPr lang="da-DK" dirty="0"/>
              <a:t>?</a:t>
            </a:r>
          </a:p>
          <a:p>
            <a:pPr lvl="1"/>
            <a:r>
              <a:rPr lang="da-DK" dirty="0" err="1"/>
              <a:t>Maybe</a:t>
            </a:r>
            <a:r>
              <a:rPr lang="da-DK" dirty="0"/>
              <a:t> ”Attention is all I </a:t>
            </a:r>
            <a:r>
              <a:rPr lang="da-DK" dirty="0" err="1"/>
              <a:t>need</a:t>
            </a:r>
            <a:r>
              <a:rPr lang="da-DK" dirty="0"/>
              <a:t>”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45B0D36-5DA1-D8D8-D557-DD1F07A5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7805"/>
            <a:ext cx="5706966" cy="3030818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61599855-A49A-6219-DBA1-97B683BEE3C7}"/>
              </a:ext>
            </a:extLst>
          </p:cNvPr>
          <p:cNvSpPr txBox="1"/>
          <p:nvPr/>
        </p:nvSpPr>
        <p:spPr>
          <a:xfrm>
            <a:off x="1006276" y="3398513"/>
            <a:ext cx="36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Mean </a:t>
            </a:r>
            <a:r>
              <a:rPr lang="da-DK" dirty="0" err="1"/>
              <a:t>pooling</a:t>
            </a:r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2C9A865D-BAE3-248D-525D-EE4970749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76" y="3807805"/>
            <a:ext cx="5484620" cy="2912736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1AA89F7F-783E-A82B-7FCF-6C7C4F2386DD}"/>
              </a:ext>
            </a:extLst>
          </p:cNvPr>
          <p:cNvSpPr txBox="1"/>
          <p:nvPr/>
        </p:nvSpPr>
        <p:spPr>
          <a:xfrm>
            <a:off x="8074235" y="3472010"/>
            <a:ext cx="36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Attention </a:t>
            </a:r>
            <a:r>
              <a:rPr lang="da-DK" dirty="0" err="1"/>
              <a:t>based</a:t>
            </a:r>
            <a:r>
              <a:rPr lang="da-DK" dirty="0"/>
              <a:t> </a:t>
            </a:r>
            <a:r>
              <a:rPr lang="da-DK" dirty="0" err="1"/>
              <a:t>pooling</a:t>
            </a:r>
            <a:endParaRPr lang="da-DK" dirty="0"/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8D076BAD-7837-133E-F19C-21568FBB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933" y="568340"/>
            <a:ext cx="5340506" cy="2836201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02BC135F-C47B-BC52-D2E9-9E46E99E714B}"/>
              </a:ext>
            </a:extLst>
          </p:cNvPr>
          <p:cNvSpPr txBox="1"/>
          <p:nvPr/>
        </p:nvSpPr>
        <p:spPr>
          <a:xfrm>
            <a:off x="7826188" y="297656"/>
            <a:ext cx="390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No </a:t>
            </a:r>
            <a:r>
              <a:rPr lang="da-DK" dirty="0" err="1"/>
              <a:t>pooling</a:t>
            </a:r>
            <a:r>
              <a:rPr lang="da-DK" dirty="0"/>
              <a:t>, as </a:t>
            </a:r>
            <a:r>
              <a:rPr lang="da-DK" dirty="0" err="1"/>
              <a:t>initially</a:t>
            </a:r>
            <a:r>
              <a:rPr lang="da-DK" dirty="0"/>
              <a:t> </a:t>
            </a:r>
            <a:r>
              <a:rPr lang="da-DK" dirty="0" err="1"/>
              <a:t>implemented</a:t>
            </a: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150EE1B-B092-3BAB-890F-EBFE336E7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3944" y="182123"/>
            <a:ext cx="7085910" cy="657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20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4E91A-04B0-829E-44E7-7359EEA87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conditioning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0A1D08-C6AA-55DF-853A-ABEEABCC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Divided</a:t>
            </a:r>
            <a:r>
              <a:rPr lang="da-DK" dirty="0"/>
              <a:t> high rate samples </a:t>
            </a:r>
            <a:r>
              <a:rPr lang="da-DK" dirty="0" err="1"/>
              <a:t>into</a:t>
            </a:r>
            <a:r>
              <a:rPr lang="da-DK" dirty="0"/>
              <a:t> ”</a:t>
            </a:r>
            <a:r>
              <a:rPr lang="da-DK" dirty="0" err="1"/>
              <a:t>lower</a:t>
            </a:r>
            <a:r>
              <a:rPr lang="da-DK" dirty="0"/>
              <a:t>” and ”upper” part </a:t>
            </a:r>
            <a:r>
              <a:rPr lang="da-DK" dirty="0" err="1"/>
              <a:t>around</a:t>
            </a:r>
            <a:r>
              <a:rPr lang="da-DK" dirty="0"/>
              <a:t> </a:t>
            </a:r>
            <a:r>
              <a:rPr lang="da-DK" dirty="0" err="1"/>
              <a:t>mean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5008434B-151E-8D3A-4CEE-CDC568098F9C}"/>
              </a:ext>
            </a:extLst>
          </p:cNvPr>
          <p:cNvSpPr txBox="1"/>
          <p:nvPr/>
        </p:nvSpPr>
        <p:spPr>
          <a:xfrm>
            <a:off x="8111337" y="3307043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Upper </a:t>
            </a:r>
            <a:r>
              <a:rPr lang="da-DK" dirty="0" err="1"/>
              <a:t>half</a:t>
            </a:r>
            <a:r>
              <a:rPr lang="da-DK" dirty="0"/>
              <a:t> </a:t>
            </a:r>
            <a:r>
              <a:rPr lang="da-DK" dirty="0" err="1"/>
              <a:t>conditioning</a:t>
            </a:r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9BA03C60-C619-43FC-678F-C983F4609EB6}"/>
              </a:ext>
            </a:extLst>
          </p:cNvPr>
          <p:cNvSpPr txBox="1"/>
          <p:nvPr/>
        </p:nvSpPr>
        <p:spPr>
          <a:xfrm>
            <a:off x="1684783" y="3280149"/>
            <a:ext cx="249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Lower</a:t>
            </a:r>
            <a:r>
              <a:rPr lang="da-DK" dirty="0"/>
              <a:t> </a:t>
            </a:r>
            <a:r>
              <a:rPr lang="da-DK" dirty="0" err="1"/>
              <a:t>half</a:t>
            </a:r>
            <a:r>
              <a:rPr lang="da-DK" dirty="0"/>
              <a:t> </a:t>
            </a:r>
            <a:r>
              <a:rPr lang="da-DK" dirty="0" err="1"/>
              <a:t>conditioning</a:t>
            </a:r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E06C7481-4778-F350-E599-B3EBB6DB2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" y="3649481"/>
            <a:ext cx="5850753" cy="3142690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618FA922-9DC3-77FE-7CA4-ACD03808C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76375"/>
            <a:ext cx="5850752" cy="314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61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CE879-739D-0B6B-0B10-855B451E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thoughts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50C95F-7368-1D86-B6D1-07BADC1D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83886" cy="4351338"/>
          </a:xfrm>
        </p:spPr>
        <p:txBody>
          <a:bodyPr/>
          <a:lstStyle/>
          <a:p>
            <a:r>
              <a:rPr lang="da-DK" dirty="0">
                <a:sym typeface="Wingdings" pitchFamily="2" charset="2"/>
              </a:rPr>
              <a:t>”If </a:t>
            </a:r>
            <a:r>
              <a:rPr lang="da-DK" dirty="0" err="1">
                <a:sym typeface="Wingdings" pitchFamily="2" charset="2"/>
              </a:rPr>
              <a:t>neighbor</a:t>
            </a:r>
            <a:r>
              <a:rPr lang="da-DK" dirty="0">
                <a:sym typeface="Wingdings" pitchFamily="2" charset="2"/>
              </a:rPr>
              <a:t> is </a:t>
            </a:r>
            <a:r>
              <a:rPr lang="da-DK" dirty="0" err="1">
                <a:sym typeface="Wingdings" pitchFamily="2" charset="2"/>
              </a:rPr>
              <a:t>Pd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then</a:t>
            </a:r>
            <a:r>
              <a:rPr lang="da-DK" dirty="0">
                <a:sym typeface="Wingdings" pitchFamily="2" charset="2"/>
              </a:rPr>
              <a:t> I </a:t>
            </a:r>
            <a:r>
              <a:rPr lang="da-DK" dirty="0" err="1">
                <a:sym typeface="Wingdings" pitchFamily="2" charset="2"/>
              </a:rPr>
              <a:t>should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be</a:t>
            </a:r>
            <a:r>
              <a:rPr lang="da-DK" dirty="0">
                <a:sym typeface="Wingdings" pitchFamily="2" charset="2"/>
              </a:rPr>
              <a:t> Cu </a:t>
            </a:r>
            <a:r>
              <a:rPr lang="da-DK" dirty="0" err="1">
                <a:sym typeface="Wingdings" pitchFamily="2" charset="2"/>
              </a:rPr>
              <a:t>needs</a:t>
            </a:r>
            <a:r>
              <a:rPr lang="da-DK" dirty="0">
                <a:sym typeface="Wingdings" pitchFamily="2" charset="2"/>
              </a:rPr>
              <a:t> to </a:t>
            </a:r>
            <a:r>
              <a:rPr lang="da-DK" dirty="0" err="1">
                <a:sym typeface="Wingdings" pitchFamily="2" charset="2"/>
              </a:rPr>
              <a:t>be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stronger</a:t>
            </a:r>
            <a:r>
              <a:rPr lang="da-DK" dirty="0">
                <a:sym typeface="Wingdings" pitchFamily="2" charset="2"/>
              </a:rPr>
              <a:t>”</a:t>
            </a:r>
            <a:endParaRPr lang="da-DK" dirty="0"/>
          </a:p>
          <a:p>
            <a:pPr lvl="1"/>
            <a:r>
              <a:rPr lang="da-DK" dirty="0"/>
              <a:t>Best solution </a:t>
            </a:r>
            <a:r>
              <a:rPr lang="da-DK" dirty="0">
                <a:sym typeface="Wingdings" pitchFamily="2" charset="2"/>
              </a:rPr>
              <a:t> Self attention + More </a:t>
            </a:r>
            <a:r>
              <a:rPr lang="da-DK" dirty="0" err="1">
                <a:sym typeface="Wingdings" pitchFamily="2" charset="2"/>
              </a:rPr>
              <a:t>geometrical</a:t>
            </a:r>
            <a:r>
              <a:rPr lang="da-DK" dirty="0">
                <a:sym typeface="Wingdings" pitchFamily="2" charset="2"/>
              </a:rPr>
              <a:t> information to </a:t>
            </a:r>
            <a:r>
              <a:rPr lang="da-DK" dirty="0" err="1">
                <a:sym typeface="Wingdings" pitchFamily="2" charset="2"/>
              </a:rPr>
              <a:t>distinguish</a:t>
            </a:r>
            <a:r>
              <a:rPr lang="da-DK" dirty="0">
                <a:sym typeface="Wingdings" pitchFamily="2" charset="2"/>
              </a:rPr>
              <a:t> sites.</a:t>
            </a:r>
          </a:p>
          <a:p>
            <a:pPr lvl="1"/>
            <a:r>
              <a:rPr lang="da-DK" dirty="0">
                <a:sym typeface="Wingdings" pitchFamily="2" charset="2"/>
              </a:rPr>
              <a:t>I </a:t>
            </a:r>
            <a:r>
              <a:rPr lang="da-DK" dirty="0" err="1">
                <a:sym typeface="Wingdings" pitchFamily="2" charset="2"/>
              </a:rPr>
              <a:t>blur</a:t>
            </a:r>
            <a:r>
              <a:rPr lang="da-DK" dirty="0">
                <a:sym typeface="Wingdings" pitchFamily="2" charset="2"/>
              </a:rPr>
              <a:t> information in message </a:t>
            </a:r>
            <a:r>
              <a:rPr lang="da-DK" dirty="0" err="1">
                <a:sym typeface="Wingdings" pitchFamily="2" charset="2"/>
              </a:rPr>
              <a:t>passing</a:t>
            </a:r>
            <a:r>
              <a:rPr lang="da-DK" dirty="0">
                <a:sym typeface="Wingdings" pitchFamily="2" charset="2"/>
              </a:rPr>
              <a:t>?</a:t>
            </a:r>
          </a:p>
          <a:p>
            <a:r>
              <a:rPr lang="da-DK" dirty="0">
                <a:sym typeface="Wingdings" pitchFamily="2" charset="2"/>
              </a:rPr>
              <a:t>Still </a:t>
            </a:r>
            <a:r>
              <a:rPr lang="da-DK" dirty="0" err="1">
                <a:sym typeface="Wingdings" pitchFamily="2" charset="2"/>
              </a:rPr>
              <a:t>think</a:t>
            </a:r>
            <a:r>
              <a:rPr lang="da-DK" dirty="0">
                <a:sym typeface="Wingdings" pitchFamily="2" charset="2"/>
              </a:rPr>
              <a:t> it is solvable, but </a:t>
            </a:r>
            <a:r>
              <a:rPr lang="da-DK" dirty="0" err="1">
                <a:sym typeface="Wingdings" pitchFamily="2" charset="2"/>
              </a:rPr>
              <a:t>maybe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need</a:t>
            </a:r>
            <a:r>
              <a:rPr lang="da-DK" dirty="0">
                <a:sym typeface="Wingdings" pitchFamily="2" charset="2"/>
              </a:rPr>
              <a:t> to </a:t>
            </a:r>
            <a:r>
              <a:rPr lang="da-DK" dirty="0" err="1">
                <a:sym typeface="Wingdings" pitchFamily="2" charset="2"/>
              </a:rPr>
              <a:t>rethink</a:t>
            </a:r>
            <a:r>
              <a:rPr lang="da-DK" dirty="0">
                <a:sym typeface="Wingdings" pitchFamily="2" charset="2"/>
              </a:rPr>
              <a:t> GNN </a:t>
            </a:r>
            <a:r>
              <a:rPr lang="da-DK" dirty="0" err="1">
                <a:sym typeface="Wingdings" pitchFamily="2" charset="2"/>
              </a:rPr>
              <a:t>into</a:t>
            </a:r>
            <a:r>
              <a:rPr lang="da-DK" dirty="0">
                <a:sym typeface="Wingdings" pitchFamily="2" charset="2"/>
              </a:rPr>
              <a:t> a transformer </a:t>
            </a:r>
            <a:r>
              <a:rPr lang="da-DK" dirty="0" err="1">
                <a:sym typeface="Wingdings" pitchFamily="2" charset="2"/>
              </a:rPr>
              <a:t>instead</a:t>
            </a:r>
            <a:r>
              <a:rPr lang="da-DK" dirty="0">
                <a:sym typeface="Wingdings" pitchFamily="2" charset="2"/>
              </a:rPr>
              <a:t>?</a:t>
            </a:r>
          </a:p>
          <a:p>
            <a:endParaRPr lang="da-DK" dirty="0">
              <a:sym typeface="Wingdings" pitchFamily="2" charset="2"/>
            </a:endParaRPr>
          </a:p>
          <a:p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2F0E89BE-6E0E-B138-D07C-DC13303B1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14" y="1307837"/>
            <a:ext cx="5583886" cy="518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77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1066</Words>
  <Application>Microsoft Macintosh PowerPoint</Application>
  <PresentationFormat>Widescreen</PresentationFormat>
  <Paragraphs>214</Paragraphs>
  <Slides>26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Noto Sans</vt:lpstr>
      <vt:lpstr>Wingdings</vt:lpstr>
      <vt:lpstr>Office-tema</vt:lpstr>
      <vt:lpstr>Diffusion model debugging</vt:lpstr>
      <vt:lpstr>Outline</vt:lpstr>
      <vt:lpstr>Problem statement</vt:lpstr>
      <vt:lpstr>How I implemented this</vt:lpstr>
      <vt:lpstr>Q-matrices</vt:lpstr>
      <vt:lpstr>How I implemted this: Diffusion examples</vt:lpstr>
      <vt:lpstr>How I implemented this</vt:lpstr>
      <vt:lpstr>Few changes since last time</vt:lpstr>
      <vt:lpstr>Testing my implementation</vt:lpstr>
      <vt:lpstr>Testing my implementation</vt:lpstr>
      <vt:lpstr>Testing my implementation</vt:lpstr>
      <vt:lpstr>Tried conditioning on the reaction rate</vt:lpstr>
      <vt:lpstr>PowerPoint-præsentation</vt:lpstr>
      <vt:lpstr>PowerPoint-præsentation</vt:lpstr>
      <vt:lpstr>Unconditional generation on high rates only</vt:lpstr>
      <vt:lpstr>Unconditional generation on high rates only</vt:lpstr>
      <vt:lpstr>Unconditional generation on high rates only</vt:lpstr>
      <vt:lpstr>What is the problem?</vt:lpstr>
      <vt:lpstr>Identifying the problem</vt:lpstr>
      <vt:lpstr>Identifying the problem</vt:lpstr>
      <vt:lpstr>Identifying the problem</vt:lpstr>
      <vt:lpstr>Identifying the problem</vt:lpstr>
      <vt:lpstr>Did it help?</vt:lpstr>
      <vt:lpstr>Did it help?</vt:lpstr>
      <vt:lpstr>What about conditioning?</vt:lpstr>
      <vt:lpstr>What are my thoughts now?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13</cp:revision>
  <dcterms:created xsi:type="dcterms:W3CDTF">2026-01-29T10:19:51Z</dcterms:created>
  <dcterms:modified xsi:type="dcterms:W3CDTF">2026-01-30T10:08:53Z</dcterms:modified>
</cp:coreProperties>
</file>