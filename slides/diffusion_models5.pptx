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1000" r:id="rId4"/>
    <p:sldId id="998" r:id="rId5"/>
    <p:sldId id="1001" r:id="rId6"/>
    <p:sldId id="1004" r:id="rId7"/>
    <p:sldId id="1012" r:id="rId8"/>
    <p:sldId id="1009" r:id="rId9"/>
    <p:sldId id="1010" r:id="rId10"/>
    <p:sldId id="1011" r:id="rId11"/>
    <p:sldId id="1014" r:id="rId12"/>
    <p:sldId id="1015" r:id="rId13"/>
    <p:sldId id="1016" r:id="rId14"/>
    <p:sldId id="1017" r:id="rId15"/>
    <p:sldId id="1025" r:id="rId16"/>
    <p:sldId id="1026" r:id="rId17"/>
    <p:sldId id="1027" r:id="rId18"/>
    <p:sldId id="1028" r:id="rId19"/>
    <p:sldId id="1018" r:id="rId20"/>
    <p:sldId id="1030" r:id="rId21"/>
    <p:sldId id="1022" r:id="rId22"/>
    <p:sldId id="1020" r:id="rId23"/>
    <p:sldId id="1021" r:id="rId24"/>
    <p:sldId id="1023" r:id="rId25"/>
    <p:sldId id="1046" r:id="rId26"/>
    <p:sldId id="1031" r:id="rId27"/>
    <p:sldId id="1032" r:id="rId28"/>
    <p:sldId id="1036" r:id="rId29"/>
    <p:sldId id="1037" r:id="rId30"/>
    <p:sldId id="1039" r:id="rId31"/>
    <p:sldId id="1040" r:id="rId32"/>
    <p:sldId id="1041" r:id="rId33"/>
    <p:sldId id="1042" r:id="rId34"/>
    <p:sldId id="1038" r:id="rId35"/>
    <p:sldId id="955" r:id="rId36"/>
    <p:sldId id="1044" r:id="rId37"/>
    <p:sldId id="1043" r:id="rId38"/>
    <p:sldId id="1047" r:id="rId39"/>
    <p:sldId id="1048" r:id="rId40"/>
    <p:sldId id="1049" r:id="rId41"/>
    <p:sldId id="1050" r:id="rId42"/>
    <p:sldId id="1051" r:id="rId4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1AC4CE-CE5C-62C5-042D-3D7D9A324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DE9715D-F34C-AE65-EE24-0A22BB178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8FC1A48-146B-A75C-07C5-092F36AF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439F9-2AF1-4EBB-AE8C-E0F7BEEC2051}" type="datetimeFigureOut">
              <a:rPr lang="da-DK" smtClean="0"/>
              <a:t>19-03-2026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C36CC2A-AA9F-48EA-322E-6DB686892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7DA982A-8FB4-192D-0961-CD20F2178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7A2-4C5C-47CD-A515-17BC01E5A2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5860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54C790-A40B-3B1A-1867-093B606F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8F91131-59AE-2C57-ABBF-EA18D9C6C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F85F11E-504D-3B61-09C8-CCE94D0C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439F9-2AF1-4EBB-AE8C-E0F7BEEC2051}" type="datetimeFigureOut">
              <a:rPr lang="da-DK" smtClean="0"/>
              <a:t>19-03-2026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58AAAC6-048C-8052-7A61-7A193ED45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EC35548-D47E-C27D-2297-ECAFC41F4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7A2-4C5C-47CD-A515-17BC01E5A2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6782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6A87A2-AB50-BA4A-6DBC-567705EB3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D32F75B7-53B3-52C4-8C3D-38EDB7E19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F3CEF27-ECC7-6DDC-100D-78CDFF09C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439F9-2AF1-4EBB-AE8C-E0F7BEEC2051}" type="datetimeFigureOut">
              <a:rPr lang="da-DK" smtClean="0"/>
              <a:t>19-03-2026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8569D4E-017A-8CE5-A37B-790EFD491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ACC1798-86E8-E60D-835F-5EE626C98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7A2-4C5C-47CD-A515-17BC01E5A2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483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700671-4191-C842-AF87-15CCB01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F8E36D9-1D21-8EB7-F62E-E1D13D72C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65D4730-AAA4-13AD-8F65-C7B4ADD88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21ECDF2-9040-A574-B193-F68BEA771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439F9-2AF1-4EBB-AE8C-E0F7BEEC2051}" type="datetimeFigureOut">
              <a:rPr lang="da-DK" smtClean="0"/>
              <a:t>19-03-2026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9332222-B50A-7D61-7412-18D06B655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5881214-D2F1-3BDD-F4ED-273DF324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7A2-4C5C-47CD-A515-17BC01E5A2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47699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3FF305-1D20-CA5E-43E7-D4CF1F4FE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7833D56-43B7-E916-5296-579FDA9AF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1172B4E-346A-3CAE-BA4F-463DF46C3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0FF04BDA-FA16-A758-851A-790BF9B4D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11E01170-669B-B57F-5C85-B7AF24A446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CFF7150-AB25-F143-6E9D-CE6610055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439F9-2AF1-4EBB-AE8C-E0F7BEEC2051}" type="datetimeFigureOut">
              <a:rPr lang="da-DK" smtClean="0"/>
              <a:t>19-03-2026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F043FAB3-9912-A6A7-F477-9BDE13334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73C0F73D-792C-BBDD-563D-6AB8A64BD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7A2-4C5C-47CD-A515-17BC01E5A2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9968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D2A3A1-1B36-2B4A-857F-30119D69B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F3E22B1-8FB8-7FFB-9348-70AE5A16E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439F9-2AF1-4EBB-AE8C-E0F7BEEC2051}" type="datetimeFigureOut">
              <a:rPr lang="da-DK" smtClean="0"/>
              <a:t>19-03-2026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6C6EBCE-E7F2-9A8E-23DA-D3503712D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2B7A81B-CCA5-6777-65F6-F671AB56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7A2-4C5C-47CD-A515-17BC01E5A2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580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4CF27B7E-9E67-0D79-757A-F769EF0D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439F9-2AF1-4EBB-AE8C-E0F7BEEC2051}" type="datetimeFigureOut">
              <a:rPr lang="da-DK" smtClean="0"/>
              <a:t>19-03-2026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190549AA-D050-20B3-83E8-1C4C3BB2F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6E6AC30-E5FF-0A4A-0B59-50091CB2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7A2-4C5C-47CD-A515-17BC01E5A2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6195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8FBC7B-3B71-0BB9-BDEF-70A3675E2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32B198C-A1A8-B1AE-AB05-28A15C681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BA6F78E-9803-F60F-07B2-70ECF2A9D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81BF0FA-D34E-8FE2-C9C1-B82E8075A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439F9-2AF1-4EBB-AE8C-E0F7BEEC2051}" type="datetimeFigureOut">
              <a:rPr lang="da-DK" smtClean="0"/>
              <a:t>19-03-2026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0D39C48-EB84-2861-6779-E7B280C87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C48B7AE-9B3A-BFF8-2B84-F662AB25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7A2-4C5C-47CD-A515-17BC01E5A2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8530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347052-9B49-A238-D1B8-86E0AB7E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AED66765-5EC0-F4EE-B5F6-C66E9FCFB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95E8C835-5ECE-C473-5860-13533F057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7C6AD4B-BCF3-4699-4E30-24956FC98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439F9-2AF1-4EBB-AE8C-E0F7BEEC2051}" type="datetimeFigureOut">
              <a:rPr lang="da-DK" smtClean="0"/>
              <a:t>19-03-2026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046495A-EACD-070F-1AEB-71687DCD4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6C444FE-5121-3C61-B8D8-4CECE622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7A2-4C5C-47CD-A515-17BC01E5A2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56113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8D7C1F-8319-E60D-AEBA-635DCE2B3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A79464FF-D3D4-6EF4-3520-5EE1C3DFB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92033F6-22A1-24A7-9BE7-6DB2EDB3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439F9-2AF1-4EBB-AE8C-E0F7BEEC2051}" type="datetimeFigureOut">
              <a:rPr lang="da-DK" smtClean="0"/>
              <a:t>19-03-2026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A8EA08E-F5C8-4996-F0FA-1261D3E93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402FF14-EF23-7875-CD1A-763A6B8A8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7A2-4C5C-47CD-A515-17BC01E5A2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361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482394A3-AA86-A7ED-74B5-B14CC12EA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F4E6C11-F57B-D0C4-E3D4-B3B291738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45ADD40-07B2-6A34-4E21-90C2AB6E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439F9-2AF1-4EBB-AE8C-E0F7BEEC2051}" type="datetimeFigureOut">
              <a:rPr lang="da-DK" smtClean="0"/>
              <a:t>19-03-2026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EA220B2-1094-92E6-BE12-5AF0FDAAC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87FA43F-564E-5E8B-87D9-AD491904A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7A2-4C5C-47CD-A515-17BC01E5A2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5901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366150E-EAAE-7F0B-5757-8704A1F0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31F4BF3-DB2C-8F81-E8FF-13249C25C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DCA22BA-81AD-A28A-C845-D43879E6D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439F9-2AF1-4EBB-AE8C-E0F7BEEC2051}" type="datetimeFigureOut">
              <a:rPr lang="da-DK" smtClean="0"/>
              <a:t>19-03-2026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A545F9B-AB06-47E2-E7AD-313D9BBAFE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2CC672F-E451-E369-E460-84117B84F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1F7A2-4C5C-47CD-A515-17BC01E5A2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54989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6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5.png"/><Relationship Id="rId3" Type="http://schemas.openxmlformats.org/officeDocument/2006/relationships/image" Target="../media/image28.png"/><Relationship Id="rId7" Type="http://schemas.openxmlformats.org/officeDocument/2006/relationships/image" Target="../media/image41.png"/><Relationship Id="rId12" Type="http://schemas.openxmlformats.org/officeDocument/2006/relationships/image" Target="../media/image3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4.png"/><Relationship Id="rId5" Type="http://schemas.openxmlformats.org/officeDocument/2006/relationships/image" Target="../media/image39.png"/><Relationship Id="rId15" Type="http://schemas.openxmlformats.org/officeDocument/2006/relationships/image" Target="../media/image47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43.png"/><Relationship Id="rId1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5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9.png"/><Relationship Id="rId5" Type="http://schemas.openxmlformats.org/officeDocument/2006/relationships/image" Target="../media/image65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9.png"/><Relationship Id="rId5" Type="http://schemas.openxmlformats.org/officeDocument/2006/relationships/image" Target="../media/image65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3.png"/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9.png"/><Relationship Id="rId5" Type="http://schemas.openxmlformats.org/officeDocument/2006/relationships/image" Target="../media/image65.png"/><Relationship Id="rId15" Type="http://schemas.openxmlformats.org/officeDocument/2006/relationships/image" Target="../media/image71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5.png"/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9.png"/><Relationship Id="rId5" Type="http://schemas.openxmlformats.org/officeDocument/2006/relationships/image" Target="../media/image65.png"/><Relationship Id="rId15" Type="http://schemas.openxmlformats.org/officeDocument/2006/relationships/image" Target="../media/image71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79.png"/><Relationship Id="rId18" Type="http://schemas.openxmlformats.org/officeDocument/2006/relationships/image" Target="../media/image94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image" Target="../media/image84.pn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81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9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97.png"/><Relationship Id="rId5" Type="http://schemas.openxmlformats.org/officeDocument/2006/relationships/image" Target="../media/image81.png"/><Relationship Id="rId10" Type="http://schemas.openxmlformats.org/officeDocument/2006/relationships/image" Target="../media/image96.png"/><Relationship Id="rId4" Type="http://schemas.openxmlformats.org/officeDocument/2006/relationships/image" Target="../media/image80.png"/><Relationship Id="rId9" Type="http://schemas.openxmlformats.org/officeDocument/2006/relationships/image" Target="../media/image9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0" Type="http://schemas.openxmlformats.org/officeDocument/2006/relationships/image" Target="../media/image122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sv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450.png"/><Relationship Id="rId18" Type="http://schemas.openxmlformats.org/officeDocument/2006/relationships/image" Target="../media/image500.png"/><Relationship Id="rId3" Type="http://schemas.openxmlformats.org/officeDocument/2006/relationships/image" Target="../media/image149.png"/><Relationship Id="rId21" Type="http://schemas.openxmlformats.org/officeDocument/2006/relationships/image" Target="../media/image530.png"/><Relationship Id="rId7" Type="http://schemas.openxmlformats.org/officeDocument/2006/relationships/image" Target="../media/image153.png"/><Relationship Id="rId12" Type="http://schemas.openxmlformats.org/officeDocument/2006/relationships/image" Target="../media/image440.png"/><Relationship Id="rId17" Type="http://schemas.openxmlformats.org/officeDocument/2006/relationships/image" Target="../media/image490.png"/><Relationship Id="rId2" Type="http://schemas.openxmlformats.org/officeDocument/2006/relationships/image" Target="../media/image148.png"/><Relationship Id="rId16" Type="http://schemas.openxmlformats.org/officeDocument/2006/relationships/image" Target="../media/image480.png"/><Relationship Id="rId20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11" Type="http://schemas.openxmlformats.org/officeDocument/2006/relationships/image" Target="../media/image430.png"/><Relationship Id="rId5" Type="http://schemas.openxmlformats.org/officeDocument/2006/relationships/image" Target="../media/image151.png"/><Relationship Id="rId15" Type="http://schemas.openxmlformats.org/officeDocument/2006/relationships/image" Target="../media/image470.png"/><Relationship Id="rId23" Type="http://schemas.openxmlformats.org/officeDocument/2006/relationships/image" Target="../media/image550.png"/><Relationship Id="rId10" Type="http://schemas.openxmlformats.org/officeDocument/2006/relationships/image" Target="../media/image156.png"/><Relationship Id="rId19" Type="http://schemas.openxmlformats.org/officeDocument/2006/relationships/image" Target="../media/image510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Relationship Id="rId14" Type="http://schemas.openxmlformats.org/officeDocument/2006/relationships/image" Target="../media/image460.png"/><Relationship Id="rId22" Type="http://schemas.openxmlformats.org/officeDocument/2006/relationships/image" Target="../media/image5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7" Type="http://schemas.openxmlformats.org/officeDocument/2006/relationships/image" Target="../media/image157.png"/><Relationship Id="rId2" Type="http://schemas.openxmlformats.org/officeDocument/2006/relationships/image" Target="../media/image1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gif"/><Relationship Id="rId2" Type="http://schemas.openxmlformats.org/officeDocument/2006/relationships/image" Target="../media/image158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sv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7.gi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jfif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4A60C-4A6B-1951-E33C-D990E301F8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Diffusion models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929A4BB-34BA-C687-7790-CE175FDC3D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Part 5</a:t>
            </a:r>
          </a:p>
        </p:txBody>
      </p:sp>
    </p:spTree>
    <p:extLst>
      <p:ext uri="{BB962C8B-B14F-4D97-AF65-F5344CB8AC3E}">
        <p14:creationId xmlns:p14="http://schemas.microsoft.com/office/powerpoint/2010/main" val="3266110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C09284-FED8-F032-52DC-4E6C88599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Outline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AE9570B-0D2E-2279-DB72-F4C08B51B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Brief summary</a:t>
            </a:r>
          </a:p>
          <a:p>
            <a:r>
              <a:rPr lang="da-DK" dirty="0" err="1"/>
              <a:t>Detailed</a:t>
            </a:r>
            <a:r>
              <a:rPr lang="da-DK" dirty="0"/>
              <a:t> </a:t>
            </a:r>
            <a:r>
              <a:rPr lang="da-DK" dirty="0" err="1"/>
              <a:t>review</a:t>
            </a:r>
            <a:r>
              <a:rPr lang="da-DK" dirty="0"/>
              <a:t> of ”final model”</a:t>
            </a:r>
          </a:p>
          <a:p>
            <a:pPr lvl="1"/>
            <a:r>
              <a:rPr lang="da-DK" dirty="0"/>
              <a:t>Quick note on diffusion </a:t>
            </a:r>
            <a:r>
              <a:rPr lang="da-DK" dirty="0" err="1"/>
              <a:t>process</a:t>
            </a:r>
            <a:endParaRPr lang="da-DK" dirty="0"/>
          </a:p>
          <a:p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else</a:t>
            </a:r>
            <a:r>
              <a:rPr lang="da-DK" dirty="0"/>
              <a:t> have I </a:t>
            </a:r>
            <a:r>
              <a:rPr lang="da-DK" dirty="0" err="1"/>
              <a:t>been</a:t>
            </a:r>
            <a:r>
              <a:rPr lang="da-DK" dirty="0"/>
              <a:t> </a:t>
            </a:r>
            <a:r>
              <a:rPr lang="da-DK" dirty="0" err="1"/>
              <a:t>doing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03484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11AE14-8E5D-8C23-D5B4-E453A0A2F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Brief summary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C33CD15-79A0-8296-90C5-F24CE4F4C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443" y="1444625"/>
            <a:ext cx="10515600" cy="4351338"/>
          </a:xfrm>
        </p:spPr>
        <p:txBody>
          <a:bodyPr/>
          <a:lstStyle/>
          <a:p>
            <a:r>
              <a:rPr lang="da-DK" dirty="0" err="1"/>
              <a:t>Showed</a:t>
            </a:r>
            <a:r>
              <a:rPr lang="da-DK" dirty="0"/>
              <a:t> </a:t>
            </a:r>
            <a:r>
              <a:rPr lang="da-DK" dirty="0" err="1"/>
              <a:t>finally</a:t>
            </a:r>
            <a:r>
              <a:rPr lang="da-DK" dirty="0"/>
              <a:t> </a:t>
            </a:r>
            <a:r>
              <a:rPr lang="da-DK" dirty="0" err="1"/>
              <a:t>working</a:t>
            </a:r>
            <a:r>
              <a:rPr lang="da-DK" dirty="0"/>
              <a:t> model</a:t>
            </a:r>
          </a:p>
          <a:p>
            <a:r>
              <a:rPr lang="da-DK" dirty="0" err="1"/>
              <a:t>Temperature</a:t>
            </a:r>
            <a:r>
              <a:rPr lang="da-DK" dirty="0"/>
              <a:t>: 1.0</a:t>
            </a:r>
          </a:p>
        </p:txBody>
      </p:sp>
      <p:pic>
        <p:nvPicPr>
          <p:cNvPr id="5" name="Billede 4" descr="Et billede, der indeholder tekst, diagram, skærmbillede&#10;&#10;AI-genereret indhold kan være ukorrekt.">
            <a:extLst>
              <a:ext uri="{FF2B5EF4-FFF2-40B4-BE49-F238E27FC236}">
                <a16:creationId xmlns:a16="http://schemas.microsoft.com/office/drawing/2014/main" id="{04748D8D-C523-D5A6-E3DF-9D962D4FE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705" y="0"/>
            <a:ext cx="6801852" cy="680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22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91CA53-1DCD-2FF6-1546-F90D2F5F6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Brief summary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3AF0BD9-FE52-EE08-7F7E-ED1C18E34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1473200"/>
            <a:ext cx="10515600" cy="4351338"/>
          </a:xfrm>
        </p:spPr>
        <p:txBody>
          <a:bodyPr/>
          <a:lstStyle/>
          <a:p>
            <a:r>
              <a:rPr lang="da-DK" dirty="0" err="1"/>
              <a:t>Temperature</a:t>
            </a:r>
            <a:r>
              <a:rPr lang="da-DK" dirty="0"/>
              <a:t>: 0.5</a:t>
            </a:r>
          </a:p>
        </p:txBody>
      </p:sp>
      <p:pic>
        <p:nvPicPr>
          <p:cNvPr id="7" name="Billede 6" descr="Et billede, der indeholder tekst, diagram, skærmbillede&#10;&#10;AI-genereret indhold kan være ukorrekt.">
            <a:extLst>
              <a:ext uri="{FF2B5EF4-FFF2-40B4-BE49-F238E27FC236}">
                <a16:creationId xmlns:a16="http://schemas.microsoft.com/office/drawing/2014/main" id="{F8BF3328-A4DA-808B-1E93-A191D8575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285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896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D0B27C-2A06-D1D0-14DF-71511F0E7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Brief summary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8030315-274A-57A1-FDFC-379229565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So it </a:t>
            </a:r>
            <a:r>
              <a:rPr lang="da-DK" dirty="0" err="1"/>
              <a:t>works</a:t>
            </a:r>
            <a:r>
              <a:rPr lang="da-DK" dirty="0"/>
              <a:t>!</a:t>
            </a:r>
          </a:p>
        </p:txBody>
      </p:sp>
      <p:pic>
        <p:nvPicPr>
          <p:cNvPr id="9" name="Billede 8" descr="Et billede, der indeholder tekst, diagram, skærmbillede, linje/række&#10;&#10;AI-genereret indhold kan være ukorrekt.">
            <a:extLst>
              <a:ext uri="{FF2B5EF4-FFF2-40B4-BE49-F238E27FC236}">
                <a16:creationId xmlns:a16="http://schemas.microsoft.com/office/drawing/2014/main" id="{41B8D8C4-C0B9-BD40-24B2-6B63797ED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62" y="2364034"/>
            <a:ext cx="5550789" cy="4493966"/>
          </a:xfrm>
          <a:prstGeom prst="rect">
            <a:avLst/>
          </a:prstGeom>
        </p:spPr>
      </p:pic>
      <p:pic>
        <p:nvPicPr>
          <p:cNvPr id="11" name="Billede 10" descr="Et billede, der indeholder tekst, diagram, linje/række, Kurve&#10;&#10;AI-genereret indhold kan være ukorrekt.">
            <a:extLst>
              <a:ext uri="{FF2B5EF4-FFF2-40B4-BE49-F238E27FC236}">
                <a16:creationId xmlns:a16="http://schemas.microsoft.com/office/drawing/2014/main" id="{A678A028-8AF0-4A3B-3C39-4B840C61F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2364034"/>
            <a:ext cx="5550789" cy="449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8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5F82B0-F8D4-CF14-D195-BC3E9025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Review of final model </a:t>
            </a:r>
            <a:r>
              <a:rPr lang="da-DK" dirty="0" err="1"/>
              <a:t>implementation</a:t>
            </a:r>
            <a:endParaRPr lang="da-DK" dirty="0"/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E8A7C549-8594-C228-8823-3803DBFF44E8}"/>
              </a:ext>
            </a:extLst>
          </p:cNvPr>
          <p:cNvSpPr/>
          <p:nvPr/>
        </p:nvSpPr>
        <p:spPr>
          <a:xfrm>
            <a:off x="2543175" y="1872584"/>
            <a:ext cx="6381750" cy="55245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>
                <a:solidFill>
                  <a:schemeClr val="tx1"/>
                </a:solidFill>
              </a:rPr>
              <a:t>Embedding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block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70AFCD86-9613-0CC4-EFE4-164294EED94F}"/>
              </a:ext>
            </a:extLst>
          </p:cNvPr>
          <p:cNvSpPr/>
          <p:nvPr/>
        </p:nvSpPr>
        <p:spPr>
          <a:xfrm>
            <a:off x="2536698" y="2934495"/>
            <a:ext cx="6381750" cy="55245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33868DFC-274C-0EB1-F695-A1E59A8EAA05}"/>
              </a:ext>
            </a:extLst>
          </p:cNvPr>
          <p:cNvSpPr/>
          <p:nvPr/>
        </p:nvSpPr>
        <p:spPr>
          <a:xfrm>
            <a:off x="2536698" y="3015458"/>
            <a:ext cx="6381750" cy="55245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Rektangel: afrundede hjørner 7">
            <a:extLst>
              <a:ext uri="{FF2B5EF4-FFF2-40B4-BE49-F238E27FC236}">
                <a16:creationId xmlns:a16="http://schemas.microsoft.com/office/drawing/2014/main" id="{D8371D72-40A9-23C7-9532-1BD2F724B9BF}"/>
              </a:ext>
            </a:extLst>
          </p:cNvPr>
          <p:cNvSpPr/>
          <p:nvPr/>
        </p:nvSpPr>
        <p:spPr>
          <a:xfrm>
            <a:off x="2536698" y="3109244"/>
            <a:ext cx="6381750" cy="55245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22A5274B-519B-A35F-6837-3F6CC71DC923}"/>
              </a:ext>
            </a:extLst>
          </p:cNvPr>
          <p:cNvSpPr/>
          <p:nvPr/>
        </p:nvSpPr>
        <p:spPr>
          <a:xfrm>
            <a:off x="2536698" y="3198147"/>
            <a:ext cx="6381750" cy="55245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>
                <a:solidFill>
                  <a:schemeClr val="tx1"/>
                </a:solidFill>
              </a:rPr>
              <a:t>Interaction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blocks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9" name="Rektangel: afrundede hjørner 8">
            <a:extLst>
              <a:ext uri="{FF2B5EF4-FFF2-40B4-BE49-F238E27FC236}">
                <a16:creationId xmlns:a16="http://schemas.microsoft.com/office/drawing/2014/main" id="{CD136A50-3705-F2F0-5C86-101FE577C355}"/>
              </a:ext>
            </a:extLst>
          </p:cNvPr>
          <p:cNvSpPr/>
          <p:nvPr/>
        </p:nvSpPr>
        <p:spPr>
          <a:xfrm>
            <a:off x="2536698" y="4215067"/>
            <a:ext cx="6381750" cy="55245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Global distance-</a:t>
            </a:r>
            <a:r>
              <a:rPr lang="da-DK" dirty="0" err="1">
                <a:solidFill>
                  <a:schemeClr val="tx1"/>
                </a:solidFill>
              </a:rPr>
              <a:t>aware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interaction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10" name="Rektangel: afrundede hjørner 9">
            <a:extLst>
              <a:ext uri="{FF2B5EF4-FFF2-40B4-BE49-F238E27FC236}">
                <a16:creationId xmlns:a16="http://schemas.microsoft.com/office/drawing/2014/main" id="{196AF957-44D8-CA52-04C8-3465D7B2C4AE}"/>
              </a:ext>
            </a:extLst>
          </p:cNvPr>
          <p:cNvSpPr/>
          <p:nvPr/>
        </p:nvSpPr>
        <p:spPr>
          <a:xfrm>
            <a:off x="2543175" y="5245226"/>
            <a:ext cx="6381750" cy="5524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>
                <a:solidFill>
                  <a:schemeClr val="tx1"/>
                </a:solidFill>
              </a:rPr>
              <a:t>Logit</a:t>
            </a:r>
            <a:r>
              <a:rPr lang="da-DK" dirty="0">
                <a:solidFill>
                  <a:schemeClr val="tx1"/>
                </a:solidFill>
              </a:rPr>
              <a:t> head</a:t>
            </a:r>
          </a:p>
        </p:txBody>
      </p: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39249FFD-FFB3-D918-06F9-6A12B2989B9C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5727573" y="2425034"/>
            <a:ext cx="6477" cy="5094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839F6B14-2B77-3653-0BC2-558A68D65356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727573" y="3750597"/>
            <a:ext cx="0" cy="46447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ge pilforbindelse 17">
            <a:extLst>
              <a:ext uri="{FF2B5EF4-FFF2-40B4-BE49-F238E27FC236}">
                <a16:creationId xmlns:a16="http://schemas.microsoft.com/office/drawing/2014/main" id="{C6263170-3BA6-72EF-EDE9-3EC8C0EEA6F0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5727573" y="4767517"/>
            <a:ext cx="6477" cy="4777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039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08D12E-AF59-3CD3-AC0C-CBF752A26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Embedding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0CB3920-4FB1-D6ED-7405-F203B3B710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529084" cy="4351338"/>
              </a:xfrm>
            </p:spPr>
            <p:txBody>
              <a:bodyPr/>
              <a:lstStyle/>
              <a:p>
                <a:r>
                  <a:rPr lang="da-DK" sz="2000" b="0" dirty="0"/>
                  <a:t>Information </a:t>
                </a:r>
                <a:r>
                  <a:rPr lang="da-DK" sz="2000" b="0" dirty="0" err="1"/>
                  <a:t>we</a:t>
                </a:r>
                <a:r>
                  <a:rPr lang="da-DK" sz="2000" b="0" dirty="0"/>
                  <a:t> </a:t>
                </a:r>
                <a:r>
                  <a:rPr lang="da-DK" sz="2000" b="0" dirty="0" err="1"/>
                  <a:t>want</a:t>
                </a:r>
                <a:r>
                  <a:rPr lang="da-DK" sz="2000" b="0" dirty="0"/>
                  <a:t> to </a:t>
                </a:r>
                <a:r>
                  <a:rPr lang="da-DK" sz="2000" b="0" dirty="0" err="1"/>
                  <a:t>embed</a:t>
                </a:r>
                <a:r>
                  <a:rPr lang="da-DK" sz="2000" dirty="0"/>
                  <a:t>: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a-DK" sz="2000" dirty="0"/>
                  <a:t> </a:t>
                </a:r>
                <a:r>
                  <a:rPr lang="da-DK" sz="2000" dirty="0">
                    <a:sym typeface="Wingdings" panose="05000000000000000000" pitchFamily="2" charset="2"/>
                  </a:rPr>
                  <a:t> </a:t>
                </a:r>
                <a:r>
                  <a:rPr lang="da-DK" sz="2000" dirty="0" err="1">
                    <a:sym typeface="Wingdings" panose="05000000000000000000" pitchFamily="2" charset="2"/>
                  </a:rPr>
                  <a:t>Atomic</a:t>
                </a:r>
                <a:r>
                  <a:rPr lang="da-DK" sz="2000" dirty="0">
                    <a:sym typeface="Wingdings" panose="05000000000000000000" pitchFamily="2" charset="2"/>
                  </a:rPr>
                  <a:t> species / </a:t>
                </a:r>
                <a:r>
                  <a:rPr lang="da-DK" sz="2000" dirty="0" err="1">
                    <a:sym typeface="Wingdings" panose="05000000000000000000" pitchFamily="2" charset="2"/>
                  </a:rPr>
                  <a:t>token</a:t>
                </a:r>
                <a:r>
                  <a:rPr lang="da-DK" sz="2000" dirty="0">
                    <a:sym typeface="Wingdings" panose="05000000000000000000" pitchFamily="2" charset="2"/>
                  </a:rPr>
                  <a:t> </a:t>
                </a:r>
                <a:r>
                  <a:rPr lang="da-DK" sz="2000" dirty="0" err="1">
                    <a:sym typeface="Wingdings" panose="05000000000000000000" pitchFamily="2" charset="2"/>
                  </a:rPr>
                  <a:t>sitting</a:t>
                </a:r>
                <a:r>
                  <a:rPr lang="da-DK" sz="2000" dirty="0">
                    <a:sym typeface="Wingdings" panose="05000000000000000000" pitchFamily="2" charset="2"/>
                  </a:rPr>
                  <a:t> at site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a-DK" sz="2000" dirty="0">
                    <a:sym typeface="Wingdings" panose="05000000000000000000" pitchFamily="2" charset="2"/>
                  </a:rPr>
                  <a:t> at time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da-DK" sz="2000" dirty="0"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da-DK" sz="2000" dirty="0"/>
                  <a:t> </a:t>
                </a:r>
                <a:r>
                  <a:rPr lang="da-DK" sz="2000" dirty="0">
                    <a:sym typeface="Wingdings" panose="05000000000000000000" pitchFamily="2" charset="2"/>
                  </a:rPr>
                  <a:t> Relative information </a:t>
                </a:r>
                <a:r>
                  <a:rPr lang="da-DK" sz="2000" dirty="0" err="1">
                    <a:sym typeface="Wingdings" panose="05000000000000000000" pitchFamily="2" charset="2"/>
                  </a:rPr>
                  <a:t>about</a:t>
                </a:r>
                <a:r>
                  <a:rPr lang="da-DK" sz="2000" dirty="0">
                    <a:sym typeface="Wingdings" panose="05000000000000000000" pitchFamily="2" charset="2"/>
                  </a:rPr>
                  <a:t> </a:t>
                </a:r>
                <a:r>
                  <a:rPr lang="da-DK" sz="2000" dirty="0" err="1">
                    <a:sym typeface="Wingdings" panose="05000000000000000000" pitchFamily="2" charset="2"/>
                  </a:rPr>
                  <a:t>environment</a:t>
                </a:r>
                <a:r>
                  <a:rPr lang="da-DK" sz="2000" dirty="0">
                    <a:sym typeface="Wingdings" panose="05000000000000000000" pitchFamily="2" charset="2"/>
                  </a:rPr>
                  <a:t> from </a:t>
                </a:r>
                <a:r>
                  <a:rPr lang="da-DK" sz="2000" dirty="0" err="1">
                    <a:sym typeface="Wingdings" panose="05000000000000000000" pitchFamily="2" charset="2"/>
                  </a:rPr>
                  <a:t>fixed</a:t>
                </a:r>
                <a:r>
                  <a:rPr lang="da-DK" sz="2000" dirty="0">
                    <a:sym typeface="Wingdings" panose="05000000000000000000" pitchFamily="2" charset="2"/>
                  </a:rPr>
                  <a:t> </a:t>
                </a:r>
                <a:r>
                  <a:rPr lang="da-DK" sz="2000" dirty="0" err="1">
                    <a:sym typeface="Wingdings" panose="05000000000000000000" pitchFamily="2" charset="2"/>
                  </a:rPr>
                  <a:t>grid</a:t>
                </a:r>
                <a:endParaRPr lang="da-DK" sz="2000" dirty="0"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a-DK" sz="2000" dirty="0"/>
                  <a:t> </a:t>
                </a:r>
                <a:r>
                  <a:rPr lang="da-DK" sz="2000" dirty="0">
                    <a:sym typeface="Wingdings" panose="05000000000000000000" pitchFamily="2" charset="2"/>
                  </a:rPr>
                  <a:t> </a:t>
                </a:r>
                <a:r>
                  <a:rPr lang="da-DK" sz="2000" dirty="0" err="1">
                    <a:sym typeface="Wingdings" panose="05000000000000000000" pitchFamily="2" charset="2"/>
                  </a:rPr>
                  <a:t>current</a:t>
                </a:r>
                <a:r>
                  <a:rPr lang="da-DK" sz="2000" dirty="0">
                    <a:sym typeface="Wingdings" panose="05000000000000000000" pitchFamily="2" charset="2"/>
                  </a:rPr>
                  <a:t> timestep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sz="2000" dirty="0">
                    <a:sym typeface="Wingdings" panose="05000000000000000000" pitchFamily="2" charset="2"/>
                  </a:rPr>
                  <a:t> </a:t>
                </a:r>
                <a:r>
                  <a:rPr lang="da-DK" sz="2000" dirty="0" err="1">
                    <a:sym typeface="Wingdings" panose="05000000000000000000" pitchFamily="2" charset="2"/>
                  </a:rPr>
                  <a:t>condition</a:t>
                </a:r>
                <a:r>
                  <a:rPr lang="da-DK" sz="2000" dirty="0">
                    <a:sym typeface="Wingdings" panose="05000000000000000000" pitchFamily="2" charset="2"/>
                  </a:rPr>
                  <a:t> </a:t>
                </a:r>
                <a:r>
                  <a:rPr lang="da-DK" sz="2000" dirty="0" err="1">
                    <a:sym typeface="Wingdings" panose="05000000000000000000" pitchFamily="2" charset="2"/>
                  </a:rPr>
                  <a:t>we</a:t>
                </a:r>
                <a:r>
                  <a:rPr lang="da-DK" sz="2000" dirty="0">
                    <a:sym typeface="Wingdings" panose="05000000000000000000" pitchFamily="2" charset="2"/>
                  </a:rPr>
                  <a:t> </a:t>
                </a:r>
                <a:r>
                  <a:rPr lang="da-DK" sz="2000" dirty="0" err="1">
                    <a:sym typeface="Wingdings" panose="05000000000000000000" pitchFamily="2" charset="2"/>
                  </a:rPr>
                  <a:t>would</a:t>
                </a:r>
                <a:r>
                  <a:rPr lang="da-DK" sz="2000" dirty="0">
                    <a:sym typeface="Wingdings" panose="05000000000000000000" pitchFamily="2" charset="2"/>
                  </a:rPr>
                  <a:t> like </a:t>
                </a:r>
                <a:r>
                  <a:rPr lang="da-DK" sz="2000" dirty="0" err="1">
                    <a:sym typeface="Wingdings" panose="05000000000000000000" pitchFamily="2" charset="2"/>
                  </a:rPr>
                  <a:t>walk</a:t>
                </a:r>
                <a:r>
                  <a:rPr lang="da-DK" sz="2000" dirty="0">
                    <a:sym typeface="Wingdings" panose="05000000000000000000" pitchFamily="2" charset="2"/>
                  </a:rPr>
                  <a:t> </a:t>
                </a:r>
                <a:r>
                  <a:rPr lang="da-DK" sz="2000" dirty="0" err="1">
                    <a:sym typeface="Wingdings" panose="05000000000000000000" pitchFamily="2" charset="2"/>
                  </a:rPr>
                  <a:t>towards</a:t>
                </a:r>
                <a:endParaRPr lang="da-DK" sz="2000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0CB3920-4FB1-D6ED-7405-F203B3B710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529084" cy="4351338"/>
              </a:xfrm>
              <a:blipFill>
                <a:blip r:embed="rId2"/>
                <a:stretch>
                  <a:fillRect l="-643" t="-23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Billede 38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C811835D-F837-0CF7-CDF6-9A74F6048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339" y="4507983"/>
            <a:ext cx="1827889" cy="18039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kstfelt 40">
                <a:extLst>
                  <a:ext uri="{FF2B5EF4-FFF2-40B4-BE49-F238E27FC236}">
                    <a16:creationId xmlns:a16="http://schemas.microsoft.com/office/drawing/2014/main" id="{3EED6AF7-8DDD-AC9D-17BA-1EF48C91FD72}"/>
                  </a:ext>
                </a:extLst>
              </p:cNvPr>
              <p:cNvSpPr txBox="1"/>
              <p:nvPr/>
            </p:nvSpPr>
            <p:spPr>
              <a:xfrm>
                <a:off x="2945648" y="4786054"/>
                <a:ext cx="3535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1" name="Tekstfelt 40">
                <a:extLst>
                  <a:ext uri="{FF2B5EF4-FFF2-40B4-BE49-F238E27FC236}">
                    <a16:creationId xmlns:a16="http://schemas.microsoft.com/office/drawing/2014/main" id="{3EED6AF7-8DDD-AC9D-17BA-1EF48C91F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648" y="4786054"/>
                <a:ext cx="353558" cy="369332"/>
              </a:xfrm>
              <a:prstGeom prst="rect">
                <a:avLst/>
              </a:prstGeom>
              <a:blipFill>
                <a:blip r:embed="rId4"/>
                <a:stretch>
                  <a:fillRect l="-5172" t="-22951" r="-136207" b="-1311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kstfelt 42">
                <a:extLst>
                  <a:ext uri="{FF2B5EF4-FFF2-40B4-BE49-F238E27FC236}">
                    <a16:creationId xmlns:a16="http://schemas.microsoft.com/office/drawing/2014/main" id="{20FCD118-D3C8-1015-9FD9-291B45FD4439}"/>
                  </a:ext>
                </a:extLst>
              </p:cNvPr>
              <p:cNvSpPr txBox="1"/>
              <p:nvPr/>
            </p:nvSpPr>
            <p:spPr>
              <a:xfrm>
                <a:off x="155944" y="3977366"/>
                <a:ext cx="6097772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=−0.8</m:t>
                    </m:r>
                    <m:d>
                      <m:dPr>
                        <m:begChr m:val="["/>
                        <m:endChr m:val="]"/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𝑒𝑉</m:t>
                        </m:r>
                      </m:e>
                    </m:d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=8000</m:t>
                    </m:r>
                    <m:d>
                      <m:dPr>
                        <m:begChr m:val="["/>
                        <m:endChr m:val="]"/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sz="1800" dirty="0"/>
                  <a:t> </a:t>
                </a:r>
                <a:endParaRPr lang="da-DK" dirty="0"/>
              </a:p>
            </p:txBody>
          </p:sp>
        </mc:Choice>
        <mc:Fallback xmlns="">
          <p:sp>
            <p:nvSpPr>
              <p:cNvPr id="43" name="Tekstfelt 42">
                <a:extLst>
                  <a:ext uri="{FF2B5EF4-FFF2-40B4-BE49-F238E27FC236}">
                    <a16:creationId xmlns:a16="http://schemas.microsoft.com/office/drawing/2014/main" id="{20FCD118-D3C8-1015-9FD9-291B45FD4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44" y="3977366"/>
                <a:ext cx="6097772" cy="391582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kstfelt 43">
                <a:extLst>
                  <a:ext uri="{FF2B5EF4-FFF2-40B4-BE49-F238E27FC236}">
                    <a16:creationId xmlns:a16="http://schemas.microsoft.com/office/drawing/2014/main" id="{9113689B-CA17-820B-BD6D-DEEE856B2450}"/>
                  </a:ext>
                </a:extLst>
              </p:cNvPr>
              <p:cNvSpPr txBox="1"/>
              <p:nvPr/>
            </p:nvSpPr>
            <p:spPr>
              <a:xfrm>
                <a:off x="5938284" y="3884905"/>
                <a:ext cx="6097772" cy="484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=−0.8</m:t>
                    </m:r>
                    <m:d>
                      <m:dPr>
                        <m:begChr m:val="["/>
                        <m:endChr m:val="]"/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𝑒𝑉</m:t>
                        </m:r>
                      </m:e>
                    </m:d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=8000</m:t>
                    </m:r>
                    <m:d>
                      <m:dPr>
                        <m:begChr m:val="["/>
                        <m:endChr m:val="]"/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sz="1800" dirty="0"/>
                  <a:t> </a:t>
                </a:r>
                <a:endParaRPr lang="da-DK" dirty="0"/>
              </a:p>
            </p:txBody>
          </p:sp>
        </mc:Choice>
        <mc:Fallback xmlns="">
          <p:sp>
            <p:nvSpPr>
              <p:cNvPr id="44" name="Tekstfelt 43">
                <a:extLst>
                  <a:ext uri="{FF2B5EF4-FFF2-40B4-BE49-F238E27FC236}">
                    <a16:creationId xmlns:a16="http://schemas.microsoft.com/office/drawing/2014/main" id="{9113689B-CA17-820B-BD6D-DEEE856B2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284" y="3884905"/>
                <a:ext cx="6097772" cy="484043"/>
              </a:xfrm>
              <a:prstGeom prst="rect">
                <a:avLst/>
              </a:prstGeom>
              <a:blipFill>
                <a:blip r:embed="rId6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Billede 45" descr="Et billede, der indeholder cirkel, Farverigt, diagram&#10;&#10;AI-genereret indhold kan være ukorrekt.">
            <a:extLst>
              <a:ext uri="{FF2B5EF4-FFF2-40B4-BE49-F238E27FC236}">
                <a16:creationId xmlns:a16="http://schemas.microsoft.com/office/drawing/2014/main" id="{0826F07D-FA98-C656-980A-CA4AF97823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3857" y="4507076"/>
            <a:ext cx="1827889" cy="18048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kstfelt 46">
                <a:extLst>
                  <a:ext uri="{FF2B5EF4-FFF2-40B4-BE49-F238E27FC236}">
                    <a16:creationId xmlns:a16="http://schemas.microsoft.com/office/drawing/2014/main" id="{7B9DE5E8-2367-A8E5-36D3-F6AF9D255AA3}"/>
                  </a:ext>
                </a:extLst>
              </p:cNvPr>
              <p:cNvSpPr txBox="1"/>
              <p:nvPr/>
            </p:nvSpPr>
            <p:spPr>
              <a:xfrm>
                <a:off x="9014967" y="4786054"/>
                <a:ext cx="3535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7" name="Tekstfelt 46">
                <a:extLst>
                  <a:ext uri="{FF2B5EF4-FFF2-40B4-BE49-F238E27FC236}">
                    <a16:creationId xmlns:a16="http://schemas.microsoft.com/office/drawing/2014/main" id="{7B9DE5E8-2367-A8E5-36D3-F6AF9D255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967" y="4786054"/>
                <a:ext cx="353558" cy="369332"/>
              </a:xfrm>
              <a:prstGeom prst="rect">
                <a:avLst/>
              </a:prstGeom>
              <a:blipFill>
                <a:blip r:embed="rId8"/>
                <a:stretch>
                  <a:fillRect l="-5172" t="-22951" r="-136207" b="-1311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87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ABE30-6AED-BB1B-F145-35A00C24E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25EC72-9A83-AAAA-DE43-73BFE7BB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Embedding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BE07C819-2CAF-1ED1-905B-7ADE2EC6A528}"/>
                  </a:ext>
                </a:extLst>
              </p:cNvPr>
              <p:cNvSpPr txBox="1"/>
              <p:nvPr/>
            </p:nvSpPr>
            <p:spPr>
              <a:xfrm>
                <a:off x="131357" y="4728775"/>
                <a:ext cx="9800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BE07C819-2CAF-1ED1-905B-7ADE2EC6A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57" y="4728775"/>
                <a:ext cx="980036" cy="276999"/>
              </a:xfrm>
              <a:prstGeom prst="rect">
                <a:avLst/>
              </a:prstGeom>
              <a:blipFill>
                <a:blip r:embed="rId2"/>
                <a:stretch>
                  <a:fillRect l="-8750" t="-48889" r="-32500" b="-3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Forbindelse: vinklet 30">
            <a:extLst>
              <a:ext uri="{FF2B5EF4-FFF2-40B4-BE49-F238E27FC236}">
                <a16:creationId xmlns:a16="http://schemas.microsoft.com/office/drawing/2014/main" id="{E5FA8B25-AD32-D0F8-CF0B-4C80348B7326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450444" y="5021827"/>
            <a:ext cx="1031210" cy="232858"/>
          </a:xfrm>
          <a:prstGeom prst="bentConnector3">
            <a:avLst>
              <a:gd name="adj1" fmla="val -8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ktangel: afrundede hjørner 46">
            <a:extLst>
              <a:ext uri="{FF2B5EF4-FFF2-40B4-BE49-F238E27FC236}">
                <a16:creationId xmlns:a16="http://schemas.microsoft.com/office/drawing/2014/main" id="{97E92E96-7201-3559-293F-80087A3C11C9}"/>
              </a:ext>
            </a:extLst>
          </p:cNvPr>
          <p:cNvSpPr/>
          <p:nvPr/>
        </p:nvSpPr>
        <p:spPr>
          <a:xfrm>
            <a:off x="1481654" y="4867274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Element species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74505359-FE88-9DD1-5AE9-4F7281B080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529084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a-DK" sz="2000" b="0" dirty="0"/>
                  <a:t> </a:t>
                </a:r>
                <a:r>
                  <a:rPr lang="da-DK" sz="2000" b="0" dirty="0">
                    <a:sym typeface="Wingdings" panose="05000000000000000000" pitchFamily="2" charset="2"/>
                  </a:rPr>
                  <a:t> </a:t>
                </a:r>
                <a:r>
                  <a:rPr lang="da-DK" sz="2000" b="0" dirty="0" err="1">
                    <a:sym typeface="Wingdings" panose="05000000000000000000" pitchFamily="2" charset="2"/>
                  </a:rPr>
                  <a:t>Learnable</a:t>
                </a:r>
                <a:r>
                  <a:rPr lang="da-DK" sz="2000" b="0" dirty="0">
                    <a:sym typeface="Wingdings" panose="05000000000000000000" pitchFamily="2" charset="2"/>
                  </a:rPr>
                  <a:t> </a:t>
                </a:r>
                <a:r>
                  <a:rPr lang="da-DK" sz="2000" b="0" dirty="0" err="1">
                    <a:sym typeface="Wingdings" panose="05000000000000000000" pitchFamily="2" charset="2"/>
                  </a:rPr>
                  <a:t>vector</a:t>
                </a:r>
                <a:r>
                  <a:rPr lang="da-DK" sz="2000" b="0" dirty="0">
                    <a:sym typeface="Wingdings" panose="05000000000000000000" pitchFamily="2" charset="2"/>
                  </a:rPr>
                  <a:t> for </a:t>
                </a:r>
                <a:r>
                  <a:rPr lang="da-DK" sz="2000" b="0" dirty="0" err="1">
                    <a:sym typeface="Wingdings" panose="05000000000000000000" pitchFamily="2" charset="2"/>
                  </a:rPr>
                  <a:t>each</a:t>
                </a:r>
                <a:r>
                  <a:rPr lang="da-DK" sz="2000" b="0" dirty="0">
                    <a:sym typeface="Wingdings" panose="05000000000000000000" pitchFamily="2" charset="2"/>
                  </a:rPr>
                  <a:t> species</a:t>
                </a:r>
                <a:endParaRPr lang="da-DK" sz="2000" b="0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74505359-FE88-9DD1-5AE9-4F7281B080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529084" cy="4351338"/>
              </a:xfrm>
              <a:blipFill>
                <a:blip r:embed="rId3"/>
                <a:stretch>
                  <a:fillRect l="-643" t="-154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675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9F2BA-F5E7-4371-AC47-D151AD419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8E6EAA-09EA-CB93-6607-ED9D78887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Embedding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CAD95B76-7B77-9EBA-4AEE-C8C009366C43}"/>
                  </a:ext>
                </a:extLst>
              </p:cNvPr>
              <p:cNvSpPr txBox="1"/>
              <p:nvPr/>
            </p:nvSpPr>
            <p:spPr>
              <a:xfrm>
                <a:off x="131357" y="4728775"/>
                <a:ext cx="9800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CAD95B76-7B77-9EBA-4AEE-C8C009366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57" y="4728775"/>
                <a:ext cx="980036" cy="276999"/>
              </a:xfrm>
              <a:prstGeom prst="rect">
                <a:avLst/>
              </a:prstGeom>
              <a:blipFill>
                <a:blip r:embed="rId2"/>
                <a:stretch>
                  <a:fillRect l="-8750" t="-48889" r="-32500" b="-3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Forbindelse: vinklet 30">
            <a:extLst>
              <a:ext uri="{FF2B5EF4-FFF2-40B4-BE49-F238E27FC236}">
                <a16:creationId xmlns:a16="http://schemas.microsoft.com/office/drawing/2014/main" id="{5ADF7A34-5F00-CCA4-B93A-0EB8F1D67EAA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450444" y="5021827"/>
            <a:ext cx="1031210" cy="232858"/>
          </a:xfrm>
          <a:prstGeom prst="bentConnector3">
            <a:avLst>
              <a:gd name="adj1" fmla="val -8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kstfelt 37">
                <a:extLst>
                  <a:ext uri="{FF2B5EF4-FFF2-40B4-BE49-F238E27FC236}">
                    <a16:creationId xmlns:a16="http://schemas.microsoft.com/office/drawing/2014/main" id="{0D5B2978-30E3-9075-9F45-69C9B3257C43}"/>
                  </a:ext>
                </a:extLst>
              </p:cNvPr>
              <p:cNvSpPr txBox="1"/>
              <p:nvPr/>
            </p:nvSpPr>
            <p:spPr>
              <a:xfrm>
                <a:off x="623963" y="3698921"/>
                <a:ext cx="222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8" name="Tekstfelt 37">
                <a:extLst>
                  <a:ext uri="{FF2B5EF4-FFF2-40B4-BE49-F238E27FC236}">
                    <a16:creationId xmlns:a16="http://schemas.microsoft.com/office/drawing/2014/main" id="{0D5B2978-30E3-9075-9F45-69C9B3257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63" y="3698921"/>
                <a:ext cx="222882" cy="276999"/>
              </a:xfrm>
              <a:prstGeom prst="rect">
                <a:avLst/>
              </a:prstGeom>
              <a:blipFill>
                <a:blip r:embed="rId3"/>
                <a:stretch>
                  <a:fillRect l="-16216" r="-8108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ktangel: afrundede hjørner 45">
            <a:extLst>
              <a:ext uri="{FF2B5EF4-FFF2-40B4-BE49-F238E27FC236}">
                <a16:creationId xmlns:a16="http://schemas.microsoft.com/office/drawing/2014/main" id="{3F8EA0A3-5CBA-28C1-4BBD-31FF3B6EF29B}"/>
              </a:ext>
            </a:extLst>
          </p:cNvPr>
          <p:cNvSpPr/>
          <p:nvPr/>
        </p:nvSpPr>
        <p:spPr>
          <a:xfrm>
            <a:off x="1481654" y="3494151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site type</a:t>
            </a:r>
            <a:br>
              <a:rPr lang="da-DK" dirty="0">
                <a:solidFill>
                  <a:schemeClr val="tx1"/>
                </a:solidFill>
              </a:rPr>
            </a:br>
            <a:r>
              <a:rPr lang="da-DK" dirty="0" err="1">
                <a:solidFill>
                  <a:schemeClr val="tx1"/>
                </a:solidFill>
              </a:rPr>
              <a:t>active</a:t>
            </a:r>
            <a:r>
              <a:rPr lang="da-DK" dirty="0">
                <a:solidFill>
                  <a:schemeClr val="tx1"/>
                </a:solidFill>
              </a:rPr>
              <a:t>/non </a:t>
            </a:r>
            <a:r>
              <a:rPr lang="da-DK" dirty="0" err="1">
                <a:solidFill>
                  <a:schemeClr val="tx1"/>
                </a:solidFill>
              </a:rPr>
              <a:t>active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47" name="Rektangel: afrundede hjørner 46">
            <a:extLst>
              <a:ext uri="{FF2B5EF4-FFF2-40B4-BE49-F238E27FC236}">
                <a16:creationId xmlns:a16="http://schemas.microsoft.com/office/drawing/2014/main" id="{78A5AA5A-C75D-DC1A-616E-BD5A7F51C900}"/>
              </a:ext>
            </a:extLst>
          </p:cNvPr>
          <p:cNvSpPr/>
          <p:nvPr/>
        </p:nvSpPr>
        <p:spPr>
          <a:xfrm>
            <a:off x="1481654" y="4867274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Element species</a:t>
            </a:r>
          </a:p>
        </p:txBody>
      </p:sp>
      <p:cxnSp>
        <p:nvCxnSpPr>
          <p:cNvPr id="50" name="Lige pilforbindelse 49">
            <a:extLst>
              <a:ext uri="{FF2B5EF4-FFF2-40B4-BE49-F238E27FC236}">
                <a16:creationId xmlns:a16="http://schemas.microsoft.com/office/drawing/2014/main" id="{BFF7ADFE-1BC0-116A-CDF8-58AE4BFC4DEE}"/>
              </a:ext>
            </a:extLst>
          </p:cNvPr>
          <p:cNvCxnSpPr>
            <a:cxnSpLocks/>
          </p:cNvCxnSpPr>
          <p:nvPr/>
        </p:nvCxnSpPr>
        <p:spPr>
          <a:xfrm flipH="1" flipV="1">
            <a:off x="727554" y="4052474"/>
            <a:ext cx="3925" cy="586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ige pilforbindelse 55">
            <a:extLst>
              <a:ext uri="{FF2B5EF4-FFF2-40B4-BE49-F238E27FC236}">
                <a16:creationId xmlns:a16="http://schemas.microsoft.com/office/drawing/2014/main" id="{548BAC37-7423-31CD-07F9-F74F2E7159AB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945444" y="3881562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llipse 51">
            <a:extLst>
              <a:ext uri="{FF2B5EF4-FFF2-40B4-BE49-F238E27FC236}">
                <a16:creationId xmlns:a16="http://schemas.microsoft.com/office/drawing/2014/main" id="{F2BB2D75-CE58-F6BC-6609-FB047E5CFBF2}"/>
              </a:ext>
            </a:extLst>
          </p:cNvPr>
          <p:cNvSpPr/>
          <p:nvPr/>
        </p:nvSpPr>
        <p:spPr>
          <a:xfrm>
            <a:off x="8794088" y="4513636"/>
            <a:ext cx="474531" cy="474531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EA1B6C21-73D2-FAF2-8E34-139778340AA7}"/>
              </a:ext>
            </a:extLst>
          </p:cNvPr>
          <p:cNvSpPr/>
          <p:nvPr/>
        </p:nvSpPr>
        <p:spPr>
          <a:xfrm>
            <a:off x="7885548" y="4513636"/>
            <a:ext cx="474531" cy="474531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BC7CE4EE-9C73-5C07-EB69-5CBCA9329BE7}"/>
              </a:ext>
            </a:extLst>
          </p:cNvPr>
          <p:cNvSpPr/>
          <p:nvPr/>
        </p:nvSpPr>
        <p:spPr>
          <a:xfrm>
            <a:off x="8794088" y="3644296"/>
            <a:ext cx="474531" cy="474531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F35A34EB-A56E-60A9-BF02-F874F720C6D7}"/>
              </a:ext>
            </a:extLst>
          </p:cNvPr>
          <p:cNvSpPr/>
          <p:nvPr/>
        </p:nvSpPr>
        <p:spPr>
          <a:xfrm>
            <a:off x="7885548" y="3644296"/>
            <a:ext cx="474531" cy="474531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24146B3A-E5E0-94C3-1E14-05762098D772}"/>
              </a:ext>
            </a:extLst>
          </p:cNvPr>
          <p:cNvSpPr/>
          <p:nvPr/>
        </p:nvSpPr>
        <p:spPr>
          <a:xfrm>
            <a:off x="9689281" y="4515662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9F4FACDE-59D8-AB65-F408-3BFC0AD466EE}"/>
              </a:ext>
            </a:extLst>
          </p:cNvPr>
          <p:cNvSpPr/>
          <p:nvPr/>
        </p:nvSpPr>
        <p:spPr>
          <a:xfrm>
            <a:off x="9689281" y="3646322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2FEB4C1F-2E75-BAC5-2C2C-3FB73812E2D8}"/>
              </a:ext>
            </a:extLst>
          </p:cNvPr>
          <p:cNvSpPr/>
          <p:nvPr/>
        </p:nvSpPr>
        <p:spPr>
          <a:xfrm>
            <a:off x="8802523" y="2775853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7BE196EC-481D-FD00-FD42-4DD09971BBA6}"/>
              </a:ext>
            </a:extLst>
          </p:cNvPr>
          <p:cNvSpPr/>
          <p:nvPr/>
        </p:nvSpPr>
        <p:spPr>
          <a:xfrm>
            <a:off x="7885548" y="2775208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8DBE3BC9-A38A-3F9F-F6A8-E448598AA3BC}"/>
              </a:ext>
            </a:extLst>
          </p:cNvPr>
          <p:cNvSpPr/>
          <p:nvPr/>
        </p:nvSpPr>
        <p:spPr>
          <a:xfrm>
            <a:off x="8787384" y="5382976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CDC5A623-5A86-68B6-722A-2EB43D03B5BB}"/>
              </a:ext>
            </a:extLst>
          </p:cNvPr>
          <p:cNvSpPr/>
          <p:nvPr/>
        </p:nvSpPr>
        <p:spPr>
          <a:xfrm>
            <a:off x="7878844" y="5382976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64" name="Lige forbindelse 63">
            <a:extLst>
              <a:ext uri="{FF2B5EF4-FFF2-40B4-BE49-F238E27FC236}">
                <a16:creationId xmlns:a16="http://schemas.microsoft.com/office/drawing/2014/main" id="{A0EB102E-D2D1-9FC6-7CAE-FBC22A098FCD}"/>
              </a:ext>
            </a:extLst>
          </p:cNvPr>
          <p:cNvCxnSpPr>
            <a:stCxn id="52" idx="0"/>
            <a:endCxn id="54" idx="4"/>
          </p:cNvCxnSpPr>
          <p:nvPr/>
        </p:nvCxnSpPr>
        <p:spPr>
          <a:xfrm flipV="1">
            <a:off x="9031354" y="4118827"/>
            <a:ext cx="0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Lige forbindelse 64">
            <a:extLst>
              <a:ext uri="{FF2B5EF4-FFF2-40B4-BE49-F238E27FC236}">
                <a16:creationId xmlns:a16="http://schemas.microsoft.com/office/drawing/2014/main" id="{41E1E3C1-09CB-B110-7FA1-2A9583772E24}"/>
              </a:ext>
            </a:extLst>
          </p:cNvPr>
          <p:cNvCxnSpPr>
            <a:cxnSpLocks/>
            <a:stCxn id="53" idx="6"/>
            <a:endCxn id="52" idx="2"/>
          </p:cNvCxnSpPr>
          <p:nvPr/>
        </p:nvCxnSpPr>
        <p:spPr>
          <a:xfrm>
            <a:off x="8360079" y="4750902"/>
            <a:ext cx="434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Lige forbindelse 65">
            <a:extLst>
              <a:ext uri="{FF2B5EF4-FFF2-40B4-BE49-F238E27FC236}">
                <a16:creationId xmlns:a16="http://schemas.microsoft.com/office/drawing/2014/main" id="{15D1463D-353F-810D-9AFF-3B00936EBD37}"/>
              </a:ext>
            </a:extLst>
          </p:cNvPr>
          <p:cNvCxnSpPr>
            <a:cxnSpLocks/>
            <a:stCxn id="62" idx="0"/>
            <a:endCxn id="52" idx="4"/>
          </p:cNvCxnSpPr>
          <p:nvPr/>
        </p:nvCxnSpPr>
        <p:spPr>
          <a:xfrm flipV="1">
            <a:off x="9024650" y="4988167"/>
            <a:ext cx="6704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Lige forbindelse 66">
            <a:extLst>
              <a:ext uri="{FF2B5EF4-FFF2-40B4-BE49-F238E27FC236}">
                <a16:creationId xmlns:a16="http://schemas.microsoft.com/office/drawing/2014/main" id="{5BDA7F57-82E9-6C8E-00F4-B7A49C0CB036}"/>
              </a:ext>
            </a:extLst>
          </p:cNvPr>
          <p:cNvCxnSpPr>
            <a:cxnSpLocks/>
          </p:cNvCxnSpPr>
          <p:nvPr/>
        </p:nvCxnSpPr>
        <p:spPr>
          <a:xfrm flipV="1">
            <a:off x="8129457" y="4994625"/>
            <a:ext cx="6704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Lige forbindelse 67">
            <a:extLst>
              <a:ext uri="{FF2B5EF4-FFF2-40B4-BE49-F238E27FC236}">
                <a16:creationId xmlns:a16="http://schemas.microsoft.com/office/drawing/2014/main" id="{D2D0E1D1-B3D7-CC7F-144F-028B9527158C}"/>
              </a:ext>
            </a:extLst>
          </p:cNvPr>
          <p:cNvCxnSpPr>
            <a:cxnSpLocks/>
          </p:cNvCxnSpPr>
          <p:nvPr/>
        </p:nvCxnSpPr>
        <p:spPr>
          <a:xfrm flipV="1">
            <a:off x="8109405" y="4118827"/>
            <a:ext cx="6704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Lige forbindelse 68">
            <a:extLst>
              <a:ext uri="{FF2B5EF4-FFF2-40B4-BE49-F238E27FC236}">
                <a16:creationId xmlns:a16="http://schemas.microsoft.com/office/drawing/2014/main" id="{E69A81C9-9A56-9B9C-57FB-C18C17E8F4D8}"/>
              </a:ext>
            </a:extLst>
          </p:cNvPr>
          <p:cNvCxnSpPr>
            <a:cxnSpLocks/>
          </p:cNvCxnSpPr>
          <p:nvPr/>
        </p:nvCxnSpPr>
        <p:spPr>
          <a:xfrm flipV="1">
            <a:off x="9031353" y="3265967"/>
            <a:ext cx="6704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Lige forbindelse 69">
            <a:extLst>
              <a:ext uri="{FF2B5EF4-FFF2-40B4-BE49-F238E27FC236}">
                <a16:creationId xmlns:a16="http://schemas.microsoft.com/office/drawing/2014/main" id="{F775F110-D5BE-208A-9655-7D6D65EF64C9}"/>
              </a:ext>
            </a:extLst>
          </p:cNvPr>
          <p:cNvCxnSpPr>
            <a:cxnSpLocks/>
          </p:cNvCxnSpPr>
          <p:nvPr/>
        </p:nvCxnSpPr>
        <p:spPr>
          <a:xfrm flipV="1">
            <a:off x="8119461" y="3264984"/>
            <a:ext cx="6704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Lige forbindelse 70">
            <a:extLst>
              <a:ext uri="{FF2B5EF4-FFF2-40B4-BE49-F238E27FC236}">
                <a16:creationId xmlns:a16="http://schemas.microsoft.com/office/drawing/2014/main" id="{0CCD0E98-74BA-2FD2-63A7-A92B6AB4EF7A}"/>
              </a:ext>
            </a:extLst>
          </p:cNvPr>
          <p:cNvCxnSpPr>
            <a:cxnSpLocks/>
            <a:stCxn id="63" idx="6"/>
            <a:endCxn id="62" idx="2"/>
          </p:cNvCxnSpPr>
          <p:nvPr/>
        </p:nvCxnSpPr>
        <p:spPr>
          <a:xfrm>
            <a:off x="8353375" y="5620242"/>
            <a:ext cx="434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Lige forbindelse 72">
            <a:extLst>
              <a:ext uri="{FF2B5EF4-FFF2-40B4-BE49-F238E27FC236}">
                <a16:creationId xmlns:a16="http://schemas.microsoft.com/office/drawing/2014/main" id="{E905CBAA-5557-B1E6-E92F-EF701848A566}"/>
              </a:ext>
            </a:extLst>
          </p:cNvPr>
          <p:cNvCxnSpPr>
            <a:cxnSpLocks/>
            <a:stCxn id="55" idx="6"/>
            <a:endCxn id="54" idx="2"/>
          </p:cNvCxnSpPr>
          <p:nvPr/>
        </p:nvCxnSpPr>
        <p:spPr>
          <a:xfrm>
            <a:off x="8360079" y="3881562"/>
            <a:ext cx="434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Lige forbindelse 73">
            <a:extLst>
              <a:ext uri="{FF2B5EF4-FFF2-40B4-BE49-F238E27FC236}">
                <a16:creationId xmlns:a16="http://schemas.microsoft.com/office/drawing/2014/main" id="{3398C8D3-519E-A88A-657F-59326F6DA9B9}"/>
              </a:ext>
            </a:extLst>
          </p:cNvPr>
          <p:cNvCxnSpPr>
            <a:cxnSpLocks/>
            <a:stCxn id="61" idx="6"/>
            <a:endCxn id="60" idx="2"/>
          </p:cNvCxnSpPr>
          <p:nvPr/>
        </p:nvCxnSpPr>
        <p:spPr>
          <a:xfrm>
            <a:off x="8360079" y="3012474"/>
            <a:ext cx="442444" cy="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Lige forbindelse 75">
            <a:extLst>
              <a:ext uri="{FF2B5EF4-FFF2-40B4-BE49-F238E27FC236}">
                <a16:creationId xmlns:a16="http://schemas.microsoft.com/office/drawing/2014/main" id="{DE8A2C92-B8F7-53FE-C60B-EF12B7D708D1}"/>
              </a:ext>
            </a:extLst>
          </p:cNvPr>
          <p:cNvCxnSpPr>
            <a:cxnSpLocks/>
          </p:cNvCxnSpPr>
          <p:nvPr/>
        </p:nvCxnSpPr>
        <p:spPr>
          <a:xfrm>
            <a:off x="9268619" y="3881561"/>
            <a:ext cx="434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Lige forbindelse 76">
            <a:extLst>
              <a:ext uri="{FF2B5EF4-FFF2-40B4-BE49-F238E27FC236}">
                <a16:creationId xmlns:a16="http://schemas.microsoft.com/office/drawing/2014/main" id="{8A023CCD-E4AB-D881-BEAD-1E43BB39A169}"/>
              </a:ext>
            </a:extLst>
          </p:cNvPr>
          <p:cNvCxnSpPr>
            <a:cxnSpLocks/>
          </p:cNvCxnSpPr>
          <p:nvPr/>
        </p:nvCxnSpPr>
        <p:spPr>
          <a:xfrm>
            <a:off x="9268618" y="4754579"/>
            <a:ext cx="434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Lige forbindelse 78">
            <a:extLst>
              <a:ext uri="{FF2B5EF4-FFF2-40B4-BE49-F238E27FC236}">
                <a16:creationId xmlns:a16="http://schemas.microsoft.com/office/drawing/2014/main" id="{F03DD965-B9A3-53CB-4F15-B4148DA39798}"/>
              </a:ext>
            </a:extLst>
          </p:cNvPr>
          <p:cNvCxnSpPr>
            <a:cxnSpLocks/>
            <a:stCxn id="58" idx="0"/>
            <a:endCxn id="59" idx="4"/>
          </p:cNvCxnSpPr>
          <p:nvPr/>
        </p:nvCxnSpPr>
        <p:spPr>
          <a:xfrm flipV="1">
            <a:off x="9926547" y="4120853"/>
            <a:ext cx="0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Ellipse 79">
            <a:extLst>
              <a:ext uri="{FF2B5EF4-FFF2-40B4-BE49-F238E27FC236}">
                <a16:creationId xmlns:a16="http://schemas.microsoft.com/office/drawing/2014/main" id="{0521A78E-6F35-23F5-07AC-2ECA6AE70512}"/>
              </a:ext>
            </a:extLst>
          </p:cNvPr>
          <p:cNvSpPr/>
          <p:nvPr/>
        </p:nvSpPr>
        <p:spPr>
          <a:xfrm>
            <a:off x="6993531" y="4513635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CBDFF747-3B07-08D6-CF35-DF2D1F68FC0F}"/>
              </a:ext>
            </a:extLst>
          </p:cNvPr>
          <p:cNvSpPr/>
          <p:nvPr/>
        </p:nvSpPr>
        <p:spPr>
          <a:xfrm>
            <a:off x="6993531" y="3644295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83" name="Lige forbindelse 82">
            <a:extLst>
              <a:ext uri="{FF2B5EF4-FFF2-40B4-BE49-F238E27FC236}">
                <a16:creationId xmlns:a16="http://schemas.microsoft.com/office/drawing/2014/main" id="{2D66D3A1-FF27-3303-1EFD-D6BBA94CE20D}"/>
              </a:ext>
            </a:extLst>
          </p:cNvPr>
          <p:cNvCxnSpPr>
            <a:cxnSpLocks/>
            <a:stCxn id="80" idx="0"/>
            <a:endCxn id="81" idx="4"/>
          </p:cNvCxnSpPr>
          <p:nvPr/>
        </p:nvCxnSpPr>
        <p:spPr>
          <a:xfrm flipV="1">
            <a:off x="7230797" y="4118826"/>
            <a:ext cx="0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Lige forbindelse 83">
            <a:extLst>
              <a:ext uri="{FF2B5EF4-FFF2-40B4-BE49-F238E27FC236}">
                <a16:creationId xmlns:a16="http://schemas.microsoft.com/office/drawing/2014/main" id="{EA130C84-562D-6F3E-CA0D-4002CAF675E9}"/>
              </a:ext>
            </a:extLst>
          </p:cNvPr>
          <p:cNvCxnSpPr>
            <a:cxnSpLocks/>
            <a:endCxn id="53" idx="2"/>
          </p:cNvCxnSpPr>
          <p:nvPr/>
        </p:nvCxnSpPr>
        <p:spPr>
          <a:xfrm>
            <a:off x="7468062" y="4750902"/>
            <a:ext cx="4174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Lige forbindelse 84">
            <a:extLst>
              <a:ext uri="{FF2B5EF4-FFF2-40B4-BE49-F238E27FC236}">
                <a16:creationId xmlns:a16="http://schemas.microsoft.com/office/drawing/2014/main" id="{BA139A0E-3719-4380-CA77-8513D4D6E7B8}"/>
              </a:ext>
            </a:extLst>
          </p:cNvPr>
          <p:cNvCxnSpPr>
            <a:cxnSpLocks/>
            <a:endCxn id="55" idx="2"/>
          </p:cNvCxnSpPr>
          <p:nvPr/>
        </p:nvCxnSpPr>
        <p:spPr>
          <a:xfrm>
            <a:off x="7468062" y="3881561"/>
            <a:ext cx="41748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Pladsholder til indhold 2">
                <a:extLst>
                  <a:ext uri="{FF2B5EF4-FFF2-40B4-BE49-F238E27FC236}">
                    <a16:creationId xmlns:a16="http://schemas.microsoft.com/office/drawing/2014/main" id="{899D2E1B-5B47-A5D1-C40F-042B2B614E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529084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a-DK" sz="2000" b="0" dirty="0"/>
                  <a:t> </a:t>
                </a:r>
                <a:r>
                  <a:rPr lang="da-DK" sz="2000" b="0" dirty="0">
                    <a:sym typeface="Wingdings" panose="05000000000000000000" pitchFamily="2" charset="2"/>
                  </a:rPr>
                  <a:t> </a:t>
                </a:r>
                <a:r>
                  <a:rPr lang="da-DK" sz="2000" b="0" dirty="0" err="1">
                    <a:sym typeface="Wingdings" panose="05000000000000000000" pitchFamily="2" charset="2"/>
                  </a:rPr>
                  <a:t>Learnable</a:t>
                </a:r>
                <a:r>
                  <a:rPr lang="da-DK" sz="2000" b="0" dirty="0">
                    <a:sym typeface="Wingdings" panose="05000000000000000000" pitchFamily="2" charset="2"/>
                  </a:rPr>
                  <a:t> </a:t>
                </a:r>
                <a:r>
                  <a:rPr lang="da-DK" sz="2000" b="0" dirty="0" err="1">
                    <a:sym typeface="Wingdings" panose="05000000000000000000" pitchFamily="2" charset="2"/>
                  </a:rPr>
                  <a:t>vector</a:t>
                </a:r>
                <a:r>
                  <a:rPr lang="da-DK" sz="2000" b="0" dirty="0">
                    <a:sym typeface="Wingdings" panose="05000000000000000000" pitchFamily="2" charset="2"/>
                  </a:rPr>
                  <a:t> for site </a:t>
                </a:r>
                <a:r>
                  <a:rPr lang="da-DK" sz="2000" b="0" dirty="0" err="1">
                    <a:sym typeface="Wingdings" panose="05000000000000000000" pitchFamily="2" charset="2"/>
                  </a:rPr>
                  <a:t>state</a:t>
                </a:r>
                <a:endParaRPr lang="da-DK" sz="2000" b="0" dirty="0">
                  <a:sym typeface="Wingdings" panose="05000000000000000000" pitchFamily="2" charset="2"/>
                </a:endParaRPr>
              </a:p>
              <a:p>
                <a:pPr lvl="1"/>
                <a:r>
                  <a:rPr lang="da-DK" sz="1600" dirty="0">
                    <a:sym typeface="Wingdings" panose="05000000000000000000" pitchFamily="2" charset="2"/>
                  </a:rPr>
                  <a:t>Active or not Active</a:t>
                </a:r>
              </a:p>
              <a:p>
                <a:pPr lvl="1"/>
                <a:r>
                  <a:rPr lang="da-DK" sz="1600" dirty="0" err="1">
                    <a:sym typeface="Wingdings" panose="05000000000000000000" pitchFamily="2" charset="2"/>
                  </a:rPr>
                  <a:t>Share</a:t>
                </a:r>
                <a:r>
                  <a:rPr lang="da-DK" sz="1600" dirty="0">
                    <a:sym typeface="Wingdings" panose="05000000000000000000" pitchFamily="2" charset="2"/>
                  </a:rPr>
                  <a:t> same </a:t>
                </a:r>
                <a:r>
                  <a:rPr lang="da-DK" sz="1600" dirty="0" err="1">
                    <a:sym typeface="Wingdings" panose="05000000000000000000" pitchFamily="2" charset="2"/>
                  </a:rPr>
                  <a:t>embedding</a:t>
                </a:r>
                <a:endParaRPr lang="da-DK" sz="16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87" name="Pladsholder til indhold 2">
                <a:extLst>
                  <a:ext uri="{FF2B5EF4-FFF2-40B4-BE49-F238E27FC236}">
                    <a16:creationId xmlns:a16="http://schemas.microsoft.com/office/drawing/2014/main" id="{899D2E1B-5B47-A5D1-C40F-042B2B614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529084" cy="4351338"/>
              </a:xfrm>
              <a:blipFill>
                <a:blip r:embed="rId4"/>
                <a:stretch>
                  <a:fillRect l="-643" t="-154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kstfelt 90">
            <a:extLst>
              <a:ext uri="{FF2B5EF4-FFF2-40B4-BE49-F238E27FC236}">
                <a16:creationId xmlns:a16="http://schemas.microsoft.com/office/drawing/2014/main" id="{077EF70A-E4AA-88FC-2AD8-C10605DA4205}"/>
              </a:ext>
            </a:extLst>
          </p:cNvPr>
          <p:cNvSpPr txBox="1"/>
          <p:nvPr/>
        </p:nvSpPr>
        <p:spPr>
          <a:xfrm>
            <a:off x="7600026" y="1961920"/>
            <a:ext cx="21550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Green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/>
              <a:t>active</a:t>
            </a:r>
            <a:r>
              <a:rPr lang="da-DK" dirty="0"/>
              <a:t> site</a:t>
            </a:r>
            <a:br>
              <a:rPr lang="da-DK" dirty="0"/>
            </a:br>
            <a:r>
              <a:rPr lang="da-DK" dirty="0"/>
              <a:t>Yellow </a:t>
            </a:r>
            <a:r>
              <a:rPr lang="da-DK" dirty="0">
                <a:sym typeface="Wingdings" panose="05000000000000000000" pitchFamily="2" charset="2"/>
              </a:rPr>
              <a:t> Not </a:t>
            </a:r>
            <a:r>
              <a:rPr lang="da-DK" dirty="0" err="1">
                <a:sym typeface="Wingdings" panose="05000000000000000000" pitchFamily="2" charset="2"/>
              </a:rPr>
              <a:t>active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93701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582EB-2E9D-9F11-72B0-4C58A46C2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977CE1-78D4-D8C3-DB62-509DCDE9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Embedding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65BCC051-D48A-8238-0F48-64FE3547E1BD}"/>
                  </a:ext>
                </a:extLst>
              </p:cNvPr>
              <p:cNvSpPr txBox="1"/>
              <p:nvPr/>
            </p:nvSpPr>
            <p:spPr>
              <a:xfrm>
                <a:off x="131357" y="4728775"/>
                <a:ext cx="9800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65BCC051-D48A-8238-0F48-64FE3547E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57" y="4728775"/>
                <a:ext cx="980036" cy="276999"/>
              </a:xfrm>
              <a:prstGeom prst="rect">
                <a:avLst/>
              </a:prstGeom>
              <a:blipFill>
                <a:blip r:embed="rId2"/>
                <a:stretch>
                  <a:fillRect l="-8750" t="-48889" r="-32500" b="-3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Forbindelse: vinklet 30">
            <a:extLst>
              <a:ext uri="{FF2B5EF4-FFF2-40B4-BE49-F238E27FC236}">
                <a16:creationId xmlns:a16="http://schemas.microsoft.com/office/drawing/2014/main" id="{2F090CAE-0D3A-FF85-0C11-00834CF4B7B7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450444" y="5021827"/>
            <a:ext cx="1031210" cy="232858"/>
          </a:xfrm>
          <a:prstGeom prst="bentConnector3">
            <a:avLst>
              <a:gd name="adj1" fmla="val -8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kstfelt 37">
                <a:extLst>
                  <a:ext uri="{FF2B5EF4-FFF2-40B4-BE49-F238E27FC236}">
                    <a16:creationId xmlns:a16="http://schemas.microsoft.com/office/drawing/2014/main" id="{31F81DE5-3AD4-D7E1-0CCB-0D291274A181}"/>
                  </a:ext>
                </a:extLst>
              </p:cNvPr>
              <p:cNvSpPr txBox="1"/>
              <p:nvPr/>
            </p:nvSpPr>
            <p:spPr>
              <a:xfrm>
                <a:off x="623963" y="3698921"/>
                <a:ext cx="222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8" name="Tekstfelt 37">
                <a:extLst>
                  <a:ext uri="{FF2B5EF4-FFF2-40B4-BE49-F238E27FC236}">
                    <a16:creationId xmlns:a16="http://schemas.microsoft.com/office/drawing/2014/main" id="{31F81DE5-3AD4-D7E1-0CCB-0D291274A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63" y="3698921"/>
                <a:ext cx="222882" cy="276999"/>
              </a:xfrm>
              <a:prstGeom prst="rect">
                <a:avLst/>
              </a:prstGeom>
              <a:blipFill>
                <a:blip r:embed="rId3"/>
                <a:stretch>
                  <a:fillRect l="-16216" r="-8108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Lige pilforbindelse 38">
            <a:extLst>
              <a:ext uri="{FF2B5EF4-FFF2-40B4-BE49-F238E27FC236}">
                <a16:creationId xmlns:a16="http://schemas.microsoft.com/office/drawing/2014/main" id="{49CDC2B0-5C00-9622-FED3-1F0550CDFE33}"/>
              </a:ext>
            </a:extLst>
          </p:cNvPr>
          <p:cNvCxnSpPr>
            <a:cxnSpLocks/>
          </p:cNvCxnSpPr>
          <p:nvPr/>
        </p:nvCxnSpPr>
        <p:spPr>
          <a:xfrm flipH="1" flipV="1">
            <a:off x="731479" y="3128258"/>
            <a:ext cx="3925" cy="586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kstfelt 39">
                <a:extLst>
                  <a:ext uri="{FF2B5EF4-FFF2-40B4-BE49-F238E27FC236}">
                    <a16:creationId xmlns:a16="http://schemas.microsoft.com/office/drawing/2014/main" id="{95789BFE-29B0-7BB5-6D65-DC3368635A41}"/>
                  </a:ext>
                </a:extLst>
              </p:cNvPr>
              <p:cNvSpPr txBox="1"/>
              <p:nvPr/>
            </p:nvSpPr>
            <p:spPr>
              <a:xfrm>
                <a:off x="612724" y="2739332"/>
                <a:ext cx="254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0" name="Tekstfelt 39">
                <a:extLst>
                  <a:ext uri="{FF2B5EF4-FFF2-40B4-BE49-F238E27FC236}">
                    <a16:creationId xmlns:a16="http://schemas.microsoft.com/office/drawing/2014/main" id="{95789BFE-29B0-7BB5-6D65-DC3368635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24" y="2739332"/>
                <a:ext cx="254172" cy="276999"/>
              </a:xfrm>
              <a:prstGeom prst="rect">
                <a:avLst/>
              </a:prstGeom>
              <a:blipFill>
                <a:blip r:embed="rId4"/>
                <a:stretch>
                  <a:fillRect l="-24390" r="-7317" b="-152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ktangel: afrundede hjørner 45">
            <a:extLst>
              <a:ext uri="{FF2B5EF4-FFF2-40B4-BE49-F238E27FC236}">
                <a16:creationId xmlns:a16="http://schemas.microsoft.com/office/drawing/2014/main" id="{6E8E97A4-3B10-BE39-1E2C-8639DFF93D2B}"/>
              </a:ext>
            </a:extLst>
          </p:cNvPr>
          <p:cNvSpPr/>
          <p:nvPr/>
        </p:nvSpPr>
        <p:spPr>
          <a:xfrm>
            <a:off x="1481654" y="3494151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site type</a:t>
            </a:r>
            <a:br>
              <a:rPr lang="da-DK" dirty="0">
                <a:solidFill>
                  <a:schemeClr val="tx1"/>
                </a:solidFill>
              </a:rPr>
            </a:br>
            <a:r>
              <a:rPr lang="da-DK" dirty="0" err="1">
                <a:solidFill>
                  <a:schemeClr val="tx1"/>
                </a:solidFill>
              </a:rPr>
              <a:t>active</a:t>
            </a:r>
            <a:r>
              <a:rPr lang="da-DK" dirty="0">
                <a:solidFill>
                  <a:schemeClr val="tx1"/>
                </a:solidFill>
              </a:rPr>
              <a:t>/non </a:t>
            </a:r>
            <a:r>
              <a:rPr lang="da-DK" dirty="0" err="1">
                <a:solidFill>
                  <a:schemeClr val="tx1"/>
                </a:solidFill>
              </a:rPr>
              <a:t>active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47" name="Rektangel: afrundede hjørner 46">
            <a:extLst>
              <a:ext uri="{FF2B5EF4-FFF2-40B4-BE49-F238E27FC236}">
                <a16:creationId xmlns:a16="http://schemas.microsoft.com/office/drawing/2014/main" id="{7D38D60D-0728-369B-9169-2C36A25E5508}"/>
              </a:ext>
            </a:extLst>
          </p:cNvPr>
          <p:cNvSpPr/>
          <p:nvPr/>
        </p:nvSpPr>
        <p:spPr>
          <a:xfrm>
            <a:off x="1481654" y="4867274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Element species</a:t>
            </a:r>
          </a:p>
        </p:txBody>
      </p:sp>
      <p:sp>
        <p:nvSpPr>
          <p:cNvPr id="48" name="Rektangel: afrundede hjørner 47">
            <a:extLst>
              <a:ext uri="{FF2B5EF4-FFF2-40B4-BE49-F238E27FC236}">
                <a16:creationId xmlns:a16="http://schemas.microsoft.com/office/drawing/2014/main" id="{37B7CB55-B3AE-F44A-9CC9-BC32E10C9544}"/>
              </a:ext>
            </a:extLst>
          </p:cNvPr>
          <p:cNvSpPr/>
          <p:nvPr/>
        </p:nvSpPr>
        <p:spPr>
          <a:xfrm>
            <a:off x="1481654" y="2501578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distances to </a:t>
            </a:r>
            <a:r>
              <a:rPr lang="da-DK" dirty="0" err="1">
                <a:solidFill>
                  <a:schemeClr val="tx1"/>
                </a:solidFill>
              </a:rPr>
              <a:t>active</a:t>
            </a:r>
            <a:r>
              <a:rPr lang="da-DK" dirty="0">
                <a:solidFill>
                  <a:schemeClr val="tx1"/>
                </a:solidFill>
              </a:rPr>
              <a:t> sites</a:t>
            </a:r>
          </a:p>
        </p:txBody>
      </p:sp>
      <p:cxnSp>
        <p:nvCxnSpPr>
          <p:cNvPr id="50" name="Lige pilforbindelse 49">
            <a:extLst>
              <a:ext uri="{FF2B5EF4-FFF2-40B4-BE49-F238E27FC236}">
                <a16:creationId xmlns:a16="http://schemas.microsoft.com/office/drawing/2014/main" id="{00F38268-6748-236E-81B7-A3E2015893E0}"/>
              </a:ext>
            </a:extLst>
          </p:cNvPr>
          <p:cNvCxnSpPr>
            <a:cxnSpLocks/>
          </p:cNvCxnSpPr>
          <p:nvPr/>
        </p:nvCxnSpPr>
        <p:spPr>
          <a:xfrm flipH="1" flipV="1">
            <a:off x="727554" y="4052474"/>
            <a:ext cx="3925" cy="586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ige pilforbindelse 55">
            <a:extLst>
              <a:ext uri="{FF2B5EF4-FFF2-40B4-BE49-F238E27FC236}">
                <a16:creationId xmlns:a16="http://schemas.microsoft.com/office/drawing/2014/main" id="{892867CB-F9DB-D85D-31F1-B577386D0330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945444" y="3881562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ge pilforbindelse 56">
            <a:extLst>
              <a:ext uri="{FF2B5EF4-FFF2-40B4-BE49-F238E27FC236}">
                <a16:creationId xmlns:a16="http://schemas.microsoft.com/office/drawing/2014/main" id="{C8FC21D0-B04F-AE1B-2B37-8E824A9B9F89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945444" y="2888989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lipse 3">
            <a:extLst>
              <a:ext uri="{FF2B5EF4-FFF2-40B4-BE49-F238E27FC236}">
                <a16:creationId xmlns:a16="http://schemas.microsoft.com/office/drawing/2014/main" id="{113F3FF0-6BD9-92CF-36EF-8BE198C61E1F}"/>
              </a:ext>
            </a:extLst>
          </p:cNvPr>
          <p:cNvSpPr/>
          <p:nvPr/>
        </p:nvSpPr>
        <p:spPr>
          <a:xfrm>
            <a:off x="5767709" y="4517493"/>
            <a:ext cx="474531" cy="474531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D371C00-F99C-13D4-1C33-86D93AC8C318}"/>
              </a:ext>
            </a:extLst>
          </p:cNvPr>
          <p:cNvSpPr/>
          <p:nvPr/>
        </p:nvSpPr>
        <p:spPr>
          <a:xfrm>
            <a:off x="4859169" y="4517493"/>
            <a:ext cx="474531" cy="474531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461A48D-AFB8-DB84-2775-05881DDC4EF0}"/>
              </a:ext>
            </a:extLst>
          </p:cNvPr>
          <p:cNvSpPr/>
          <p:nvPr/>
        </p:nvSpPr>
        <p:spPr>
          <a:xfrm>
            <a:off x="5767709" y="3648153"/>
            <a:ext cx="474531" cy="474531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B6BD809-79F2-C7E1-6BC0-A89D28B1F709}"/>
              </a:ext>
            </a:extLst>
          </p:cNvPr>
          <p:cNvSpPr/>
          <p:nvPr/>
        </p:nvSpPr>
        <p:spPr>
          <a:xfrm>
            <a:off x="4859169" y="3648153"/>
            <a:ext cx="474531" cy="474531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077D19F-7BBC-40AC-8098-A7D823D72B97}"/>
              </a:ext>
            </a:extLst>
          </p:cNvPr>
          <p:cNvSpPr/>
          <p:nvPr/>
        </p:nvSpPr>
        <p:spPr>
          <a:xfrm>
            <a:off x="6662902" y="4519519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68DC719-EBAA-4B3E-F8C1-7F232E904F01}"/>
              </a:ext>
            </a:extLst>
          </p:cNvPr>
          <p:cNvSpPr/>
          <p:nvPr/>
        </p:nvSpPr>
        <p:spPr>
          <a:xfrm>
            <a:off x="6662902" y="3650179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2F7D568-547C-340B-3980-8C3FB297E3A9}"/>
              </a:ext>
            </a:extLst>
          </p:cNvPr>
          <p:cNvSpPr/>
          <p:nvPr/>
        </p:nvSpPr>
        <p:spPr>
          <a:xfrm>
            <a:off x="5776144" y="2779710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AD81DFC-AB8F-1535-92FB-63185E22F6D4}"/>
              </a:ext>
            </a:extLst>
          </p:cNvPr>
          <p:cNvSpPr/>
          <p:nvPr/>
        </p:nvSpPr>
        <p:spPr>
          <a:xfrm>
            <a:off x="4859169" y="2779065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50D2B1F-B32B-B401-6070-17B183664D4C}"/>
              </a:ext>
            </a:extLst>
          </p:cNvPr>
          <p:cNvSpPr/>
          <p:nvPr/>
        </p:nvSpPr>
        <p:spPr>
          <a:xfrm>
            <a:off x="5761005" y="5386833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86E49D73-AC41-1667-8876-7AD91DF16EB4}"/>
              </a:ext>
            </a:extLst>
          </p:cNvPr>
          <p:cNvSpPr/>
          <p:nvPr/>
        </p:nvSpPr>
        <p:spPr>
          <a:xfrm>
            <a:off x="4852465" y="5386833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15" name="Lige forbindelse 14">
            <a:extLst>
              <a:ext uri="{FF2B5EF4-FFF2-40B4-BE49-F238E27FC236}">
                <a16:creationId xmlns:a16="http://schemas.microsoft.com/office/drawing/2014/main" id="{3A32BB2B-E3DC-7D22-2264-CBE48DCC6346}"/>
              </a:ext>
            </a:extLst>
          </p:cNvPr>
          <p:cNvCxnSpPr>
            <a:stCxn id="4" idx="0"/>
            <a:endCxn id="6" idx="4"/>
          </p:cNvCxnSpPr>
          <p:nvPr/>
        </p:nvCxnSpPr>
        <p:spPr>
          <a:xfrm flipV="1">
            <a:off x="6004975" y="4122684"/>
            <a:ext cx="0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ige forbindelse 15">
            <a:extLst>
              <a:ext uri="{FF2B5EF4-FFF2-40B4-BE49-F238E27FC236}">
                <a16:creationId xmlns:a16="http://schemas.microsoft.com/office/drawing/2014/main" id="{3E30FF8B-8FD6-0A83-6713-5FD52860F942}"/>
              </a:ext>
            </a:extLst>
          </p:cNvPr>
          <p:cNvCxnSpPr>
            <a:cxnSpLocks/>
            <a:stCxn id="5" idx="6"/>
            <a:endCxn id="4" idx="2"/>
          </p:cNvCxnSpPr>
          <p:nvPr/>
        </p:nvCxnSpPr>
        <p:spPr>
          <a:xfrm>
            <a:off x="5333700" y="4754759"/>
            <a:ext cx="434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ige forbindelse 16">
            <a:extLst>
              <a:ext uri="{FF2B5EF4-FFF2-40B4-BE49-F238E27FC236}">
                <a16:creationId xmlns:a16="http://schemas.microsoft.com/office/drawing/2014/main" id="{4BEF67DF-318B-5414-CD52-69BC343BDDC0}"/>
              </a:ext>
            </a:extLst>
          </p:cNvPr>
          <p:cNvCxnSpPr>
            <a:cxnSpLocks/>
            <a:stCxn id="13" idx="0"/>
            <a:endCxn id="4" idx="4"/>
          </p:cNvCxnSpPr>
          <p:nvPr/>
        </p:nvCxnSpPr>
        <p:spPr>
          <a:xfrm flipV="1">
            <a:off x="5998271" y="4992024"/>
            <a:ext cx="6704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ge forbindelse 17">
            <a:extLst>
              <a:ext uri="{FF2B5EF4-FFF2-40B4-BE49-F238E27FC236}">
                <a16:creationId xmlns:a16="http://schemas.microsoft.com/office/drawing/2014/main" id="{96B9C425-74DA-E69E-3B30-74FCF7E1AD7E}"/>
              </a:ext>
            </a:extLst>
          </p:cNvPr>
          <p:cNvCxnSpPr>
            <a:cxnSpLocks/>
          </p:cNvCxnSpPr>
          <p:nvPr/>
        </p:nvCxnSpPr>
        <p:spPr>
          <a:xfrm flipV="1">
            <a:off x="5103078" y="4998482"/>
            <a:ext cx="6704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ige forbindelse 18">
            <a:extLst>
              <a:ext uri="{FF2B5EF4-FFF2-40B4-BE49-F238E27FC236}">
                <a16:creationId xmlns:a16="http://schemas.microsoft.com/office/drawing/2014/main" id="{62D69253-2347-0A6C-8224-0B25A3D0460F}"/>
              </a:ext>
            </a:extLst>
          </p:cNvPr>
          <p:cNvCxnSpPr>
            <a:cxnSpLocks/>
          </p:cNvCxnSpPr>
          <p:nvPr/>
        </p:nvCxnSpPr>
        <p:spPr>
          <a:xfrm flipV="1">
            <a:off x="5083026" y="4122684"/>
            <a:ext cx="6704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DDBA9E38-57FC-2FF6-AB78-6D55F7C0BEA6}"/>
              </a:ext>
            </a:extLst>
          </p:cNvPr>
          <p:cNvCxnSpPr>
            <a:cxnSpLocks/>
          </p:cNvCxnSpPr>
          <p:nvPr/>
        </p:nvCxnSpPr>
        <p:spPr>
          <a:xfrm flipV="1">
            <a:off x="6004974" y="3269824"/>
            <a:ext cx="6704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AF934D16-9414-B924-0B70-CCA11E7C7A9D}"/>
              </a:ext>
            </a:extLst>
          </p:cNvPr>
          <p:cNvCxnSpPr>
            <a:cxnSpLocks/>
          </p:cNvCxnSpPr>
          <p:nvPr/>
        </p:nvCxnSpPr>
        <p:spPr>
          <a:xfrm flipV="1">
            <a:off x="5093082" y="3268841"/>
            <a:ext cx="6704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ge forbindelse 21">
            <a:extLst>
              <a:ext uri="{FF2B5EF4-FFF2-40B4-BE49-F238E27FC236}">
                <a16:creationId xmlns:a16="http://schemas.microsoft.com/office/drawing/2014/main" id="{09320720-1618-8AED-202D-0982D2D919FE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>
          <a:xfrm>
            <a:off x="5326996" y="5624099"/>
            <a:ext cx="434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53FE44B8-97EE-5672-6CD5-896AFFB95389}"/>
              </a:ext>
            </a:extLst>
          </p:cNvPr>
          <p:cNvCxnSpPr>
            <a:cxnSpLocks/>
            <a:stCxn id="8" idx="6"/>
            <a:endCxn id="6" idx="2"/>
          </p:cNvCxnSpPr>
          <p:nvPr/>
        </p:nvCxnSpPr>
        <p:spPr>
          <a:xfrm>
            <a:off x="5333700" y="3885419"/>
            <a:ext cx="434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ige forbindelse 23">
            <a:extLst>
              <a:ext uri="{FF2B5EF4-FFF2-40B4-BE49-F238E27FC236}">
                <a16:creationId xmlns:a16="http://schemas.microsoft.com/office/drawing/2014/main" id="{17B65E30-F724-4B15-B246-F03B2134F395}"/>
              </a:ext>
            </a:extLst>
          </p:cNvPr>
          <p:cNvCxnSpPr>
            <a:cxnSpLocks/>
            <a:stCxn id="12" idx="6"/>
            <a:endCxn id="11" idx="2"/>
          </p:cNvCxnSpPr>
          <p:nvPr/>
        </p:nvCxnSpPr>
        <p:spPr>
          <a:xfrm>
            <a:off x="5333700" y="3016331"/>
            <a:ext cx="442444" cy="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ge forbindelse 24">
            <a:extLst>
              <a:ext uri="{FF2B5EF4-FFF2-40B4-BE49-F238E27FC236}">
                <a16:creationId xmlns:a16="http://schemas.microsoft.com/office/drawing/2014/main" id="{B4CF43F8-8BFC-51D8-3081-C12F34306E50}"/>
              </a:ext>
            </a:extLst>
          </p:cNvPr>
          <p:cNvCxnSpPr>
            <a:cxnSpLocks/>
          </p:cNvCxnSpPr>
          <p:nvPr/>
        </p:nvCxnSpPr>
        <p:spPr>
          <a:xfrm>
            <a:off x="6242240" y="3885418"/>
            <a:ext cx="434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ge forbindelse 25">
            <a:extLst>
              <a:ext uri="{FF2B5EF4-FFF2-40B4-BE49-F238E27FC236}">
                <a16:creationId xmlns:a16="http://schemas.microsoft.com/office/drawing/2014/main" id="{4D868578-390C-CD52-9752-7BF10EDC186A}"/>
              </a:ext>
            </a:extLst>
          </p:cNvPr>
          <p:cNvCxnSpPr>
            <a:cxnSpLocks/>
          </p:cNvCxnSpPr>
          <p:nvPr/>
        </p:nvCxnSpPr>
        <p:spPr>
          <a:xfrm>
            <a:off x="6242239" y="4758436"/>
            <a:ext cx="434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ge forbindelse 26">
            <a:extLst>
              <a:ext uri="{FF2B5EF4-FFF2-40B4-BE49-F238E27FC236}">
                <a16:creationId xmlns:a16="http://schemas.microsoft.com/office/drawing/2014/main" id="{AA3AC6F3-3B96-7810-C280-0CBB2215AF3D}"/>
              </a:ext>
            </a:extLst>
          </p:cNvPr>
          <p:cNvCxnSpPr>
            <a:cxnSpLocks/>
            <a:stCxn id="9" idx="0"/>
            <a:endCxn id="10" idx="4"/>
          </p:cNvCxnSpPr>
          <p:nvPr/>
        </p:nvCxnSpPr>
        <p:spPr>
          <a:xfrm flipV="1">
            <a:off x="6900168" y="4124710"/>
            <a:ext cx="0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41240EA5-CC19-49E0-C3BD-54670CBF9534}"/>
              </a:ext>
            </a:extLst>
          </p:cNvPr>
          <p:cNvSpPr/>
          <p:nvPr/>
        </p:nvSpPr>
        <p:spPr>
          <a:xfrm>
            <a:off x="3967152" y="4517492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DDC3BA9B-C4B5-5CE9-9DC2-A36F30C4001E}"/>
              </a:ext>
            </a:extLst>
          </p:cNvPr>
          <p:cNvSpPr/>
          <p:nvPr/>
        </p:nvSpPr>
        <p:spPr>
          <a:xfrm>
            <a:off x="3967152" y="3648152"/>
            <a:ext cx="474531" cy="47453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30" name="Lige forbindelse 29">
            <a:extLst>
              <a:ext uri="{FF2B5EF4-FFF2-40B4-BE49-F238E27FC236}">
                <a16:creationId xmlns:a16="http://schemas.microsoft.com/office/drawing/2014/main" id="{6D212512-7068-7F5F-97FD-EDBDE2F2D934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V="1">
            <a:off x="4204418" y="4122683"/>
            <a:ext cx="0" cy="3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ige forbindelse 31">
            <a:extLst>
              <a:ext uri="{FF2B5EF4-FFF2-40B4-BE49-F238E27FC236}">
                <a16:creationId xmlns:a16="http://schemas.microsoft.com/office/drawing/2014/main" id="{DBC0275C-1739-CA41-9F6D-648E36325E9D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4441683" y="4754759"/>
            <a:ext cx="4174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ige forbindelse 32">
            <a:extLst>
              <a:ext uri="{FF2B5EF4-FFF2-40B4-BE49-F238E27FC236}">
                <a16:creationId xmlns:a16="http://schemas.microsoft.com/office/drawing/2014/main" id="{F52E5387-B654-AF84-C04F-F25F41CF5BDC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4441683" y="3885418"/>
            <a:ext cx="41748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kstfelt 33">
            <a:extLst>
              <a:ext uri="{FF2B5EF4-FFF2-40B4-BE49-F238E27FC236}">
                <a16:creationId xmlns:a16="http://schemas.microsoft.com/office/drawing/2014/main" id="{6DBEC74B-1338-92E7-29C3-369397D95BB5}"/>
              </a:ext>
            </a:extLst>
          </p:cNvPr>
          <p:cNvSpPr txBox="1"/>
          <p:nvPr/>
        </p:nvSpPr>
        <p:spPr>
          <a:xfrm>
            <a:off x="4573647" y="1965777"/>
            <a:ext cx="21550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Green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/>
              <a:t>active</a:t>
            </a:r>
            <a:r>
              <a:rPr lang="da-DK" dirty="0"/>
              <a:t> site</a:t>
            </a:r>
            <a:br>
              <a:rPr lang="da-DK" dirty="0"/>
            </a:br>
            <a:r>
              <a:rPr lang="da-DK" dirty="0"/>
              <a:t>Yellow </a:t>
            </a:r>
            <a:r>
              <a:rPr lang="da-DK" dirty="0">
                <a:sym typeface="Wingdings" panose="05000000000000000000" pitchFamily="2" charset="2"/>
              </a:rPr>
              <a:t> Not </a:t>
            </a:r>
            <a:r>
              <a:rPr lang="da-DK" dirty="0" err="1">
                <a:sym typeface="Wingdings" panose="05000000000000000000" pitchFamily="2" charset="2"/>
              </a:rPr>
              <a:t>active</a:t>
            </a:r>
            <a:endParaRPr lang="da-DK" dirty="0"/>
          </a:p>
        </p:txBody>
      </p:sp>
      <p:cxnSp>
        <p:nvCxnSpPr>
          <p:cNvPr id="36" name="Lige pilforbindelse 35">
            <a:extLst>
              <a:ext uri="{FF2B5EF4-FFF2-40B4-BE49-F238E27FC236}">
                <a16:creationId xmlns:a16="http://schemas.microsoft.com/office/drawing/2014/main" id="{4AA01C3A-422E-7612-E077-23FBC59B8561}"/>
              </a:ext>
            </a:extLst>
          </p:cNvPr>
          <p:cNvCxnSpPr>
            <a:cxnSpLocks/>
          </p:cNvCxnSpPr>
          <p:nvPr/>
        </p:nvCxnSpPr>
        <p:spPr>
          <a:xfrm>
            <a:off x="4197716" y="3871714"/>
            <a:ext cx="892014" cy="90242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ige pilforbindelse 36">
            <a:extLst>
              <a:ext uri="{FF2B5EF4-FFF2-40B4-BE49-F238E27FC236}">
                <a16:creationId xmlns:a16="http://schemas.microsoft.com/office/drawing/2014/main" id="{538795EF-B7DB-397E-514C-469F69B2047A}"/>
              </a:ext>
            </a:extLst>
          </p:cNvPr>
          <p:cNvCxnSpPr>
            <a:cxnSpLocks/>
          </p:cNvCxnSpPr>
          <p:nvPr/>
        </p:nvCxnSpPr>
        <p:spPr>
          <a:xfrm>
            <a:off x="4192688" y="3878172"/>
            <a:ext cx="1818990" cy="889504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ige pilforbindelse 50">
            <a:extLst>
              <a:ext uri="{FF2B5EF4-FFF2-40B4-BE49-F238E27FC236}">
                <a16:creationId xmlns:a16="http://schemas.microsoft.com/office/drawing/2014/main" id="{A2FE77FA-AF3C-41EE-B5E2-F92446E64B1E}"/>
              </a:ext>
            </a:extLst>
          </p:cNvPr>
          <p:cNvCxnSpPr>
            <a:cxnSpLocks/>
          </p:cNvCxnSpPr>
          <p:nvPr/>
        </p:nvCxnSpPr>
        <p:spPr>
          <a:xfrm>
            <a:off x="4182231" y="3881399"/>
            <a:ext cx="1814998" cy="6459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ige pilforbindelse 43">
            <a:extLst>
              <a:ext uri="{FF2B5EF4-FFF2-40B4-BE49-F238E27FC236}">
                <a16:creationId xmlns:a16="http://schemas.microsoft.com/office/drawing/2014/main" id="{E7AE3C43-83FF-E6F7-CA2E-11C96EF100BC}"/>
              </a:ext>
            </a:extLst>
          </p:cNvPr>
          <p:cNvCxnSpPr>
            <a:cxnSpLocks/>
          </p:cNvCxnSpPr>
          <p:nvPr/>
        </p:nvCxnSpPr>
        <p:spPr>
          <a:xfrm>
            <a:off x="4182231" y="3883589"/>
            <a:ext cx="921948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kstfelt 61">
                <a:extLst>
                  <a:ext uri="{FF2B5EF4-FFF2-40B4-BE49-F238E27FC236}">
                    <a16:creationId xmlns:a16="http://schemas.microsoft.com/office/drawing/2014/main" id="{2138BB82-4B60-61B6-B153-E1F2A2C3F4E8}"/>
                  </a:ext>
                </a:extLst>
              </p:cNvPr>
              <p:cNvSpPr txBox="1"/>
              <p:nvPr/>
            </p:nvSpPr>
            <p:spPr>
              <a:xfrm>
                <a:off x="5221938" y="4149096"/>
                <a:ext cx="332720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2" name="Tekstfelt 61">
                <a:extLst>
                  <a:ext uri="{FF2B5EF4-FFF2-40B4-BE49-F238E27FC236}">
                    <a16:creationId xmlns:a16="http://schemas.microsoft.com/office/drawing/2014/main" id="{2138BB82-4B60-61B6-B153-E1F2A2C3F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938" y="4149096"/>
                <a:ext cx="332720" cy="299313"/>
              </a:xfrm>
              <a:prstGeom prst="rect">
                <a:avLst/>
              </a:prstGeom>
              <a:blipFill>
                <a:blip r:embed="rId5"/>
                <a:stretch>
                  <a:fillRect l="-18519" r="-11111" b="-244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Lige pilforbindelse 63">
            <a:extLst>
              <a:ext uri="{FF2B5EF4-FFF2-40B4-BE49-F238E27FC236}">
                <a16:creationId xmlns:a16="http://schemas.microsoft.com/office/drawing/2014/main" id="{7758B000-5BED-E9E7-DDE2-055F85A2B740}"/>
              </a:ext>
            </a:extLst>
          </p:cNvPr>
          <p:cNvCxnSpPr>
            <a:cxnSpLocks/>
          </p:cNvCxnSpPr>
          <p:nvPr/>
        </p:nvCxnSpPr>
        <p:spPr>
          <a:xfrm>
            <a:off x="7137433" y="4349673"/>
            <a:ext cx="47855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kstfelt 64">
                <a:extLst>
                  <a:ext uri="{FF2B5EF4-FFF2-40B4-BE49-F238E27FC236}">
                    <a16:creationId xmlns:a16="http://schemas.microsoft.com/office/drawing/2014/main" id="{C045A460-66AA-A6A1-C770-FA9909DD9CFD}"/>
                  </a:ext>
                </a:extLst>
              </p:cNvPr>
              <p:cNvSpPr txBox="1"/>
              <p:nvPr/>
            </p:nvSpPr>
            <p:spPr>
              <a:xfrm>
                <a:off x="7704438" y="4211173"/>
                <a:ext cx="24605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𝑆𝑂𝑅𝑇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5" name="Tekstfelt 64">
                <a:extLst>
                  <a:ext uri="{FF2B5EF4-FFF2-40B4-BE49-F238E27FC236}">
                    <a16:creationId xmlns:a16="http://schemas.microsoft.com/office/drawing/2014/main" id="{C045A460-66AA-A6A1-C770-FA9909DD9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438" y="4211173"/>
                <a:ext cx="2460545" cy="276999"/>
              </a:xfrm>
              <a:prstGeom prst="rect">
                <a:avLst/>
              </a:prstGeom>
              <a:blipFill>
                <a:blip r:embed="rId6"/>
                <a:stretch>
                  <a:fillRect l="-1985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Lige pilforbindelse 67">
            <a:extLst>
              <a:ext uri="{FF2B5EF4-FFF2-40B4-BE49-F238E27FC236}">
                <a16:creationId xmlns:a16="http://schemas.microsoft.com/office/drawing/2014/main" id="{BA3B1B40-46A1-FD7E-83C4-984336B3EF50}"/>
              </a:ext>
            </a:extLst>
          </p:cNvPr>
          <p:cNvCxnSpPr>
            <a:cxnSpLocks/>
          </p:cNvCxnSpPr>
          <p:nvPr/>
        </p:nvCxnSpPr>
        <p:spPr>
          <a:xfrm>
            <a:off x="10164983" y="4370476"/>
            <a:ext cx="47855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kstfelt 68">
                <a:extLst>
                  <a:ext uri="{FF2B5EF4-FFF2-40B4-BE49-F238E27FC236}">
                    <a16:creationId xmlns:a16="http://schemas.microsoft.com/office/drawing/2014/main" id="{3185393B-C0CD-E07B-8EBB-CBD140ED9FDA}"/>
                  </a:ext>
                </a:extLst>
              </p:cNvPr>
              <p:cNvSpPr txBox="1"/>
              <p:nvPr/>
            </p:nvSpPr>
            <p:spPr>
              <a:xfrm>
                <a:off x="10710346" y="4211173"/>
                <a:ext cx="1424493" cy="291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9" name="Tekstfelt 68">
                <a:extLst>
                  <a:ext uri="{FF2B5EF4-FFF2-40B4-BE49-F238E27FC236}">
                    <a16:creationId xmlns:a16="http://schemas.microsoft.com/office/drawing/2014/main" id="{3185393B-C0CD-E07B-8EBB-CBD140ED9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0346" y="4211173"/>
                <a:ext cx="1424493" cy="291234"/>
              </a:xfrm>
              <a:prstGeom prst="rect">
                <a:avLst/>
              </a:prstGeom>
              <a:blipFill>
                <a:blip r:embed="rId7"/>
                <a:stretch>
                  <a:fillRect l="-3846" t="-29167" r="-5983" b="-3125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kstfelt 69">
            <a:extLst>
              <a:ext uri="{FF2B5EF4-FFF2-40B4-BE49-F238E27FC236}">
                <a16:creationId xmlns:a16="http://schemas.microsoft.com/office/drawing/2014/main" id="{9D60FFE7-CEDB-7D81-ABDB-62CBE60DB9EA}"/>
              </a:ext>
            </a:extLst>
          </p:cNvPr>
          <p:cNvSpPr txBox="1"/>
          <p:nvPr/>
        </p:nvSpPr>
        <p:spPr>
          <a:xfrm>
            <a:off x="7677356" y="4639161"/>
            <a:ext cx="2683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Sort to </a:t>
            </a:r>
            <a:r>
              <a:rPr lang="da-DK" dirty="0" err="1"/>
              <a:t>keep</a:t>
            </a:r>
            <a:r>
              <a:rPr lang="da-DK" dirty="0"/>
              <a:t> permutation </a:t>
            </a:r>
            <a:r>
              <a:rPr lang="da-DK" dirty="0" err="1"/>
              <a:t>invariance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78595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D88DB-CDC7-611C-A4C7-6DE3A592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E3700D-9DFF-847F-10D1-E4DF04FB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Embedding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4F5F6ACF-F4DB-689B-472C-2457B4288FA6}"/>
                  </a:ext>
                </a:extLst>
              </p:cNvPr>
              <p:cNvSpPr txBox="1"/>
              <p:nvPr/>
            </p:nvSpPr>
            <p:spPr>
              <a:xfrm>
                <a:off x="131357" y="4728775"/>
                <a:ext cx="9800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4F5F6ACF-F4DB-689B-472C-2457B4288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57" y="4728775"/>
                <a:ext cx="980036" cy="276999"/>
              </a:xfrm>
              <a:prstGeom prst="rect">
                <a:avLst/>
              </a:prstGeom>
              <a:blipFill>
                <a:blip r:embed="rId2"/>
                <a:stretch>
                  <a:fillRect l="-8750" t="-48889" r="-32500" b="-3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Forbindelse: vinklet 30">
            <a:extLst>
              <a:ext uri="{FF2B5EF4-FFF2-40B4-BE49-F238E27FC236}">
                <a16:creationId xmlns:a16="http://schemas.microsoft.com/office/drawing/2014/main" id="{46B7C776-7BA8-7779-36F8-CD03CA36928D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450444" y="5021827"/>
            <a:ext cx="1031210" cy="232858"/>
          </a:xfrm>
          <a:prstGeom prst="bentConnector3">
            <a:avLst>
              <a:gd name="adj1" fmla="val -8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kstfelt 37">
                <a:extLst>
                  <a:ext uri="{FF2B5EF4-FFF2-40B4-BE49-F238E27FC236}">
                    <a16:creationId xmlns:a16="http://schemas.microsoft.com/office/drawing/2014/main" id="{3D279FBD-03F9-8FC5-606D-F7D65A8556B0}"/>
                  </a:ext>
                </a:extLst>
              </p:cNvPr>
              <p:cNvSpPr txBox="1"/>
              <p:nvPr/>
            </p:nvSpPr>
            <p:spPr>
              <a:xfrm>
                <a:off x="623963" y="3698921"/>
                <a:ext cx="222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8" name="Tekstfelt 37">
                <a:extLst>
                  <a:ext uri="{FF2B5EF4-FFF2-40B4-BE49-F238E27FC236}">
                    <a16:creationId xmlns:a16="http://schemas.microsoft.com/office/drawing/2014/main" id="{3D279FBD-03F9-8FC5-606D-F7D65A855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63" y="3698921"/>
                <a:ext cx="222882" cy="276999"/>
              </a:xfrm>
              <a:prstGeom prst="rect">
                <a:avLst/>
              </a:prstGeom>
              <a:blipFill>
                <a:blip r:embed="rId3"/>
                <a:stretch>
                  <a:fillRect l="-16216" r="-8108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Lige pilforbindelse 38">
            <a:extLst>
              <a:ext uri="{FF2B5EF4-FFF2-40B4-BE49-F238E27FC236}">
                <a16:creationId xmlns:a16="http://schemas.microsoft.com/office/drawing/2014/main" id="{451718EF-0BDB-D932-7EC4-E0690D318F21}"/>
              </a:ext>
            </a:extLst>
          </p:cNvPr>
          <p:cNvCxnSpPr>
            <a:cxnSpLocks/>
          </p:cNvCxnSpPr>
          <p:nvPr/>
        </p:nvCxnSpPr>
        <p:spPr>
          <a:xfrm flipH="1" flipV="1">
            <a:off x="731479" y="3128258"/>
            <a:ext cx="3925" cy="586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kstfelt 39">
                <a:extLst>
                  <a:ext uri="{FF2B5EF4-FFF2-40B4-BE49-F238E27FC236}">
                    <a16:creationId xmlns:a16="http://schemas.microsoft.com/office/drawing/2014/main" id="{3B78696C-2EDA-05D7-3066-F91EC3AFE830}"/>
                  </a:ext>
                </a:extLst>
              </p:cNvPr>
              <p:cNvSpPr txBox="1"/>
              <p:nvPr/>
            </p:nvSpPr>
            <p:spPr>
              <a:xfrm>
                <a:off x="612724" y="2739332"/>
                <a:ext cx="254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0" name="Tekstfelt 39">
                <a:extLst>
                  <a:ext uri="{FF2B5EF4-FFF2-40B4-BE49-F238E27FC236}">
                    <a16:creationId xmlns:a16="http://schemas.microsoft.com/office/drawing/2014/main" id="{3B78696C-2EDA-05D7-3066-F91EC3AFE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24" y="2739332"/>
                <a:ext cx="254172" cy="276999"/>
              </a:xfrm>
              <a:prstGeom prst="rect">
                <a:avLst/>
              </a:prstGeom>
              <a:blipFill>
                <a:blip r:embed="rId4"/>
                <a:stretch>
                  <a:fillRect l="-24390" r="-7317" b="-152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ktangel: afrundede hjørner 45">
            <a:extLst>
              <a:ext uri="{FF2B5EF4-FFF2-40B4-BE49-F238E27FC236}">
                <a16:creationId xmlns:a16="http://schemas.microsoft.com/office/drawing/2014/main" id="{514E90D7-A254-3569-EE29-84156E2826DA}"/>
              </a:ext>
            </a:extLst>
          </p:cNvPr>
          <p:cNvSpPr/>
          <p:nvPr/>
        </p:nvSpPr>
        <p:spPr>
          <a:xfrm>
            <a:off x="1481654" y="3494151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site type</a:t>
            </a:r>
            <a:br>
              <a:rPr lang="da-DK" dirty="0">
                <a:solidFill>
                  <a:schemeClr val="tx1"/>
                </a:solidFill>
              </a:rPr>
            </a:br>
            <a:r>
              <a:rPr lang="da-DK" dirty="0" err="1">
                <a:solidFill>
                  <a:schemeClr val="tx1"/>
                </a:solidFill>
              </a:rPr>
              <a:t>active</a:t>
            </a:r>
            <a:r>
              <a:rPr lang="da-DK" dirty="0">
                <a:solidFill>
                  <a:schemeClr val="tx1"/>
                </a:solidFill>
              </a:rPr>
              <a:t>/non </a:t>
            </a:r>
            <a:r>
              <a:rPr lang="da-DK" dirty="0" err="1">
                <a:solidFill>
                  <a:schemeClr val="tx1"/>
                </a:solidFill>
              </a:rPr>
              <a:t>active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47" name="Rektangel: afrundede hjørner 46">
            <a:extLst>
              <a:ext uri="{FF2B5EF4-FFF2-40B4-BE49-F238E27FC236}">
                <a16:creationId xmlns:a16="http://schemas.microsoft.com/office/drawing/2014/main" id="{99F32103-380A-5728-B072-A67DE82FCBEE}"/>
              </a:ext>
            </a:extLst>
          </p:cNvPr>
          <p:cNvSpPr/>
          <p:nvPr/>
        </p:nvSpPr>
        <p:spPr>
          <a:xfrm>
            <a:off x="1481654" y="4867274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Element species</a:t>
            </a:r>
          </a:p>
        </p:txBody>
      </p:sp>
      <p:sp>
        <p:nvSpPr>
          <p:cNvPr id="48" name="Rektangel: afrundede hjørner 47">
            <a:extLst>
              <a:ext uri="{FF2B5EF4-FFF2-40B4-BE49-F238E27FC236}">
                <a16:creationId xmlns:a16="http://schemas.microsoft.com/office/drawing/2014/main" id="{099D8F83-8FC9-88F9-D36D-B4B537C9A5EE}"/>
              </a:ext>
            </a:extLst>
          </p:cNvPr>
          <p:cNvSpPr/>
          <p:nvPr/>
        </p:nvSpPr>
        <p:spPr>
          <a:xfrm>
            <a:off x="1481654" y="2501578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distance to </a:t>
            </a:r>
            <a:r>
              <a:rPr lang="da-DK" dirty="0" err="1">
                <a:solidFill>
                  <a:schemeClr val="tx1"/>
                </a:solidFill>
              </a:rPr>
              <a:t>active</a:t>
            </a:r>
            <a:r>
              <a:rPr lang="da-DK" dirty="0">
                <a:solidFill>
                  <a:schemeClr val="tx1"/>
                </a:solidFill>
              </a:rPr>
              <a:t> sites</a:t>
            </a:r>
          </a:p>
        </p:txBody>
      </p:sp>
      <p:cxnSp>
        <p:nvCxnSpPr>
          <p:cNvPr id="50" name="Lige pilforbindelse 49">
            <a:extLst>
              <a:ext uri="{FF2B5EF4-FFF2-40B4-BE49-F238E27FC236}">
                <a16:creationId xmlns:a16="http://schemas.microsoft.com/office/drawing/2014/main" id="{3B1766D8-EF2A-D0F9-BFBE-48D4CC7DE1C3}"/>
              </a:ext>
            </a:extLst>
          </p:cNvPr>
          <p:cNvCxnSpPr>
            <a:cxnSpLocks/>
          </p:cNvCxnSpPr>
          <p:nvPr/>
        </p:nvCxnSpPr>
        <p:spPr>
          <a:xfrm flipH="1" flipV="1">
            <a:off x="727554" y="4052474"/>
            <a:ext cx="3925" cy="586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ige pilforbindelse 55">
            <a:extLst>
              <a:ext uri="{FF2B5EF4-FFF2-40B4-BE49-F238E27FC236}">
                <a16:creationId xmlns:a16="http://schemas.microsoft.com/office/drawing/2014/main" id="{6997BE05-ECB9-9450-9953-3E9ED08C7463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945444" y="3881562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ge pilforbindelse 56">
            <a:extLst>
              <a:ext uri="{FF2B5EF4-FFF2-40B4-BE49-F238E27FC236}">
                <a16:creationId xmlns:a16="http://schemas.microsoft.com/office/drawing/2014/main" id="{3EDFB5EB-9E70-BE12-64D3-9104801A8E83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945444" y="2888989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C7B41E35-CEA7-3FCD-7D6A-B1CB6339986D}"/>
                  </a:ext>
                </a:extLst>
              </p:cNvPr>
              <p:cNvSpPr txBox="1"/>
              <p:nvPr/>
            </p:nvSpPr>
            <p:spPr>
              <a:xfrm>
                <a:off x="4207571" y="3743061"/>
                <a:ext cx="222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C7B41E35-CEA7-3FCD-7D6A-B1CB63399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571" y="3743061"/>
                <a:ext cx="222882" cy="276999"/>
              </a:xfrm>
              <a:prstGeom prst="rect">
                <a:avLst/>
              </a:prstGeom>
              <a:blipFill>
                <a:blip r:embed="rId5"/>
                <a:stretch>
                  <a:fillRect l="-16216" t="-8889" r="-45946" b="-1777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64E21C16-7E75-8814-F74B-7CF601A38747}"/>
                  </a:ext>
                </a:extLst>
              </p:cNvPr>
              <p:cNvSpPr txBox="1"/>
              <p:nvPr/>
            </p:nvSpPr>
            <p:spPr>
              <a:xfrm>
                <a:off x="4238861" y="2739331"/>
                <a:ext cx="222882" cy="291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64E21C16-7E75-8814-F74B-7CF601A38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861" y="2739331"/>
                <a:ext cx="222882" cy="291233"/>
              </a:xfrm>
              <a:prstGeom prst="rect">
                <a:avLst/>
              </a:prstGeom>
              <a:blipFill>
                <a:blip r:embed="rId6"/>
                <a:stretch>
                  <a:fillRect l="-35135" t="-27083" r="-51351" b="-1458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6F2F52B9-2EF2-F726-8A13-4C919DB0CA78}"/>
                  </a:ext>
                </a:extLst>
              </p:cNvPr>
              <p:cNvSpPr txBox="1"/>
              <p:nvPr/>
            </p:nvSpPr>
            <p:spPr>
              <a:xfrm>
                <a:off x="4179807" y="5138256"/>
                <a:ext cx="2423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6F2F52B9-2EF2-F726-8A13-4C919DB0C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807" y="5138256"/>
                <a:ext cx="242310" cy="276999"/>
              </a:xfrm>
              <a:prstGeom prst="rect">
                <a:avLst/>
              </a:prstGeom>
              <a:blipFill>
                <a:blip r:embed="rId7"/>
                <a:stretch>
                  <a:fillRect l="-15385" t="-11111" r="-51282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Lige pilforbindelse 5">
            <a:extLst>
              <a:ext uri="{FF2B5EF4-FFF2-40B4-BE49-F238E27FC236}">
                <a16:creationId xmlns:a16="http://schemas.microsoft.com/office/drawing/2014/main" id="{C22CB10F-FFF0-3F30-43D7-B83A87F84999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3731707" y="2888989"/>
            <a:ext cx="3702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60D46B73-8C61-C2C5-6331-124502113B42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3731707" y="3881560"/>
            <a:ext cx="391591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2C7BED4F-D1B1-9CA8-CF50-9A2318AC3E4C}"/>
              </a:ext>
            </a:extLst>
          </p:cNvPr>
          <p:cNvCxnSpPr>
            <a:cxnSpLocks/>
          </p:cNvCxnSpPr>
          <p:nvPr/>
        </p:nvCxnSpPr>
        <p:spPr>
          <a:xfrm flipV="1">
            <a:off x="3742381" y="5277555"/>
            <a:ext cx="391591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orbindelse: vinklet 16">
            <a:extLst>
              <a:ext uri="{FF2B5EF4-FFF2-40B4-BE49-F238E27FC236}">
                <a16:creationId xmlns:a16="http://schemas.microsoft.com/office/drawing/2014/main" id="{B9AE0508-F438-03EC-B8D9-133BB8093488}"/>
              </a:ext>
            </a:extLst>
          </p:cNvPr>
          <p:cNvCxnSpPr>
            <a:stCxn id="4" idx="3"/>
            <a:endCxn id="3" idx="3"/>
          </p:cNvCxnSpPr>
          <p:nvPr/>
        </p:nvCxnSpPr>
        <p:spPr>
          <a:xfrm flipH="1">
            <a:off x="4430453" y="2884948"/>
            <a:ext cx="31290" cy="996613"/>
          </a:xfrm>
          <a:prstGeom prst="bentConnector3">
            <a:avLst>
              <a:gd name="adj1" fmla="val -173457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4817E1F7-84DC-4EA3-831D-F4969390A797}"/>
                  </a:ext>
                </a:extLst>
              </p:cNvPr>
              <p:cNvSpPr/>
              <p:nvPr/>
            </p:nvSpPr>
            <p:spPr>
              <a:xfrm>
                <a:off x="4653335" y="3039618"/>
                <a:ext cx="689572" cy="68957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4817E1F7-84DC-4EA3-831D-F4969390A7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335" y="3039618"/>
                <a:ext cx="689572" cy="689572"/>
              </a:xfrm>
              <a:prstGeom prst="ellipse">
                <a:avLst/>
              </a:prstGeom>
              <a:blipFill>
                <a:blip r:embed="rId8"/>
                <a:stretch>
                  <a:fillRect l="-2586" r="-1379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Forbindelse: vinklet 23">
            <a:extLst>
              <a:ext uri="{FF2B5EF4-FFF2-40B4-BE49-F238E27FC236}">
                <a16:creationId xmlns:a16="http://schemas.microsoft.com/office/drawing/2014/main" id="{99FA9E22-C226-1F17-623E-E63AB9236FEC}"/>
              </a:ext>
            </a:extLst>
          </p:cNvPr>
          <p:cNvCxnSpPr>
            <a:cxnSpLocks/>
            <a:stCxn id="32" idx="3"/>
            <a:endCxn id="5" idx="3"/>
          </p:cNvCxnSpPr>
          <p:nvPr/>
        </p:nvCxnSpPr>
        <p:spPr>
          <a:xfrm flipH="1">
            <a:off x="4422117" y="3355652"/>
            <a:ext cx="1498566" cy="1921104"/>
          </a:xfrm>
          <a:prstGeom prst="bentConnector3">
            <a:avLst>
              <a:gd name="adj1" fmla="val -1525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kstfelt 31">
                <a:extLst>
                  <a:ext uri="{FF2B5EF4-FFF2-40B4-BE49-F238E27FC236}">
                    <a16:creationId xmlns:a16="http://schemas.microsoft.com/office/drawing/2014/main" id="{625ED74C-19CF-E033-CECF-FA00BBF9463F}"/>
                  </a:ext>
                </a:extLst>
              </p:cNvPr>
              <p:cNvSpPr txBox="1"/>
              <p:nvPr/>
            </p:nvSpPr>
            <p:spPr>
              <a:xfrm>
                <a:off x="5715947" y="3217152"/>
                <a:ext cx="2047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2" name="Tekstfelt 31">
                <a:extLst>
                  <a:ext uri="{FF2B5EF4-FFF2-40B4-BE49-F238E27FC236}">
                    <a16:creationId xmlns:a16="http://schemas.microsoft.com/office/drawing/2014/main" id="{625ED74C-19CF-E033-CECF-FA00BBF94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947" y="3217152"/>
                <a:ext cx="204736" cy="276999"/>
              </a:xfrm>
              <a:prstGeom prst="rect">
                <a:avLst/>
              </a:prstGeom>
              <a:blipFill>
                <a:blip r:embed="rId9"/>
                <a:stretch>
                  <a:fillRect l="-18182" t="-11111" r="-48485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Lige forbindelse 35">
            <a:extLst>
              <a:ext uri="{FF2B5EF4-FFF2-40B4-BE49-F238E27FC236}">
                <a16:creationId xmlns:a16="http://schemas.microsoft.com/office/drawing/2014/main" id="{2C41F68F-9E10-6AC2-59F3-599C2437BD26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5342907" y="3383253"/>
            <a:ext cx="250646" cy="115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ktangel: afrundede hjørner 41">
                <a:extLst>
                  <a:ext uri="{FF2B5EF4-FFF2-40B4-BE49-F238E27FC236}">
                    <a16:creationId xmlns:a16="http://schemas.microsoft.com/office/drawing/2014/main" id="{91622234-BE8B-7DFE-BE26-579ED9CBF053}"/>
                  </a:ext>
                </a:extLst>
              </p:cNvPr>
              <p:cNvSpPr/>
              <p:nvPr/>
            </p:nvSpPr>
            <p:spPr>
              <a:xfrm>
                <a:off x="5318678" y="3999758"/>
                <a:ext cx="1649774" cy="774821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Rektangel: afrundede hjørner 41">
                <a:extLst>
                  <a:ext uri="{FF2B5EF4-FFF2-40B4-BE49-F238E27FC236}">
                    <a16:creationId xmlns:a16="http://schemas.microsoft.com/office/drawing/2014/main" id="{91622234-BE8B-7DFE-BE26-579ED9CBF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678" y="3999758"/>
                <a:ext cx="1649774" cy="774821"/>
              </a:xfrm>
              <a:prstGeom prst="roundRect">
                <a:avLst/>
              </a:prstGeom>
              <a:blipFill>
                <a:blip r:embed="rId10"/>
                <a:stretch>
                  <a:fillRect r="-1094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Lige forbindelse 42">
            <a:extLst>
              <a:ext uri="{FF2B5EF4-FFF2-40B4-BE49-F238E27FC236}">
                <a16:creationId xmlns:a16="http://schemas.microsoft.com/office/drawing/2014/main" id="{CB80DC8F-C918-0BB7-7CA1-ED67370D0C9F}"/>
              </a:ext>
            </a:extLst>
          </p:cNvPr>
          <p:cNvCxnSpPr>
            <a:cxnSpLocks/>
          </p:cNvCxnSpPr>
          <p:nvPr/>
        </p:nvCxnSpPr>
        <p:spPr>
          <a:xfrm flipV="1">
            <a:off x="7024892" y="4395960"/>
            <a:ext cx="380796" cy="115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712B17CD-B16A-745B-0B8C-08A0983C0DAE}"/>
                  </a:ext>
                </a:extLst>
              </p:cNvPr>
              <p:cNvSpPr txBox="1"/>
              <p:nvPr/>
            </p:nvSpPr>
            <p:spPr>
              <a:xfrm>
                <a:off x="7462128" y="4248668"/>
                <a:ext cx="2439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712B17CD-B16A-745B-0B8C-08A0983C0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128" y="4248668"/>
                <a:ext cx="243913" cy="276999"/>
              </a:xfrm>
              <a:prstGeom prst="rect">
                <a:avLst/>
              </a:prstGeom>
              <a:blipFill>
                <a:blip r:embed="rId11"/>
                <a:stretch>
                  <a:fillRect l="-15000" t="-11111" r="-50000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1300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C0ABB-9741-AE8D-11A6-882E4BDA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CA9843-B17B-4BFD-8BC8-D0B21C600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Embedding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D581CAC0-E2F0-E142-D106-B1D05A5CDA22}"/>
                  </a:ext>
                </a:extLst>
              </p:cNvPr>
              <p:cNvSpPr txBox="1"/>
              <p:nvPr/>
            </p:nvSpPr>
            <p:spPr>
              <a:xfrm>
                <a:off x="60960" y="3917885"/>
                <a:ext cx="9800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D581CAC0-E2F0-E142-D106-B1D05A5CD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" y="3917885"/>
                <a:ext cx="980036" cy="276999"/>
              </a:xfrm>
              <a:prstGeom prst="rect">
                <a:avLst/>
              </a:prstGeom>
              <a:blipFill>
                <a:blip r:embed="rId2"/>
                <a:stretch>
                  <a:fillRect l="-8075" t="-48889" r="-31677" b="-3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Forbindelse: vinklet 30">
            <a:extLst>
              <a:ext uri="{FF2B5EF4-FFF2-40B4-BE49-F238E27FC236}">
                <a16:creationId xmlns:a16="http://schemas.microsoft.com/office/drawing/2014/main" id="{D959B77A-F22C-28B6-1DAE-0A50CEF50C04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380047" y="4210937"/>
            <a:ext cx="1031210" cy="232858"/>
          </a:xfrm>
          <a:prstGeom prst="bentConnector3">
            <a:avLst>
              <a:gd name="adj1" fmla="val -8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kstfelt 37">
                <a:extLst>
                  <a:ext uri="{FF2B5EF4-FFF2-40B4-BE49-F238E27FC236}">
                    <a16:creationId xmlns:a16="http://schemas.microsoft.com/office/drawing/2014/main" id="{F36BA1E0-B0CC-1E8E-D29B-C617D211D432}"/>
                  </a:ext>
                </a:extLst>
              </p:cNvPr>
              <p:cNvSpPr txBox="1"/>
              <p:nvPr/>
            </p:nvSpPr>
            <p:spPr>
              <a:xfrm>
                <a:off x="553566" y="2888031"/>
                <a:ext cx="222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8" name="Tekstfelt 37">
                <a:extLst>
                  <a:ext uri="{FF2B5EF4-FFF2-40B4-BE49-F238E27FC236}">
                    <a16:creationId xmlns:a16="http://schemas.microsoft.com/office/drawing/2014/main" id="{F36BA1E0-B0CC-1E8E-D29B-C617D211D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66" y="2888031"/>
                <a:ext cx="222882" cy="276999"/>
              </a:xfrm>
              <a:prstGeom prst="rect">
                <a:avLst/>
              </a:prstGeom>
              <a:blipFill>
                <a:blip r:embed="rId3"/>
                <a:stretch>
                  <a:fillRect l="-16667" r="-8333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Lige pilforbindelse 38">
            <a:extLst>
              <a:ext uri="{FF2B5EF4-FFF2-40B4-BE49-F238E27FC236}">
                <a16:creationId xmlns:a16="http://schemas.microsoft.com/office/drawing/2014/main" id="{30B01685-4859-8ED0-F37A-8DFD5A9269A6}"/>
              </a:ext>
            </a:extLst>
          </p:cNvPr>
          <p:cNvCxnSpPr>
            <a:cxnSpLocks/>
          </p:cNvCxnSpPr>
          <p:nvPr/>
        </p:nvCxnSpPr>
        <p:spPr>
          <a:xfrm flipH="1" flipV="1">
            <a:off x="661082" y="2317368"/>
            <a:ext cx="3925" cy="586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kstfelt 39">
                <a:extLst>
                  <a:ext uri="{FF2B5EF4-FFF2-40B4-BE49-F238E27FC236}">
                    <a16:creationId xmlns:a16="http://schemas.microsoft.com/office/drawing/2014/main" id="{DFF3B9FF-C639-64F0-D348-0E2E7ACD638F}"/>
                  </a:ext>
                </a:extLst>
              </p:cNvPr>
              <p:cNvSpPr txBox="1"/>
              <p:nvPr/>
            </p:nvSpPr>
            <p:spPr>
              <a:xfrm>
                <a:off x="542327" y="1928442"/>
                <a:ext cx="254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0" name="Tekstfelt 39">
                <a:extLst>
                  <a:ext uri="{FF2B5EF4-FFF2-40B4-BE49-F238E27FC236}">
                    <a16:creationId xmlns:a16="http://schemas.microsoft.com/office/drawing/2014/main" id="{DFF3B9FF-C639-64F0-D348-0E2E7ACD6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27" y="1928442"/>
                <a:ext cx="254172" cy="276999"/>
              </a:xfrm>
              <a:prstGeom prst="rect">
                <a:avLst/>
              </a:prstGeom>
              <a:blipFill>
                <a:blip r:embed="rId4"/>
                <a:stretch>
                  <a:fillRect l="-23810" r="-4762" b="-152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ktangel: afrundede hjørner 45">
            <a:extLst>
              <a:ext uri="{FF2B5EF4-FFF2-40B4-BE49-F238E27FC236}">
                <a16:creationId xmlns:a16="http://schemas.microsoft.com/office/drawing/2014/main" id="{602345F1-D7EA-C7E7-C602-867D3C637BAB}"/>
              </a:ext>
            </a:extLst>
          </p:cNvPr>
          <p:cNvSpPr/>
          <p:nvPr/>
        </p:nvSpPr>
        <p:spPr>
          <a:xfrm>
            <a:off x="1411257" y="2683261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site type</a:t>
            </a:r>
            <a:br>
              <a:rPr lang="da-DK" dirty="0">
                <a:solidFill>
                  <a:schemeClr val="tx1"/>
                </a:solidFill>
              </a:rPr>
            </a:br>
            <a:r>
              <a:rPr lang="da-DK" dirty="0" err="1">
                <a:solidFill>
                  <a:schemeClr val="tx1"/>
                </a:solidFill>
              </a:rPr>
              <a:t>active</a:t>
            </a:r>
            <a:r>
              <a:rPr lang="da-DK" dirty="0">
                <a:solidFill>
                  <a:schemeClr val="tx1"/>
                </a:solidFill>
              </a:rPr>
              <a:t>/non </a:t>
            </a:r>
            <a:r>
              <a:rPr lang="da-DK" dirty="0" err="1">
                <a:solidFill>
                  <a:schemeClr val="tx1"/>
                </a:solidFill>
              </a:rPr>
              <a:t>active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47" name="Rektangel: afrundede hjørner 46">
            <a:extLst>
              <a:ext uri="{FF2B5EF4-FFF2-40B4-BE49-F238E27FC236}">
                <a16:creationId xmlns:a16="http://schemas.microsoft.com/office/drawing/2014/main" id="{E02DECD7-E423-01D1-D416-53954C03DFAB}"/>
              </a:ext>
            </a:extLst>
          </p:cNvPr>
          <p:cNvSpPr/>
          <p:nvPr/>
        </p:nvSpPr>
        <p:spPr>
          <a:xfrm>
            <a:off x="1411257" y="4056384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Element species</a:t>
            </a:r>
          </a:p>
        </p:txBody>
      </p:sp>
      <p:sp>
        <p:nvSpPr>
          <p:cNvPr id="48" name="Rektangel: afrundede hjørner 47">
            <a:extLst>
              <a:ext uri="{FF2B5EF4-FFF2-40B4-BE49-F238E27FC236}">
                <a16:creationId xmlns:a16="http://schemas.microsoft.com/office/drawing/2014/main" id="{BF72D517-4D26-2AF6-0146-A77097E1E5C5}"/>
              </a:ext>
            </a:extLst>
          </p:cNvPr>
          <p:cNvSpPr/>
          <p:nvPr/>
        </p:nvSpPr>
        <p:spPr>
          <a:xfrm>
            <a:off x="1411257" y="1690688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distance to </a:t>
            </a:r>
            <a:r>
              <a:rPr lang="da-DK" dirty="0" err="1">
                <a:solidFill>
                  <a:schemeClr val="tx1"/>
                </a:solidFill>
              </a:rPr>
              <a:t>active</a:t>
            </a:r>
            <a:r>
              <a:rPr lang="da-DK" dirty="0">
                <a:solidFill>
                  <a:schemeClr val="tx1"/>
                </a:solidFill>
              </a:rPr>
              <a:t> sites</a:t>
            </a:r>
          </a:p>
        </p:txBody>
      </p:sp>
      <p:cxnSp>
        <p:nvCxnSpPr>
          <p:cNvPr id="50" name="Lige pilforbindelse 49">
            <a:extLst>
              <a:ext uri="{FF2B5EF4-FFF2-40B4-BE49-F238E27FC236}">
                <a16:creationId xmlns:a16="http://schemas.microsoft.com/office/drawing/2014/main" id="{284ECFC1-3D0F-B40D-12B3-4E6366115A39}"/>
              </a:ext>
            </a:extLst>
          </p:cNvPr>
          <p:cNvCxnSpPr>
            <a:cxnSpLocks/>
          </p:cNvCxnSpPr>
          <p:nvPr/>
        </p:nvCxnSpPr>
        <p:spPr>
          <a:xfrm flipH="1" flipV="1">
            <a:off x="657157" y="3241584"/>
            <a:ext cx="3925" cy="586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ige pilforbindelse 55">
            <a:extLst>
              <a:ext uri="{FF2B5EF4-FFF2-40B4-BE49-F238E27FC236}">
                <a16:creationId xmlns:a16="http://schemas.microsoft.com/office/drawing/2014/main" id="{E27C7145-DE2E-9156-DD03-7B42549C05AD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875047" y="3070672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ge pilforbindelse 56">
            <a:extLst>
              <a:ext uri="{FF2B5EF4-FFF2-40B4-BE49-F238E27FC236}">
                <a16:creationId xmlns:a16="http://schemas.microsoft.com/office/drawing/2014/main" id="{89520F0D-0A06-B25B-293A-CA8E523F1C60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875047" y="2078099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580C7DE5-2F78-5C0A-5BA3-CC7A3CA1EB1A}"/>
                  </a:ext>
                </a:extLst>
              </p:cNvPr>
              <p:cNvSpPr txBox="1"/>
              <p:nvPr/>
            </p:nvSpPr>
            <p:spPr>
              <a:xfrm>
                <a:off x="4137174" y="2932171"/>
                <a:ext cx="222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580C7DE5-2F78-5C0A-5BA3-CC7A3CA1E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174" y="2932171"/>
                <a:ext cx="222882" cy="276999"/>
              </a:xfrm>
              <a:prstGeom prst="rect">
                <a:avLst/>
              </a:prstGeom>
              <a:blipFill>
                <a:blip r:embed="rId5"/>
                <a:stretch>
                  <a:fillRect l="-16667" t="-8889" r="-47222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C5387BA3-12F0-B36B-66E5-7223A3ED90AF}"/>
                  </a:ext>
                </a:extLst>
              </p:cNvPr>
              <p:cNvSpPr txBox="1"/>
              <p:nvPr/>
            </p:nvSpPr>
            <p:spPr>
              <a:xfrm>
                <a:off x="4168464" y="1928441"/>
                <a:ext cx="222882" cy="291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C5387BA3-12F0-B36B-66E5-7223A3ED9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464" y="1928441"/>
                <a:ext cx="222882" cy="291233"/>
              </a:xfrm>
              <a:prstGeom prst="rect">
                <a:avLst/>
              </a:prstGeom>
              <a:blipFill>
                <a:blip r:embed="rId6"/>
                <a:stretch>
                  <a:fillRect l="-36111" t="-27083" r="-52778" b="-1458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9356A17C-50B8-07F2-0AFA-62CBA8BFBD59}"/>
                  </a:ext>
                </a:extLst>
              </p:cNvPr>
              <p:cNvSpPr txBox="1"/>
              <p:nvPr/>
            </p:nvSpPr>
            <p:spPr>
              <a:xfrm>
                <a:off x="4109410" y="4327366"/>
                <a:ext cx="242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9356A17C-50B8-07F2-0AFA-62CBA8BFB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410" y="4327366"/>
                <a:ext cx="242309" cy="276999"/>
              </a:xfrm>
              <a:prstGeom prst="rect">
                <a:avLst/>
              </a:prstGeom>
              <a:blipFill>
                <a:blip r:embed="rId7"/>
                <a:stretch>
                  <a:fillRect l="-15000" t="-11111" r="-50000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Lige pilforbindelse 5">
            <a:extLst>
              <a:ext uri="{FF2B5EF4-FFF2-40B4-BE49-F238E27FC236}">
                <a16:creationId xmlns:a16="http://schemas.microsoft.com/office/drawing/2014/main" id="{F457DBDD-BEE6-9FA7-BB5B-12DA82B86A29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3661310" y="2078099"/>
            <a:ext cx="3702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A353871B-3F49-6C65-103F-24DEDB82FDD7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3661310" y="3070670"/>
            <a:ext cx="391591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646FCA64-28BF-2B29-8740-C95E5676177B}"/>
              </a:ext>
            </a:extLst>
          </p:cNvPr>
          <p:cNvCxnSpPr>
            <a:cxnSpLocks/>
          </p:cNvCxnSpPr>
          <p:nvPr/>
        </p:nvCxnSpPr>
        <p:spPr>
          <a:xfrm flipV="1">
            <a:off x="3671984" y="4466665"/>
            <a:ext cx="391591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orbindelse: vinklet 16">
            <a:extLst>
              <a:ext uri="{FF2B5EF4-FFF2-40B4-BE49-F238E27FC236}">
                <a16:creationId xmlns:a16="http://schemas.microsoft.com/office/drawing/2014/main" id="{D4EE1B10-44A7-C8CF-1DA5-6F8AEBC73F37}"/>
              </a:ext>
            </a:extLst>
          </p:cNvPr>
          <p:cNvCxnSpPr>
            <a:stCxn id="4" idx="3"/>
            <a:endCxn id="3" idx="3"/>
          </p:cNvCxnSpPr>
          <p:nvPr/>
        </p:nvCxnSpPr>
        <p:spPr>
          <a:xfrm flipH="1">
            <a:off x="4360056" y="2074058"/>
            <a:ext cx="31290" cy="996613"/>
          </a:xfrm>
          <a:prstGeom prst="bentConnector3">
            <a:avLst>
              <a:gd name="adj1" fmla="val -173457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C9C3B053-6089-9A0C-8D29-4B7B75064995}"/>
                  </a:ext>
                </a:extLst>
              </p:cNvPr>
              <p:cNvSpPr/>
              <p:nvPr/>
            </p:nvSpPr>
            <p:spPr>
              <a:xfrm>
                <a:off x="4582938" y="2228728"/>
                <a:ext cx="689572" cy="68957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C9C3B053-6089-9A0C-8D29-4B7B750649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938" y="2228728"/>
                <a:ext cx="689572" cy="689572"/>
              </a:xfrm>
              <a:prstGeom prst="ellipse">
                <a:avLst/>
              </a:prstGeom>
              <a:blipFill>
                <a:blip r:embed="rId8"/>
                <a:stretch>
                  <a:fillRect l="-3448" r="-1379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Forbindelse: vinklet 23">
            <a:extLst>
              <a:ext uri="{FF2B5EF4-FFF2-40B4-BE49-F238E27FC236}">
                <a16:creationId xmlns:a16="http://schemas.microsoft.com/office/drawing/2014/main" id="{9A620D63-EFB2-1893-F6F5-3EC66F74B187}"/>
              </a:ext>
            </a:extLst>
          </p:cNvPr>
          <p:cNvCxnSpPr>
            <a:cxnSpLocks/>
            <a:stCxn id="32" idx="3"/>
            <a:endCxn id="5" idx="3"/>
          </p:cNvCxnSpPr>
          <p:nvPr/>
        </p:nvCxnSpPr>
        <p:spPr>
          <a:xfrm flipH="1">
            <a:off x="4351719" y="2544762"/>
            <a:ext cx="1498567" cy="1921104"/>
          </a:xfrm>
          <a:prstGeom prst="bentConnector3">
            <a:avLst>
              <a:gd name="adj1" fmla="val -1525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kstfelt 31">
                <a:extLst>
                  <a:ext uri="{FF2B5EF4-FFF2-40B4-BE49-F238E27FC236}">
                    <a16:creationId xmlns:a16="http://schemas.microsoft.com/office/drawing/2014/main" id="{2467BC69-1BB7-3AD2-E813-ABFD111A92D1}"/>
                  </a:ext>
                </a:extLst>
              </p:cNvPr>
              <p:cNvSpPr txBox="1"/>
              <p:nvPr/>
            </p:nvSpPr>
            <p:spPr>
              <a:xfrm>
                <a:off x="5645550" y="2406262"/>
                <a:ext cx="2047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2" name="Tekstfelt 31">
                <a:extLst>
                  <a:ext uri="{FF2B5EF4-FFF2-40B4-BE49-F238E27FC236}">
                    <a16:creationId xmlns:a16="http://schemas.microsoft.com/office/drawing/2014/main" id="{2467BC69-1BB7-3AD2-E813-ABFD111A9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550" y="2406262"/>
                <a:ext cx="204736" cy="276999"/>
              </a:xfrm>
              <a:prstGeom prst="rect">
                <a:avLst/>
              </a:prstGeom>
              <a:blipFill>
                <a:blip r:embed="rId9"/>
                <a:stretch>
                  <a:fillRect l="-17647" t="-11111" r="-47059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Lige forbindelse 35">
            <a:extLst>
              <a:ext uri="{FF2B5EF4-FFF2-40B4-BE49-F238E27FC236}">
                <a16:creationId xmlns:a16="http://schemas.microsoft.com/office/drawing/2014/main" id="{8650C3EC-292E-23BA-F6BB-93D611D363FF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5272510" y="2572363"/>
            <a:ext cx="250646" cy="115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ktangel: afrundede hjørner 41">
                <a:extLst>
                  <a:ext uri="{FF2B5EF4-FFF2-40B4-BE49-F238E27FC236}">
                    <a16:creationId xmlns:a16="http://schemas.microsoft.com/office/drawing/2014/main" id="{CCCDAE66-013E-5B10-D0D9-F6875712E57E}"/>
                  </a:ext>
                </a:extLst>
              </p:cNvPr>
              <p:cNvSpPr/>
              <p:nvPr/>
            </p:nvSpPr>
            <p:spPr>
              <a:xfrm>
                <a:off x="5248281" y="3188868"/>
                <a:ext cx="1649774" cy="774821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Rektangel: afrundede hjørner 41">
                <a:extLst>
                  <a:ext uri="{FF2B5EF4-FFF2-40B4-BE49-F238E27FC236}">
                    <a16:creationId xmlns:a16="http://schemas.microsoft.com/office/drawing/2014/main" id="{CCCDAE66-013E-5B10-D0D9-F6875712E5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281" y="3188868"/>
                <a:ext cx="1649774" cy="774821"/>
              </a:xfrm>
              <a:prstGeom prst="roundRect">
                <a:avLst/>
              </a:prstGeom>
              <a:blipFill>
                <a:blip r:embed="rId10"/>
                <a:stretch>
                  <a:fillRect r="-1094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Lige forbindelse 42">
            <a:extLst>
              <a:ext uri="{FF2B5EF4-FFF2-40B4-BE49-F238E27FC236}">
                <a16:creationId xmlns:a16="http://schemas.microsoft.com/office/drawing/2014/main" id="{1378DE18-1749-EED5-F126-8EB08528D85F}"/>
              </a:ext>
            </a:extLst>
          </p:cNvPr>
          <p:cNvCxnSpPr>
            <a:cxnSpLocks/>
          </p:cNvCxnSpPr>
          <p:nvPr/>
        </p:nvCxnSpPr>
        <p:spPr>
          <a:xfrm flipV="1">
            <a:off x="6954495" y="3585070"/>
            <a:ext cx="380796" cy="115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C7C135A3-D418-7C6E-5CE9-B0E7A051E200}"/>
                  </a:ext>
                </a:extLst>
              </p:cNvPr>
              <p:cNvSpPr txBox="1"/>
              <p:nvPr/>
            </p:nvSpPr>
            <p:spPr>
              <a:xfrm>
                <a:off x="7391731" y="3437778"/>
                <a:ext cx="2439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C7C135A3-D418-7C6E-5CE9-B0E7A051E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731" y="3437778"/>
                <a:ext cx="243913" cy="276999"/>
              </a:xfrm>
              <a:prstGeom prst="rect">
                <a:avLst/>
              </a:prstGeom>
              <a:blipFill>
                <a:blip r:embed="rId11"/>
                <a:stretch>
                  <a:fillRect l="-15000" t="-11111" r="-47500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B13DDC30-997B-A071-141D-7344A84A9280}"/>
              </a:ext>
            </a:extLst>
          </p:cNvPr>
          <p:cNvCxnSpPr>
            <a:cxnSpLocks/>
          </p:cNvCxnSpPr>
          <p:nvPr/>
        </p:nvCxnSpPr>
        <p:spPr>
          <a:xfrm>
            <a:off x="875047" y="4210937"/>
            <a:ext cx="0" cy="136407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ktangel: afrundede hjørner 14">
            <a:extLst>
              <a:ext uri="{FF2B5EF4-FFF2-40B4-BE49-F238E27FC236}">
                <a16:creationId xmlns:a16="http://schemas.microsoft.com/office/drawing/2014/main" id="{C611D2A0-EC8F-6DD0-5707-6500D033CB1B}"/>
              </a:ext>
            </a:extLst>
          </p:cNvPr>
          <p:cNvSpPr/>
          <p:nvPr/>
        </p:nvSpPr>
        <p:spPr>
          <a:xfrm>
            <a:off x="1411256" y="5042096"/>
            <a:ext cx="2250053" cy="7748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>
                <a:solidFill>
                  <a:schemeClr val="tx1"/>
                </a:solidFill>
              </a:rPr>
              <a:t>Sinusoidal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embedding</a:t>
            </a:r>
            <a:endParaRPr lang="da-DK" dirty="0">
              <a:solidFill>
                <a:schemeClr val="tx1"/>
              </a:solidFill>
            </a:endParaRPr>
          </a:p>
        </p:txBody>
      </p:sp>
      <p:cxnSp>
        <p:nvCxnSpPr>
          <p:cNvPr id="16" name="Lige pilforbindelse 15">
            <a:extLst>
              <a:ext uri="{FF2B5EF4-FFF2-40B4-BE49-F238E27FC236}">
                <a16:creationId xmlns:a16="http://schemas.microsoft.com/office/drawing/2014/main" id="{772BDAAD-D7C9-8812-DCD0-CBA437D2F294}"/>
              </a:ext>
            </a:extLst>
          </p:cNvPr>
          <p:cNvCxnSpPr>
            <a:cxnSpLocks/>
          </p:cNvCxnSpPr>
          <p:nvPr/>
        </p:nvCxnSpPr>
        <p:spPr>
          <a:xfrm>
            <a:off x="1075870" y="4210937"/>
            <a:ext cx="0" cy="114262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ge pilforbindelse 17">
            <a:extLst>
              <a:ext uri="{FF2B5EF4-FFF2-40B4-BE49-F238E27FC236}">
                <a16:creationId xmlns:a16="http://schemas.microsoft.com/office/drawing/2014/main" id="{61275B9A-3ED9-EC82-0278-4D58FCCE28D5}"/>
              </a:ext>
            </a:extLst>
          </p:cNvPr>
          <p:cNvCxnSpPr>
            <a:cxnSpLocks/>
          </p:cNvCxnSpPr>
          <p:nvPr/>
        </p:nvCxnSpPr>
        <p:spPr>
          <a:xfrm>
            <a:off x="875047" y="5575013"/>
            <a:ext cx="5362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C0E5AF3E-AB86-359A-865C-3797555C9FEC}"/>
              </a:ext>
            </a:extLst>
          </p:cNvPr>
          <p:cNvCxnSpPr>
            <a:cxnSpLocks/>
          </p:cNvCxnSpPr>
          <p:nvPr/>
        </p:nvCxnSpPr>
        <p:spPr>
          <a:xfrm>
            <a:off x="1075870" y="5353557"/>
            <a:ext cx="335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Billede 21" descr="Et billede, der indeholder tekst, skærmbillede, Font/skrifttype, dokument&#10;&#10;AI-genereret indhold kan være ukorrekt.">
            <a:extLst>
              <a:ext uri="{FF2B5EF4-FFF2-40B4-BE49-F238E27FC236}">
                <a16:creationId xmlns:a16="http://schemas.microsoft.com/office/drawing/2014/main" id="{223B4A27-D927-B674-C8FF-F47C198AC8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5313" y="76240"/>
            <a:ext cx="3352600" cy="3752031"/>
          </a:xfrm>
          <a:prstGeom prst="rect">
            <a:avLst/>
          </a:prstGeom>
        </p:spPr>
      </p:pic>
      <p:sp>
        <p:nvSpPr>
          <p:cNvPr id="23" name="Pladsholder til indhold 2">
            <a:extLst>
              <a:ext uri="{FF2B5EF4-FFF2-40B4-BE49-F238E27FC236}">
                <a16:creationId xmlns:a16="http://schemas.microsoft.com/office/drawing/2014/main" id="{D7FD6E6F-4C0A-CAA5-3B0F-02E2D906F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3687" y="4241115"/>
            <a:ext cx="4377272" cy="1528413"/>
          </a:xfrm>
        </p:spPr>
        <p:txBody>
          <a:bodyPr/>
          <a:lstStyle/>
          <a:p>
            <a:r>
              <a:rPr lang="da-DK" sz="1600" dirty="0" err="1">
                <a:sym typeface="Wingdings" panose="05000000000000000000" pitchFamily="2" charset="2"/>
              </a:rPr>
              <a:t>Comes</a:t>
            </a:r>
            <a:r>
              <a:rPr lang="da-DK" sz="1600" dirty="0">
                <a:sym typeface="Wingdings" panose="05000000000000000000" pitchFamily="2" charset="2"/>
              </a:rPr>
              <a:t> from </a:t>
            </a:r>
            <a:r>
              <a:rPr lang="da-DK" sz="1600" dirty="0" err="1">
                <a:sym typeface="Wingdings" panose="05000000000000000000" pitchFamily="2" charset="2"/>
              </a:rPr>
              <a:t>paper</a:t>
            </a:r>
            <a:r>
              <a:rPr lang="da-DK" sz="1600" dirty="0">
                <a:sym typeface="Wingdings" panose="05000000000000000000" pitchFamily="2" charset="2"/>
              </a:rPr>
              <a:t>  </a:t>
            </a:r>
            <a:r>
              <a:rPr lang="da-DK" sz="1600" dirty="0" err="1">
                <a:sym typeface="Wingdings" panose="05000000000000000000" pitchFamily="2" charset="2"/>
              </a:rPr>
              <a:t>Primarily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used</a:t>
            </a:r>
            <a:r>
              <a:rPr lang="da-DK" sz="1600" dirty="0">
                <a:sym typeface="Wingdings" panose="05000000000000000000" pitchFamily="2" charset="2"/>
              </a:rPr>
              <a:t> as ”</a:t>
            </a:r>
            <a:r>
              <a:rPr lang="da-DK" sz="1600" dirty="0" err="1">
                <a:sym typeface="Wingdings" panose="05000000000000000000" pitchFamily="2" charset="2"/>
              </a:rPr>
              <a:t>positional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encoder</a:t>
            </a:r>
            <a:r>
              <a:rPr lang="da-DK" sz="1600" dirty="0">
                <a:sym typeface="Wingdings" panose="05000000000000000000" pitchFamily="2" charset="2"/>
              </a:rPr>
              <a:t>” </a:t>
            </a:r>
            <a:r>
              <a:rPr lang="da-DK" sz="1600" dirty="0" err="1">
                <a:sym typeface="Wingdings" panose="05000000000000000000" pitchFamily="2" charset="2"/>
              </a:rPr>
              <a:t>between</a:t>
            </a:r>
            <a:r>
              <a:rPr lang="da-DK" sz="1600" dirty="0">
                <a:sym typeface="Wingdings" panose="05000000000000000000" pitchFamily="2" charset="2"/>
              </a:rPr>
              <a:t> </a:t>
            </a:r>
            <a:r>
              <a:rPr lang="da-DK" sz="1600" dirty="0" err="1">
                <a:sym typeface="Wingdings" panose="05000000000000000000" pitchFamily="2" charset="2"/>
              </a:rPr>
              <a:t>words</a:t>
            </a:r>
            <a:r>
              <a:rPr lang="da-DK" sz="1600" dirty="0">
                <a:sym typeface="Wingdings" panose="05000000000000000000" pitchFamily="2" charset="2"/>
              </a:rPr>
              <a:t> in </a:t>
            </a:r>
            <a:r>
              <a:rPr lang="da-DK" sz="1600" dirty="0" err="1">
                <a:sym typeface="Wingdings" panose="05000000000000000000" pitchFamily="2" charset="2"/>
              </a:rPr>
              <a:t>sequence</a:t>
            </a:r>
            <a:endParaRPr lang="da-DK" sz="1200" dirty="0">
              <a:sym typeface="Wingdings" panose="05000000000000000000" pitchFamily="2" charset="2"/>
            </a:endParaRPr>
          </a:p>
        </p:txBody>
      </p:sp>
      <p:pic>
        <p:nvPicPr>
          <p:cNvPr id="26" name="Billede 25" descr="Et billede, der indeholder tekst, Font/skrifttype, hvid, linje/række&#10;&#10;AI-genereret indhold kan være ukorrekt.">
            <a:extLst>
              <a:ext uri="{FF2B5EF4-FFF2-40B4-BE49-F238E27FC236}">
                <a16:creationId xmlns:a16="http://schemas.microsoft.com/office/drawing/2014/main" id="{AA500FDC-10C3-77FB-497A-BFB541E4C2C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49072" y="4978584"/>
            <a:ext cx="3182388" cy="79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05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BA82-8C17-61EC-A414-6BB33E27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5245DF-5702-4B44-8017-D57F762C7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Embedding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37C0DE53-F39B-8B8B-068F-02BF3EC6309C}"/>
                  </a:ext>
                </a:extLst>
              </p:cNvPr>
              <p:cNvSpPr txBox="1"/>
              <p:nvPr/>
            </p:nvSpPr>
            <p:spPr>
              <a:xfrm>
                <a:off x="60960" y="3917885"/>
                <a:ext cx="9800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37C0DE53-F39B-8B8B-068F-02BF3EC63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" y="3917885"/>
                <a:ext cx="980036" cy="276999"/>
              </a:xfrm>
              <a:prstGeom prst="rect">
                <a:avLst/>
              </a:prstGeom>
              <a:blipFill>
                <a:blip r:embed="rId2"/>
                <a:stretch>
                  <a:fillRect l="-8075" t="-48889" r="-31677" b="-3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Forbindelse: vinklet 30">
            <a:extLst>
              <a:ext uri="{FF2B5EF4-FFF2-40B4-BE49-F238E27FC236}">
                <a16:creationId xmlns:a16="http://schemas.microsoft.com/office/drawing/2014/main" id="{C37896FE-4B6B-6B04-A048-E6483BD43A2E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380047" y="4210937"/>
            <a:ext cx="1031210" cy="232858"/>
          </a:xfrm>
          <a:prstGeom prst="bentConnector3">
            <a:avLst>
              <a:gd name="adj1" fmla="val -8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kstfelt 37">
                <a:extLst>
                  <a:ext uri="{FF2B5EF4-FFF2-40B4-BE49-F238E27FC236}">
                    <a16:creationId xmlns:a16="http://schemas.microsoft.com/office/drawing/2014/main" id="{119A3A08-CF58-F632-AA28-5E98B4C13AD9}"/>
                  </a:ext>
                </a:extLst>
              </p:cNvPr>
              <p:cNvSpPr txBox="1"/>
              <p:nvPr/>
            </p:nvSpPr>
            <p:spPr>
              <a:xfrm>
                <a:off x="553566" y="2888031"/>
                <a:ext cx="222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8" name="Tekstfelt 37">
                <a:extLst>
                  <a:ext uri="{FF2B5EF4-FFF2-40B4-BE49-F238E27FC236}">
                    <a16:creationId xmlns:a16="http://schemas.microsoft.com/office/drawing/2014/main" id="{119A3A08-CF58-F632-AA28-5E98B4C13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66" y="2888031"/>
                <a:ext cx="222882" cy="276999"/>
              </a:xfrm>
              <a:prstGeom prst="rect">
                <a:avLst/>
              </a:prstGeom>
              <a:blipFill>
                <a:blip r:embed="rId3"/>
                <a:stretch>
                  <a:fillRect l="-16667" r="-8333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Lige pilforbindelse 38">
            <a:extLst>
              <a:ext uri="{FF2B5EF4-FFF2-40B4-BE49-F238E27FC236}">
                <a16:creationId xmlns:a16="http://schemas.microsoft.com/office/drawing/2014/main" id="{3379660E-2EEC-546F-97DA-61E93CC8B3C8}"/>
              </a:ext>
            </a:extLst>
          </p:cNvPr>
          <p:cNvCxnSpPr>
            <a:cxnSpLocks/>
          </p:cNvCxnSpPr>
          <p:nvPr/>
        </p:nvCxnSpPr>
        <p:spPr>
          <a:xfrm flipH="1" flipV="1">
            <a:off x="661082" y="2317368"/>
            <a:ext cx="3925" cy="586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kstfelt 39">
                <a:extLst>
                  <a:ext uri="{FF2B5EF4-FFF2-40B4-BE49-F238E27FC236}">
                    <a16:creationId xmlns:a16="http://schemas.microsoft.com/office/drawing/2014/main" id="{61ED5201-248B-98F4-0A17-3B201D869E96}"/>
                  </a:ext>
                </a:extLst>
              </p:cNvPr>
              <p:cNvSpPr txBox="1"/>
              <p:nvPr/>
            </p:nvSpPr>
            <p:spPr>
              <a:xfrm>
                <a:off x="542327" y="1928442"/>
                <a:ext cx="254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0" name="Tekstfelt 39">
                <a:extLst>
                  <a:ext uri="{FF2B5EF4-FFF2-40B4-BE49-F238E27FC236}">
                    <a16:creationId xmlns:a16="http://schemas.microsoft.com/office/drawing/2014/main" id="{61ED5201-248B-98F4-0A17-3B201D869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27" y="1928442"/>
                <a:ext cx="254172" cy="276999"/>
              </a:xfrm>
              <a:prstGeom prst="rect">
                <a:avLst/>
              </a:prstGeom>
              <a:blipFill>
                <a:blip r:embed="rId4"/>
                <a:stretch>
                  <a:fillRect l="-23810" r="-4762" b="-152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ktangel: afrundede hjørner 45">
            <a:extLst>
              <a:ext uri="{FF2B5EF4-FFF2-40B4-BE49-F238E27FC236}">
                <a16:creationId xmlns:a16="http://schemas.microsoft.com/office/drawing/2014/main" id="{8F704DC6-5670-C015-FF36-0CCEE2B23156}"/>
              </a:ext>
            </a:extLst>
          </p:cNvPr>
          <p:cNvSpPr/>
          <p:nvPr/>
        </p:nvSpPr>
        <p:spPr>
          <a:xfrm>
            <a:off x="1411257" y="2683261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site type</a:t>
            </a:r>
            <a:br>
              <a:rPr lang="da-DK" dirty="0">
                <a:solidFill>
                  <a:schemeClr val="tx1"/>
                </a:solidFill>
              </a:rPr>
            </a:br>
            <a:r>
              <a:rPr lang="da-DK" dirty="0" err="1">
                <a:solidFill>
                  <a:schemeClr val="tx1"/>
                </a:solidFill>
              </a:rPr>
              <a:t>active</a:t>
            </a:r>
            <a:r>
              <a:rPr lang="da-DK" dirty="0">
                <a:solidFill>
                  <a:schemeClr val="tx1"/>
                </a:solidFill>
              </a:rPr>
              <a:t>/non </a:t>
            </a:r>
            <a:r>
              <a:rPr lang="da-DK" dirty="0" err="1">
                <a:solidFill>
                  <a:schemeClr val="tx1"/>
                </a:solidFill>
              </a:rPr>
              <a:t>active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47" name="Rektangel: afrundede hjørner 46">
            <a:extLst>
              <a:ext uri="{FF2B5EF4-FFF2-40B4-BE49-F238E27FC236}">
                <a16:creationId xmlns:a16="http://schemas.microsoft.com/office/drawing/2014/main" id="{901DD900-F580-996A-1F30-B83617FFE437}"/>
              </a:ext>
            </a:extLst>
          </p:cNvPr>
          <p:cNvSpPr/>
          <p:nvPr/>
        </p:nvSpPr>
        <p:spPr>
          <a:xfrm>
            <a:off x="1411257" y="4056384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Element species</a:t>
            </a:r>
          </a:p>
        </p:txBody>
      </p:sp>
      <p:sp>
        <p:nvSpPr>
          <p:cNvPr id="48" name="Rektangel: afrundede hjørner 47">
            <a:extLst>
              <a:ext uri="{FF2B5EF4-FFF2-40B4-BE49-F238E27FC236}">
                <a16:creationId xmlns:a16="http://schemas.microsoft.com/office/drawing/2014/main" id="{E2431DD7-D0F1-F70C-ACF2-3A9B8AAD41CB}"/>
              </a:ext>
            </a:extLst>
          </p:cNvPr>
          <p:cNvSpPr/>
          <p:nvPr/>
        </p:nvSpPr>
        <p:spPr>
          <a:xfrm>
            <a:off x="1411257" y="1690688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distance to </a:t>
            </a:r>
            <a:r>
              <a:rPr lang="da-DK" dirty="0" err="1">
                <a:solidFill>
                  <a:schemeClr val="tx1"/>
                </a:solidFill>
              </a:rPr>
              <a:t>active</a:t>
            </a:r>
            <a:r>
              <a:rPr lang="da-DK" dirty="0">
                <a:solidFill>
                  <a:schemeClr val="tx1"/>
                </a:solidFill>
              </a:rPr>
              <a:t> sites</a:t>
            </a:r>
          </a:p>
        </p:txBody>
      </p:sp>
      <p:cxnSp>
        <p:nvCxnSpPr>
          <p:cNvPr id="50" name="Lige pilforbindelse 49">
            <a:extLst>
              <a:ext uri="{FF2B5EF4-FFF2-40B4-BE49-F238E27FC236}">
                <a16:creationId xmlns:a16="http://schemas.microsoft.com/office/drawing/2014/main" id="{B2AC7402-C481-6F41-0E71-6DC9EFA72E6C}"/>
              </a:ext>
            </a:extLst>
          </p:cNvPr>
          <p:cNvCxnSpPr>
            <a:cxnSpLocks/>
          </p:cNvCxnSpPr>
          <p:nvPr/>
        </p:nvCxnSpPr>
        <p:spPr>
          <a:xfrm flipH="1" flipV="1">
            <a:off x="657157" y="3241584"/>
            <a:ext cx="3925" cy="586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ige pilforbindelse 55">
            <a:extLst>
              <a:ext uri="{FF2B5EF4-FFF2-40B4-BE49-F238E27FC236}">
                <a16:creationId xmlns:a16="http://schemas.microsoft.com/office/drawing/2014/main" id="{9DC08D30-EE5B-F525-AFE4-01086BE9041C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875047" y="3070672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ge pilforbindelse 56">
            <a:extLst>
              <a:ext uri="{FF2B5EF4-FFF2-40B4-BE49-F238E27FC236}">
                <a16:creationId xmlns:a16="http://schemas.microsoft.com/office/drawing/2014/main" id="{6943245F-D7E1-8CAB-8AB5-8CC3E8B51703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875047" y="2078099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5091FDA9-72E1-E61C-6DA8-0B5ED4792E3A}"/>
                  </a:ext>
                </a:extLst>
              </p:cNvPr>
              <p:cNvSpPr txBox="1"/>
              <p:nvPr/>
            </p:nvSpPr>
            <p:spPr>
              <a:xfrm>
                <a:off x="4063575" y="2932171"/>
                <a:ext cx="222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5091FDA9-72E1-E61C-6DA8-0B5ED4792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575" y="2932171"/>
                <a:ext cx="222882" cy="276999"/>
              </a:xfrm>
              <a:prstGeom prst="rect">
                <a:avLst/>
              </a:prstGeom>
              <a:blipFill>
                <a:blip r:embed="rId5"/>
                <a:stretch>
                  <a:fillRect l="-16667" t="-8889" r="-47222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E8DBCD65-0775-42B7-9FA6-96059A041DAF}"/>
                  </a:ext>
                </a:extLst>
              </p:cNvPr>
              <p:cNvSpPr txBox="1"/>
              <p:nvPr/>
            </p:nvSpPr>
            <p:spPr>
              <a:xfrm>
                <a:off x="4063575" y="1916775"/>
                <a:ext cx="222882" cy="291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E8DBCD65-0775-42B7-9FA6-96059A041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575" y="1916775"/>
                <a:ext cx="222882" cy="291233"/>
              </a:xfrm>
              <a:prstGeom prst="rect">
                <a:avLst/>
              </a:prstGeom>
              <a:blipFill>
                <a:blip r:embed="rId6"/>
                <a:stretch>
                  <a:fillRect l="-36111" t="-27083" r="-52778" b="-1458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2C07B970-EC66-D1B4-CA08-5DFE28864206}"/>
                  </a:ext>
                </a:extLst>
              </p:cNvPr>
              <p:cNvSpPr txBox="1"/>
              <p:nvPr/>
            </p:nvSpPr>
            <p:spPr>
              <a:xfrm>
                <a:off x="4042161" y="4301864"/>
                <a:ext cx="242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2C07B970-EC66-D1B4-CA08-5DFE28864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61" y="4301864"/>
                <a:ext cx="242309" cy="276999"/>
              </a:xfrm>
              <a:prstGeom prst="rect">
                <a:avLst/>
              </a:prstGeom>
              <a:blipFill>
                <a:blip r:embed="rId7"/>
                <a:stretch>
                  <a:fillRect l="-15000" t="-11111" r="-50000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Lige pilforbindelse 5">
            <a:extLst>
              <a:ext uri="{FF2B5EF4-FFF2-40B4-BE49-F238E27FC236}">
                <a16:creationId xmlns:a16="http://schemas.microsoft.com/office/drawing/2014/main" id="{BA7F85B2-9835-07EB-2ED2-D661F320BB53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3661310" y="2078099"/>
            <a:ext cx="3702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5A0C01C8-5276-93F6-08DE-7ABEB36F64EE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3661310" y="3070670"/>
            <a:ext cx="391591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51CEDC61-9128-EA5D-6FB2-CB6C566D71B1}"/>
              </a:ext>
            </a:extLst>
          </p:cNvPr>
          <p:cNvCxnSpPr>
            <a:cxnSpLocks/>
            <a:stCxn id="47" idx="3"/>
            <a:endCxn id="5" idx="1"/>
          </p:cNvCxnSpPr>
          <p:nvPr/>
        </p:nvCxnSpPr>
        <p:spPr>
          <a:xfrm flipV="1">
            <a:off x="3661310" y="4440364"/>
            <a:ext cx="380851" cy="34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orbindelse: vinklet 16">
            <a:extLst>
              <a:ext uri="{FF2B5EF4-FFF2-40B4-BE49-F238E27FC236}">
                <a16:creationId xmlns:a16="http://schemas.microsoft.com/office/drawing/2014/main" id="{BD93B8F5-A5A4-83C2-52EE-7CA941768D53}"/>
              </a:ext>
            </a:extLst>
          </p:cNvPr>
          <p:cNvCxnSpPr>
            <a:stCxn id="4" idx="3"/>
            <a:endCxn id="3" idx="3"/>
          </p:cNvCxnSpPr>
          <p:nvPr/>
        </p:nvCxnSpPr>
        <p:spPr>
          <a:xfrm>
            <a:off x="4286457" y="2062392"/>
            <a:ext cx="12700" cy="100827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A6A2B219-D33F-EB34-A84F-F0B4E2C5E2D4}"/>
                  </a:ext>
                </a:extLst>
              </p:cNvPr>
              <p:cNvSpPr/>
              <p:nvPr/>
            </p:nvSpPr>
            <p:spPr>
              <a:xfrm>
                <a:off x="4170121" y="2209031"/>
                <a:ext cx="689572" cy="68957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A6A2B219-D33F-EB34-A84F-F0B4E2C5E2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121" y="2209031"/>
                <a:ext cx="689572" cy="689572"/>
              </a:xfrm>
              <a:prstGeom prst="ellipse">
                <a:avLst/>
              </a:prstGeom>
              <a:blipFill>
                <a:blip r:embed="rId8"/>
                <a:stretch>
                  <a:fillRect l="-2586" r="-1379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Forbindelse: vinklet 23">
            <a:extLst>
              <a:ext uri="{FF2B5EF4-FFF2-40B4-BE49-F238E27FC236}">
                <a16:creationId xmlns:a16="http://schemas.microsoft.com/office/drawing/2014/main" id="{0D95AA5E-FBA6-3D14-D80D-1475387308EB}"/>
              </a:ext>
            </a:extLst>
          </p:cNvPr>
          <p:cNvCxnSpPr>
            <a:cxnSpLocks/>
            <a:stCxn id="32" idx="3"/>
            <a:endCxn id="5" idx="3"/>
          </p:cNvCxnSpPr>
          <p:nvPr/>
        </p:nvCxnSpPr>
        <p:spPr>
          <a:xfrm flipH="1">
            <a:off x="4284470" y="2551565"/>
            <a:ext cx="1236993" cy="1888799"/>
          </a:xfrm>
          <a:prstGeom prst="bentConnector3">
            <a:avLst>
              <a:gd name="adj1" fmla="val -1848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kstfelt 31">
                <a:extLst>
                  <a:ext uri="{FF2B5EF4-FFF2-40B4-BE49-F238E27FC236}">
                    <a16:creationId xmlns:a16="http://schemas.microsoft.com/office/drawing/2014/main" id="{8CFE8200-AA43-690E-1062-C5E8C2D91F0A}"/>
                  </a:ext>
                </a:extLst>
              </p:cNvPr>
              <p:cNvSpPr txBox="1"/>
              <p:nvPr/>
            </p:nvSpPr>
            <p:spPr>
              <a:xfrm>
                <a:off x="5316727" y="2413065"/>
                <a:ext cx="2047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2" name="Tekstfelt 31">
                <a:extLst>
                  <a:ext uri="{FF2B5EF4-FFF2-40B4-BE49-F238E27FC236}">
                    <a16:creationId xmlns:a16="http://schemas.microsoft.com/office/drawing/2014/main" id="{8CFE8200-AA43-690E-1062-C5E8C2D91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27" y="2413065"/>
                <a:ext cx="204736" cy="276999"/>
              </a:xfrm>
              <a:prstGeom prst="rect">
                <a:avLst/>
              </a:prstGeom>
              <a:blipFill>
                <a:blip r:embed="rId9"/>
                <a:stretch>
                  <a:fillRect l="-17647" t="-11111" r="-47059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Lige forbindelse 35">
            <a:extLst>
              <a:ext uri="{FF2B5EF4-FFF2-40B4-BE49-F238E27FC236}">
                <a16:creationId xmlns:a16="http://schemas.microsoft.com/office/drawing/2014/main" id="{7503B965-EBC8-40F5-14FD-B0E0F7D24376}"/>
              </a:ext>
            </a:extLst>
          </p:cNvPr>
          <p:cNvCxnSpPr>
            <a:cxnSpLocks/>
            <a:stCxn id="20" idx="6"/>
            <a:endCxn id="32" idx="1"/>
          </p:cNvCxnSpPr>
          <p:nvPr/>
        </p:nvCxnSpPr>
        <p:spPr>
          <a:xfrm flipV="1">
            <a:off x="4859693" y="2551565"/>
            <a:ext cx="457034" cy="22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ktangel: afrundede hjørner 41">
                <a:extLst>
                  <a:ext uri="{FF2B5EF4-FFF2-40B4-BE49-F238E27FC236}">
                    <a16:creationId xmlns:a16="http://schemas.microsoft.com/office/drawing/2014/main" id="{06E0AD57-39DC-DE9C-6E1D-A18DB96658D9}"/>
                  </a:ext>
                </a:extLst>
              </p:cNvPr>
              <p:cNvSpPr/>
              <p:nvPr/>
            </p:nvSpPr>
            <p:spPr>
              <a:xfrm>
                <a:off x="5248281" y="3188868"/>
                <a:ext cx="1649774" cy="774821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Rektangel: afrundede hjørner 41">
                <a:extLst>
                  <a:ext uri="{FF2B5EF4-FFF2-40B4-BE49-F238E27FC236}">
                    <a16:creationId xmlns:a16="http://schemas.microsoft.com/office/drawing/2014/main" id="{06E0AD57-39DC-DE9C-6E1D-A18DB96658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281" y="3188868"/>
                <a:ext cx="1649774" cy="774821"/>
              </a:xfrm>
              <a:prstGeom prst="roundRect">
                <a:avLst/>
              </a:prstGeom>
              <a:blipFill>
                <a:blip r:embed="rId10"/>
                <a:stretch>
                  <a:fillRect r="-1094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Lige forbindelse 42">
            <a:extLst>
              <a:ext uri="{FF2B5EF4-FFF2-40B4-BE49-F238E27FC236}">
                <a16:creationId xmlns:a16="http://schemas.microsoft.com/office/drawing/2014/main" id="{7AAE68DC-C359-DEA9-8812-2E2E20F27421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6898055" y="3576279"/>
            <a:ext cx="437236" cy="4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8985D55E-9E14-E041-C981-32842DA8FA84}"/>
                  </a:ext>
                </a:extLst>
              </p:cNvPr>
              <p:cNvSpPr txBox="1"/>
              <p:nvPr/>
            </p:nvSpPr>
            <p:spPr>
              <a:xfrm>
                <a:off x="7343904" y="3406476"/>
                <a:ext cx="2439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8985D55E-9E14-E041-C981-32842DA8F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904" y="3406476"/>
                <a:ext cx="243913" cy="276999"/>
              </a:xfrm>
              <a:prstGeom prst="rect">
                <a:avLst/>
              </a:prstGeom>
              <a:blipFill>
                <a:blip r:embed="rId11"/>
                <a:stretch>
                  <a:fillRect l="-15000" t="-11111" r="-47500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5B40C273-23F5-6707-8BB0-7BC13920B919}"/>
              </a:ext>
            </a:extLst>
          </p:cNvPr>
          <p:cNvCxnSpPr>
            <a:cxnSpLocks/>
          </p:cNvCxnSpPr>
          <p:nvPr/>
        </p:nvCxnSpPr>
        <p:spPr>
          <a:xfrm>
            <a:off x="875047" y="4210937"/>
            <a:ext cx="0" cy="136407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ktangel: afrundede hjørner 14">
            <a:extLst>
              <a:ext uri="{FF2B5EF4-FFF2-40B4-BE49-F238E27FC236}">
                <a16:creationId xmlns:a16="http://schemas.microsoft.com/office/drawing/2014/main" id="{0479476D-4D5C-1246-C2F3-428678F38CCF}"/>
              </a:ext>
            </a:extLst>
          </p:cNvPr>
          <p:cNvSpPr/>
          <p:nvPr/>
        </p:nvSpPr>
        <p:spPr>
          <a:xfrm>
            <a:off x="1411256" y="5042096"/>
            <a:ext cx="2250053" cy="7748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>
                <a:solidFill>
                  <a:schemeClr val="tx1"/>
                </a:solidFill>
              </a:rPr>
              <a:t>Sinusoidal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embedding</a:t>
            </a:r>
            <a:endParaRPr lang="da-DK" dirty="0">
              <a:solidFill>
                <a:schemeClr val="tx1"/>
              </a:solidFill>
            </a:endParaRPr>
          </a:p>
        </p:txBody>
      </p:sp>
      <p:cxnSp>
        <p:nvCxnSpPr>
          <p:cNvPr id="16" name="Lige pilforbindelse 15">
            <a:extLst>
              <a:ext uri="{FF2B5EF4-FFF2-40B4-BE49-F238E27FC236}">
                <a16:creationId xmlns:a16="http://schemas.microsoft.com/office/drawing/2014/main" id="{A715A5C6-5D4F-0432-D868-66FD72FF762A}"/>
              </a:ext>
            </a:extLst>
          </p:cNvPr>
          <p:cNvCxnSpPr>
            <a:cxnSpLocks/>
          </p:cNvCxnSpPr>
          <p:nvPr/>
        </p:nvCxnSpPr>
        <p:spPr>
          <a:xfrm>
            <a:off x="1075870" y="4210937"/>
            <a:ext cx="0" cy="10371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ge pilforbindelse 17">
            <a:extLst>
              <a:ext uri="{FF2B5EF4-FFF2-40B4-BE49-F238E27FC236}">
                <a16:creationId xmlns:a16="http://schemas.microsoft.com/office/drawing/2014/main" id="{A869197E-E0A6-01A1-4B59-5340C9780690}"/>
              </a:ext>
            </a:extLst>
          </p:cNvPr>
          <p:cNvCxnSpPr>
            <a:cxnSpLocks/>
          </p:cNvCxnSpPr>
          <p:nvPr/>
        </p:nvCxnSpPr>
        <p:spPr>
          <a:xfrm>
            <a:off x="875047" y="5575013"/>
            <a:ext cx="5362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EB3D8B45-0091-AF30-60DC-5C5ABBD04957}"/>
              </a:ext>
            </a:extLst>
          </p:cNvPr>
          <p:cNvCxnSpPr>
            <a:cxnSpLocks/>
          </p:cNvCxnSpPr>
          <p:nvPr/>
        </p:nvCxnSpPr>
        <p:spPr>
          <a:xfrm>
            <a:off x="1075870" y="5249549"/>
            <a:ext cx="335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ladsholder til indhold 2">
            <a:extLst>
              <a:ext uri="{FF2B5EF4-FFF2-40B4-BE49-F238E27FC236}">
                <a16:creationId xmlns:a16="http://schemas.microsoft.com/office/drawing/2014/main" id="{441649CC-D229-4005-D5F2-57BA6A45C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4959" y="1313892"/>
            <a:ext cx="4537041" cy="1874976"/>
          </a:xfrm>
        </p:spPr>
        <p:txBody>
          <a:bodyPr>
            <a:normAutofit fontScale="92500" lnSpcReduction="10000"/>
          </a:bodyPr>
          <a:lstStyle/>
          <a:p>
            <a:r>
              <a:rPr lang="da-DK" sz="1800" dirty="0">
                <a:sym typeface="Wingdings" panose="05000000000000000000" pitchFamily="2" charset="2"/>
              </a:rPr>
              <a:t>Properties:</a:t>
            </a:r>
          </a:p>
          <a:p>
            <a:pPr lvl="1"/>
            <a:r>
              <a:rPr lang="da-DK" sz="1800" dirty="0">
                <a:sym typeface="Wingdings" panose="05000000000000000000" pitchFamily="2" charset="2"/>
              </a:rPr>
              <a:t>All </a:t>
            </a:r>
            <a:r>
              <a:rPr lang="da-DK" sz="1800" dirty="0" err="1">
                <a:sym typeface="Wingdings" panose="05000000000000000000" pitchFamily="2" charset="2"/>
              </a:rPr>
              <a:t>entries</a:t>
            </a:r>
            <a:r>
              <a:rPr lang="da-DK" sz="1800" dirty="0">
                <a:sym typeface="Wingdings" panose="05000000000000000000" pitchFamily="2" charset="2"/>
              </a:rPr>
              <a:t>: [-1;1]</a:t>
            </a:r>
          </a:p>
          <a:p>
            <a:pPr lvl="1"/>
            <a:r>
              <a:rPr lang="da-DK" sz="1800" dirty="0">
                <a:sym typeface="Wingdings" panose="05000000000000000000" pitchFamily="2" charset="2"/>
              </a:rPr>
              <a:t>Positions far from </a:t>
            </a:r>
            <a:r>
              <a:rPr lang="da-DK" sz="1800" dirty="0" err="1">
                <a:sym typeface="Wingdings" panose="05000000000000000000" pitchFamily="2" charset="2"/>
              </a:rPr>
              <a:t>eachother</a:t>
            </a:r>
            <a:r>
              <a:rPr lang="da-DK" sz="1800" dirty="0">
                <a:sym typeface="Wingdings" panose="05000000000000000000" pitchFamily="2" charset="2"/>
              </a:rPr>
              <a:t> have </a:t>
            </a:r>
            <a:r>
              <a:rPr lang="da-DK" sz="1800" dirty="0" err="1">
                <a:sym typeface="Wingdings" panose="05000000000000000000" pitchFamily="2" charset="2"/>
              </a:rPr>
              <a:t>zero</a:t>
            </a:r>
            <a:r>
              <a:rPr lang="da-DK" sz="1800" dirty="0">
                <a:sym typeface="Wingdings" panose="05000000000000000000" pitchFamily="2" charset="2"/>
              </a:rPr>
              <a:t> overlap  </a:t>
            </a:r>
            <a:r>
              <a:rPr lang="da-DK" sz="1800" dirty="0" err="1">
                <a:sym typeface="Wingdings" panose="05000000000000000000" pitchFamily="2" charset="2"/>
              </a:rPr>
              <a:t>Dissimilar</a:t>
            </a:r>
            <a:endParaRPr lang="da-DK" sz="1800" dirty="0">
              <a:sym typeface="Wingdings" panose="05000000000000000000" pitchFamily="2" charset="2"/>
            </a:endParaRPr>
          </a:p>
          <a:p>
            <a:pPr lvl="1"/>
            <a:r>
              <a:rPr lang="da-DK" sz="1800" dirty="0">
                <a:sym typeface="Wingdings" panose="05000000000000000000" pitchFamily="2" charset="2"/>
              </a:rPr>
              <a:t>”</a:t>
            </a:r>
            <a:r>
              <a:rPr lang="da-DK" sz="1800" dirty="0" err="1">
                <a:sym typeface="Wingdings" panose="05000000000000000000" pitchFamily="2" charset="2"/>
              </a:rPr>
              <a:t>Well</a:t>
            </a:r>
            <a:r>
              <a:rPr lang="da-DK" sz="1800" dirty="0">
                <a:sym typeface="Wingdings" panose="05000000000000000000" pitchFamily="2" charset="2"/>
              </a:rPr>
              <a:t> </a:t>
            </a:r>
            <a:r>
              <a:rPr lang="da-DK" sz="1800" dirty="0" err="1">
                <a:sym typeface="Wingdings" panose="05000000000000000000" pitchFamily="2" charset="2"/>
              </a:rPr>
              <a:t>suited</a:t>
            </a:r>
            <a:r>
              <a:rPr lang="da-DK" sz="1800" dirty="0">
                <a:sym typeface="Wingdings" panose="05000000000000000000" pitchFamily="2" charset="2"/>
              </a:rPr>
              <a:t> for </a:t>
            </a:r>
            <a:r>
              <a:rPr lang="da-DK" sz="1800" dirty="0" err="1">
                <a:sym typeface="Wingdings" panose="05000000000000000000" pitchFamily="2" charset="2"/>
              </a:rPr>
              <a:t>discrete</a:t>
            </a:r>
            <a:r>
              <a:rPr lang="da-DK" sz="1800" dirty="0">
                <a:sym typeface="Wingdings" panose="05000000000000000000" pitchFamily="2" charset="2"/>
              </a:rPr>
              <a:t> time diffusion” – </a:t>
            </a:r>
            <a:r>
              <a:rPr lang="da-DK" sz="1800" dirty="0" err="1">
                <a:sym typeface="Wingdings" panose="05000000000000000000" pitchFamily="2" charset="2"/>
              </a:rPr>
              <a:t>ChatGPT</a:t>
            </a:r>
            <a:endParaRPr lang="da-DK" sz="1800" dirty="0">
              <a:sym typeface="Wingdings" panose="05000000000000000000" pitchFamily="2" charset="2"/>
            </a:endParaRPr>
          </a:p>
          <a:p>
            <a:pPr lvl="2"/>
            <a:r>
              <a:rPr lang="da-DK" sz="1800" dirty="0">
                <a:sym typeface="Wingdings" panose="05000000000000000000" pitchFamily="2" charset="2"/>
              </a:rPr>
              <a:t>Nicolai </a:t>
            </a:r>
            <a:r>
              <a:rPr lang="da-DK" sz="1800" dirty="0" err="1">
                <a:sym typeface="Wingdings" panose="05000000000000000000" pitchFamily="2" charset="2"/>
              </a:rPr>
              <a:t>also</a:t>
            </a:r>
            <a:r>
              <a:rPr lang="da-DK" sz="1800" dirty="0">
                <a:sym typeface="Wingdings" panose="05000000000000000000" pitchFamily="2" charset="2"/>
              </a:rPr>
              <a:t> </a:t>
            </a:r>
            <a:r>
              <a:rPr lang="da-DK" sz="1800" dirty="0" err="1">
                <a:sym typeface="Wingdings" panose="05000000000000000000" pitchFamily="2" charset="2"/>
              </a:rPr>
              <a:t>uses</a:t>
            </a:r>
            <a:endParaRPr lang="da-DK" sz="1800" dirty="0">
              <a:sym typeface="Wingdings" panose="05000000000000000000" pitchFamily="2" charset="2"/>
            </a:endParaRPr>
          </a:p>
          <a:p>
            <a:pPr lvl="2"/>
            <a:endParaRPr lang="da-DK" sz="800" dirty="0">
              <a:sym typeface="Wingdings" panose="05000000000000000000" pitchFamily="2" charset="2"/>
            </a:endParaRPr>
          </a:p>
          <a:p>
            <a:endParaRPr lang="da-DK" sz="12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da-DK" sz="1200" dirty="0">
              <a:sym typeface="Wingdings" panose="05000000000000000000" pitchFamily="2" charset="2"/>
            </a:endParaRPr>
          </a:p>
        </p:txBody>
      </p:sp>
      <p:pic>
        <p:nvPicPr>
          <p:cNvPr id="26" name="Billede 25" descr="Et billede, der indeholder tekst, Font/skrifttype, hvid, linje/række&#10;&#10;AI-genereret indhold kan være ukorrekt.">
            <a:extLst>
              <a:ext uri="{FF2B5EF4-FFF2-40B4-BE49-F238E27FC236}">
                <a16:creationId xmlns:a16="http://schemas.microsoft.com/office/drawing/2014/main" id="{680DDF23-41B6-9FAF-8646-0167629A18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7947" y="365125"/>
            <a:ext cx="3182388" cy="790944"/>
          </a:xfrm>
          <a:prstGeom prst="rect">
            <a:avLst/>
          </a:prstGeom>
        </p:spPr>
      </p:pic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47B95F96-D49B-7DED-9521-02F6131F6565}"/>
              </a:ext>
            </a:extLst>
          </p:cNvPr>
          <p:cNvCxnSpPr>
            <a:cxnSpLocks/>
          </p:cNvCxnSpPr>
          <p:nvPr/>
        </p:nvCxnSpPr>
        <p:spPr>
          <a:xfrm>
            <a:off x="3661309" y="5248049"/>
            <a:ext cx="335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F7C0428F-5154-8975-4092-BB234102B55C}"/>
              </a:ext>
            </a:extLst>
          </p:cNvPr>
          <p:cNvCxnSpPr>
            <a:cxnSpLocks/>
          </p:cNvCxnSpPr>
          <p:nvPr/>
        </p:nvCxnSpPr>
        <p:spPr>
          <a:xfrm>
            <a:off x="3661309" y="5575735"/>
            <a:ext cx="335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ktangel: afrundede hjørner 20">
            <a:extLst>
              <a:ext uri="{FF2B5EF4-FFF2-40B4-BE49-F238E27FC236}">
                <a16:creationId xmlns:a16="http://schemas.microsoft.com/office/drawing/2014/main" id="{6B82FE8B-2446-DF36-5ED1-610A9851424D}"/>
              </a:ext>
            </a:extLst>
          </p:cNvPr>
          <p:cNvSpPr/>
          <p:nvPr/>
        </p:nvSpPr>
        <p:spPr>
          <a:xfrm>
            <a:off x="3996696" y="5042095"/>
            <a:ext cx="1125678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MLP</a:t>
            </a:r>
          </a:p>
        </p:txBody>
      </p:sp>
      <p:cxnSp>
        <p:nvCxnSpPr>
          <p:cNvPr id="25" name="Lige pilforbindelse 24">
            <a:extLst>
              <a:ext uri="{FF2B5EF4-FFF2-40B4-BE49-F238E27FC236}">
                <a16:creationId xmlns:a16="http://schemas.microsoft.com/office/drawing/2014/main" id="{3E807334-83C4-28E3-D442-37E9EDAE2009}"/>
              </a:ext>
            </a:extLst>
          </p:cNvPr>
          <p:cNvCxnSpPr>
            <a:cxnSpLocks/>
          </p:cNvCxnSpPr>
          <p:nvPr/>
        </p:nvCxnSpPr>
        <p:spPr>
          <a:xfrm flipV="1">
            <a:off x="5122374" y="5238297"/>
            <a:ext cx="211662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ge pilforbindelse 27">
            <a:extLst>
              <a:ext uri="{FF2B5EF4-FFF2-40B4-BE49-F238E27FC236}">
                <a16:creationId xmlns:a16="http://schemas.microsoft.com/office/drawing/2014/main" id="{089E5A55-A923-2B4E-4BEF-B3AC24711AB1}"/>
              </a:ext>
            </a:extLst>
          </p:cNvPr>
          <p:cNvCxnSpPr>
            <a:cxnSpLocks/>
          </p:cNvCxnSpPr>
          <p:nvPr/>
        </p:nvCxnSpPr>
        <p:spPr>
          <a:xfrm>
            <a:off x="5122374" y="5575013"/>
            <a:ext cx="21166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kstfelt 28">
                <a:extLst>
                  <a:ext uri="{FF2B5EF4-FFF2-40B4-BE49-F238E27FC236}">
                    <a16:creationId xmlns:a16="http://schemas.microsoft.com/office/drawing/2014/main" id="{41BAFBA3-0E26-9ECF-B186-6BA556F3EE65}"/>
                  </a:ext>
                </a:extLst>
              </p:cNvPr>
              <p:cNvSpPr txBox="1"/>
              <p:nvPr/>
            </p:nvSpPr>
            <p:spPr>
              <a:xfrm>
                <a:off x="7322360" y="5099798"/>
                <a:ext cx="1435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9" name="Tekstfelt 28">
                <a:extLst>
                  <a:ext uri="{FF2B5EF4-FFF2-40B4-BE49-F238E27FC236}">
                    <a16:creationId xmlns:a16="http://schemas.microsoft.com/office/drawing/2014/main" id="{41BAFBA3-0E26-9ECF-B186-6BA556F3E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360" y="5099798"/>
                <a:ext cx="143501" cy="276999"/>
              </a:xfrm>
              <a:prstGeom prst="rect">
                <a:avLst/>
              </a:prstGeom>
              <a:blipFill>
                <a:blip r:embed="rId13"/>
                <a:stretch>
                  <a:fillRect l="-33333" t="-13333" r="-108333" b="-444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kstfelt 32">
                <a:extLst>
                  <a:ext uri="{FF2B5EF4-FFF2-40B4-BE49-F238E27FC236}">
                    <a16:creationId xmlns:a16="http://schemas.microsoft.com/office/drawing/2014/main" id="{D3F0EA4E-CA04-93D7-54FF-332523190906}"/>
                  </a:ext>
                </a:extLst>
              </p:cNvPr>
              <p:cNvSpPr txBox="1"/>
              <p:nvPr/>
            </p:nvSpPr>
            <p:spPr>
              <a:xfrm>
                <a:off x="7239000" y="5376797"/>
                <a:ext cx="2589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3" name="Tekstfelt 32">
                <a:extLst>
                  <a:ext uri="{FF2B5EF4-FFF2-40B4-BE49-F238E27FC236}">
                    <a16:creationId xmlns:a16="http://schemas.microsoft.com/office/drawing/2014/main" id="{D3F0EA4E-CA04-93D7-54FF-332523190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5376797"/>
                <a:ext cx="258969" cy="369332"/>
              </a:xfrm>
              <a:prstGeom prst="rect">
                <a:avLst/>
              </a:prstGeom>
              <a:blipFill>
                <a:blip r:embed="rId14"/>
                <a:stretch>
                  <a:fillRect r="-16667"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Billede 64" descr="Et billede, der indeholder skærmbillede, Farverigt, Rektangel, linje/række&#10;&#10;AI-genereret indhold kan være ukorrekt.">
            <a:extLst>
              <a:ext uri="{FF2B5EF4-FFF2-40B4-BE49-F238E27FC236}">
                <a16:creationId xmlns:a16="http://schemas.microsoft.com/office/drawing/2014/main" id="{03006BF1-098A-86C1-0D8B-C5FED2DE996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79200" y="3241584"/>
            <a:ext cx="3759882" cy="337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15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41EA0-FF0C-7EC0-8086-CA9241A8E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ktangel: afrundede hjørner 33">
            <a:extLst>
              <a:ext uri="{FF2B5EF4-FFF2-40B4-BE49-F238E27FC236}">
                <a16:creationId xmlns:a16="http://schemas.microsoft.com/office/drawing/2014/main" id="{16329D05-6828-5353-5198-31068AF11088}"/>
              </a:ext>
            </a:extLst>
          </p:cNvPr>
          <p:cNvSpPr/>
          <p:nvPr/>
        </p:nvSpPr>
        <p:spPr>
          <a:xfrm>
            <a:off x="1323974" y="1181176"/>
            <a:ext cx="7047337" cy="543531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4219257-C8E7-78D0-0628-192068FA8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267"/>
            <a:ext cx="10515600" cy="1325563"/>
          </a:xfrm>
        </p:spPr>
        <p:txBody>
          <a:bodyPr/>
          <a:lstStyle/>
          <a:p>
            <a:r>
              <a:rPr lang="da-DK" dirty="0" err="1"/>
              <a:t>Embedding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p:sp>
        <p:nvSpPr>
          <p:cNvPr id="35" name="Tekstfelt 34">
            <a:extLst>
              <a:ext uri="{FF2B5EF4-FFF2-40B4-BE49-F238E27FC236}">
                <a16:creationId xmlns:a16="http://schemas.microsoft.com/office/drawing/2014/main" id="{27A1B611-944A-D314-6FFD-32770512AE44}"/>
              </a:ext>
            </a:extLst>
          </p:cNvPr>
          <p:cNvSpPr txBox="1"/>
          <p:nvPr/>
        </p:nvSpPr>
        <p:spPr>
          <a:xfrm>
            <a:off x="3946831" y="1217879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Embedding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kstfelt 120">
                <a:extLst>
                  <a:ext uri="{FF2B5EF4-FFF2-40B4-BE49-F238E27FC236}">
                    <a16:creationId xmlns:a16="http://schemas.microsoft.com/office/drawing/2014/main" id="{B70200D5-79DA-98C2-F85E-28B11EB558B6}"/>
                  </a:ext>
                </a:extLst>
              </p:cNvPr>
              <p:cNvSpPr txBox="1"/>
              <p:nvPr/>
            </p:nvSpPr>
            <p:spPr>
              <a:xfrm>
                <a:off x="1403985" y="3898835"/>
                <a:ext cx="9800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21" name="Tekstfelt 120">
                <a:extLst>
                  <a:ext uri="{FF2B5EF4-FFF2-40B4-BE49-F238E27FC236}">
                    <a16:creationId xmlns:a16="http://schemas.microsoft.com/office/drawing/2014/main" id="{B70200D5-79DA-98C2-F85E-28B11EB55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985" y="3898835"/>
                <a:ext cx="980036" cy="276999"/>
              </a:xfrm>
              <a:prstGeom prst="rect">
                <a:avLst/>
              </a:prstGeom>
              <a:blipFill>
                <a:blip r:embed="rId2"/>
                <a:stretch>
                  <a:fillRect l="-8075" t="-48889" r="-31677" b="-3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Forbindelse: vinklet 121">
            <a:extLst>
              <a:ext uri="{FF2B5EF4-FFF2-40B4-BE49-F238E27FC236}">
                <a16:creationId xmlns:a16="http://schemas.microsoft.com/office/drawing/2014/main" id="{0C67F006-6289-AD00-09EA-0F30F2FABE67}"/>
              </a:ext>
            </a:extLst>
          </p:cNvPr>
          <p:cNvCxnSpPr>
            <a:cxnSpLocks/>
            <a:endCxn id="127" idx="1"/>
          </p:cNvCxnSpPr>
          <p:nvPr/>
        </p:nvCxnSpPr>
        <p:spPr>
          <a:xfrm>
            <a:off x="1723072" y="4191887"/>
            <a:ext cx="1031210" cy="232858"/>
          </a:xfrm>
          <a:prstGeom prst="bentConnector3">
            <a:avLst>
              <a:gd name="adj1" fmla="val -8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kstfelt 122">
                <a:extLst>
                  <a:ext uri="{FF2B5EF4-FFF2-40B4-BE49-F238E27FC236}">
                    <a16:creationId xmlns:a16="http://schemas.microsoft.com/office/drawing/2014/main" id="{559C1FE8-04DB-44C1-A5E0-B6BB8EA5A0E3}"/>
                  </a:ext>
                </a:extLst>
              </p:cNvPr>
              <p:cNvSpPr txBox="1"/>
              <p:nvPr/>
            </p:nvSpPr>
            <p:spPr>
              <a:xfrm>
                <a:off x="1896591" y="2868981"/>
                <a:ext cx="222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23" name="Tekstfelt 122">
                <a:extLst>
                  <a:ext uri="{FF2B5EF4-FFF2-40B4-BE49-F238E27FC236}">
                    <a16:creationId xmlns:a16="http://schemas.microsoft.com/office/drawing/2014/main" id="{559C1FE8-04DB-44C1-A5E0-B6BB8EA5A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591" y="2868981"/>
                <a:ext cx="222882" cy="276999"/>
              </a:xfrm>
              <a:prstGeom prst="rect">
                <a:avLst/>
              </a:prstGeom>
              <a:blipFill>
                <a:blip r:embed="rId3"/>
                <a:stretch>
                  <a:fillRect l="-16216" r="-8108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Lige pilforbindelse 123">
            <a:extLst>
              <a:ext uri="{FF2B5EF4-FFF2-40B4-BE49-F238E27FC236}">
                <a16:creationId xmlns:a16="http://schemas.microsoft.com/office/drawing/2014/main" id="{A77F6256-1960-0998-58B2-10927B4A2216}"/>
              </a:ext>
            </a:extLst>
          </p:cNvPr>
          <p:cNvCxnSpPr>
            <a:cxnSpLocks/>
          </p:cNvCxnSpPr>
          <p:nvPr/>
        </p:nvCxnSpPr>
        <p:spPr>
          <a:xfrm flipH="1" flipV="1">
            <a:off x="2004107" y="2298318"/>
            <a:ext cx="3925" cy="586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kstfelt 124">
                <a:extLst>
                  <a:ext uri="{FF2B5EF4-FFF2-40B4-BE49-F238E27FC236}">
                    <a16:creationId xmlns:a16="http://schemas.microsoft.com/office/drawing/2014/main" id="{2F2DD978-989F-663B-B4E3-0956241AB94D}"/>
                  </a:ext>
                </a:extLst>
              </p:cNvPr>
              <p:cNvSpPr txBox="1"/>
              <p:nvPr/>
            </p:nvSpPr>
            <p:spPr>
              <a:xfrm>
                <a:off x="1885352" y="1909392"/>
                <a:ext cx="254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25" name="Tekstfelt 124">
                <a:extLst>
                  <a:ext uri="{FF2B5EF4-FFF2-40B4-BE49-F238E27FC236}">
                    <a16:creationId xmlns:a16="http://schemas.microsoft.com/office/drawing/2014/main" id="{2F2DD978-989F-663B-B4E3-0956241AB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352" y="1909392"/>
                <a:ext cx="254172" cy="276999"/>
              </a:xfrm>
              <a:prstGeom prst="rect">
                <a:avLst/>
              </a:prstGeom>
              <a:blipFill>
                <a:blip r:embed="rId4"/>
                <a:stretch>
                  <a:fillRect l="-23810" r="-7143" b="-152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Rektangel: afrundede hjørner 125">
            <a:extLst>
              <a:ext uri="{FF2B5EF4-FFF2-40B4-BE49-F238E27FC236}">
                <a16:creationId xmlns:a16="http://schemas.microsoft.com/office/drawing/2014/main" id="{5086ACE1-7390-34E1-C6B4-FE98D17E17A2}"/>
              </a:ext>
            </a:extLst>
          </p:cNvPr>
          <p:cNvSpPr/>
          <p:nvPr/>
        </p:nvSpPr>
        <p:spPr>
          <a:xfrm>
            <a:off x="2754282" y="2664211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site type</a:t>
            </a:r>
            <a:br>
              <a:rPr lang="da-DK" dirty="0">
                <a:solidFill>
                  <a:schemeClr val="tx1"/>
                </a:solidFill>
              </a:rPr>
            </a:br>
            <a:r>
              <a:rPr lang="da-DK" dirty="0" err="1">
                <a:solidFill>
                  <a:schemeClr val="tx1"/>
                </a:solidFill>
              </a:rPr>
              <a:t>active</a:t>
            </a:r>
            <a:r>
              <a:rPr lang="da-DK" dirty="0">
                <a:solidFill>
                  <a:schemeClr val="tx1"/>
                </a:solidFill>
              </a:rPr>
              <a:t>/non </a:t>
            </a:r>
            <a:r>
              <a:rPr lang="da-DK" dirty="0" err="1">
                <a:solidFill>
                  <a:schemeClr val="tx1"/>
                </a:solidFill>
              </a:rPr>
              <a:t>active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127" name="Rektangel: afrundede hjørner 126">
            <a:extLst>
              <a:ext uri="{FF2B5EF4-FFF2-40B4-BE49-F238E27FC236}">
                <a16:creationId xmlns:a16="http://schemas.microsoft.com/office/drawing/2014/main" id="{6889AE5D-FA39-08ED-1D15-96E3363253C5}"/>
              </a:ext>
            </a:extLst>
          </p:cNvPr>
          <p:cNvSpPr/>
          <p:nvPr/>
        </p:nvSpPr>
        <p:spPr>
          <a:xfrm>
            <a:off x="2754282" y="4037334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Element species</a:t>
            </a:r>
          </a:p>
        </p:txBody>
      </p:sp>
      <p:sp>
        <p:nvSpPr>
          <p:cNvPr id="128" name="Rektangel: afrundede hjørner 127">
            <a:extLst>
              <a:ext uri="{FF2B5EF4-FFF2-40B4-BE49-F238E27FC236}">
                <a16:creationId xmlns:a16="http://schemas.microsoft.com/office/drawing/2014/main" id="{3B3E1CC1-0648-013A-8B96-F97FB580D050}"/>
              </a:ext>
            </a:extLst>
          </p:cNvPr>
          <p:cNvSpPr/>
          <p:nvPr/>
        </p:nvSpPr>
        <p:spPr>
          <a:xfrm>
            <a:off x="2754282" y="1671638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distance to </a:t>
            </a:r>
            <a:r>
              <a:rPr lang="da-DK" dirty="0" err="1">
                <a:solidFill>
                  <a:schemeClr val="tx1"/>
                </a:solidFill>
              </a:rPr>
              <a:t>active</a:t>
            </a:r>
            <a:r>
              <a:rPr lang="da-DK" dirty="0">
                <a:solidFill>
                  <a:schemeClr val="tx1"/>
                </a:solidFill>
              </a:rPr>
              <a:t> sites</a:t>
            </a:r>
          </a:p>
        </p:txBody>
      </p:sp>
      <p:cxnSp>
        <p:nvCxnSpPr>
          <p:cNvPr id="129" name="Lige pilforbindelse 128">
            <a:extLst>
              <a:ext uri="{FF2B5EF4-FFF2-40B4-BE49-F238E27FC236}">
                <a16:creationId xmlns:a16="http://schemas.microsoft.com/office/drawing/2014/main" id="{F28F0357-6D40-BC9B-5BEB-0F6B5BBE2FC0}"/>
              </a:ext>
            </a:extLst>
          </p:cNvPr>
          <p:cNvCxnSpPr>
            <a:cxnSpLocks/>
          </p:cNvCxnSpPr>
          <p:nvPr/>
        </p:nvCxnSpPr>
        <p:spPr>
          <a:xfrm flipH="1" flipV="1">
            <a:off x="2000182" y="3222534"/>
            <a:ext cx="3925" cy="586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Lige pilforbindelse 129">
            <a:extLst>
              <a:ext uri="{FF2B5EF4-FFF2-40B4-BE49-F238E27FC236}">
                <a16:creationId xmlns:a16="http://schemas.microsoft.com/office/drawing/2014/main" id="{E8BEE741-417E-4F6B-BFD8-EBB643BCF559}"/>
              </a:ext>
            </a:extLst>
          </p:cNvPr>
          <p:cNvCxnSpPr>
            <a:cxnSpLocks/>
            <a:endCxn id="126" idx="1"/>
          </p:cNvCxnSpPr>
          <p:nvPr/>
        </p:nvCxnSpPr>
        <p:spPr>
          <a:xfrm>
            <a:off x="2218072" y="3051622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Lige pilforbindelse 130">
            <a:extLst>
              <a:ext uri="{FF2B5EF4-FFF2-40B4-BE49-F238E27FC236}">
                <a16:creationId xmlns:a16="http://schemas.microsoft.com/office/drawing/2014/main" id="{5DAC1561-F529-C0B4-53DD-DEE3CD8D89A2}"/>
              </a:ext>
            </a:extLst>
          </p:cNvPr>
          <p:cNvCxnSpPr>
            <a:cxnSpLocks/>
            <a:endCxn id="128" idx="1"/>
          </p:cNvCxnSpPr>
          <p:nvPr/>
        </p:nvCxnSpPr>
        <p:spPr>
          <a:xfrm>
            <a:off x="2218072" y="2059049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kstfelt 131">
                <a:extLst>
                  <a:ext uri="{FF2B5EF4-FFF2-40B4-BE49-F238E27FC236}">
                    <a16:creationId xmlns:a16="http://schemas.microsoft.com/office/drawing/2014/main" id="{06F54046-0996-28A5-F093-913E48ED22C8}"/>
                  </a:ext>
                </a:extLst>
              </p:cNvPr>
              <p:cNvSpPr txBox="1"/>
              <p:nvPr/>
            </p:nvSpPr>
            <p:spPr>
              <a:xfrm>
                <a:off x="5406600" y="2913121"/>
                <a:ext cx="222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32" name="Tekstfelt 131">
                <a:extLst>
                  <a:ext uri="{FF2B5EF4-FFF2-40B4-BE49-F238E27FC236}">
                    <a16:creationId xmlns:a16="http://schemas.microsoft.com/office/drawing/2014/main" id="{06F54046-0996-28A5-F093-913E48ED2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00" y="2913121"/>
                <a:ext cx="222882" cy="276999"/>
              </a:xfrm>
              <a:prstGeom prst="rect">
                <a:avLst/>
              </a:prstGeom>
              <a:blipFill>
                <a:blip r:embed="rId5"/>
                <a:stretch>
                  <a:fillRect l="-16667" t="-11111" r="-47222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kstfelt 132">
                <a:extLst>
                  <a:ext uri="{FF2B5EF4-FFF2-40B4-BE49-F238E27FC236}">
                    <a16:creationId xmlns:a16="http://schemas.microsoft.com/office/drawing/2014/main" id="{EE9E62C4-40CA-C6B3-73C4-6A33C7428482}"/>
                  </a:ext>
                </a:extLst>
              </p:cNvPr>
              <p:cNvSpPr txBox="1"/>
              <p:nvPr/>
            </p:nvSpPr>
            <p:spPr>
              <a:xfrm>
                <a:off x="5406600" y="1897725"/>
                <a:ext cx="222882" cy="291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33" name="Tekstfelt 132">
                <a:extLst>
                  <a:ext uri="{FF2B5EF4-FFF2-40B4-BE49-F238E27FC236}">
                    <a16:creationId xmlns:a16="http://schemas.microsoft.com/office/drawing/2014/main" id="{EE9E62C4-40CA-C6B3-73C4-6A33C7428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00" y="1897725"/>
                <a:ext cx="222882" cy="291233"/>
              </a:xfrm>
              <a:prstGeom prst="rect">
                <a:avLst/>
              </a:prstGeom>
              <a:blipFill>
                <a:blip r:embed="rId6"/>
                <a:stretch>
                  <a:fillRect l="-36111" t="-27083" r="-52778" b="-1458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kstfelt 133">
                <a:extLst>
                  <a:ext uri="{FF2B5EF4-FFF2-40B4-BE49-F238E27FC236}">
                    <a16:creationId xmlns:a16="http://schemas.microsoft.com/office/drawing/2014/main" id="{492C7AE1-CA5F-C789-90DE-1DA61276DC7A}"/>
                  </a:ext>
                </a:extLst>
              </p:cNvPr>
              <p:cNvSpPr txBox="1"/>
              <p:nvPr/>
            </p:nvSpPr>
            <p:spPr>
              <a:xfrm>
                <a:off x="5385186" y="4282814"/>
                <a:ext cx="242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34" name="Tekstfelt 133">
                <a:extLst>
                  <a:ext uri="{FF2B5EF4-FFF2-40B4-BE49-F238E27FC236}">
                    <a16:creationId xmlns:a16="http://schemas.microsoft.com/office/drawing/2014/main" id="{492C7AE1-CA5F-C789-90DE-1DA61276D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186" y="4282814"/>
                <a:ext cx="242309" cy="276999"/>
              </a:xfrm>
              <a:prstGeom prst="rect">
                <a:avLst/>
              </a:prstGeom>
              <a:blipFill>
                <a:blip r:embed="rId7"/>
                <a:stretch>
                  <a:fillRect l="-15000" t="-11111" r="-50000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Lige pilforbindelse 134">
            <a:extLst>
              <a:ext uri="{FF2B5EF4-FFF2-40B4-BE49-F238E27FC236}">
                <a16:creationId xmlns:a16="http://schemas.microsoft.com/office/drawing/2014/main" id="{1482E49E-ACE9-69A4-C544-9027D7B14680}"/>
              </a:ext>
            </a:extLst>
          </p:cNvPr>
          <p:cNvCxnSpPr>
            <a:cxnSpLocks/>
            <a:stCxn id="128" idx="3"/>
          </p:cNvCxnSpPr>
          <p:nvPr/>
        </p:nvCxnSpPr>
        <p:spPr>
          <a:xfrm>
            <a:off x="5004335" y="2059049"/>
            <a:ext cx="3702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Lige pilforbindelse 135">
            <a:extLst>
              <a:ext uri="{FF2B5EF4-FFF2-40B4-BE49-F238E27FC236}">
                <a16:creationId xmlns:a16="http://schemas.microsoft.com/office/drawing/2014/main" id="{F8E12834-448C-BD59-AD18-B6055CA45AF9}"/>
              </a:ext>
            </a:extLst>
          </p:cNvPr>
          <p:cNvCxnSpPr>
            <a:cxnSpLocks/>
            <a:stCxn id="126" idx="3"/>
          </p:cNvCxnSpPr>
          <p:nvPr/>
        </p:nvCxnSpPr>
        <p:spPr>
          <a:xfrm flipV="1">
            <a:off x="5004335" y="3051620"/>
            <a:ext cx="391591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Lige pilforbindelse 136">
            <a:extLst>
              <a:ext uri="{FF2B5EF4-FFF2-40B4-BE49-F238E27FC236}">
                <a16:creationId xmlns:a16="http://schemas.microsoft.com/office/drawing/2014/main" id="{401926CB-2508-3BBF-0C18-F1D4AD629AB9}"/>
              </a:ext>
            </a:extLst>
          </p:cNvPr>
          <p:cNvCxnSpPr>
            <a:cxnSpLocks/>
            <a:stCxn id="127" idx="3"/>
            <a:endCxn id="134" idx="1"/>
          </p:cNvCxnSpPr>
          <p:nvPr/>
        </p:nvCxnSpPr>
        <p:spPr>
          <a:xfrm flipV="1">
            <a:off x="5004335" y="4421314"/>
            <a:ext cx="380851" cy="34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Forbindelse: vinklet 137">
            <a:extLst>
              <a:ext uri="{FF2B5EF4-FFF2-40B4-BE49-F238E27FC236}">
                <a16:creationId xmlns:a16="http://schemas.microsoft.com/office/drawing/2014/main" id="{30AE95B3-17F2-643D-8B98-639463007AC6}"/>
              </a:ext>
            </a:extLst>
          </p:cNvPr>
          <p:cNvCxnSpPr>
            <a:stCxn id="133" idx="3"/>
            <a:endCxn id="132" idx="3"/>
          </p:cNvCxnSpPr>
          <p:nvPr/>
        </p:nvCxnSpPr>
        <p:spPr>
          <a:xfrm>
            <a:off x="5629482" y="2043342"/>
            <a:ext cx="12700" cy="100827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Ellipse 138">
                <a:extLst>
                  <a:ext uri="{FF2B5EF4-FFF2-40B4-BE49-F238E27FC236}">
                    <a16:creationId xmlns:a16="http://schemas.microsoft.com/office/drawing/2014/main" id="{73AC7117-92EF-D86B-B273-A998B57981F8}"/>
                  </a:ext>
                </a:extLst>
              </p:cNvPr>
              <p:cNvSpPr/>
              <p:nvPr/>
            </p:nvSpPr>
            <p:spPr>
              <a:xfrm>
                <a:off x="5513146" y="2189981"/>
                <a:ext cx="689572" cy="68957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Ellipse 138">
                <a:extLst>
                  <a:ext uri="{FF2B5EF4-FFF2-40B4-BE49-F238E27FC236}">
                    <a16:creationId xmlns:a16="http://schemas.microsoft.com/office/drawing/2014/main" id="{73AC7117-92EF-D86B-B273-A998B57981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146" y="2189981"/>
                <a:ext cx="689572" cy="689572"/>
              </a:xfrm>
              <a:prstGeom prst="ellipse">
                <a:avLst/>
              </a:prstGeom>
              <a:blipFill>
                <a:blip r:embed="rId8"/>
                <a:stretch>
                  <a:fillRect l="-2564" r="-1282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Forbindelse: vinklet 139">
            <a:extLst>
              <a:ext uri="{FF2B5EF4-FFF2-40B4-BE49-F238E27FC236}">
                <a16:creationId xmlns:a16="http://schemas.microsoft.com/office/drawing/2014/main" id="{1CA6AA42-B4A4-63D0-5F36-B1ED2F26744F}"/>
              </a:ext>
            </a:extLst>
          </p:cNvPr>
          <p:cNvCxnSpPr>
            <a:cxnSpLocks/>
            <a:stCxn id="141" idx="3"/>
            <a:endCxn id="134" idx="3"/>
          </p:cNvCxnSpPr>
          <p:nvPr/>
        </p:nvCxnSpPr>
        <p:spPr>
          <a:xfrm flipH="1">
            <a:off x="5627495" y="2532515"/>
            <a:ext cx="1236993" cy="1888799"/>
          </a:xfrm>
          <a:prstGeom prst="bentConnector3">
            <a:avLst>
              <a:gd name="adj1" fmla="val -1848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kstfelt 140">
                <a:extLst>
                  <a:ext uri="{FF2B5EF4-FFF2-40B4-BE49-F238E27FC236}">
                    <a16:creationId xmlns:a16="http://schemas.microsoft.com/office/drawing/2014/main" id="{26C85768-BAF8-7D32-96F4-2E25CA10ADCD}"/>
                  </a:ext>
                </a:extLst>
              </p:cNvPr>
              <p:cNvSpPr txBox="1"/>
              <p:nvPr/>
            </p:nvSpPr>
            <p:spPr>
              <a:xfrm>
                <a:off x="6659752" y="2394015"/>
                <a:ext cx="2047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41" name="Tekstfelt 140">
                <a:extLst>
                  <a:ext uri="{FF2B5EF4-FFF2-40B4-BE49-F238E27FC236}">
                    <a16:creationId xmlns:a16="http://schemas.microsoft.com/office/drawing/2014/main" id="{26C85768-BAF8-7D32-96F4-2E25CA10A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752" y="2394015"/>
                <a:ext cx="204736" cy="276999"/>
              </a:xfrm>
              <a:prstGeom prst="rect">
                <a:avLst/>
              </a:prstGeom>
              <a:blipFill>
                <a:blip r:embed="rId9"/>
                <a:stretch>
                  <a:fillRect l="-17647" t="-11111" r="-47059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2" name="Lige forbindelse 141">
            <a:extLst>
              <a:ext uri="{FF2B5EF4-FFF2-40B4-BE49-F238E27FC236}">
                <a16:creationId xmlns:a16="http://schemas.microsoft.com/office/drawing/2014/main" id="{264A98EC-DCA6-BF86-70A2-6C937445268C}"/>
              </a:ext>
            </a:extLst>
          </p:cNvPr>
          <p:cNvCxnSpPr>
            <a:cxnSpLocks/>
            <a:stCxn id="139" idx="6"/>
            <a:endCxn id="141" idx="1"/>
          </p:cNvCxnSpPr>
          <p:nvPr/>
        </p:nvCxnSpPr>
        <p:spPr>
          <a:xfrm flipV="1">
            <a:off x="6202718" y="2532515"/>
            <a:ext cx="457034" cy="22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Rektangel: afrundede hjørner 142">
                <a:extLst>
                  <a:ext uri="{FF2B5EF4-FFF2-40B4-BE49-F238E27FC236}">
                    <a16:creationId xmlns:a16="http://schemas.microsoft.com/office/drawing/2014/main" id="{E0360F6F-B18E-3FDB-A3B6-F706A577FC8A}"/>
                  </a:ext>
                </a:extLst>
              </p:cNvPr>
              <p:cNvSpPr/>
              <p:nvPr/>
            </p:nvSpPr>
            <p:spPr>
              <a:xfrm>
                <a:off x="6591306" y="3169818"/>
                <a:ext cx="1649774" cy="774821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Rektangel: afrundede hjørner 142">
                <a:extLst>
                  <a:ext uri="{FF2B5EF4-FFF2-40B4-BE49-F238E27FC236}">
                    <a16:creationId xmlns:a16="http://schemas.microsoft.com/office/drawing/2014/main" id="{E0360F6F-B18E-3FDB-A3B6-F706A577FC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306" y="3169818"/>
                <a:ext cx="1649774" cy="774821"/>
              </a:xfrm>
              <a:prstGeom prst="roundRect">
                <a:avLst/>
              </a:prstGeom>
              <a:blipFill>
                <a:blip r:embed="rId10"/>
                <a:stretch>
                  <a:fillRect r="-1094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Lige forbindelse 143">
            <a:extLst>
              <a:ext uri="{FF2B5EF4-FFF2-40B4-BE49-F238E27FC236}">
                <a16:creationId xmlns:a16="http://schemas.microsoft.com/office/drawing/2014/main" id="{B4910D42-0BA0-A27C-7D8C-6E8867A69EA7}"/>
              </a:ext>
            </a:extLst>
          </p:cNvPr>
          <p:cNvCxnSpPr>
            <a:cxnSpLocks/>
            <a:stCxn id="143" idx="3"/>
          </p:cNvCxnSpPr>
          <p:nvPr/>
        </p:nvCxnSpPr>
        <p:spPr>
          <a:xfrm>
            <a:off x="8241080" y="3557229"/>
            <a:ext cx="437236" cy="4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kstfelt 144">
                <a:extLst>
                  <a:ext uri="{FF2B5EF4-FFF2-40B4-BE49-F238E27FC236}">
                    <a16:creationId xmlns:a16="http://schemas.microsoft.com/office/drawing/2014/main" id="{2572E84E-BEB5-26BF-3145-54E7BC7A996E}"/>
                  </a:ext>
                </a:extLst>
              </p:cNvPr>
              <p:cNvSpPr txBox="1"/>
              <p:nvPr/>
            </p:nvSpPr>
            <p:spPr>
              <a:xfrm>
                <a:off x="8686929" y="3387426"/>
                <a:ext cx="2439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45" name="Tekstfelt 144">
                <a:extLst>
                  <a:ext uri="{FF2B5EF4-FFF2-40B4-BE49-F238E27FC236}">
                    <a16:creationId xmlns:a16="http://schemas.microsoft.com/office/drawing/2014/main" id="{2572E84E-BEB5-26BF-3145-54E7BC7A9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929" y="3387426"/>
                <a:ext cx="243913" cy="276999"/>
              </a:xfrm>
              <a:prstGeom prst="rect">
                <a:avLst/>
              </a:prstGeom>
              <a:blipFill>
                <a:blip r:embed="rId11"/>
                <a:stretch>
                  <a:fillRect l="-15000" t="-11111" r="-50000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Lige pilforbindelse 145">
            <a:extLst>
              <a:ext uri="{FF2B5EF4-FFF2-40B4-BE49-F238E27FC236}">
                <a16:creationId xmlns:a16="http://schemas.microsoft.com/office/drawing/2014/main" id="{674EB8BE-1C3E-173E-C552-660FFC83C058}"/>
              </a:ext>
            </a:extLst>
          </p:cNvPr>
          <p:cNvCxnSpPr>
            <a:cxnSpLocks/>
          </p:cNvCxnSpPr>
          <p:nvPr/>
        </p:nvCxnSpPr>
        <p:spPr>
          <a:xfrm>
            <a:off x="2218072" y="4191887"/>
            <a:ext cx="0" cy="136407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ktangel: afrundede hjørner 146">
            <a:extLst>
              <a:ext uri="{FF2B5EF4-FFF2-40B4-BE49-F238E27FC236}">
                <a16:creationId xmlns:a16="http://schemas.microsoft.com/office/drawing/2014/main" id="{A5030364-8456-E414-D6E5-052461B4AAA4}"/>
              </a:ext>
            </a:extLst>
          </p:cNvPr>
          <p:cNvSpPr/>
          <p:nvPr/>
        </p:nvSpPr>
        <p:spPr>
          <a:xfrm>
            <a:off x="2754281" y="5023046"/>
            <a:ext cx="2250053" cy="7748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>
                <a:solidFill>
                  <a:schemeClr val="tx1"/>
                </a:solidFill>
              </a:rPr>
              <a:t>Sinusoidal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embedding</a:t>
            </a:r>
            <a:endParaRPr lang="da-DK" dirty="0">
              <a:solidFill>
                <a:schemeClr val="tx1"/>
              </a:solidFill>
            </a:endParaRPr>
          </a:p>
        </p:txBody>
      </p:sp>
      <p:cxnSp>
        <p:nvCxnSpPr>
          <p:cNvPr id="148" name="Lige pilforbindelse 147">
            <a:extLst>
              <a:ext uri="{FF2B5EF4-FFF2-40B4-BE49-F238E27FC236}">
                <a16:creationId xmlns:a16="http://schemas.microsoft.com/office/drawing/2014/main" id="{4FC3D3FD-ABE4-1DFB-1767-37421DD5FE2C}"/>
              </a:ext>
            </a:extLst>
          </p:cNvPr>
          <p:cNvCxnSpPr>
            <a:cxnSpLocks/>
          </p:cNvCxnSpPr>
          <p:nvPr/>
        </p:nvCxnSpPr>
        <p:spPr>
          <a:xfrm>
            <a:off x="2418895" y="4191887"/>
            <a:ext cx="0" cy="10371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Lige pilforbindelse 148">
            <a:extLst>
              <a:ext uri="{FF2B5EF4-FFF2-40B4-BE49-F238E27FC236}">
                <a16:creationId xmlns:a16="http://schemas.microsoft.com/office/drawing/2014/main" id="{E2232344-4D0B-40C5-4698-236414C0A7F3}"/>
              </a:ext>
            </a:extLst>
          </p:cNvPr>
          <p:cNvCxnSpPr>
            <a:cxnSpLocks/>
          </p:cNvCxnSpPr>
          <p:nvPr/>
        </p:nvCxnSpPr>
        <p:spPr>
          <a:xfrm>
            <a:off x="2218072" y="5555963"/>
            <a:ext cx="5362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Lige pilforbindelse 149">
            <a:extLst>
              <a:ext uri="{FF2B5EF4-FFF2-40B4-BE49-F238E27FC236}">
                <a16:creationId xmlns:a16="http://schemas.microsoft.com/office/drawing/2014/main" id="{84BE0156-26C8-5BED-662A-677D9F564ECD}"/>
              </a:ext>
            </a:extLst>
          </p:cNvPr>
          <p:cNvCxnSpPr>
            <a:cxnSpLocks/>
          </p:cNvCxnSpPr>
          <p:nvPr/>
        </p:nvCxnSpPr>
        <p:spPr>
          <a:xfrm>
            <a:off x="2418895" y="5230499"/>
            <a:ext cx="335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Lige pilforbindelse 150">
            <a:extLst>
              <a:ext uri="{FF2B5EF4-FFF2-40B4-BE49-F238E27FC236}">
                <a16:creationId xmlns:a16="http://schemas.microsoft.com/office/drawing/2014/main" id="{1210A601-C782-EB82-074D-B650FD10BB94}"/>
              </a:ext>
            </a:extLst>
          </p:cNvPr>
          <p:cNvCxnSpPr>
            <a:cxnSpLocks/>
          </p:cNvCxnSpPr>
          <p:nvPr/>
        </p:nvCxnSpPr>
        <p:spPr>
          <a:xfrm>
            <a:off x="5004334" y="5228999"/>
            <a:ext cx="335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Lige pilforbindelse 151">
            <a:extLst>
              <a:ext uri="{FF2B5EF4-FFF2-40B4-BE49-F238E27FC236}">
                <a16:creationId xmlns:a16="http://schemas.microsoft.com/office/drawing/2014/main" id="{DC471612-9FD4-758A-190B-11D64B683666}"/>
              </a:ext>
            </a:extLst>
          </p:cNvPr>
          <p:cNvCxnSpPr>
            <a:cxnSpLocks/>
          </p:cNvCxnSpPr>
          <p:nvPr/>
        </p:nvCxnSpPr>
        <p:spPr>
          <a:xfrm>
            <a:off x="5004334" y="5556685"/>
            <a:ext cx="335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ktangel: afrundede hjørner 152">
            <a:extLst>
              <a:ext uri="{FF2B5EF4-FFF2-40B4-BE49-F238E27FC236}">
                <a16:creationId xmlns:a16="http://schemas.microsoft.com/office/drawing/2014/main" id="{4BAE475E-C48E-E7CA-FB05-66369D137A67}"/>
              </a:ext>
            </a:extLst>
          </p:cNvPr>
          <p:cNvSpPr/>
          <p:nvPr/>
        </p:nvSpPr>
        <p:spPr>
          <a:xfrm>
            <a:off x="5339721" y="5023045"/>
            <a:ext cx="1125678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MLP</a:t>
            </a:r>
          </a:p>
        </p:txBody>
      </p:sp>
      <p:cxnSp>
        <p:nvCxnSpPr>
          <p:cNvPr id="154" name="Lige pilforbindelse 153">
            <a:extLst>
              <a:ext uri="{FF2B5EF4-FFF2-40B4-BE49-F238E27FC236}">
                <a16:creationId xmlns:a16="http://schemas.microsoft.com/office/drawing/2014/main" id="{21E0D11E-DA61-82B6-A1C8-44BAE2122062}"/>
              </a:ext>
            </a:extLst>
          </p:cNvPr>
          <p:cNvCxnSpPr>
            <a:cxnSpLocks/>
          </p:cNvCxnSpPr>
          <p:nvPr/>
        </p:nvCxnSpPr>
        <p:spPr>
          <a:xfrm flipV="1">
            <a:off x="6465399" y="5219247"/>
            <a:ext cx="211662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Lige pilforbindelse 154">
            <a:extLst>
              <a:ext uri="{FF2B5EF4-FFF2-40B4-BE49-F238E27FC236}">
                <a16:creationId xmlns:a16="http://schemas.microsoft.com/office/drawing/2014/main" id="{11FFEEB9-766B-A197-AE96-9C2F1E43B7C0}"/>
              </a:ext>
            </a:extLst>
          </p:cNvPr>
          <p:cNvCxnSpPr>
            <a:cxnSpLocks/>
          </p:cNvCxnSpPr>
          <p:nvPr/>
        </p:nvCxnSpPr>
        <p:spPr>
          <a:xfrm>
            <a:off x="6465399" y="5555963"/>
            <a:ext cx="21166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kstfelt 155">
                <a:extLst>
                  <a:ext uri="{FF2B5EF4-FFF2-40B4-BE49-F238E27FC236}">
                    <a16:creationId xmlns:a16="http://schemas.microsoft.com/office/drawing/2014/main" id="{F23D8D12-80B2-DF16-BC01-B236DEA9ECA6}"/>
                  </a:ext>
                </a:extLst>
              </p:cNvPr>
              <p:cNvSpPr txBox="1"/>
              <p:nvPr/>
            </p:nvSpPr>
            <p:spPr>
              <a:xfrm>
                <a:off x="8665385" y="5080748"/>
                <a:ext cx="1435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56" name="Tekstfelt 155">
                <a:extLst>
                  <a:ext uri="{FF2B5EF4-FFF2-40B4-BE49-F238E27FC236}">
                    <a16:creationId xmlns:a16="http://schemas.microsoft.com/office/drawing/2014/main" id="{F23D8D12-80B2-DF16-BC01-B236DEA9E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5385" y="5080748"/>
                <a:ext cx="143501" cy="276999"/>
              </a:xfrm>
              <a:prstGeom prst="rect">
                <a:avLst/>
              </a:prstGeom>
              <a:blipFill>
                <a:blip r:embed="rId12"/>
                <a:stretch>
                  <a:fillRect l="-33333" t="-10870" r="-108333" b="-43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kstfelt 156">
                <a:extLst>
                  <a:ext uri="{FF2B5EF4-FFF2-40B4-BE49-F238E27FC236}">
                    <a16:creationId xmlns:a16="http://schemas.microsoft.com/office/drawing/2014/main" id="{C202DD1D-7596-1C38-44F2-78B9681581FB}"/>
                  </a:ext>
                </a:extLst>
              </p:cNvPr>
              <p:cNvSpPr txBox="1"/>
              <p:nvPr/>
            </p:nvSpPr>
            <p:spPr>
              <a:xfrm>
                <a:off x="8582025" y="5357747"/>
                <a:ext cx="2589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57" name="Tekstfelt 156">
                <a:extLst>
                  <a:ext uri="{FF2B5EF4-FFF2-40B4-BE49-F238E27FC236}">
                    <a16:creationId xmlns:a16="http://schemas.microsoft.com/office/drawing/2014/main" id="{C202DD1D-7596-1C38-44F2-78B968158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025" y="5357747"/>
                <a:ext cx="258969" cy="369332"/>
              </a:xfrm>
              <a:prstGeom prst="rect">
                <a:avLst/>
              </a:prstGeom>
              <a:blipFill>
                <a:blip r:embed="rId13"/>
                <a:stretch>
                  <a:fillRect r="-19048" b="-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330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75C3B-40B3-AB8E-A237-225AC16F2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135497-A6F0-B733-B1E1-7A80BCF9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Next</a:t>
            </a:r>
            <a:r>
              <a:rPr lang="da-DK" dirty="0"/>
              <a:t> up: </a:t>
            </a:r>
            <a:r>
              <a:rPr lang="da-DK" dirty="0" err="1"/>
              <a:t>Interaction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447CC9C8-07E3-7130-64E5-C70536E44060}"/>
                  </a:ext>
                </a:extLst>
              </p:cNvPr>
              <p:cNvSpPr txBox="1"/>
              <p:nvPr/>
            </p:nvSpPr>
            <p:spPr>
              <a:xfrm>
                <a:off x="114642" y="2258773"/>
                <a:ext cx="208543" cy="2985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447CC9C8-07E3-7130-64E5-C70536E44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42" y="2258773"/>
                <a:ext cx="208543" cy="298543"/>
              </a:xfrm>
              <a:prstGeom prst="rect">
                <a:avLst/>
              </a:prstGeom>
              <a:blipFill>
                <a:blip r:embed="rId2"/>
                <a:stretch>
                  <a:fillRect l="-29412" t="-2041" r="-70588" b="-1428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BDA4638C-6D14-9284-8E08-5B9B527727C4}"/>
                  </a:ext>
                </a:extLst>
              </p:cNvPr>
              <p:cNvSpPr txBox="1"/>
              <p:nvPr/>
            </p:nvSpPr>
            <p:spPr>
              <a:xfrm>
                <a:off x="147162" y="4543597"/>
                <a:ext cx="1435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BDA4638C-6D14-9284-8E08-5B9B52772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62" y="4543597"/>
                <a:ext cx="143501" cy="276999"/>
              </a:xfrm>
              <a:prstGeom prst="rect">
                <a:avLst/>
              </a:prstGeom>
              <a:blipFill>
                <a:blip r:embed="rId3"/>
                <a:stretch>
                  <a:fillRect l="-33333" t="-10870" r="-108333" b="-43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07767D48-8424-16F8-1136-5E30C96BE384}"/>
                  </a:ext>
                </a:extLst>
              </p:cNvPr>
              <p:cNvSpPr txBox="1"/>
              <p:nvPr/>
            </p:nvSpPr>
            <p:spPr>
              <a:xfrm>
                <a:off x="47625" y="2977242"/>
                <a:ext cx="2985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07767D48-8424-16F8-1136-5E30C96BE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" y="2977242"/>
                <a:ext cx="298595" cy="369332"/>
              </a:xfrm>
              <a:prstGeom prst="rect">
                <a:avLst/>
              </a:prstGeom>
              <a:blipFill>
                <a:blip r:embed="rId4"/>
                <a:stretch>
                  <a:fillRect r="-2041"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5719E5E9-B950-431E-AFDF-B03D12741382}"/>
              </a:ext>
            </a:extLst>
          </p:cNvPr>
          <p:cNvCxnSpPr>
            <a:cxnSpLocks/>
          </p:cNvCxnSpPr>
          <p:nvPr/>
        </p:nvCxnSpPr>
        <p:spPr>
          <a:xfrm>
            <a:off x="388396" y="2435932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5EEFB45A-0CA9-F5AF-131E-B19823C07449}"/>
                  </a:ext>
                </a:extLst>
              </p:cNvPr>
              <p:cNvSpPr/>
              <p:nvPr/>
            </p:nvSpPr>
            <p:spPr>
              <a:xfrm>
                <a:off x="924606" y="2157291"/>
                <a:ext cx="1435877" cy="55728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d>
                        <m:dPr>
                          <m:endChr m:val="|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5EEFB45A-0CA9-F5AF-131E-B19823C074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06" y="2157291"/>
                <a:ext cx="1435877" cy="557283"/>
              </a:xfrm>
              <a:prstGeom prst="roundRect">
                <a:avLst/>
              </a:prstGeom>
              <a:blipFill>
                <a:blip r:embed="rId5"/>
                <a:stretch>
                  <a:fillRect r="-1302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983DEF65-393B-B466-B99F-FF89073AC241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 flipV="1">
            <a:off x="2360483" y="2435932"/>
            <a:ext cx="36195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F0D54931-C3D9-2C71-85DC-C4742E662AD8}"/>
                  </a:ext>
                </a:extLst>
              </p:cNvPr>
              <p:cNvSpPr txBox="1"/>
              <p:nvPr/>
            </p:nvSpPr>
            <p:spPr>
              <a:xfrm>
                <a:off x="2722433" y="2286275"/>
                <a:ext cx="424979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F0D54931-C3D9-2C71-85DC-C4742E662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433" y="2286275"/>
                <a:ext cx="424979" cy="299313"/>
              </a:xfrm>
              <a:prstGeom prst="rect">
                <a:avLst/>
              </a:prstGeom>
              <a:blipFill>
                <a:blip r:embed="rId6"/>
                <a:stretch>
                  <a:fillRect l="-4348" r="-5797" b="-244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0727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50868-00DB-FEE5-8C6A-B6110BC38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63DF67-4BF5-8C46-F500-9D0F1F19C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Interaction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77F1CE78-B5C2-FE1E-1847-34D9B8A934FA}"/>
                  </a:ext>
                </a:extLst>
              </p:cNvPr>
              <p:cNvSpPr txBox="1"/>
              <p:nvPr/>
            </p:nvSpPr>
            <p:spPr>
              <a:xfrm>
                <a:off x="114642" y="2258773"/>
                <a:ext cx="208543" cy="2985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77F1CE78-B5C2-FE1E-1847-34D9B8A93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42" y="2258773"/>
                <a:ext cx="208543" cy="298543"/>
              </a:xfrm>
              <a:prstGeom prst="rect">
                <a:avLst/>
              </a:prstGeom>
              <a:blipFill>
                <a:blip r:embed="rId2"/>
                <a:stretch>
                  <a:fillRect l="-29412" t="-2041" r="-70588" b="-1428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6BE9CFD1-C499-08DE-4BC5-7E3C411D276F}"/>
                  </a:ext>
                </a:extLst>
              </p:cNvPr>
              <p:cNvSpPr txBox="1"/>
              <p:nvPr/>
            </p:nvSpPr>
            <p:spPr>
              <a:xfrm>
                <a:off x="147162" y="4543597"/>
                <a:ext cx="1435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6BE9CFD1-C499-08DE-4BC5-7E3C411D2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62" y="4543597"/>
                <a:ext cx="143501" cy="276999"/>
              </a:xfrm>
              <a:prstGeom prst="rect">
                <a:avLst/>
              </a:prstGeom>
              <a:blipFill>
                <a:blip r:embed="rId3"/>
                <a:stretch>
                  <a:fillRect l="-33333" t="-10870" r="-108333" b="-43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97DF470A-8512-6E3E-F72E-1E9358960601}"/>
                  </a:ext>
                </a:extLst>
              </p:cNvPr>
              <p:cNvSpPr txBox="1"/>
              <p:nvPr/>
            </p:nvSpPr>
            <p:spPr>
              <a:xfrm>
                <a:off x="47625" y="2977242"/>
                <a:ext cx="2985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97DF470A-8512-6E3E-F72E-1E9358960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" y="2977242"/>
                <a:ext cx="298595" cy="369332"/>
              </a:xfrm>
              <a:prstGeom prst="rect">
                <a:avLst/>
              </a:prstGeom>
              <a:blipFill>
                <a:blip r:embed="rId4"/>
                <a:stretch>
                  <a:fillRect r="-2041"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076124BE-D956-B4EA-BA20-69F8915292DE}"/>
              </a:ext>
            </a:extLst>
          </p:cNvPr>
          <p:cNvCxnSpPr>
            <a:cxnSpLocks/>
          </p:cNvCxnSpPr>
          <p:nvPr/>
        </p:nvCxnSpPr>
        <p:spPr>
          <a:xfrm>
            <a:off x="388396" y="2435932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B1AA1D78-69D8-704F-7699-C79D34A7A990}"/>
                  </a:ext>
                </a:extLst>
              </p:cNvPr>
              <p:cNvSpPr/>
              <p:nvPr/>
            </p:nvSpPr>
            <p:spPr>
              <a:xfrm>
                <a:off x="6790831" y="2119139"/>
                <a:ext cx="1440726" cy="132556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B1AA1D78-69D8-704F-7699-C79D34A7A9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831" y="2119139"/>
                <a:ext cx="1440726" cy="132556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7406ECB9-FDE3-22AC-4A7A-CA6F4F8F139D}"/>
                  </a:ext>
                </a:extLst>
              </p:cNvPr>
              <p:cNvSpPr/>
              <p:nvPr/>
            </p:nvSpPr>
            <p:spPr>
              <a:xfrm>
                <a:off x="924606" y="2157291"/>
                <a:ext cx="1435877" cy="55728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d>
                        <m:dPr>
                          <m:endChr m:val="|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7406ECB9-FDE3-22AC-4A7A-CA6F4F8F1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06" y="2157291"/>
                <a:ext cx="1435877" cy="557283"/>
              </a:xfrm>
              <a:prstGeom prst="roundRect">
                <a:avLst/>
              </a:prstGeom>
              <a:blipFill>
                <a:blip r:embed="rId6"/>
                <a:stretch>
                  <a:fillRect r="-1302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B6BAF8B7-725F-4E5A-1E88-ED98E8A6F6E1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 flipV="1">
            <a:off x="2360483" y="2435932"/>
            <a:ext cx="36195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249D039B-5F17-DD0D-EC51-898616A861B8}"/>
                  </a:ext>
                </a:extLst>
              </p:cNvPr>
              <p:cNvSpPr txBox="1"/>
              <p:nvPr/>
            </p:nvSpPr>
            <p:spPr>
              <a:xfrm>
                <a:off x="2722433" y="2286275"/>
                <a:ext cx="424979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249D039B-5F17-DD0D-EC51-898616A86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433" y="2286275"/>
                <a:ext cx="424979" cy="299313"/>
              </a:xfrm>
              <a:prstGeom prst="rect">
                <a:avLst/>
              </a:prstGeom>
              <a:blipFill>
                <a:blip r:embed="rId7"/>
                <a:stretch>
                  <a:fillRect l="-4348" r="-5797" b="-244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Forbindelse: vinklet 27">
            <a:extLst>
              <a:ext uri="{FF2B5EF4-FFF2-40B4-BE49-F238E27FC236}">
                <a16:creationId xmlns:a16="http://schemas.microsoft.com/office/drawing/2014/main" id="{9ED6A34F-8D70-E353-3933-DFC56FE75C84}"/>
              </a:ext>
            </a:extLst>
          </p:cNvPr>
          <p:cNvCxnSpPr>
            <a:cxnSpLocks/>
            <a:stCxn id="6" idx="3"/>
            <a:endCxn id="22" idx="3"/>
          </p:cNvCxnSpPr>
          <p:nvPr/>
        </p:nvCxnSpPr>
        <p:spPr>
          <a:xfrm flipV="1">
            <a:off x="346220" y="2435932"/>
            <a:ext cx="2801192" cy="725976"/>
          </a:xfrm>
          <a:prstGeom prst="bentConnector3">
            <a:avLst>
              <a:gd name="adj1" fmla="val 12856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ktangel: afrundede hjørner 32">
                <a:extLst>
                  <a:ext uri="{FF2B5EF4-FFF2-40B4-BE49-F238E27FC236}">
                    <a16:creationId xmlns:a16="http://schemas.microsoft.com/office/drawing/2014/main" id="{25DD3CB2-E3D7-B056-7CF7-621FF0C2F078}"/>
                  </a:ext>
                </a:extLst>
              </p:cNvPr>
              <p:cNvSpPr/>
              <p:nvPr/>
            </p:nvSpPr>
            <p:spPr>
              <a:xfrm>
                <a:off x="3278048" y="1964230"/>
                <a:ext cx="2446478" cy="163538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b="0" dirty="0" err="1">
                    <a:solidFill>
                      <a:schemeClr val="tx1"/>
                    </a:solidFill>
                  </a:rPr>
                  <a:t>FiLM-layer</a:t>
                </a:r>
                <a:br>
                  <a:rPr lang="da-DK" b="0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ktangel: afrundede hjørner 32">
                <a:extLst>
                  <a:ext uri="{FF2B5EF4-FFF2-40B4-BE49-F238E27FC236}">
                    <a16:creationId xmlns:a16="http://schemas.microsoft.com/office/drawing/2014/main" id="{25DD3CB2-E3D7-B056-7CF7-621FF0C2F0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48" y="1964230"/>
                <a:ext cx="2446478" cy="1635383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Lige pilforbindelse 33">
            <a:extLst>
              <a:ext uri="{FF2B5EF4-FFF2-40B4-BE49-F238E27FC236}">
                <a16:creationId xmlns:a16="http://schemas.microsoft.com/office/drawing/2014/main" id="{96BD22BD-5AD5-6EED-257D-FACE7965418A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5724526" y="2781922"/>
            <a:ext cx="445374" cy="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kstfelt 35">
                <a:extLst>
                  <a:ext uri="{FF2B5EF4-FFF2-40B4-BE49-F238E27FC236}">
                    <a16:creationId xmlns:a16="http://schemas.microsoft.com/office/drawing/2014/main" id="{9AE31C50-D953-DA8D-EA8F-D8150013FE72}"/>
                  </a:ext>
                </a:extLst>
              </p:cNvPr>
              <p:cNvSpPr txBox="1"/>
              <p:nvPr/>
            </p:nvSpPr>
            <p:spPr>
              <a:xfrm>
                <a:off x="6169900" y="2632976"/>
                <a:ext cx="424979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6" name="Tekstfelt 35">
                <a:extLst>
                  <a:ext uri="{FF2B5EF4-FFF2-40B4-BE49-F238E27FC236}">
                    <a16:creationId xmlns:a16="http://schemas.microsoft.com/office/drawing/2014/main" id="{9AE31C50-D953-DA8D-EA8F-D8150013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900" y="2632976"/>
                <a:ext cx="424979" cy="299313"/>
              </a:xfrm>
              <a:prstGeom prst="rect">
                <a:avLst/>
              </a:prstGeom>
              <a:blipFill>
                <a:blip r:embed="rId9"/>
                <a:stretch>
                  <a:fillRect l="-4286" t="-8163" r="-40000" b="-244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Lige pilforbindelse 36">
            <a:extLst>
              <a:ext uri="{FF2B5EF4-FFF2-40B4-BE49-F238E27FC236}">
                <a16:creationId xmlns:a16="http://schemas.microsoft.com/office/drawing/2014/main" id="{5ACB57BA-687B-5DF8-29D2-9546E019AF3E}"/>
              </a:ext>
            </a:extLst>
          </p:cNvPr>
          <p:cNvCxnSpPr>
            <a:cxnSpLocks/>
            <a:stCxn id="36" idx="3"/>
            <a:endCxn id="10" idx="2"/>
          </p:cNvCxnSpPr>
          <p:nvPr/>
        </p:nvCxnSpPr>
        <p:spPr>
          <a:xfrm flipV="1">
            <a:off x="6594879" y="2781921"/>
            <a:ext cx="195952" cy="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19408413-CDA1-6DE0-0876-71B86568738B}"/>
                  </a:ext>
                </a:extLst>
              </p:cNvPr>
              <p:cNvSpPr txBox="1"/>
              <p:nvPr/>
            </p:nvSpPr>
            <p:spPr>
              <a:xfrm>
                <a:off x="7298704" y="3723242"/>
                <a:ext cx="42497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19408413-CDA1-6DE0-0876-71B865687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704" y="3723242"/>
                <a:ext cx="424979" cy="276999"/>
              </a:xfrm>
              <a:prstGeom prst="rect">
                <a:avLst/>
              </a:prstGeom>
              <a:blipFill>
                <a:blip r:embed="rId10"/>
                <a:stretch>
                  <a:fillRect t="-11111" r="-40000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Lige pilforbindelse 53">
            <a:extLst>
              <a:ext uri="{FF2B5EF4-FFF2-40B4-BE49-F238E27FC236}">
                <a16:creationId xmlns:a16="http://schemas.microsoft.com/office/drawing/2014/main" id="{043A88BF-F730-00D8-4E67-0292BB10056B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7511194" y="3444702"/>
            <a:ext cx="0" cy="3083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217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1669A-9F26-DA0E-9FC0-0BA766484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41FC99-0A89-9D99-43AE-C1C03DC9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Interaction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71A2CC68-6A07-56CD-8FC2-F5F4D78A6859}"/>
                  </a:ext>
                </a:extLst>
              </p:cNvPr>
              <p:cNvSpPr txBox="1"/>
              <p:nvPr/>
            </p:nvSpPr>
            <p:spPr>
              <a:xfrm>
                <a:off x="114642" y="2258773"/>
                <a:ext cx="208543" cy="2985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71A2CC68-6A07-56CD-8FC2-F5F4D78A6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42" y="2258773"/>
                <a:ext cx="208543" cy="298543"/>
              </a:xfrm>
              <a:prstGeom prst="rect">
                <a:avLst/>
              </a:prstGeom>
              <a:blipFill>
                <a:blip r:embed="rId2"/>
                <a:stretch>
                  <a:fillRect l="-29412" t="-2041" r="-70588" b="-1428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D73C9DFC-EE18-E39A-6717-1743C8633349}"/>
                  </a:ext>
                </a:extLst>
              </p:cNvPr>
              <p:cNvSpPr txBox="1"/>
              <p:nvPr/>
            </p:nvSpPr>
            <p:spPr>
              <a:xfrm>
                <a:off x="147162" y="4543597"/>
                <a:ext cx="1435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D73C9DFC-EE18-E39A-6717-1743C8633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62" y="4543597"/>
                <a:ext cx="143501" cy="276999"/>
              </a:xfrm>
              <a:prstGeom prst="rect">
                <a:avLst/>
              </a:prstGeom>
              <a:blipFill>
                <a:blip r:embed="rId3"/>
                <a:stretch>
                  <a:fillRect l="-33333" t="-10870" r="-108333" b="-43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81F6F25F-CCB4-9E29-8A79-D5C9A686695E}"/>
                  </a:ext>
                </a:extLst>
              </p:cNvPr>
              <p:cNvSpPr txBox="1"/>
              <p:nvPr/>
            </p:nvSpPr>
            <p:spPr>
              <a:xfrm>
                <a:off x="47625" y="2977242"/>
                <a:ext cx="2985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81F6F25F-CCB4-9E29-8A79-D5C9A6866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" y="2977242"/>
                <a:ext cx="298595" cy="369332"/>
              </a:xfrm>
              <a:prstGeom prst="rect">
                <a:avLst/>
              </a:prstGeom>
              <a:blipFill>
                <a:blip r:embed="rId4"/>
                <a:stretch>
                  <a:fillRect r="-2041"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63C40D86-F0AC-0902-13E3-1024F4847CE1}"/>
              </a:ext>
            </a:extLst>
          </p:cNvPr>
          <p:cNvCxnSpPr>
            <a:cxnSpLocks/>
          </p:cNvCxnSpPr>
          <p:nvPr/>
        </p:nvCxnSpPr>
        <p:spPr>
          <a:xfrm>
            <a:off x="388396" y="2435932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DCE6F861-076D-CBE2-926F-89A0A20B1FD3}"/>
                  </a:ext>
                </a:extLst>
              </p:cNvPr>
              <p:cNvSpPr/>
              <p:nvPr/>
            </p:nvSpPr>
            <p:spPr>
              <a:xfrm>
                <a:off x="6790831" y="2119139"/>
                <a:ext cx="1440726" cy="132556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DCE6F861-076D-CBE2-926F-89A0A20B1F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831" y="2119139"/>
                <a:ext cx="1440726" cy="132556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05412446-FE6E-1C8E-C420-9ADD9C2A453F}"/>
                  </a:ext>
                </a:extLst>
              </p:cNvPr>
              <p:cNvSpPr/>
              <p:nvPr/>
            </p:nvSpPr>
            <p:spPr>
              <a:xfrm>
                <a:off x="924606" y="2157291"/>
                <a:ext cx="1435877" cy="55728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d>
                        <m:dPr>
                          <m:endChr m:val="|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05412446-FE6E-1C8E-C420-9ADD9C2A45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06" y="2157291"/>
                <a:ext cx="1435877" cy="557283"/>
              </a:xfrm>
              <a:prstGeom prst="roundRect">
                <a:avLst/>
              </a:prstGeom>
              <a:blipFill>
                <a:blip r:embed="rId6"/>
                <a:stretch>
                  <a:fillRect r="-1302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DDFB26BF-B97C-2396-55A5-2CD0031AFEE7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 flipV="1">
            <a:off x="2360483" y="2435932"/>
            <a:ext cx="36195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14A49058-D618-389C-55C4-1FF82FCE92FC}"/>
                  </a:ext>
                </a:extLst>
              </p:cNvPr>
              <p:cNvSpPr txBox="1"/>
              <p:nvPr/>
            </p:nvSpPr>
            <p:spPr>
              <a:xfrm>
                <a:off x="2722433" y="2286275"/>
                <a:ext cx="424979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14A49058-D618-389C-55C4-1FF82FCE9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433" y="2286275"/>
                <a:ext cx="424979" cy="299313"/>
              </a:xfrm>
              <a:prstGeom prst="rect">
                <a:avLst/>
              </a:prstGeom>
              <a:blipFill>
                <a:blip r:embed="rId7"/>
                <a:stretch>
                  <a:fillRect l="-4348" r="-5797" b="-244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Forbindelse: vinklet 27">
            <a:extLst>
              <a:ext uri="{FF2B5EF4-FFF2-40B4-BE49-F238E27FC236}">
                <a16:creationId xmlns:a16="http://schemas.microsoft.com/office/drawing/2014/main" id="{4A522DD1-62A0-C1C5-ACFF-1B322CE09DB0}"/>
              </a:ext>
            </a:extLst>
          </p:cNvPr>
          <p:cNvCxnSpPr>
            <a:cxnSpLocks/>
            <a:stCxn id="6" idx="3"/>
            <a:endCxn id="22" idx="3"/>
          </p:cNvCxnSpPr>
          <p:nvPr/>
        </p:nvCxnSpPr>
        <p:spPr>
          <a:xfrm flipV="1">
            <a:off x="346220" y="2435932"/>
            <a:ext cx="2801192" cy="725976"/>
          </a:xfrm>
          <a:prstGeom prst="bentConnector3">
            <a:avLst>
              <a:gd name="adj1" fmla="val 12856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ktangel: afrundede hjørner 32">
                <a:extLst>
                  <a:ext uri="{FF2B5EF4-FFF2-40B4-BE49-F238E27FC236}">
                    <a16:creationId xmlns:a16="http://schemas.microsoft.com/office/drawing/2014/main" id="{92AE2B70-8D05-3F6C-5FA3-176945A8D6B1}"/>
                  </a:ext>
                </a:extLst>
              </p:cNvPr>
              <p:cNvSpPr/>
              <p:nvPr/>
            </p:nvSpPr>
            <p:spPr>
              <a:xfrm>
                <a:off x="3278048" y="1964230"/>
                <a:ext cx="2446478" cy="163538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b="0" dirty="0" err="1">
                    <a:solidFill>
                      <a:schemeClr val="tx1"/>
                    </a:solidFill>
                  </a:rPr>
                  <a:t>FiLM-layer</a:t>
                </a:r>
                <a:br>
                  <a:rPr lang="da-DK" b="0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ktangel: afrundede hjørner 32">
                <a:extLst>
                  <a:ext uri="{FF2B5EF4-FFF2-40B4-BE49-F238E27FC236}">
                    <a16:creationId xmlns:a16="http://schemas.microsoft.com/office/drawing/2014/main" id="{92AE2B70-8D05-3F6C-5FA3-176945A8D6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48" y="1964230"/>
                <a:ext cx="2446478" cy="1635383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Lige pilforbindelse 33">
            <a:extLst>
              <a:ext uri="{FF2B5EF4-FFF2-40B4-BE49-F238E27FC236}">
                <a16:creationId xmlns:a16="http://schemas.microsoft.com/office/drawing/2014/main" id="{A9B721CA-6331-B8D7-3E10-690E3904A61D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5724526" y="2781922"/>
            <a:ext cx="445374" cy="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kstfelt 35">
                <a:extLst>
                  <a:ext uri="{FF2B5EF4-FFF2-40B4-BE49-F238E27FC236}">
                    <a16:creationId xmlns:a16="http://schemas.microsoft.com/office/drawing/2014/main" id="{CE4A99E4-0A77-073A-6DA9-F4A8EC840E74}"/>
                  </a:ext>
                </a:extLst>
              </p:cNvPr>
              <p:cNvSpPr txBox="1"/>
              <p:nvPr/>
            </p:nvSpPr>
            <p:spPr>
              <a:xfrm>
                <a:off x="6169900" y="2632976"/>
                <a:ext cx="424979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6" name="Tekstfelt 35">
                <a:extLst>
                  <a:ext uri="{FF2B5EF4-FFF2-40B4-BE49-F238E27FC236}">
                    <a16:creationId xmlns:a16="http://schemas.microsoft.com/office/drawing/2014/main" id="{CE4A99E4-0A77-073A-6DA9-F4A8EC840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900" y="2632976"/>
                <a:ext cx="424979" cy="299313"/>
              </a:xfrm>
              <a:prstGeom prst="rect">
                <a:avLst/>
              </a:prstGeom>
              <a:blipFill>
                <a:blip r:embed="rId9"/>
                <a:stretch>
                  <a:fillRect l="-4286" t="-8163" r="-40000" b="-244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Lige pilforbindelse 36">
            <a:extLst>
              <a:ext uri="{FF2B5EF4-FFF2-40B4-BE49-F238E27FC236}">
                <a16:creationId xmlns:a16="http://schemas.microsoft.com/office/drawing/2014/main" id="{0CC24ECE-616C-E494-47A4-F4DAE1043B28}"/>
              </a:ext>
            </a:extLst>
          </p:cNvPr>
          <p:cNvCxnSpPr>
            <a:cxnSpLocks/>
            <a:stCxn id="36" idx="3"/>
            <a:endCxn id="10" idx="2"/>
          </p:cNvCxnSpPr>
          <p:nvPr/>
        </p:nvCxnSpPr>
        <p:spPr>
          <a:xfrm flipV="1">
            <a:off x="6594879" y="2781921"/>
            <a:ext cx="195952" cy="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4DB2B138-5B12-7AE7-2178-3EA71CCA49E2}"/>
                  </a:ext>
                </a:extLst>
              </p:cNvPr>
              <p:cNvSpPr txBox="1"/>
              <p:nvPr/>
            </p:nvSpPr>
            <p:spPr>
              <a:xfrm>
                <a:off x="7298704" y="3723242"/>
                <a:ext cx="42497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4DB2B138-5B12-7AE7-2178-3EA71CCA4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704" y="3723242"/>
                <a:ext cx="424979" cy="276999"/>
              </a:xfrm>
              <a:prstGeom prst="rect">
                <a:avLst/>
              </a:prstGeom>
              <a:blipFill>
                <a:blip r:embed="rId10"/>
                <a:stretch>
                  <a:fillRect t="-11111" r="-40000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ktangel: afrundede hjørner 49">
                <a:extLst>
                  <a:ext uri="{FF2B5EF4-FFF2-40B4-BE49-F238E27FC236}">
                    <a16:creationId xmlns:a16="http://schemas.microsoft.com/office/drawing/2014/main" id="{7D840949-6978-9BB2-0453-A370B18931E3}"/>
                  </a:ext>
                </a:extLst>
              </p:cNvPr>
              <p:cNvSpPr/>
              <p:nvPr/>
            </p:nvSpPr>
            <p:spPr>
              <a:xfrm>
                <a:off x="5862211" y="4205713"/>
                <a:ext cx="2138596" cy="689262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ktangel: afrundede hjørner 49">
                <a:extLst>
                  <a:ext uri="{FF2B5EF4-FFF2-40B4-BE49-F238E27FC236}">
                    <a16:creationId xmlns:a16="http://schemas.microsoft.com/office/drawing/2014/main" id="{7D840949-6978-9BB2-0453-A370B1893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211" y="4205713"/>
                <a:ext cx="2138596" cy="689262"/>
              </a:xfrm>
              <a:prstGeom prst="roundRect">
                <a:avLst/>
              </a:prstGeom>
              <a:blipFill>
                <a:blip r:embed="rId11"/>
                <a:stretch>
                  <a:fillRect r="-311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Lige pilforbindelse 53">
            <a:extLst>
              <a:ext uri="{FF2B5EF4-FFF2-40B4-BE49-F238E27FC236}">
                <a16:creationId xmlns:a16="http://schemas.microsoft.com/office/drawing/2014/main" id="{3E8BE1FB-4C0E-A92A-4495-6F1D11B970BC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7511194" y="3444702"/>
            <a:ext cx="0" cy="3083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ge pilforbindelse 56">
            <a:extLst>
              <a:ext uri="{FF2B5EF4-FFF2-40B4-BE49-F238E27FC236}">
                <a16:creationId xmlns:a16="http://schemas.microsoft.com/office/drawing/2014/main" id="{99A6B68E-C4A2-354B-299F-862CE58A466D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7511194" y="4000241"/>
            <a:ext cx="0" cy="2142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Lige pilforbindelse 61">
            <a:extLst>
              <a:ext uri="{FF2B5EF4-FFF2-40B4-BE49-F238E27FC236}">
                <a16:creationId xmlns:a16="http://schemas.microsoft.com/office/drawing/2014/main" id="{4E3D5E92-FD68-B7F5-3037-BF859D69106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90663" y="4679842"/>
            <a:ext cx="5547303" cy="2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Forbindelse: vinklet 98">
            <a:extLst>
              <a:ext uri="{FF2B5EF4-FFF2-40B4-BE49-F238E27FC236}">
                <a16:creationId xmlns:a16="http://schemas.microsoft.com/office/drawing/2014/main" id="{F71177DD-EEA0-0E9B-0B58-569C58090474}"/>
              </a:ext>
            </a:extLst>
          </p:cNvPr>
          <p:cNvCxnSpPr>
            <a:cxnSpLocks/>
          </p:cNvCxnSpPr>
          <p:nvPr/>
        </p:nvCxnSpPr>
        <p:spPr>
          <a:xfrm>
            <a:off x="554222" y="2451699"/>
            <a:ext cx="5292606" cy="1942915"/>
          </a:xfrm>
          <a:prstGeom prst="bentConnector3">
            <a:avLst>
              <a:gd name="adj1" fmla="val -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88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A3EF7-789B-6DAC-8631-EF5D0ED4C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AF5D06-9CFF-4013-2A61-F5626AB7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Interaction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3FBC7A58-A8CE-55AB-2683-76EF24DEEE7D}"/>
                  </a:ext>
                </a:extLst>
              </p:cNvPr>
              <p:cNvSpPr txBox="1"/>
              <p:nvPr/>
            </p:nvSpPr>
            <p:spPr>
              <a:xfrm>
                <a:off x="114642" y="2258773"/>
                <a:ext cx="208543" cy="2985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3FBC7A58-A8CE-55AB-2683-76EF24DEE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42" y="2258773"/>
                <a:ext cx="208543" cy="298543"/>
              </a:xfrm>
              <a:prstGeom prst="rect">
                <a:avLst/>
              </a:prstGeom>
              <a:blipFill>
                <a:blip r:embed="rId2"/>
                <a:stretch>
                  <a:fillRect l="-29412" t="-2041" r="-70588" b="-1428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4E2B3395-323C-1BCB-4F03-9C1BFD201E55}"/>
                  </a:ext>
                </a:extLst>
              </p:cNvPr>
              <p:cNvSpPr txBox="1"/>
              <p:nvPr/>
            </p:nvSpPr>
            <p:spPr>
              <a:xfrm>
                <a:off x="147162" y="4543597"/>
                <a:ext cx="1435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4E2B3395-323C-1BCB-4F03-9C1BFD201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62" y="4543597"/>
                <a:ext cx="143501" cy="276999"/>
              </a:xfrm>
              <a:prstGeom prst="rect">
                <a:avLst/>
              </a:prstGeom>
              <a:blipFill>
                <a:blip r:embed="rId3"/>
                <a:stretch>
                  <a:fillRect l="-33333" t="-10870" r="-108333" b="-43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957418BD-548D-DDDE-2628-A0B3C96B4AB4}"/>
                  </a:ext>
                </a:extLst>
              </p:cNvPr>
              <p:cNvSpPr txBox="1"/>
              <p:nvPr/>
            </p:nvSpPr>
            <p:spPr>
              <a:xfrm>
                <a:off x="47625" y="2977242"/>
                <a:ext cx="2985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957418BD-548D-DDDE-2628-A0B3C96B4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" y="2977242"/>
                <a:ext cx="298595" cy="369332"/>
              </a:xfrm>
              <a:prstGeom prst="rect">
                <a:avLst/>
              </a:prstGeom>
              <a:blipFill>
                <a:blip r:embed="rId4"/>
                <a:stretch>
                  <a:fillRect r="-2041"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B2960D46-80E1-2B79-2791-63517D959A57}"/>
              </a:ext>
            </a:extLst>
          </p:cNvPr>
          <p:cNvCxnSpPr>
            <a:cxnSpLocks/>
          </p:cNvCxnSpPr>
          <p:nvPr/>
        </p:nvCxnSpPr>
        <p:spPr>
          <a:xfrm>
            <a:off x="388396" y="2435932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77FAAC14-C33D-92CD-4C45-0057F16B6F32}"/>
                  </a:ext>
                </a:extLst>
              </p:cNvPr>
              <p:cNvSpPr/>
              <p:nvPr/>
            </p:nvSpPr>
            <p:spPr>
              <a:xfrm>
                <a:off x="6790831" y="2119139"/>
                <a:ext cx="1440726" cy="132556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77FAAC14-C33D-92CD-4C45-0057F16B6F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831" y="2119139"/>
                <a:ext cx="1440726" cy="132556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C7090AAD-83A5-71E5-1A5A-687DF3EDCACA}"/>
                  </a:ext>
                </a:extLst>
              </p:cNvPr>
              <p:cNvSpPr/>
              <p:nvPr/>
            </p:nvSpPr>
            <p:spPr>
              <a:xfrm>
                <a:off x="924606" y="2157291"/>
                <a:ext cx="1435877" cy="55728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d>
                        <m:dPr>
                          <m:endChr m:val="|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C7090AAD-83A5-71E5-1A5A-687DF3EDCA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06" y="2157291"/>
                <a:ext cx="1435877" cy="557283"/>
              </a:xfrm>
              <a:prstGeom prst="roundRect">
                <a:avLst/>
              </a:prstGeom>
              <a:blipFill>
                <a:blip r:embed="rId6"/>
                <a:stretch>
                  <a:fillRect r="-1302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A5A72DB7-6074-56C2-80D2-C8D54D4F04FC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 flipV="1">
            <a:off x="2360483" y="2435932"/>
            <a:ext cx="36195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14AD076B-06FA-72A0-5A19-5C20CEDFE4D9}"/>
                  </a:ext>
                </a:extLst>
              </p:cNvPr>
              <p:cNvSpPr txBox="1"/>
              <p:nvPr/>
            </p:nvSpPr>
            <p:spPr>
              <a:xfrm>
                <a:off x="2722433" y="2286275"/>
                <a:ext cx="424979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14AD076B-06FA-72A0-5A19-5C20CEDFE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433" y="2286275"/>
                <a:ext cx="424979" cy="299313"/>
              </a:xfrm>
              <a:prstGeom prst="rect">
                <a:avLst/>
              </a:prstGeom>
              <a:blipFill>
                <a:blip r:embed="rId7"/>
                <a:stretch>
                  <a:fillRect l="-4348" r="-5797" b="-244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Forbindelse: vinklet 27">
            <a:extLst>
              <a:ext uri="{FF2B5EF4-FFF2-40B4-BE49-F238E27FC236}">
                <a16:creationId xmlns:a16="http://schemas.microsoft.com/office/drawing/2014/main" id="{74A10F59-A17C-064B-7051-0F5068CBFBDE}"/>
              </a:ext>
            </a:extLst>
          </p:cNvPr>
          <p:cNvCxnSpPr>
            <a:cxnSpLocks/>
            <a:stCxn id="6" idx="3"/>
            <a:endCxn id="22" idx="3"/>
          </p:cNvCxnSpPr>
          <p:nvPr/>
        </p:nvCxnSpPr>
        <p:spPr>
          <a:xfrm flipV="1">
            <a:off x="346220" y="2435932"/>
            <a:ext cx="2801192" cy="725976"/>
          </a:xfrm>
          <a:prstGeom prst="bentConnector3">
            <a:avLst>
              <a:gd name="adj1" fmla="val 12856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ktangel: afrundede hjørner 32">
                <a:extLst>
                  <a:ext uri="{FF2B5EF4-FFF2-40B4-BE49-F238E27FC236}">
                    <a16:creationId xmlns:a16="http://schemas.microsoft.com/office/drawing/2014/main" id="{01E1FFDF-0333-5158-49FD-1F4A49E354EA}"/>
                  </a:ext>
                </a:extLst>
              </p:cNvPr>
              <p:cNvSpPr/>
              <p:nvPr/>
            </p:nvSpPr>
            <p:spPr>
              <a:xfrm>
                <a:off x="3278048" y="1964230"/>
                <a:ext cx="2446478" cy="163538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b="0" dirty="0" err="1">
                    <a:solidFill>
                      <a:schemeClr val="tx1"/>
                    </a:solidFill>
                  </a:rPr>
                  <a:t>FiLM-layer</a:t>
                </a:r>
                <a:br>
                  <a:rPr lang="da-DK" b="0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ktangel: afrundede hjørner 32">
                <a:extLst>
                  <a:ext uri="{FF2B5EF4-FFF2-40B4-BE49-F238E27FC236}">
                    <a16:creationId xmlns:a16="http://schemas.microsoft.com/office/drawing/2014/main" id="{01E1FFDF-0333-5158-49FD-1F4A49E354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48" y="1964230"/>
                <a:ext cx="2446478" cy="1635383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Lige pilforbindelse 33">
            <a:extLst>
              <a:ext uri="{FF2B5EF4-FFF2-40B4-BE49-F238E27FC236}">
                <a16:creationId xmlns:a16="http://schemas.microsoft.com/office/drawing/2014/main" id="{0FB95D9A-2540-8FB6-3DFD-EC358483083E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5724526" y="2781922"/>
            <a:ext cx="445374" cy="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kstfelt 35">
                <a:extLst>
                  <a:ext uri="{FF2B5EF4-FFF2-40B4-BE49-F238E27FC236}">
                    <a16:creationId xmlns:a16="http://schemas.microsoft.com/office/drawing/2014/main" id="{304967CF-D2C9-04AB-829E-49BD1CD71DBE}"/>
                  </a:ext>
                </a:extLst>
              </p:cNvPr>
              <p:cNvSpPr txBox="1"/>
              <p:nvPr/>
            </p:nvSpPr>
            <p:spPr>
              <a:xfrm>
                <a:off x="6169900" y="2632976"/>
                <a:ext cx="424979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6" name="Tekstfelt 35">
                <a:extLst>
                  <a:ext uri="{FF2B5EF4-FFF2-40B4-BE49-F238E27FC236}">
                    <a16:creationId xmlns:a16="http://schemas.microsoft.com/office/drawing/2014/main" id="{304967CF-D2C9-04AB-829E-49BD1CD71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900" y="2632976"/>
                <a:ext cx="424979" cy="299313"/>
              </a:xfrm>
              <a:prstGeom prst="rect">
                <a:avLst/>
              </a:prstGeom>
              <a:blipFill>
                <a:blip r:embed="rId9"/>
                <a:stretch>
                  <a:fillRect l="-4286" t="-8163" r="-40000" b="-244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Lige pilforbindelse 36">
            <a:extLst>
              <a:ext uri="{FF2B5EF4-FFF2-40B4-BE49-F238E27FC236}">
                <a16:creationId xmlns:a16="http://schemas.microsoft.com/office/drawing/2014/main" id="{F61F6A92-CDE4-A8B7-2EA5-5F3A53343B93}"/>
              </a:ext>
            </a:extLst>
          </p:cNvPr>
          <p:cNvCxnSpPr>
            <a:cxnSpLocks/>
            <a:stCxn id="36" idx="3"/>
            <a:endCxn id="10" idx="2"/>
          </p:cNvCxnSpPr>
          <p:nvPr/>
        </p:nvCxnSpPr>
        <p:spPr>
          <a:xfrm flipV="1">
            <a:off x="6594879" y="2781921"/>
            <a:ext cx="195952" cy="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066FD221-D581-365D-B528-D69117DDD178}"/>
                  </a:ext>
                </a:extLst>
              </p:cNvPr>
              <p:cNvSpPr txBox="1"/>
              <p:nvPr/>
            </p:nvSpPr>
            <p:spPr>
              <a:xfrm>
                <a:off x="7298704" y="3723242"/>
                <a:ext cx="42497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066FD221-D581-365D-B528-D69117DDD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704" y="3723242"/>
                <a:ext cx="424979" cy="276999"/>
              </a:xfrm>
              <a:prstGeom prst="rect">
                <a:avLst/>
              </a:prstGeom>
              <a:blipFill>
                <a:blip r:embed="rId10"/>
                <a:stretch>
                  <a:fillRect t="-11111" r="-40000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ktangel: afrundede hjørner 49">
                <a:extLst>
                  <a:ext uri="{FF2B5EF4-FFF2-40B4-BE49-F238E27FC236}">
                    <a16:creationId xmlns:a16="http://schemas.microsoft.com/office/drawing/2014/main" id="{F600E2B4-DD8C-37CD-5B5A-B6C0CB73EAE0}"/>
                  </a:ext>
                </a:extLst>
              </p:cNvPr>
              <p:cNvSpPr/>
              <p:nvPr/>
            </p:nvSpPr>
            <p:spPr>
              <a:xfrm>
                <a:off x="5862211" y="4205713"/>
                <a:ext cx="2138596" cy="689262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ktangel: afrundede hjørner 49">
                <a:extLst>
                  <a:ext uri="{FF2B5EF4-FFF2-40B4-BE49-F238E27FC236}">
                    <a16:creationId xmlns:a16="http://schemas.microsoft.com/office/drawing/2014/main" id="{F600E2B4-DD8C-37CD-5B5A-B6C0CB73EA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211" y="4205713"/>
                <a:ext cx="2138596" cy="689262"/>
              </a:xfrm>
              <a:prstGeom prst="roundRect">
                <a:avLst/>
              </a:prstGeom>
              <a:blipFill>
                <a:blip r:embed="rId11"/>
                <a:stretch>
                  <a:fillRect r="-311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Lige pilforbindelse 53">
            <a:extLst>
              <a:ext uri="{FF2B5EF4-FFF2-40B4-BE49-F238E27FC236}">
                <a16:creationId xmlns:a16="http://schemas.microsoft.com/office/drawing/2014/main" id="{DE7A0463-96F4-A2B3-564B-25E86627A7C8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7511194" y="3444702"/>
            <a:ext cx="0" cy="3083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ge pilforbindelse 56">
            <a:extLst>
              <a:ext uri="{FF2B5EF4-FFF2-40B4-BE49-F238E27FC236}">
                <a16:creationId xmlns:a16="http://schemas.microsoft.com/office/drawing/2014/main" id="{DB5949C8-9EBA-6249-4505-CBD7AA9766D6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7511194" y="4000241"/>
            <a:ext cx="0" cy="2142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Lige pilforbindelse 61">
            <a:extLst>
              <a:ext uri="{FF2B5EF4-FFF2-40B4-BE49-F238E27FC236}">
                <a16:creationId xmlns:a16="http://schemas.microsoft.com/office/drawing/2014/main" id="{F7F67429-ACEB-E0C7-6CAF-22CDDE4B0F2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90663" y="4679842"/>
            <a:ext cx="5547303" cy="2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Lige pilforbindelse 65">
            <a:extLst>
              <a:ext uri="{FF2B5EF4-FFF2-40B4-BE49-F238E27FC236}">
                <a16:creationId xmlns:a16="http://schemas.microsoft.com/office/drawing/2014/main" id="{18B3BCB9-6174-24EB-9874-B2D2266F900E}"/>
              </a:ext>
            </a:extLst>
          </p:cNvPr>
          <p:cNvCxnSpPr>
            <a:cxnSpLocks/>
            <a:stCxn id="50" idx="3"/>
            <a:endCxn id="67" idx="1"/>
          </p:cNvCxnSpPr>
          <p:nvPr/>
        </p:nvCxnSpPr>
        <p:spPr>
          <a:xfrm>
            <a:off x="8000807" y="4550344"/>
            <a:ext cx="257532" cy="28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kstfelt 66">
                <a:extLst>
                  <a:ext uri="{FF2B5EF4-FFF2-40B4-BE49-F238E27FC236}">
                    <a16:creationId xmlns:a16="http://schemas.microsoft.com/office/drawing/2014/main" id="{D10BC206-E3E8-C1A4-24DC-1DC6DAE0D2B6}"/>
                  </a:ext>
                </a:extLst>
              </p:cNvPr>
              <p:cNvSpPr txBox="1"/>
              <p:nvPr/>
            </p:nvSpPr>
            <p:spPr>
              <a:xfrm>
                <a:off x="8258339" y="4403938"/>
                <a:ext cx="463168" cy="2985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a-DK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7" name="Tekstfelt 66">
                <a:extLst>
                  <a:ext uri="{FF2B5EF4-FFF2-40B4-BE49-F238E27FC236}">
                    <a16:creationId xmlns:a16="http://schemas.microsoft.com/office/drawing/2014/main" id="{D10BC206-E3E8-C1A4-24DC-1DC6DAE0D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339" y="4403938"/>
                <a:ext cx="463168" cy="298543"/>
              </a:xfrm>
              <a:prstGeom prst="rect">
                <a:avLst/>
              </a:prstGeom>
              <a:blipFill>
                <a:blip r:embed="rId12"/>
                <a:stretch>
                  <a:fillRect l="-15789" r="-52632" b="-1632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Forbindelse: vinklet 98">
            <a:extLst>
              <a:ext uri="{FF2B5EF4-FFF2-40B4-BE49-F238E27FC236}">
                <a16:creationId xmlns:a16="http://schemas.microsoft.com/office/drawing/2014/main" id="{91450AB9-3A0B-B1D7-AAAD-564D33FFA76B}"/>
              </a:ext>
            </a:extLst>
          </p:cNvPr>
          <p:cNvCxnSpPr>
            <a:cxnSpLocks/>
          </p:cNvCxnSpPr>
          <p:nvPr/>
        </p:nvCxnSpPr>
        <p:spPr>
          <a:xfrm>
            <a:off x="554222" y="2451699"/>
            <a:ext cx="5292606" cy="1942915"/>
          </a:xfrm>
          <a:prstGeom prst="bentConnector3">
            <a:avLst>
              <a:gd name="adj1" fmla="val -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Rektangel: afrundede hjørner 112">
                <a:extLst>
                  <a:ext uri="{FF2B5EF4-FFF2-40B4-BE49-F238E27FC236}">
                    <a16:creationId xmlns:a16="http://schemas.microsoft.com/office/drawing/2014/main" id="{8C0B955C-428E-4D21-AF06-814C676B29CF}"/>
                  </a:ext>
                </a:extLst>
              </p:cNvPr>
              <p:cNvSpPr/>
              <p:nvPr/>
            </p:nvSpPr>
            <p:spPr>
              <a:xfrm>
                <a:off x="8933182" y="4205713"/>
                <a:ext cx="2583063" cy="689262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b="0" dirty="0">
                    <a:solidFill>
                      <a:schemeClr val="tx1"/>
                    </a:solidFill>
                  </a:rPr>
                  <a:t>LayerNorm</a:t>
                </a: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da-DK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  <m:sup>
                        <m: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da-DK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da-DK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  <m:sup>
                        <m: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3" name="Rektangel: afrundede hjørner 112">
                <a:extLst>
                  <a:ext uri="{FF2B5EF4-FFF2-40B4-BE49-F238E27FC236}">
                    <a16:creationId xmlns:a16="http://schemas.microsoft.com/office/drawing/2014/main" id="{8C0B955C-428E-4D21-AF06-814C676B29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182" y="4205713"/>
                <a:ext cx="2583063" cy="689262"/>
              </a:xfrm>
              <a:prstGeom prst="roundRect">
                <a:avLst/>
              </a:prstGeom>
              <a:blipFill>
                <a:blip r:embed="rId13"/>
                <a:stretch>
                  <a:fillRect r="-374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Lige pilforbindelse 125">
            <a:extLst>
              <a:ext uri="{FF2B5EF4-FFF2-40B4-BE49-F238E27FC236}">
                <a16:creationId xmlns:a16="http://schemas.microsoft.com/office/drawing/2014/main" id="{B96F90CD-C938-2EB2-2B31-2DFDB54A5454}"/>
              </a:ext>
            </a:extLst>
          </p:cNvPr>
          <p:cNvCxnSpPr>
            <a:cxnSpLocks/>
            <a:stCxn id="67" idx="3"/>
            <a:endCxn id="113" idx="1"/>
          </p:cNvCxnSpPr>
          <p:nvPr/>
        </p:nvCxnSpPr>
        <p:spPr>
          <a:xfrm flipV="1">
            <a:off x="8721507" y="4550344"/>
            <a:ext cx="211675" cy="28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kstfelt 137">
                <a:extLst>
                  <a:ext uri="{FF2B5EF4-FFF2-40B4-BE49-F238E27FC236}">
                    <a16:creationId xmlns:a16="http://schemas.microsoft.com/office/drawing/2014/main" id="{9DB292D0-3BFA-F822-8027-41892F57EA51}"/>
                  </a:ext>
                </a:extLst>
              </p:cNvPr>
              <p:cNvSpPr txBox="1"/>
              <p:nvPr/>
            </p:nvSpPr>
            <p:spPr>
              <a:xfrm>
                <a:off x="11789752" y="4381875"/>
                <a:ext cx="208543" cy="297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38" name="Tekstfelt 137">
                <a:extLst>
                  <a:ext uri="{FF2B5EF4-FFF2-40B4-BE49-F238E27FC236}">
                    <a16:creationId xmlns:a16="http://schemas.microsoft.com/office/drawing/2014/main" id="{9DB292D0-3BFA-F822-8027-41892F57E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9752" y="4381875"/>
                <a:ext cx="208543" cy="297967"/>
              </a:xfrm>
              <a:prstGeom prst="rect">
                <a:avLst/>
              </a:prstGeom>
              <a:blipFill>
                <a:blip r:embed="rId14"/>
                <a:stretch>
                  <a:fillRect l="-29412" t="-4082" r="-67647" b="-122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Lige pilforbindelse 138">
            <a:extLst>
              <a:ext uri="{FF2B5EF4-FFF2-40B4-BE49-F238E27FC236}">
                <a16:creationId xmlns:a16="http://schemas.microsoft.com/office/drawing/2014/main" id="{1C70F0DB-565E-1FA1-1E06-FD4973D673D0}"/>
              </a:ext>
            </a:extLst>
          </p:cNvPr>
          <p:cNvCxnSpPr>
            <a:cxnSpLocks/>
          </p:cNvCxnSpPr>
          <p:nvPr/>
        </p:nvCxnSpPr>
        <p:spPr>
          <a:xfrm flipV="1">
            <a:off x="11516245" y="4550344"/>
            <a:ext cx="211675" cy="28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420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13685F-5DCC-4995-96C4-C31EC8C17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Interaction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348E717F-C36B-50F4-E765-16D94A5106BB}"/>
                  </a:ext>
                </a:extLst>
              </p:cNvPr>
              <p:cNvSpPr txBox="1"/>
              <p:nvPr/>
            </p:nvSpPr>
            <p:spPr>
              <a:xfrm>
                <a:off x="114642" y="2258773"/>
                <a:ext cx="208543" cy="2985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348E717F-C36B-50F4-E765-16D94A510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42" y="2258773"/>
                <a:ext cx="208543" cy="298543"/>
              </a:xfrm>
              <a:prstGeom prst="rect">
                <a:avLst/>
              </a:prstGeom>
              <a:blipFill>
                <a:blip r:embed="rId2"/>
                <a:stretch>
                  <a:fillRect l="-29412" t="-2041" r="-70588" b="-1428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2D6CE607-BCE3-EF86-C662-293EDDCC2596}"/>
                  </a:ext>
                </a:extLst>
              </p:cNvPr>
              <p:cNvSpPr txBox="1"/>
              <p:nvPr/>
            </p:nvSpPr>
            <p:spPr>
              <a:xfrm>
                <a:off x="147162" y="4543597"/>
                <a:ext cx="1435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2D6CE607-BCE3-EF86-C662-293EDDCC2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62" y="4543597"/>
                <a:ext cx="143501" cy="276999"/>
              </a:xfrm>
              <a:prstGeom prst="rect">
                <a:avLst/>
              </a:prstGeom>
              <a:blipFill>
                <a:blip r:embed="rId3"/>
                <a:stretch>
                  <a:fillRect l="-33333" t="-10870" r="-108333" b="-43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CE1D4FC0-C967-71FD-0566-618CF6D8D145}"/>
                  </a:ext>
                </a:extLst>
              </p:cNvPr>
              <p:cNvSpPr txBox="1"/>
              <p:nvPr/>
            </p:nvSpPr>
            <p:spPr>
              <a:xfrm>
                <a:off x="47625" y="2977242"/>
                <a:ext cx="2985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CE1D4FC0-C967-71FD-0566-618CF6D8D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" y="2977242"/>
                <a:ext cx="298595" cy="369332"/>
              </a:xfrm>
              <a:prstGeom prst="rect">
                <a:avLst/>
              </a:prstGeom>
              <a:blipFill>
                <a:blip r:embed="rId4"/>
                <a:stretch>
                  <a:fillRect r="-2041"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A3769479-7A4D-AE44-7F6A-925738AB0875}"/>
              </a:ext>
            </a:extLst>
          </p:cNvPr>
          <p:cNvCxnSpPr>
            <a:cxnSpLocks/>
          </p:cNvCxnSpPr>
          <p:nvPr/>
        </p:nvCxnSpPr>
        <p:spPr>
          <a:xfrm>
            <a:off x="388396" y="2435932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67C9D861-FC12-FD9E-E554-77FA913B3300}"/>
                  </a:ext>
                </a:extLst>
              </p:cNvPr>
              <p:cNvSpPr/>
              <p:nvPr/>
            </p:nvSpPr>
            <p:spPr>
              <a:xfrm>
                <a:off x="6790831" y="2119139"/>
                <a:ext cx="1440726" cy="132556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67C9D861-FC12-FD9E-E554-77FA913B33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831" y="2119139"/>
                <a:ext cx="1440726" cy="132556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6D5E7F59-9DEC-A2A1-3FE6-72247273176C}"/>
                  </a:ext>
                </a:extLst>
              </p:cNvPr>
              <p:cNvSpPr/>
              <p:nvPr/>
            </p:nvSpPr>
            <p:spPr>
              <a:xfrm>
                <a:off x="924606" y="2157291"/>
                <a:ext cx="1435877" cy="55728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d>
                        <m:dPr>
                          <m:endChr m:val="|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6D5E7F59-9DEC-A2A1-3FE6-7224727317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06" y="2157291"/>
                <a:ext cx="1435877" cy="557283"/>
              </a:xfrm>
              <a:prstGeom prst="roundRect">
                <a:avLst/>
              </a:prstGeom>
              <a:blipFill>
                <a:blip r:embed="rId6"/>
                <a:stretch>
                  <a:fillRect r="-1302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0A1442A1-D6E7-B39B-F16E-77ACA925C818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 flipV="1">
            <a:off x="2360483" y="2435932"/>
            <a:ext cx="36195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17B83D07-7AE3-4CE3-4496-010D548D2418}"/>
                  </a:ext>
                </a:extLst>
              </p:cNvPr>
              <p:cNvSpPr txBox="1"/>
              <p:nvPr/>
            </p:nvSpPr>
            <p:spPr>
              <a:xfrm>
                <a:off x="2722433" y="2286275"/>
                <a:ext cx="424979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17B83D07-7AE3-4CE3-4496-010D548D2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433" y="2286275"/>
                <a:ext cx="424979" cy="299313"/>
              </a:xfrm>
              <a:prstGeom prst="rect">
                <a:avLst/>
              </a:prstGeom>
              <a:blipFill>
                <a:blip r:embed="rId7"/>
                <a:stretch>
                  <a:fillRect l="-4348" r="-5797" b="-244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Forbindelse: vinklet 27">
            <a:extLst>
              <a:ext uri="{FF2B5EF4-FFF2-40B4-BE49-F238E27FC236}">
                <a16:creationId xmlns:a16="http://schemas.microsoft.com/office/drawing/2014/main" id="{63CC816D-EAD9-573F-A8B4-EA80519FAA6B}"/>
              </a:ext>
            </a:extLst>
          </p:cNvPr>
          <p:cNvCxnSpPr>
            <a:cxnSpLocks/>
            <a:stCxn id="6" idx="3"/>
            <a:endCxn id="22" idx="3"/>
          </p:cNvCxnSpPr>
          <p:nvPr/>
        </p:nvCxnSpPr>
        <p:spPr>
          <a:xfrm flipV="1">
            <a:off x="346220" y="2435932"/>
            <a:ext cx="2801192" cy="725976"/>
          </a:xfrm>
          <a:prstGeom prst="bentConnector3">
            <a:avLst>
              <a:gd name="adj1" fmla="val 12856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ktangel: afrundede hjørner 32">
                <a:extLst>
                  <a:ext uri="{FF2B5EF4-FFF2-40B4-BE49-F238E27FC236}">
                    <a16:creationId xmlns:a16="http://schemas.microsoft.com/office/drawing/2014/main" id="{81796E70-0DC7-8BFE-60CC-C44AED5528A7}"/>
                  </a:ext>
                </a:extLst>
              </p:cNvPr>
              <p:cNvSpPr/>
              <p:nvPr/>
            </p:nvSpPr>
            <p:spPr>
              <a:xfrm>
                <a:off x="3278048" y="1964230"/>
                <a:ext cx="2446478" cy="163538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b="0" dirty="0" err="1">
                    <a:solidFill>
                      <a:schemeClr val="tx1"/>
                    </a:solidFill>
                  </a:rPr>
                  <a:t>FiLM-layer</a:t>
                </a:r>
                <a:br>
                  <a:rPr lang="da-DK" b="0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ktangel: afrundede hjørner 32">
                <a:extLst>
                  <a:ext uri="{FF2B5EF4-FFF2-40B4-BE49-F238E27FC236}">
                    <a16:creationId xmlns:a16="http://schemas.microsoft.com/office/drawing/2014/main" id="{81796E70-0DC7-8BFE-60CC-C44AED5528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48" y="1964230"/>
                <a:ext cx="2446478" cy="1635383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Lige pilforbindelse 33">
            <a:extLst>
              <a:ext uri="{FF2B5EF4-FFF2-40B4-BE49-F238E27FC236}">
                <a16:creationId xmlns:a16="http://schemas.microsoft.com/office/drawing/2014/main" id="{0C745316-23B1-7965-6148-155107BC6D2D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5724526" y="2781922"/>
            <a:ext cx="445374" cy="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kstfelt 35">
                <a:extLst>
                  <a:ext uri="{FF2B5EF4-FFF2-40B4-BE49-F238E27FC236}">
                    <a16:creationId xmlns:a16="http://schemas.microsoft.com/office/drawing/2014/main" id="{AE218938-A2EF-C260-A05A-BE320D80E9BA}"/>
                  </a:ext>
                </a:extLst>
              </p:cNvPr>
              <p:cNvSpPr txBox="1"/>
              <p:nvPr/>
            </p:nvSpPr>
            <p:spPr>
              <a:xfrm>
                <a:off x="6169900" y="2632976"/>
                <a:ext cx="424979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6" name="Tekstfelt 35">
                <a:extLst>
                  <a:ext uri="{FF2B5EF4-FFF2-40B4-BE49-F238E27FC236}">
                    <a16:creationId xmlns:a16="http://schemas.microsoft.com/office/drawing/2014/main" id="{AE218938-A2EF-C260-A05A-BE320D80E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900" y="2632976"/>
                <a:ext cx="424979" cy="299313"/>
              </a:xfrm>
              <a:prstGeom prst="rect">
                <a:avLst/>
              </a:prstGeom>
              <a:blipFill>
                <a:blip r:embed="rId9"/>
                <a:stretch>
                  <a:fillRect l="-4286" t="-8163" r="-40000" b="-244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Lige pilforbindelse 36">
            <a:extLst>
              <a:ext uri="{FF2B5EF4-FFF2-40B4-BE49-F238E27FC236}">
                <a16:creationId xmlns:a16="http://schemas.microsoft.com/office/drawing/2014/main" id="{5E71C99B-A2AA-DF50-8989-6C3CADFE89C6}"/>
              </a:ext>
            </a:extLst>
          </p:cNvPr>
          <p:cNvCxnSpPr>
            <a:cxnSpLocks/>
            <a:stCxn id="36" idx="3"/>
            <a:endCxn id="10" idx="2"/>
          </p:cNvCxnSpPr>
          <p:nvPr/>
        </p:nvCxnSpPr>
        <p:spPr>
          <a:xfrm flipV="1">
            <a:off x="6594879" y="2781921"/>
            <a:ext cx="195952" cy="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DFF77765-D128-F713-20BB-2C441FEAC499}"/>
                  </a:ext>
                </a:extLst>
              </p:cNvPr>
              <p:cNvSpPr txBox="1"/>
              <p:nvPr/>
            </p:nvSpPr>
            <p:spPr>
              <a:xfrm>
                <a:off x="7298704" y="3723242"/>
                <a:ext cx="42497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DFF77765-D128-F713-20BB-2C441FEAC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704" y="3723242"/>
                <a:ext cx="424979" cy="276999"/>
              </a:xfrm>
              <a:prstGeom prst="rect">
                <a:avLst/>
              </a:prstGeom>
              <a:blipFill>
                <a:blip r:embed="rId10"/>
                <a:stretch>
                  <a:fillRect t="-11111" r="-40000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ktangel: afrundede hjørner 49">
                <a:extLst>
                  <a:ext uri="{FF2B5EF4-FFF2-40B4-BE49-F238E27FC236}">
                    <a16:creationId xmlns:a16="http://schemas.microsoft.com/office/drawing/2014/main" id="{56A8671E-0222-C823-76AB-76A0633EDE02}"/>
                  </a:ext>
                </a:extLst>
              </p:cNvPr>
              <p:cNvSpPr/>
              <p:nvPr/>
            </p:nvSpPr>
            <p:spPr>
              <a:xfrm>
                <a:off x="5862211" y="4205713"/>
                <a:ext cx="2138596" cy="689262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ktangel: afrundede hjørner 49">
                <a:extLst>
                  <a:ext uri="{FF2B5EF4-FFF2-40B4-BE49-F238E27FC236}">
                    <a16:creationId xmlns:a16="http://schemas.microsoft.com/office/drawing/2014/main" id="{56A8671E-0222-C823-76AB-76A0633EDE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211" y="4205713"/>
                <a:ext cx="2138596" cy="689262"/>
              </a:xfrm>
              <a:prstGeom prst="roundRect">
                <a:avLst/>
              </a:prstGeom>
              <a:blipFill>
                <a:blip r:embed="rId11"/>
                <a:stretch>
                  <a:fillRect r="-311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Lige pilforbindelse 53">
            <a:extLst>
              <a:ext uri="{FF2B5EF4-FFF2-40B4-BE49-F238E27FC236}">
                <a16:creationId xmlns:a16="http://schemas.microsoft.com/office/drawing/2014/main" id="{59CAEEDB-ED97-8D31-259B-D91233223D61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7511194" y="3444702"/>
            <a:ext cx="0" cy="3083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ge pilforbindelse 56">
            <a:extLst>
              <a:ext uri="{FF2B5EF4-FFF2-40B4-BE49-F238E27FC236}">
                <a16:creationId xmlns:a16="http://schemas.microsoft.com/office/drawing/2014/main" id="{46FC7B75-8153-8A2D-72E7-ED258F740451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7511194" y="4000241"/>
            <a:ext cx="0" cy="2142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Lige pilforbindelse 61">
            <a:extLst>
              <a:ext uri="{FF2B5EF4-FFF2-40B4-BE49-F238E27FC236}">
                <a16:creationId xmlns:a16="http://schemas.microsoft.com/office/drawing/2014/main" id="{039C9CA8-D01F-9423-60EF-6456A2AEBEA5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90663" y="4679842"/>
            <a:ext cx="5547303" cy="2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Lige pilforbindelse 65">
            <a:extLst>
              <a:ext uri="{FF2B5EF4-FFF2-40B4-BE49-F238E27FC236}">
                <a16:creationId xmlns:a16="http://schemas.microsoft.com/office/drawing/2014/main" id="{C90E4834-3932-DAF8-AA50-26E5FE0AA133}"/>
              </a:ext>
            </a:extLst>
          </p:cNvPr>
          <p:cNvCxnSpPr>
            <a:cxnSpLocks/>
            <a:stCxn id="50" idx="3"/>
            <a:endCxn id="67" idx="1"/>
          </p:cNvCxnSpPr>
          <p:nvPr/>
        </p:nvCxnSpPr>
        <p:spPr>
          <a:xfrm>
            <a:off x="8000807" y="4550344"/>
            <a:ext cx="257532" cy="28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kstfelt 66">
                <a:extLst>
                  <a:ext uri="{FF2B5EF4-FFF2-40B4-BE49-F238E27FC236}">
                    <a16:creationId xmlns:a16="http://schemas.microsoft.com/office/drawing/2014/main" id="{6FA1CD90-0E48-1A1B-5727-B19CAE6DEE5F}"/>
                  </a:ext>
                </a:extLst>
              </p:cNvPr>
              <p:cNvSpPr txBox="1"/>
              <p:nvPr/>
            </p:nvSpPr>
            <p:spPr>
              <a:xfrm>
                <a:off x="8258339" y="4403938"/>
                <a:ext cx="463168" cy="2985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a-DK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7" name="Tekstfelt 66">
                <a:extLst>
                  <a:ext uri="{FF2B5EF4-FFF2-40B4-BE49-F238E27FC236}">
                    <a16:creationId xmlns:a16="http://schemas.microsoft.com/office/drawing/2014/main" id="{6FA1CD90-0E48-1A1B-5727-B19CAE6DE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339" y="4403938"/>
                <a:ext cx="463168" cy="298543"/>
              </a:xfrm>
              <a:prstGeom prst="rect">
                <a:avLst/>
              </a:prstGeom>
              <a:blipFill>
                <a:blip r:embed="rId12"/>
                <a:stretch>
                  <a:fillRect l="-15789" r="-52632" b="-1632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Forbindelse: vinklet 70">
            <a:extLst>
              <a:ext uri="{FF2B5EF4-FFF2-40B4-BE49-F238E27FC236}">
                <a16:creationId xmlns:a16="http://schemas.microsoft.com/office/drawing/2014/main" id="{0BF307FA-DC97-3674-3D6E-77C95992CDEF}"/>
              </a:ext>
            </a:extLst>
          </p:cNvPr>
          <p:cNvCxnSpPr>
            <a:cxnSpLocks/>
            <a:endCxn id="77" idx="1"/>
          </p:cNvCxnSpPr>
          <p:nvPr/>
        </p:nvCxnSpPr>
        <p:spPr>
          <a:xfrm>
            <a:off x="3041206" y="4679842"/>
            <a:ext cx="8658494" cy="1017408"/>
          </a:xfrm>
          <a:prstGeom prst="bentConnector3">
            <a:avLst>
              <a:gd name="adj1" fmla="val -2876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kstfelt 75">
                <a:extLst>
                  <a:ext uri="{FF2B5EF4-FFF2-40B4-BE49-F238E27FC236}">
                    <a16:creationId xmlns:a16="http://schemas.microsoft.com/office/drawing/2014/main" id="{D551D7FF-BEDC-AA59-215A-17B071EF0A3D}"/>
                  </a:ext>
                </a:extLst>
              </p:cNvPr>
              <p:cNvSpPr txBox="1"/>
              <p:nvPr/>
            </p:nvSpPr>
            <p:spPr>
              <a:xfrm>
                <a:off x="11699700" y="5024473"/>
                <a:ext cx="2985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6" name="Tekstfelt 75">
                <a:extLst>
                  <a:ext uri="{FF2B5EF4-FFF2-40B4-BE49-F238E27FC236}">
                    <a16:creationId xmlns:a16="http://schemas.microsoft.com/office/drawing/2014/main" id="{D551D7FF-BEDC-AA59-215A-17B071EF0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9700" y="5024473"/>
                <a:ext cx="298595" cy="369332"/>
              </a:xfrm>
              <a:prstGeom prst="rect">
                <a:avLst/>
              </a:prstGeom>
              <a:blipFill>
                <a:blip r:embed="rId13"/>
                <a:stretch>
                  <a:fillRect r="-4082"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kstfelt 76">
                <a:extLst>
                  <a:ext uri="{FF2B5EF4-FFF2-40B4-BE49-F238E27FC236}">
                    <a16:creationId xmlns:a16="http://schemas.microsoft.com/office/drawing/2014/main" id="{CFACC949-E1E1-A086-5CB9-78A4961DF3BB}"/>
                  </a:ext>
                </a:extLst>
              </p:cNvPr>
              <p:cNvSpPr txBox="1"/>
              <p:nvPr/>
            </p:nvSpPr>
            <p:spPr>
              <a:xfrm>
                <a:off x="11699700" y="5512584"/>
                <a:ext cx="2985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7" name="Tekstfelt 76">
                <a:extLst>
                  <a:ext uri="{FF2B5EF4-FFF2-40B4-BE49-F238E27FC236}">
                    <a16:creationId xmlns:a16="http://schemas.microsoft.com/office/drawing/2014/main" id="{CFACC949-E1E1-A086-5CB9-78A4961DF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9700" y="5512584"/>
                <a:ext cx="298595" cy="369332"/>
              </a:xfrm>
              <a:prstGeom prst="rect">
                <a:avLst/>
              </a:prstGeom>
              <a:blipFill>
                <a:blip r:embed="rId14"/>
                <a:stretch>
                  <a:fillRect r="-183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Forbindelse: vinklet 98">
            <a:extLst>
              <a:ext uri="{FF2B5EF4-FFF2-40B4-BE49-F238E27FC236}">
                <a16:creationId xmlns:a16="http://schemas.microsoft.com/office/drawing/2014/main" id="{50B1E453-0DE1-45E8-D19D-0C9D83D96A22}"/>
              </a:ext>
            </a:extLst>
          </p:cNvPr>
          <p:cNvCxnSpPr>
            <a:cxnSpLocks/>
          </p:cNvCxnSpPr>
          <p:nvPr/>
        </p:nvCxnSpPr>
        <p:spPr>
          <a:xfrm>
            <a:off x="554222" y="2451699"/>
            <a:ext cx="5292606" cy="1942915"/>
          </a:xfrm>
          <a:prstGeom prst="bentConnector3">
            <a:avLst>
              <a:gd name="adj1" fmla="val -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Rektangel: afrundede hjørner 112">
                <a:extLst>
                  <a:ext uri="{FF2B5EF4-FFF2-40B4-BE49-F238E27FC236}">
                    <a16:creationId xmlns:a16="http://schemas.microsoft.com/office/drawing/2014/main" id="{0956A0A1-161A-2DAA-5D55-CC0FEBEABF10}"/>
                  </a:ext>
                </a:extLst>
              </p:cNvPr>
              <p:cNvSpPr/>
              <p:nvPr/>
            </p:nvSpPr>
            <p:spPr>
              <a:xfrm>
                <a:off x="8933182" y="4205713"/>
                <a:ext cx="2583063" cy="689262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b="0" dirty="0">
                    <a:solidFill>
                      <a:schemeClr val="tx1"/>
                    </a:solidFill>
                  </a:rPr>
                  <a:t>LayerNorm</a:t>
                </a: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da-DK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  <m:sup>
                        <m: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da-DK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da-DK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  <m:sup>
                        <m: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3" name="Rektangel: afrundede hjørner 112">
                <a:extLst>
                  <a:ext uri="{FF2B5EF4-FFF2-40B4-BE49-F238E27FC236}">
                    <a16:creationId xmlns:a16="http://schemas.microsoft.com/office/drawing/2014/main" id="{0956A0A1-161A-2DAA-5D55-CC0FEBEABF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182" y="4205713"/>
                <a:ext cx="2583063" cy="689262"/>
              </a:xfrm>
              <a:prstGeom prst="roundRect">
                <a:avLst/>
              </a:prstGeom>
              <a:blipFill>
                <a:blip r:embed="rId15"/>
                <a:stretch>
                  <a:fillRect r="-374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Lige pilforbindelse 125">
            <a:extLst>
              <a:ext uri="{FF2B5EF4-FFF2-40B4-BE49-F238E27FC236}">
                <a16:creationId xmlns:a16="http://schemas.microsoft.com/office/drawing/2014/main" id="{3AC5F9A8-71DF-1AF8-327F-779BC8980851}"/>
              </a:ext>
            </a:extLst>
          </p:cNvPr>
          <p:cNvCxnSpPr>
            <a:cxnSpLocks/>
            <a:stCxn id="67" idx="3"/>
            <a:endCxn id="113" idx="1"/>
          </p:cNvCxnSpPr>
          <p:nvPr/>
        </p:nvCxnSpPr>
        <p:spPr>
          <a:xfrm flipV="1">
            <a:off x="8721507" y="4550344"/>
            <a:ext cx="211675" cy="28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kstfelt 137">
                <a:extLst>
                  <a:ext uri="{FF2B5EF4-FFF2-40B4-BE49-F238E27FC236}">
                    <a16:creationId xmlns:a16="http://schemas.microsoft.com/office/drawing/2014/main" id="{7409C5EA-14DE-6182-7EDC-ACD42B5F2761}"/>
                  </a:ext>
                </a:extLst>
              </p:cNvPr>
              <p:cNvSpPr txBox="1"/>
              <p:nvPr/>
            </p:nvSpPr>
            <p:spPr>
              <a:xfrm>
                <a:off x="11789752" y="4381875"/>
                <a:ext cx="208543" cy="297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38" name="Tekstfelt 137">
                <a:extLst>
                  <a:ext uri="{FF2B5EF4-FFF2-40B4-BE49-F238E27FC236}">
                    <a16:creationId xmlns:a16="http://schemas.microsoft.com/office/drawing/2014/main" id="{7409C5EA-14DE-6182-7EDC-ACD42B5F2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9752" y="4381875"/>
                <a:ext cx="208543" cy="297967"/>
              </a:xfrm>
              <a:prstGeom prst="rect">
                <a:avLst/>
              </a:prstGeom>
              <a:blipFill>
                <a:blip r:embed="rId16"/>
                <a:stretch>
                  <a:fillRect l="-29412" t="-4082" r="-67647" b="-122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Lige pilforbindelse 138">
            <a:extLst>
              <a:ext uri="{FF2B5EF4-FFF2-40B4-BE49-F238E27FC236}">
                <a16:creationId xmlns:a16="http://schemas.microsoft.com/office/drawing/2014/main" id="{96FF509F-DE92-494E-93BC-ECCFD00508A7}"/>
              </a:ext>
            </a:extLst>
          </p:cNvPr>
          <p:cNvCxnSpPr>
            <a:cxnSpLocks/>
          </p:cNvCxnSpPr>
          <p:nvPr/>
        </p:nvCxnSpPr>
        <p:spPr>
          <a:xfrm flipV="1">
            <a:off x="11516245" y="4550344"/>
            <a:ext cx="211675" cy="28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Forbindelse: vinklet 141">
            <a:extLst>
              <a:ext uri="{FF2B5EF4-FFF2-40B4-BE49-F238E27FC236}">
                <a16:creationId xmlns:a16="http://schemas.microsoft.com/office/drawing/2014/main" id="{9CD6CF1D-C974-1A12-78D7-37D2F9DBBA54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838200" y="3161908"/>
            <a:ext cx="10861500" cy="2047231"/>
          </a:xfrm>
          <a:prstGeom prst="bentConnector3">
            <a:avLst>
              <a:gd name="adj1" fmla="val 21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788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740FF-E251-C000-10B3-30E32FE9A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CCE05A5C-5269-7764-7525-D2CA126F4380}"/>
              </a:ext>
            </a:extLst>
          </p:cNvPr>
          <p:cNvSpPr/>
          <p:nvPr/>
        </p:nvSpPr>
        <p:spPr>
          <a:xfrm>
            <a:off x="47625" y="1495425"/>
            <a:ext cx="11562023" cy="503397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9879C2-337A-41AF-BC12-C5C3FC10A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Interaction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F3DCE375-42C1-49BD-C45D-3F8BC24B1A31}"/>
                  </a:ext>
                </a:extLst>
              </p:cNvPr>
              <p:cNvSpPr txBox="1"/>
              <p:nvPr/>
            </p:nvSpPr>
            <p:spPr>
              <a:xfrm>
                <a:off x="114642" y="2258773"/>
                <a:ext cx="208543" cy="2985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F3DCE375-42C1-49BD-C45D-3F8BC24B1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42" y="2258773"/>
                <a:ext cx="208543" cy="298543"/>
              </a:xfrm>
              <a:prstGeom prst="rect">
                <a:avLst/>
              </a:prstGeom>
              <a:blipFill>
                <a:blip r:embed="rId2"/>
                <a:stretch>
                  <a:fillRect l="-29412" t="-2041" r="-70588" b="-1428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114A3B00-9A1F-966F-198E-C65B4630F282}"/>
                  </a:ext>
                </a:extLst>
              </p:cNvPr>
              <p:cNvSpPr txBox="1"/>
              <p:nvPr/>
            </p:nvSpPr>
            <p:spPr>
              <a:xfrm>
                <a:off x="147162" y="4543597"/>
                <a:ext cx="1435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114A3B00-9A1F-966F-198E-C65B4630F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62" y="4543597"/>
                <a:ext cx="143501" cy="276999"/>
              </a:xfrm>
              <a:prstGeom prst="rect">
                <a:avLst/>
              </a:prstGeom>
              <a:blipFill>
                <a:blip r:embed="rId3"/>
                <a:stretch>
                  <a:fillRect l="-33333" t="-10870" r="-108333" b="-43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3EE7F6B0-1025-D21A-7F92-38072A33C878}"/>
                  </a:ext>
                </a:extLst>
              </p:cNvPr>
              <p:cNvSpPr txBox="1"/>
              <p:nvPr/>
            </p:nvSpPr>
            <p:spPr>
              <a:xfrm>
                <a:off x="47625" y="2977242"/>
                <a:ext cx="2985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3EE7F6B0-1025-D21A-7F92-38072A33C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" y="2977242"/>
                <a:ext cx="298595" cy="369332"/>
              </a:xfrm>
              <a:prstGeom prst="rect">
                <a:avLst/>
              </a:prstGeom>
              <a:blipFill>
                <a:blip r:embed="rId4"/>
                <a:stretch>
                  <a:fillRect r="-2041"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58718168-2E7D-342B-FFCC-42B7A1F08339}"/>
              </a:ext>
            </a:extLst>
          </p:cNvPr>
          <p:cNvCxnSpPr>
            <a:cxnSpLocks/>
          </p:cNvCxnSpPr>
          <p:nvPr/>
        </p:nvCxnSpPr>
        <p:spPr>
          <a:xfrm>
            <a:off x="388396" y="2435932"/>
            <a:ext cx="536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611C0B17-7F22-E133-3DB1-FDC167F79CF1}"/>
                  </a:ext>
                </a:extLst>
              </p:cNvPr>
              <p:cNvSpPr/>
              <p:nvPr/>
            </p:nvSpPr>
            <p:spPr>
              <a:xfrm>
                <a:off x="6790831" y="2119139"/>
                <a:ext cx="1440726" cy="132556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611C0B17-7F22-E133-3DB1-FDC167F79C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831" y="2119139"/>
                <a:ext cx="1440726" cy="132556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303F68EE-CC15-89EC-614A-7FA8D6E48C47}"/>
                  </a:ext>
                </a:extLst>
              </p:cNvPr>
              <p:cNvSpPr/>
              <p:nvPr/>
            </p:nvSpPr>
            <p:spPr>
              <a:xfrm>
                <a:off x="924606" y="2157291"/>
                <a:ext cx="1435877" cy="55728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d>
                        <m:dPr>
                          <m:endChr m:val="|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303F68EE-CC15-89EC-614A-7FA8D6E48C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06" y="2157291"/>
                <a:ext cx="1435877" cy="557283"/>
              </a:xfrm>
              <a:prstGeom prst="roundRect">
                <a:avLst/>
              </a:prstGeom>
              <a:blipFill>
                <a:blip r:embed="rId6"/>
                <a:stretch>
                  <a:fillRect r="-1302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8258CEC9-CB76-623D-C3AF-F84C2C887DCA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 flipV="1">
            <a:off x="2360483" y="2435932"/>
            <a:ext cx="36195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11D7261C-6332-EA00-13F5-60B82DF32377}"/>
                  </a:ext>
                </a:extLst>
              </p:cNvPr>
              <p:cNvSpPr txBox="1"/>
              <p:nvPr/>
            </p:nvSpPr>
            <p:spPr>
              <a:xfrm>
                <a:off x="2722433" y="2286275"/>
                <a:ext cx="424979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11D7261C-6332-EA00-13F5-60B82DF32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433" y="2286275"/>
                <a:ext cx="424979" cy="299313"/>
              </a:xfrm>
              <a:prstGeom prst="rect">
                <a:avLst/>
              </a:prstGeom>
              <a:blipFill>
                <a:blip r:embed="rId7"/>
                <a:stretch>
                  <a:fillRect l="-4348" r="-5797" b="-244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Forbindelse: vinklet 27">
            <a:extLst>
              <a:ext uri="{FF2B5EF4-FFF2-40B4-BE49-F238E27FC236}">
                <a16:creationId xmlns:a16="http://schemas.microsoft.com/office/drawing/2014/main" id="{C21F67CA-5E1C-6D2C-57EA-53E5D70ABA2B}"/>
              </a:ext>
            </a:extLst>
          </p:cNvPr>
          <p:cNvCxnSpPr>
            <a:cxnSpLocks/>
            <a:stCxn id="6" idx="3"/>
            <a:endCxn id="22" idx="3"/>
          </p:cNvCxnSpPr>
          <p:nvPr/>
        </p:nvCxnSpPr>
        <p:spPr>
          <a:xfrm flipV="1">
            <a:off x="346220" y="2435932"/>
            <a:ext cx="2801192" cy="725976"/>
          </a:xfrm>
          <a:prstGeom prst="bentConnector3">
            <a:avLst>
              <a:gd name="adj1" fmla="val 12856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ktangel: afrundede hjørner 32">
                <a:extLst>
                  <a:ext uri="{FF2B5EF4-FFF2-40B4-BE49-F238E27FC236}">
                    <a16:creationId xmlns:a16="http://schemas.microsoft.com/office/drawing/2014/main" id="{168EACBE-942A-567F-91C9-F4A4217F0F1B}"/>
                  </a:ext>
                </a:extLst>
              </p:cNvPr>
              <p:cNvSpPr/>
              <p:nvPr/>
            </p:nvSpPr>
            <p:spPr>
              <a:xfrm>
                <a:off x="3278048" y="1964230"/>
                <a:ext cx="2446478" cy="163538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b="0" dirty="0" err="1">
                    <a:solidFill>
                      <a:schemeClr val="tx1"/>
                    </a:solidFill>
                  </a:rPr>
                  <a:t>FiLM-layer</a:t>
                </a:r>
                <a:br>
                  <a:rPr lang="da-DK" b="0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ktangel: afrundede hjørner 32">
                <a:extLst>
                  <a:ext uri="{FF2B5EF4-FFF2-40B4-BE49-F238E27FC236}">
                    <a16:creationId xmlns:a16="http://schemas.microsoft.com/office/drawing/2014/main" id="{168EACBE-942A-567F-91C9-F4A4217F0F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48" y="1964230"/>
                <a:ext cx="2446478" cy="1635383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Lige pilforbindelse 33">
            <a:extLst>
              <a:ext uri="{FF2B5EF4-FFF2-40B4-BE49-F238E27FC236}">
                <a16:creationId xmlns:a16="http://schemas.microsoft.com/office/drawing/2014/main" id="{B92371D8-23CA-FEE5-9105-73A3F860A9E7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5724526" y="2781922"/>
            <a:ext cx="445374" cy="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kstfelt 35">
                <a:extLst>
                  <a:ext uri="{FF2B5EF4-FFF2-40B4-BE49-F238E27FC236}">
                    <a16:creationId xmlns:a16="http://schemas.microsoft.com/office/drawing/2014/main" id="{D71DA391-5A54-7380-B3E0-720C793F8594}"/>
                  </a:ext>
                </a:extLst>
              </p:cNvPr>
              <p:cNvSpPr txBox="1"/>
              <p:nvPr/>
            </p:nvSpPr>
            <p:spPr>
              <a:xfrm>
                <a:off x="6169900" y="2632976"/>
                <a:ext cx="424979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6" name="Tekstfelt 35">
                <a:extLst>
                  <a:ext uri="{FF2B5EF4-FFF2-40B4-BE49-F238E27FC236}">
                    <a16:creationId xmlns:a16="http://schemas.microsoft.com/office/drawing/2014/main" id="{D71DA391-5A54-7380-B3E0-720C793F8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900" y="2632976"/>
                <a:ext cx="424979" cy="299313"/>
              </a:xfrm>
              <a:prstGeom prst="rect">
                <a:avLst/>
              </a:prstGeom>
              <a:blipFill>
                <a:blip r:embed="rId9"/>
                <a:stretch>
                  <a:fillRect l="-4286" t="-8163" r="-40000" b="-244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Lige pilforbindelse 36">
            <a:extLst>
              <a:ext uri="{FF2B5EF4-FFF2-40B4-BE49-F238E27FC236}">
                <a16:creationId xmlns:a16="http://schemas.microsoft.com/office/drawing/2014/main" id="{A0E3C5CC-75EC-68B2-0599-DAE148D4341F}"/>
              </a:ext>
            </a:extLst>
          </p:cNvPr>
          <p:cNvCxnSpPr>
            <a:cxnSpLocks/>
            <a:stCxn id="36" idx="3"/>
            <a:endCxn id="10" idx="2"/>
          </p:cNvCxnSpPr>
          <p:nvPr/>
        </p:nvCxnSpPr>
        <p:spPr>
          <a:xfrm flipV="1">
            <a:off x="6594879" y="2781921"/>
            <a:ext cx="195952" cy="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CBB3A605-7633-889F-1001-75B6AB325706}"/>
                  </a:ext>
                </a:extLst>
              </p:cNvPr>
              <p:cNvSpPr txBox="1"/>
              <p:nvPr/>
            </p:nvSpPr>
            <p:spPr>
              <a:xfrm>
                <a:off x="7298704" y="3723242"/>
                <a:ext cx="42497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CBB3A605-7633-889F-1001-75B6AB325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704" y="3723242"/>
                <a:ext cx="424979" cy="276999"/>
              </a:xfrm>
              <a:prstGeom prst="rect">
                <a:avLst/>
              </a:prstGeom>
              <a:blipFill>
                <a:blip r:embed="rId10"/>
                <a:stretch>
                  <a:fillRect t="-11111" r="-40000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ktangel: afrundede hjørner 49">
                <a:extLst>
                  <a:ext uri="{FF2B5EF4-FFF2-40B4-BE49-F238E27FC236}">
                    <a16:creationId xmlns:a16="http://schemas.microsoft.com/office/drawing/2014/main" id="{D17C39AD-9D7D-9F09-BC80-8AE051FE5CAF}"/>
                  </a:ext>
                </a:extLst>
              </p:cNvPr>
              <p:cNvSpPr/>
              <p:nvPr/>
            </p:nvSpPr>
            <p:spPr>
              <a:xfrm>
                <a:off x="5862211" y="4205713"/>
                <a:ext cx="2138596" cy="689262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ktangel: afrundede hjørner 49">
                <a:extLst>
                  <a:ext uri="{FF2B5EF4-FFF2-40B4-BE49-F238E27FC236}">
                    <a16:creationId xmlns:a16="http://schemas.microsoft.com/office/drawing/2014/main" id="{D17C39AD-9D7D-9F09-BC80-8AE051FE5C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211" y="4205713"/>
                <a:ext cx="2138596" cy="689262"/>
              </a:xfrm>
              <a:prstGeom prst="roundRect">
                <a:avLst/>
              </a:prstGeom>
              <a:blipFill>
                <a:blip r:embed="rId11"/>
                <a:stretch>
                  <a:fillRect r="-311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Lige pilforbindelse 53">
            <a:extLst>
              <a:ext uri="{FF2B5EF4-FFF2-40B4-BE49-F238E27FC236}">
                <a16:creationId xmlns:a16="http://schemas.microsoft.com/office/drawing/2014/main" id="{C4ED6312-A46E-7D5D-B5BD-7C2047B2EE0A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7511194" y="3444702"/>
            <a:ext cx="0" cy="3083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ge pilforbindelse 56">
            <a:extLst>
              <a:ext uri="{FF2B5EF4-FFF2-40B4-BE49-F238E27FC236}">
                <a16:creationId xmlns:a16="http://schemas.microsoft.com/office/drawing/2014/main" id="{BF7E1560-9428-2B67-A89C-FDDA65282639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7511194" y="4000241"/>
            <a:ext cx="0" cy="2142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Lige pilforbindelse 61">
            <a:extLst>
              <a:ext uri="{FF2B5EF4-FFF2-40B4-BE49-F238E27FC236}">
                <a16:creationId xmlns:a16="http://schemas.microsoft.com/office/drawing/2014/main" id="{03760E3D-7610-4638-D490-E0EE8BF7379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90663" y="4679842"/>
            <a:ext cx="5547303" cy="2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Lige pilforbindelse 65">
            <a:extLst>
              <a:ext uri="{FF2B5EF4-FFF2-40B4-BE49-F238E27FC236}">
                <a16:creationId xmlns:a16="http://schemas.microsoft.com/office/drawing/2014/main" id="{2636676D-F182-24AE-00EF-4AD3114E48A9}"/>
              </a:ext>
            </a:extLst>
          </p:cNvPr>
          <p:cNvCxnSpPr>
            <a:cxnSpLocks/>
            <a:stCxn id="50" idx="3"/>
            <a:endCxn id="67" idx="1"/>
          </p:cNvCxnSpPr>
          <p:nvPr/>
        </p:nvCxnSpPr>
        <p:spPr>
          <a:xfrm>
            <a:off x="8000807" y="4550344"/>
            <a:ext cx="257532" cy="28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kstfelt 66">
                <a:extLst>
                  <a:ext uri="{FF2B5EF4-FFF2-40B4-BE49-F238E27FC236}">
                    <a16:creationId xmlns:a16="http://schemas.microsoft.com/office/drawing/2014/main" id="{4CECBAF4-7156-C127-B090-A45651E10BCF}"/>
                  </a:ext>
                </a:extLst>
              </p:cNvPr>
              <p:cNvSpPr txBox="1"/>
              <p:nvPr/>
            </p:nvSpPr>
            <p:spPr>
              <a:xfrm>
                <a:off x="8258339" y="4403938"/>
                <a:ext cx="463168" cy="2985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a-DK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7" name="Tekstfelt 66">
                <a:extLst>
                  <a:ext uri="{FF2B5EF4-FFF2-40B4-BE49-F238E27FC236}">
                    <a16:creationId xmlns:a16="http://schemas.microsoft.com/office/drawing/2014/main" id="{4CECBAF4-7156-C127-B090-A45651E10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339" y="4403938"/>
                <a:ext cx="463168" cy="298543"/>
              </a:xfrm>
              <a:prstGeom prst="rect">
                <a:avLst/>
              </a:prstGeom>
              <a:blipFill>
                <a:blip r:embed="rId12"/>
                <a:stretch>
                  <a:fillRect l="-15789" r="-52632" b="-1632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Forbindelse: vinklet 70">
            <a:extLst>
              <a:ext uri="{FF2B5EF4-FFF2-40B4-BE49-F238E27FC236}">
                <a16:creationId xmlns:a16="http://schemas.microsoft.com/office/drawing/2014/main" id="{C1C5CC01-25A1-DED7-5B2A-3D81CEFB5A42}"/>
              </a:ext>
            </a:extLst>
          </p:cNvPr>
          <p:cNvCxnSpPr>
            <a:cxnSpLocks/>
            <a:endCxn id="77" idx="1"/>
          </p:cNvCxnSpPr>
          <p:nvPr/>
        </p:nvCxnSpPr>
        <p:spPr>
          <a:xfrm>
            <a:off x="838200" y="4679842"/>
            <a:ext cx="10951552" cy="1024298"/>
          </a:xfrm>
          <a:prstGeom prst="bentConnector3">
            <a:avLst>
              <a:gd name="adj1" fmla="val -270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kstfelt 75">
                <a:extLst>
                  <a:ext uri="{FF2B5EF4-FFF2-40B4-BE49-F238E27FC236}">
                    <a16:creationId xmlns:a16="http://schemas.microsoft.com/office/drawing/2014/main" id="{5F765E26-D8F9-B0A8-8394-3884A48B0D44}"/>
                  </a:ext>
                </a:extLst>
              </p:cNvPr>
              <p:cNvSpPr txBox="1"/>
              <p:nvPr/>
            </p:nvSpPr>
            <p:spPr>
              <a:xfrm>
                <a:off x="11789752" y="5024473"/>
                <a:ext cx="2985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6" name="Tekstfelt 75">
                <a:extLst>
                  <a:ext uri="{FF2B5EF4-FFF2-40B4-BE49-F238E27FC236}">
                    <a16:creationId xmlns:a16="http://schemas.microsoft.com/office/drawing/2014/main" id="{5F765E26-D8F9-B0A8-8394-3884A48B0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9752" y="5024473"/>
                <a:ext cx="298595" cy="369332"/>
              </a:xfrm>
              <a:prstGeom prst="rect">
                <a:avLst/>
              </a:prstGeom>
              <a:blipFill>
                <a:blip r:embed="rId13"/>
                <a:stretch>
                  <a:fillRect r="-4082"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kstfelt 76">
                <a:extLst>
                  <a:ext uri="{FF2B5EF4-FFF2-40B4-BE49-F238E27FC236}">
                    <a16:creationId xmlns:a16="http://schemas.microsoft.com/office/drawing/2014/main" id="{70DAD876-7E6A-6B79-2B10-8B55B9240C8F}"/>
                  </a:ext>
                </a:extLst>
              </p:cNvPr>
              <p:cNvSpPr txBox="1"/>
              <p:nvPr/>
            </p:nvSpPr>
            <p:spPr>
              <a:xfrm>
                <a:off x="11789752" y="5519474"/>
                <a:ext cx="2985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7" name="Tekstfelt 76">
                <a:extLst>
                  <a:ext uri="{FF2B5EF4-FFF2-40B4-BE49-F238E27FC236}">
                    <a16:creationId xmlns:a16="http://schemas.microsoft.com/office/drawing/2014/main" id="{70DAD876-7E6A-6B79-2B10-8B55B9240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9752" y="5519474"/>
                <a:ext cx="298595" cy="369332"/>
              </a:xfrm>
              <a:prstGeom prst="rect">
                <a:avLst/>
              </a:prstGeom>
              <a:blipFill>
                <a:blip r:embed="rId14"/>
                <a:stretch>
                  <a:fillRect r="-183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Forbindelse: vinklet 98">
            <a:extLst>
              <a:ext uri="{FF2B5EF4-FFF2-40B4-BE49-F238E27FC236}">
                <a16:creationId xmlns:a16="http://schemas.microsoft.com/office/drawing/2014/main" id="{4F7EF3EA-6C35-90CC-D667-F740844C75F4}"/>
              </a:ext>
            </a:extLst>
          </p:cNvPr>
          <p:cNvCxnSpPr>
            <a:cxnSpLocks/>
          </p:cNvCxnSpPr>
          <p:nvPr/>
        </p:nvCxnSpPr>
        <p:spPr>
          <a:xfrm>
            <a:off x="554222" y="2451699"/>
            <a:ext cx="5292606" cy="1942915"/>
          </a:xfrm>
          <a:prstGeom prst="bentConnector3">
            <a:avLst>
              <a:gd name="adj1" fmla="val -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Rektangel: afrundede hjørner 112">
                <a:extLst>
                  <a:ext uri="{FF2B5EF4-FFF2-40B4-BE49-F238E27FC236}">
                    <a16:creationId xmlns:a16="http://schemas.microsoft.com/office/drawing/2014/main" id="{274C21CC-8F68-2E2E-594C-49F561586DC9}"/>
                  </a:ext>
                </a:extLst>
              </p:cNvPr>
              <p:cNvSpPr/>
              <p:nvPr/>
            </p:nvSpPr>
            <p:spPr>
              <a:xfrm>
                <a:off x="8933182" y="4205713"/>
                <a:ext cx="2583063" cy="689262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b="0" dirty="0">
                    <a:solidFill>
                      <a:schemeClr val="tx1"/>
                    </a:solidFill>
                  </a:rPr>
                  <a:t>LayerNorm</a:t>
                </a: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da-DK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  <m:sup>
                        <m: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da-DK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da-DK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  <m:sup>
                        <m: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3" name="Rektangel: afrundede hjørner 112">
                <a:extLst>
                  <a:ext uri="{FF2B5EF4-FFF2-40B4-BE49-F238E27FC236}">
                    <a16:creationId xmlns:a16="http://schemas.microsoft.com/office/drawing/2014/main" id="{274C21CC-8F68-2E2E-594C-49F561586D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182" y="4205713"/>
                <a:ext cx="2583063" cy="689262"/>
              </a:xfrm>
              <a:prstGeom prst="roundRect">
                <a:avLst/>
              </a:prstGeom>
              <a:blipFill>
                <a:blip r:embed="rId15"/>
                <a:stretch>
                  <a:fillRect r="-374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Lige pilforbindelse 125">
            <a:extLst>
              <a:ext uri="{FF2B5EF4-FFF2-40B4-BE49-F238E27FC236}">
                <a16:creationId xmlns:a16="http://schemas.microsoft.com/office/drawing/2014/main" id="{7F507FCA-3AE4-384D-B97D-0D3A39532CDB}"/>
              </a:ext>
            </a:extLst>
          </p:cNvPr>
          <p:cNvCxnSpPr>
            <a:cxnSpLocks/>
            <a:stCxn id="67" idx="3"/>
            <a:endCxn id="113" idx="1"/>
          </p:cNvCxnSpPr>
          <p:nvPr/>
        </p:nvCxnSpPr>
        <p:spPr>
          <a:xfrm flipV="1">
            <a:off x="8721507" y="4550344"/>
            <a:ext cx="211675" cy="28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kstfelt 137">
                <a:extLst>
                  <a:ext uri="{FF2B5EF4-FFF2-40B4-BE49-F238E27FC236}">
                    <a16:creationId xmlns:a16="http://schemas.microsoft.com/office/drawing/2014/main" id="{40316F16-C886-F4B6-2A75-44F6B10DA030}"/>
                  </a:ext>
                </a:extLst>
              </p:cNvPr>
              <p:cNvSpPr txBox="1"/>
              <p:nvPr/>
            </p:nvSpPr>
            <p:spPr>
              <a:xfrm>
                <a:off x="11787091" y="4404514"/>
                <a:ext cx="357284" cy="297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38" name="Tekstfelt 137">
                <a:extLst>
                  <a:ext uri="{FF2B5EF4-FFF2-40B4-BE49-F238E27FC236}">
                    <a16:creationId xmlns:a16="http://schemas.microsoft.com/office/drawing/2014/main" id="{40316F16-C886-F4B6-2A75-44F6B10DA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7091" y="4404514"/>
                <a:ext cx="357284" cy="297967"/>
              </a:xfrm>
              <a:prstGeom prst="rect">
                <a:avLst/>
              </a:prstGeom>
              <a:blipFill>
                <a:blip r:embed="rId16"/>
                <a:stretch>
                  <a:fillRect l="-8621" t="-4167" r="-36207" b="-1458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Lige pilforbindelse 138">
            <a:extLst>
              <a:ext uri="{FF2B5EF4-FFF2-40B4-BE49-F238E27FC236}">
                <a16:creationId xmlns:a16="http://schemas.microsoft.com/office/drawing/2014/main" id="{6066E205-170A-1D72-CDCE-9E87D701187C}"/>
              </a:ext>
            </a:extLst>
          </p:cNvPr>
          <p:cNvCxnSpPr>
            <a:cxnSpLocks/>
            <a:stCxn id="113" idx="3"/>
            <a:endCxn id="138" idx="1"/>
          </p:cNvCxnSpPr>
          <p:nvPr/>
        </p:nvCxnSpPr>
        <p:spPr>
          <a:xfrm>
            <a:off x="11516245" y="4550344"/>
            <a:ext cx="270846" cy="3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Forbindelse: vinklet 141">
            <a:extLst>
              <a:ext uri="{FF2B5EF4-FFF2-40B4-BE49-F238E27FC236}">
                <a16:creationId xmlns:a16="http://schemas.microsoft.com/office/drawing/2014/main" id="{B3CD12E6-8622-A68B-CC76-B0F66536F0BE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928252" y="3161908"/>
            <a:ext cx="10861500" cy="2047231"/>
          </a:xfrm>
          <a:prstGeom prst="bentConnector3">
            <a:avLst>
              <a:gd name="adj1" fmla="val 21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kstfelt 16">
            <a:extLst>
              <a:ext uri="{FF2B5EF4-FFF2-40B4-BE49-F238E27FC236}">
                <a16:creationId xmlns:a16="http://schemas.microsoft.com/office/drawing/2014/main" id="{B47D1A5E-51C3-3C06-BA0A-F429A6ADFE01}"/>
              </a:ext>
            </a:extLst>
          </p:cNvPr>
          <p:cNvSpPr txBox="1"/>
          <p:nvPr/>
        </p:nvSpPr>
        <p:spPr>
          <a:xfrm>
            <a:off x="4683778" y="1526776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Interaction</a:t>
            </a:r>
            <a:r>
              <a:rPr lang="da-DK" dirty="0"/>
              <a:t> </a:t>
            </a:r>
            <a:r>
              <a:rPr lang="da-DK" dirty="0" err="1"/>
              <a:t>block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83055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57882-96A2-7AB1-75A2-6C1D33CAD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66CDBC-4433-701A-0E8A-BAB62BB6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Next</a:t>
            </a:r>
            <a:r>
              <a:rPr lang="da-DK" dirty="0"/>
              <a:t>: Global distance </a:t>
            </a:r>
            <a:r>
              <a:rPr lang="da-DK" dirty="0" err="1"/>
              <a:t>aware</a:t>
            </a:r>
            <a:r>
              <a:rPr lang="da-DK" dirty="0"/>
              <a:t> </a:t>
            </a:r>
            <a:r>
              <a:rPr lang="da-DK" dirty="0" err="1"/>
              <a:t>interaction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3662FFCE-727E-9216-1642-22F9D96F518D}"/>
                  </a:ext>
                </a:extLst>
              </p:cNvPr>
              <p:cNvSpPr txBox="1"/>
              <p:nvPr/>
            </p:nvSpPr>
            <p:spPr>
              <a:xfrm>
                <a:off x="275034" y="4638856"/>
                <a:ext cx="410766" cy="295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3662FFCE-727E-9216-1642-22F9D96F5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34" y="4638856"/>
                <a:ext cx="410766" cy="295145"/>
              </a:xfrm>
              <a:prstGeom prst="rect">
                <a:avLst/>
              </a:prstGeom>
              <a:blipFill>
                <a:blip r:embed="rId2"/>
                <a:stretch>
                  <a:fillRect t="-4167" r="-36765" b="-1458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F7E285D4-B675-80D2-9215-F9436219C008}"/>
                  </a:ext>
                </a:extLst>
              </p:cNvPr>
              <p:cNvSpPr txBox="1"/>
              <p:nvPr/>
            </p:nvSpPr>
            <p:spPr>
              <a:xfrm>
                <a:off x="333380" y="3082252"/>
                <a:ext cx="2667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F7E285D4-B675-80D2-9215-F9436219C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80" y="3082252"/>
                <a:ext cx="266700" cy="369332"/>
              </a:xfrm>
              <a:prstGeom prst="rect">
                <a:avLst/>
              </a:prstGeom>
              <a:blipFill>
                <a:blip r:embed="rId3"/>
                <a:stretch>
                  <a:fillRect l="-2326" t="-23333" r="-255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ktangel: afrundede hjørner 7">
                <a:extLst>
                  <a:ext uri="{FF2B5EF4-FFF2-40B4-BE49-F238E27FC236}">
                    <a16:creationId xmlns:a16="http://schemas.microsoft.com/office/drawing/2014/main" id="{9AE78CED-3E33-1C35-36CB-95C042131537}"/>
                  </a:ext>
                </a:extLst>
              </p:cNvPr>
              <p:cNvSpPr/>
              <p:nvPr/>
            </p:nvSpPr>
            <p:spPr>
              <a:xfrm>
                <a:off x="1271584" y="3824540"/>
                <a:ext cx="714375" cy="542874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ktangel: afrundede hjørner 7">
                <a:extLst>
                  <a:ext uri="{FF2B5EF4-FFF2-40B4-BE49-F238E27FC236}">
                    <a16:creationId xmlns:a16="http://schemas.microsoft.com/office/drawing/2014/main" id="{9AE78CED-3E33-1C35-36CB-95C0421315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584" y="3824540"/>
                <a:ext cx="714375" cy="542874"/>
              </a:xfrm>
              <a:prstGeom prst="roundRect">
                <a:avLst/>
              </a:prstGeom>
              <a:blipFill>
                <a:blip r:embed="rId4"/>
                <a:stretch>
                  <a:fillRect r="-158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ktangel: afrundede hjørner 9">
                <a:extLst>
                  <a:ext uri="{FF2B5EF4-FFF2-40B4-BE49-F238E27FC236}">
                    <a16:creationId xmlns:a16="http://schemas.microsoft.com/office/drawing/2014/main" id="{8CBA55D3-0680-B140-9EF1-1FB795D9D7A1}"/>
                  </a:ext>
                </a:extLst>
              </p:cNvPr>
              <p:cNvSpPr/>
              <p:nvPr/>
            </p:nvSpPr>
            <p:spPr>
              <a:xfrm>
                <a:off x="1271584" y="4514989"/>
                <a:ext cx="714375" cy="542874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ktangel: afrundede hjørner 9">
                <a:extLst>
                  <a:ext uri="{FF2B5EF4-FFF2-40B4-BE49-F238E27FC236}">
                    <a16:creationId xmlns:a16="http://schemas.microsoft.com/office/drawing/2014/main" id="{8CBA55D3-0680-B140-9EF1-1FB795D9D7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584" y="4514989"/>
                <a:ext cx="714375" cy="542874"/>
              </a:xfrm>
              <a:prstGeom prst="roundRect">
                <a:avLst/>
              </a:prstGeom>
              <a:blipFill>
                <a:blip r:embed="rId5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0B69E6FB-51D2-45C0-AE20-A44E838F6E26}"/>
                  </a:ext>
                </a:extLst>
              </p:cNvPr>
              <p:cNvSpPr/>
              <p:nvPr/>
            </p:nvSpPr>
            <p:spPr>
              <a:xfrm>
                <a:off x="1271581" y="5205438"/>
                <a:ext cx="714375" cy="542874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0B69E6FB-51D2-45C0-AE20-A44E838F6E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581" y="5205438"/>
                <a:ext cx="714375" cy="542874"/>
              </a:xfrm>
              <a:prstGeom prst="roundRect">
                <a:avLst/>
              </a:prstGeom>
              <a:blipFill>
                <a:blip r:embed="rId6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F1569C8A-FDDD-6750-077C-249996BCF16F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685800" y="4786426"/>
            <a:ext cx="585784" cy="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Forbindelse: vinklet 15">
            <a:extLst>
              <a:ext uri="{FF2B5EF4-FFF2-40B4-BE49-F238E27FC236}">
                <a16:creationId xmlns:a16="http://schemas.microsoft.com/office/drawing/2014/main" id="{31161FC4-F9F6-4F70-B65A-F5DA7B9B3528}"/>
              </a:ext>
            </a:extLst>
          </p:cNvPr>
          <p:cNvCxnSpPr>
            <a:cxnSpLocks/>
            <a:endCxn id="11" idx="1"/>
          </p:cNvCxnSpPr>
          <p:nvPr/>
        </p:nvCxnSpPr>
        <p:spPr>
          <a:xfrm rot="16200000" flipH="1">
            <a:off x="749551" y="4954844"/>
            <a:ext cx="729735" cy="3143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orbindelse: vinklet 16">
            <a:extLst>
              <a:ext uri="{FF2B5EF4-FFF2-40B4-BE49-F238E27FC236}">
                <a16:creationId xmlns:a16="http://schemas.microsoft.com/office/drawing/2014/main" id="{FE5E571D-3330-5CE8-DDC9-588A3E5CEB2C}"/>
              </a:ext>
            </a:extLst>
          </p:cNvPr>
          <p:cNvCxnSpPr>
            <a:cxnSpLocks/>
            <a:endCxn id="8" idx="1"/>
          </p:cNvCxnSpPr>
          <p:nvPr/>
        </p:nvCxnSpPr>
        <p:spPr>
          <a:xfrm rot="5400000" flipH="1" flipV="1">
            <a:off x="747850" y="4305383"/>
            <a:ext cx="733140" cy="3143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orbindelse: vinklet 17">
            <a:extLst>
              <a:ext uri="{FF2B5EF4-FFF2-40B4-BE49-F238E27FC236}">
                <a16:creationId xmlns:a16="http://schemas.microsoft.com/office/drawing/2014/main" id="{10AFC151-30F2-3472-1573-854A22A06D4C}"/>
              </a:ext>
            </a:extLst>
          </p:cNvPr>
          <p:cNvCxnSpPr>
            <a:cxnSpLocks/>
            <a:stCxn id="8" idx="3"/>
            <a:endCxn id="10" idx="3"/>
          </p:cNvCxnSpPr>
          <p:nvPr/>
        </p:nvCxnSpPr>
        <p:spPr>
          <a:xfrm>
            <a:off x="1985959" y="4095977"/>
            <a:ext cx="12700" cy="690449"/>
          </a:xfrm>
          <a:prstGeom prst="bentConnector3">
            <a:avLst>
              <a:gd name="adj1" fmla="val 7725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ktangel: afrundede hjørner 18">
            <a:extLst>
              <a:ext uri="{FF2B5EF4-FFF2-40B4-BE49-F238E27FC236}">
                <a16:creationId xmlns:a16="http://schemas.microsoft.com/office/drawing/2014/main" id="{DA8624B0-9959-B600-4C34-DF41021185FD}"/>
              </a:ext>
            </a:extLst>
          </p:cNvPr>
          <p:cNvSpPr/>
          <p:nvPr/>
        </p:nvSpPr>
        <p:spPr>
          <a:xfrm>
            <a:off x="2105025" y="4169764"/>
            <a:ext cx="1790700" cy="5428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Dot product</a:t>
            </a:r>
          </a:p>
        </p:txBody>
      </p:sp>
      <p:cxnSp>
        <p:nvCxnSpPr>
          <p:cNvPr id="23" name="Lige pilforbindelse 22">
            <a:extLst>
              <a:ext uri="{FF2B5EF4-FFF2-40B4-BE49-F238E27FC236}">
                <a16:creationId xmlns:a16="http://schemas.microsoft.com/office/drawing/2014/main" id="{932C5E15-7F71-2873-BC50-1578BC4B3479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3895725" y="4441200"/>
            <a:ext cx="30479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kstfelt 24">
                <a:extLst>
                  <a:ext uri="{FF2B5EF4-FFF2-40B4-BE49-F238E27FC236}">
                    <a16:creationId xmlns:a16="http://schemas.microsoft.com/office/drawing/2014/main" id="{D9BBB5D6-2ADD-2D7F-7902-A985FEEB4BBF}"/>
                  </a:ext>
                </a:extLst>
              </p:cNvPr>
              <p:cNvSpPr txBox="1"/>
              <p:nvPr/>
            </p:nvSpPr>
            <p:spPr>
              <a:xfrm>
                <a:off x="4200523" y="4245377"/>
                <a:ext cx="400051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5" name="Tekstfelt 24">
                <a:extLst>
                  <a:ext uri="{FF2B5EF4-FFF2-40B4-BE49-F238E27FC236}">
                    <a16:creationId xmlns:a16="http://schemas.microsoft.com/office/drawing/2014/main" id="{D9BBB5D6-2ADD-2D7F-7902-A985FEEB4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523" y="4245377"/>
                <a:ext cx="400051" cy="391646"/>
              </a:xfrm>
              <a:prstGeom prst="rect">
                <a:avLst/>
              </a:prstGeom>
              <a:blipFill>
                <a:blip r:embed="rId7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020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FE00-C82D-3BD7-2872-8059F372C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D2691D-2035-163D-4FF0-C2D7C34C9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Global distance </a:t>
            </a:r>
            <a:r>
              <a:rPr lang="da-DK" dirty="0" err="1"/>
              <a:t>aware</a:t>
            </a:r>
            <a:r>
              <a:rPr lang="da-DK" dirty="0"/>
              <a:t> </a:t>
            </a:r>
            <a:r>
              <a:rPr lang="da-DK" dirty="0" err="1"/>
              <a:t>interaction</a:t>
            </a:r>
            <a:endParaRPr lang="da-DK" dirty="0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49996941-4807-DEF7-3828-F77AFF9F6076}"/>
              </a:ext>
            </a:extLst>
          </p:cNvPr>
          <p:cNvSpPr/>
          <p:nvPr/>
        </p:nvSpPr>
        <p:spPr>
          <a:xfrm rot="19757655">
            <a:off x="7694124" y="2002362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6018D7D4-2BF3-9895-405E-1DE3B25EA153}"/>
              </a:ext>
            </a:extLst>
          </p:cNvPr>
          <p:cNvSpPr/>
          <p:nvPr/>
        </p:nvSpPr>
        <p:spPr>
          <a:xfrm rot="19680594">
            <a:off x="8223891" y="280838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E59E6D21-CABE-C373-9EEC-F81AD6C77C5E}"/>
              </a:ext>
            </a:extLst>
          </p:cNvPr>
          <p:cNvSpPr/>
          <p:nvPr/>
        </p:nvSpPr>
        <p:spPr>
          <a:xfrm rot="19236169">
            <a:off x="6799144" y="2581055"/>
            <a:ext cx="474531" cy="47453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106101F6-D9E7-A74B-088F-9B6A77FE596A}"/>
              </a:ext>
            </a:extLst>
          </p:cNvPr>
          <p:cNvSpPr/>
          <p:nvPr/>
        </p:nvSpPr>
        <p:spPr>
          <a:xfrm rot="17294410">
            <a:off x="8581271" y="1504091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65" name="Lige forbindelse 64">
            <a:extLst>
              <a:ext uri="{FF2B5EF4-FFF2-40B4-BE49-F238E27FC236}">
                <a16:creationId xmlns:a16="http://schemas.microsoft.com/office/drawing/2014/main" id="{BE0E2F92-89B5-12FC-7689-3D602EF667AA}"/>
              </a:ext>
            </a:extLst>
          </p:cNvPr>
          <p:cNvCxnSpPr>
            <a:stCxn id="61" idx="6"/>
            <a:endCxn id="64" idx="1"/>
          </p:cNvCxnSpPr>
          <p:nvPr/>
        </p:nvCxnSpPr>
        <p:spPr>
          <a:xfrm flipV="1">
            <a:off x="8135391" y="1848186"/>
            <a:ext cx="471290" cy="270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Lige forbindelse 65">
            <a:extLst>
              <a:ext uri="{FF2B5EF4-FFF2-40B4-BE49-F238E27FC236}">
                <a16:creationId xmlns:a16="http://schemas.microsoft.com/office/drawing/2014/main" id="{86C05F91-8890-A5E5-934D-5BDB3268E299}"/>
              </a:ext>
            </a:extLst>
          </p:cNvPr>
          <p:cNvCxnSpPr>
            <a:cxnSpLocks/>
            <a:stCxn id="61" idx="4"/>
            <a:endCxn id="62" idx="0"/>
          </p:cNvCxnSpPr>
          <p:nvPr/>
        </p:nvCxnSpPr>
        <p:spPr>
          <a:xfrm>
            <a:off x="8052545" y="2443628"/>
            <a:ext cx="282915" cy="4007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Lige forbindelse 66">
            <a:extLst>
              <a:ext uri="{FF2B5EF4-FFF2-40B4-BE49-F238E27FC236}">
                <a16:creationId xmlns:a16="http://schemas.microsoft.com/office/drawing/2014/main" id="{65AF7BF9-B039-DFF4-08EE-72F65EED93FF}"/>
              </a:ext>
            </a:extLst>
          </p:cNvPr>
          <p:cNvCxnSpPr>
            <a:cxnSpLocks/>
            <a:stCxn id="61" idx="2"/>
            <a:endCxn id="63" idx="6"/>
          </p:cNvCxnSpPr>
          <p:nvPr/>
        </p:nvCxnSpPr>
        <p:spPr>
          <a:xfrm flipH="1">
            <a:off x="7219760" y="2360783"/>
            <a:ext cx="507629" cy="306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kstfelt 67">
                <a:extLst>
                  <a:ext uri="{FF2B5EF4-FFF2-40B4-BE49-F238E27FC236}">
                    <a16:creationId xmlns:a16="http://schemas.microsoft.com/office/drawing/2014/main" id="{6C4301FB-10F9-4450-ED86-BF1490D10364}"/>
                  </a:ext>
                </a:extLst>
              </p:cNvPr>
              <p:cNvSpPr txBox="1"/>
              <p:nvPr/>
            </p:nvSpPr>
            <p:spPr>
              <a:xfrm>
                <a:off x="8721143" y="1253688"/>
                <a:ext cx="8447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8" name="Tekstfelt 67">
                <a:extLst>
                  <a:ext uri="{FF2B5EF4-FFF2-40B4-BE49-F238E27FC236}">
                    <a16:creationId xmlns:a16="http://schemas.microsoft.com/office/drawing/2014/main" id="{6C4301FB-10F9-4450-ED86-BF1490D10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1143" y="1253688"/>
                <a:ext cx="84479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Lige pilforbindelse 68">
            <a:extLst>
              <a:ext uri="{FF2B5EF4-FFF2-40B4-BE49-F238E27FC236}">
                <a16:creationId xmlns:a16="http://schemas.microsoft.com/office/drawing/2014/main" id="{07A076F4-8B9D-F70F-C2D7-18453C388922}"/>
              </a:ext>
            </a:extLst>
          </p:cNvPr>
          <p:cNvCxnSpPr>
            <a:cxnSpLocks/>
          </p:cNvCxnSpPr>
          <p:nvPr/>
        </p:nvCxnSpPr>
        <p:spPr>
          <a:xfrm flipH="1">
            <a:off x="7329900" y="1997213"/>
            <a:ext cx="1386921" cy="81954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Lige pilforbindelse 69">
            <a:extLst>
              <a:ext uri="{FF2B5EF4-FFF2-40B4-BE49-F238E27FC236}">
                <a16:creationId xmlns:a16="http://schemas.microsoft.com/office/drawing/2014/main" id="{4B55D4E4-69EB-DE7F-C5F2-3A25385FB287}"/>
              </a:ext>
            </a:extLst>
          </p:cNvPr>
          <p:cNvCxnSpPr>
            <a:cxnSpLocks/>
          </p:cNvCxnSpPr>
          <p:nvPr/>
        </p:nvCxnSpPr>
        <p:spPr>
          <a:xfrm flipH="1">
            <a:off x="7808384" y="1594423"/>
            <a:ext cx="704901" cy="41673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Lige pilforbindelse 70">
            <a:extLst>
              <a:ext uri="{FF2B5EF4-FFF2-40B4-BE49-F238E27FC236}">
                <a16:creationId xmlns:a16="http://schemas.microsoft.com/office/drawing/2014/main" id="{F32D5EC1-52F6-9A31-590C-05B44C7C9572}"/>
              </a:ext>
            </a:extLst>
          </p:cNvPr>
          <p:cNvCxnSpPr>
            <a:cxnSpLocks/>
          </p:cNvCxnSpPr>
          <p:nvPr/>
        </p:nvCxnSpPr>
        <p:spPr>
          <a:xfrm flipH="1">
            <a:off x="8606719" y="2023477"/>
            <a:ext cx="191782" cy="79095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kstfelt 71">
                <a:extLst>
                  <a:ext uri="{FF2B5EF4-FFF2-40B4-BE49-F238E27FC236}">
                    <a16:creationId xmlns:a16="http://schemas.microsoft.com/office/drawing/2014/main" id="{1B0C29B7-F1F2-7937-1E95-423FCACC2137}"/>
                  </a:ext>
                </a:extLst>
              </p:cNvPr>
              <p:cNvSpPr txBox="1"/>
              <p:nvPr/>
            </p:nvSpPr>
            <p:spPr>
              <a:xfrm>
                <a:off x="8492428" y="2257714"/>
                <a:ext cx="844792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2" name="Tekstfelt 71">
                <a:extLst>
                  <a:ext uri="{FF2B5EF4-FFF2-40B4-BE49-F238E27FC236}">
                    <a16:creationId xmlns:a16="http://schemas.microsoft.com/office/drawing/2014/main" id="{1B0C29B7-F1F2-7937-1E95-423FCACC2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428" y="2257714"/>
                <a:ext cx="844792" cy="391646"/>
              </a:xfrm>
              <a:prstGeom prst="rect">
                <a:avLst/>
              </a:prstGeom>
              <a:blipFill>
                <a:blip r:embed="rId3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kstfelt 72">
                <a:extLst>
                  <a:ext uri="{FF2B5EF4-FFF2-40B4-BE49-F238E27FC236}">
                    <a16:creationId xmlns:a16="http://schemas.microsoft.com/office/drawing/2014/main" id="{B49DB4E1-8701-A3FD-EA82-57BA29ACA3E7}"/>
                  </a:ext>
                </a:extLst>
              </p:cNvPr>
              <p:cNvSpPr txBox="1"/>
              <p:nvPr/>
            </p:nvSpPr>
            <p:spPr>
              <a:xfrm>
                <a:off x="7415133" y="2502054"/>
                <a:ext cx="844792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3" name="Tekstfelt 72">
                <a:extLst>
                  <a:ext uri="{FF2B5EF4-FFF2-40B4-BE49-F238E27FC236}">
                    <a16:creationId xmlns:a16="http://schemas.microsoft.com/office/drawing/2014/main" id="{B49DB4E1-8701-A3FD-EA82-57BA29ACA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133" y="2502054"/>
                <a:ext cx="844792" cy="391646"/>
              </a:xfrm>
              <a:prstGeom prst="rect">
                <a:avLst/>
              </a:prstGeom>
              <a:blipFill>
                <a:blip r:embed="rId4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kstfelt 73">
                <a:extLst>
                  <a:ext uri="{FF2B5EF4-FFF2-40B4-BE49-F238E27FC236}">
                    <a16:creationId xmlns:a16="http://schemas.microsoft.com/office/drawing/2014/main" id="{89C55640-D152-1AAA-7CD0-C8A1D0D9E38D}"/>
                  </a:ext>
                </a:extLst>
              </p:cNvPr>
              <p:cNvSpPr txBox="1"/>
              <p:nvPr/>
            </p:nvSpPr>
            <p:spPr>
              <a:xfrm>
                <a:off x="7652456" y="1378384"/>
                <a:ext cx="844792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4" name="Tekstfelt 73">
                <a:extLst>
                  <a:ext uri="{FF2B5EF4-FFF2-40B4-BE49-F238E27FC236}">
                    <a16:creationId xmlns:a16="http://schemas.microsoft.com/office/drawing/2014/main" id="{89C55640-D152-1AAA-7CD0-C8A1D0D9E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456" y="1378384"/>
                <a:ext cx="844792" cy="391646"/>
              </a:xfrm>
              <a:prstGeom prst="rect">
                <a:avLst/>
              </a:prstGeom>
              <a:blipFill>
                <a:blip r:embed="rId5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ktangel 75">
                <a:extLst>
                  <a:ext uri="{FF2B5EF4-FFF2-40B4-BE49-F238E27FC236}">
                    <a16:creationId xmlns:a16="http://schemas.microsoft.com/office/drawing/2014/main" id="{9600F164-15B8-02C5-2C64-4307E468CD0F}"/>
                  </a:ext>
                </a:extLst>
              </p:cNvPr>
              <p:cNvSpPr/>
              <p:nvPr/>
            </p:nvSpPr>
            <p:spPr>
              <a:xfrm>
                <a:off x="6480518" y="3715763"/>
                <a:ext cx="3029048" cy="9212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a-DK" dirty="0"/>
                  <a:t>Embed distances </a:t>
                </a:r>
                <a:r>
                  <a:rPr lang="da-DK" dirty="0" err="1"/>
                  <a:t>using</a:t>
                </a:r>
                <a:r>
                  <a:rPr lang="da-DK" dirty="0"/>
                  <a:t> RBF</a:t>
                </a:r>
                <a:br>
                  <a:rPr lang="da-DK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𝑖𝑗𝑘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6" name="Rektangel 75">
                <a:extLst>
                  <a:ext uri="{FF2B5EF4-FFF2-40B4-BE49-F238E27FC236}">
                    <a16:creationId xmlns:a16="http://schemas.microsoft.com/office/drawing/2014/main" id="{9600F164-15B8-02C5-2C64-4307E468CD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518" y="3715763"/>
                <a:ext cx="3029048" cy="921260"/>
              </a:xfrm>
              <a:prstGeom prst="rect">
                <a:avLst/>
              </a:prstGeom>
              <a:blipFill>
                <a:blip r:embed="rId6"/>
                <a:stretch>
                  <a:fillRect t="-129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Lige pilforbindelse 76">
            <a:extLst>
              <a:ext uri="{FF2B5EF4-FFF2-40B4-BE49-F238E27FC236}">
                <a16:creationId xmlns:a16="http://schemas.microsoft.com/office/drawing/2014/main" id="{4C9B4666-C91E-3D7B-435C-EC66A295D994}"/>
              </a:ext>
            </a:extLst>
          </p:cNvPr>
          <p:cNvCxnSpPr/>
          <p:nvPr/>
        </p:nvCxnSpPr>
        <p:spPr>
          <a:xfrm>
            <a:off x="8017051" y="4736732"/>
            <a:ext cx="0" cy="683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ktangel 77">
                <a:extLst>
                  <a:ext uri="{FF2B5EF4-FFF2-40B4-BE49-F238E27FC236}">
                    <a16:creationId xmlns:a16="http://schemas.microsoft.com/office/drawing/2014/main" id="{DE5753F0-31D1-386F-306B-29024DC40648}"/>
                  </a:ext>
                </a:extLst>
              </p:cNvPr>
              <p:cNvSpPr/>
              <p:nvPr/>
            </p:nvSpPr>
            <p:spPr>
              <a:xfrm>
                <a:off x="6518099" y="5452349"/>
                <a:ext cx="3029048" cy="109253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a-DK" dirty="0"/>
                  <a:t>Pass distance </a:t>
                </a:r>
                <a:r>
                  <a:rPr lang="da-DK" dirty="0" err="1"/>
                  <a:t>embedding</a:t>
                </a:r>
                <a:r>
                  <a:rPr lang="da-DK" dirty="0"/>
                  <a:t> </a:t>
                </a:r>
                <a:r>
                  <a:rPr lang="da-DK" dirty="0" err="1"/>
                  <a:t>through</a:t>
                </a:r>
                <a:r>
                  <a:rPr lang="da-DK" dirty="0"/>
                  <a:t> MLP and </a:t>
                </a:r>
                <a:r>
                  <a:rPr lang="da-DK" dirty="0" err="1"/>
                  <a:t>project</a:t>
                </a:r>
                <a:br>
                  <a:rPr lang="da-DK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8" name="Rektangel 77">
                <a:extLst>
                  <a:ext uri="{FF2B5EF4-FFF2-40B4-BE49-F238E27FC236}">
                    <a16:creationId xmlns:a16="http://schemas.microsoft.com/office/drawing/2014/main" id="{DE5753F0-31D1-386F-306B-29024DC406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099" y="5452349"/>
                <a:ext cx="3029048" cy="10925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Lige forbindelse 78">
            <a:extLst>
              <a:ext uri="{FF2B5EF4-FFF2-40B4-BE49-F238E27FC236}">
                <a16:creationId xmlns:a16="http://schemas.microsoft.com/office/drawing/2014/main" id="{72589A96-B635-9938-31F3-C55B92DAA81B}"/>
              </a:ext>
            </a:extLst>
          </p:cNvPr>
          <p:cNvCxnSpPr/>
          <p:nvPr/>
        </p:nvCxnSpPr>
        <p:spPr>
          <a:xfrm>
            <a:off x="9698011" y="4212393"/>
            <a:ext cx="19476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Lige forbindelse 79">
            <a:extLst>
              <a:ext uri="{FF2B5EF4-FFF2-40B4-BE49-F238E27FC236}">
                <a16:creationId xmlns:a16="http://schemas.microsoft.com/office/drawing/2014/main" id="{52CC65C6-B6F3-CFBC-959B-57D346BD0C7C}"/>
              </a:ext>
            </a:extLst>
          </p:cNvPr>
          <p:cNvCxnSpPr>
            <a:cxnSpLocks/>
          </p:cNvCxnSpPr>
          <p:nvPr/>
        </p:nvCxnSpPr>
        <p:spPr>
          <a:xfrm flipV="1">
            <a:off x="9701059" y="4115122"/>
            <a:ext cx="0" cy="1945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Lige forbindelse 80">
            <a:extLst>
              <a:ext uri="{FF2B5EF4-FFF2-40B4-BE49-F238E27FC236}">
                <a16:creationId xmlns:a16="http://schemas.microsoft.com/office/drawing/2014/main" id="{F818A23B-78C1-BDC5-C596-949305648EC3}"/>
              </a:ext>
            </a:extLst>
          </p:cNvPr>
          <p:cNvCxnSpPr>
            <a:cxnSpLocks/>
          </p:cNvCxnSpPr>
          <p:nvPr/>
        </p:nvCxnSpPr>
        <p:spPr>
          <a:xfrm flipV="1">
            <a:off x="11645683" y="4099235"/>
            <a:ext cx="0" cy="1945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kstfelt 81">
                <a:extLst>
                  <a:ext uri="{FF2B5EF4-FFF2-40B4-BE49-F238E27FC236}">
                    <a16:creationId xmlns:a16="http://schemas.microsoft.com/office/drawing/2014/main" id="{384BF4FA-D7AC-B6A9-0836-5206DF08CC89}"/>
                  </a:ext>
                </a:extLst>
              </p:cNvPr>
              <p:cNvSpPr txBox="1"/>
              <p:nvPr/>
            </p:nvSpPr>
            <p:spPr>
              <a:xfrm>
                <a:off x="9621657" y="4360024"/>
                <a:ext cx="1747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82" name="Tekstfelt 81">
                <a:extLst>
                  <a:ext uri="{FF2B5EF4-FFF2-40B4-BE49-F238E27FC236}">
                    <a16:creationId xmlns:a16="http://schemas.microsoft.com/office/drawing/2014/main" id="{384BF4FA-D7AC-B6A9-0836-5206DF08C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1657" y="4360024"/>
                <a:ext cx="174727" cy="276999"/>
              </a:xfrm>
              <a:prstGeom prst="rect">
                <a:avLst/>
              </a:prstGeom>
              <a:blipFill>
                <a:blip r:embed="rId8"/>
                <a:stretch>
                  <a:fillRect l="-31034" r="-34483" b="-652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Lige forbindelse 82">
            <a:extLst>
              <a:ext uri="{FF2B5EF4-FFF2-40B4-BE49-F238E27FC236}">
                <a16:creationId xmlns:a16="http://schemas.microsoft.com/office/drawing/2014/main" id="{62594735-90A0-29FD-6F53-6CC79A8B2A8E}"/>
              </a:ext>
            </a:extLst>
          </p:cNvPr>
          <p:cNvCxnSpPr>
            <a:cxnSpLocks/>
          </p:cNvCxnSpPr>
          <p:nvPr/>
        </p:nvCxnSpPr>
        <p:spPr>
          <a:xfrm>
            <a:off x="9933576" y="4163758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Lige forbindelse 83">
            <a:extLst>
              <a:ext uri="{FF2B5EF4-FFF2-40B4-BE49-F238E27FC236}">
                <a16:creationId xmlns:a16="http://schemas.microsoft.com/office/drawing/2014/main" id="{A598C46C-6B38-C47B-26F7-DEDBCC72B44D}"/>
              </a:ext>
            </a:extLst>
          </p:cNvPr>
          <p:cNvCxnSpPr>
            <a:cxnSpLocks/>
          </p:cNvCxnSpPr>
          <p:nvPr/>
        </p:nvCxnSpPr>
        <p:spPr>
          <a:xfrm>
            <a:off x="10154406" y="4167090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Lige forbindelse 84">
            <a:extLst>
              <a:ext uri="{FF2B5EF4-FFF2-40B4-BE49-F238E27FC236}">
                <a16:creationId xmlns:a16="http://schemas.microsoft.com/office/drawing/2014/main" id="{257AFD8D-F2EE-64AF-4781-A6F5070EEB8A}"/>
              </a:ext>
            </a:extLst>
          </p:cNvPr>
          <p:cNvCxnSpPr>
            <a:cxnSpLocks/>
          </p:cNvCxnSpPr>
          <p:nvPr/>
        </p:nvCxnSpPr>
        <p:spPr>
          <a:xfrm>
            <a:off x="10351628" y="4163758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Lige forbindelse 85">
            <a:extLst>
              <a:ext uri="{FF2B5EF4-FFF2-40B4-BE49-F238E27FC236}">
                <a16:creationId xmlns:a16="http://schemas.microsoft.com/office/drawing/2014/main" id="{E8B5E0BC-F4B2-F74F-3A62-9BB9AC8D37F8}"/>
              </a:ext>
            </a:extLst>
          </p:cNvPr>
          <p:cNvCxnSpPr>
            <a:cxnSpLocks/>
          </p:cNvCxnSpPr>
          <p:nvPr/>
        </p:nvCxnSpPr>
        <p:spPr>
          <a:xfrm>
            <a:off x="10546766" y="4160633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Lige forbindelse 86">
            <a:extLst>
              <a:ext uri="{FF2B5EF4-FFF2-40B4-BE49-F238E27FC236}">
                <a16:creationId xmlns:a16="http://schemas.microsoft.com/office/drawing/2014/main" id="{3E9C45CD-18A5-45E9-B402-F52A46B4F7B9}"/>
              </a:ext>
            </a:extLst>
          </p:cNvPr>
          <p:cNvCxnSpPr>
            <a:cxnSpLocks/>
          </p:cNvCxnSpPr>
          <p:nvPr/>
        </p:nvCxnSpPr>
        <p:spPr>
          <a:xfrm>
            <a:off x="10742206" y="4163758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Lige forbindelse 87">
            <a:extLst>
              <a:ext uri="{FF2B5EF4-FFF2-40B4-BE49-F238E27FC236}">
                <a16:creationId xmlns:a16="http://schemas.microsoft.com/office/drawing/2014/main" id="{58FCE3A3-B4C1-40FE-1984-06469DD7F113}"/>
              </a:ext>
            </a:extLst>
          </p:cNvPr>
          <p:cNvCxnSpPr>
            <a:cxnSpLocks/>
          </p:cNvCxnSpPr>
          <p:nvPr/>
        </p:nvCxnSpPr>
        <p:spPr>
          <a:xfrm>
            <a:off x="10922983" y="4163758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Lige forbindelse 88">
            <a:extLst>
              <a:ext uri="{FF2B5EF4-FFF2-40B4-BE49-F238E27FC236}">
                <a16:creationId xmlns:a16="http://schemas.microsoft.com/office/drawing/2014/main" id="{320A28B9-0523-A1FD-DDE1-F0E9901DBA8A}"/>
              </a:ext>
            </a:extLst>
          </p:cNvPr>
          <p:cNvCxnSpPr>
            <a:cxnSpLocks/>
          </p:cNvCxnSpPr>
          <p:nvPr/>
        </p:nvCxnSpPr>
        <p:spPr>
          <a:xfrm>
            <a:off x="11073729" y="4160633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Lige forbindelse 89">
            <a:extLst>
              <a:ext uri="{FF2B5EF4-FFF2-40B4-BE49-F238E27FC236}">
                <a16:creationId xmlns:a16="http://schemas.microsoft.com/office/drawing/2014/main" id="{465527DC-B778-D276-FDB0-A666659B394A}"/>
              </a:ext>
            </a:extLst>
          </p:cNvPr>
          <p:cNvCxnSpPr>
            <a:cxnSpLocks/>
          </p:cNvCxnSpPr>
          <p:nvPr/>
        </p:nvCxnSpPr>
        <p:spPr>
          <a:xfrm>
            <a:off x="11251216" y="4160633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Lige forbindelse 90">
            <a:extLst>
              <a:ext uri="{FF2B5EF4-FFF2-40B4-BE49-F238E27FC236}">
                <a16:creationId xmlns:a16="http://schemas.microsoft.com/office/drawing/2014/main" id="{AE0BCB97-A99E-B3DF-3A18-697ECAC22E74}"/>
              </a:ext>
            </a:extLst>
          </p:cNvPr>
          <p:cNvCxnSpPr>
            <a:cxnSpLocks/>
          </p:cNvCxnSpPr>
          <p:nvPr/>
        </p:nvCxnSpPr>
        <p:spPr>
          <a:xfrm>
            <a:off x="11439776" y="4160633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Lige forbindelse 91">
            <a:extLst>
              <a:ext uri="{FF2B5EF4-FFF2-40B4-BE49-F238E27FC236}">
                <a16:creationId xmlns:a16="http://schemas.microsoft.com/office/drawing/2014/main" id="{54F20954-B185-45E3-8CFB-6A830DD5C96D}"/>
              </a:ext>
            </a:extLst>
          </p:cNvPr>
          <p:cNvCxnSpPr>
            <a:cxnSpLocks/>
          </p:cNvCxnSpPr>
          <p:nvPr/>
        </p:nvCxnSpPr>
        <p:spPr>
          <a:xfrm>
            <a:off x="11648372" y="4160633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kstfelt 92">
                <a:extLst>
                  <a:ext uri="{FF2B5EF4-FFF2-40B4-BE49-F238E27FC236}">
                    <a16:creationId xmlns:a16="http://schemas.microsoft.com/office/drawing/2014/main" id="{B60CDCDE-33DA-DAA6-4D94-45C13AB33BB4}"/>
                  </a:ext>
                </a:extLst>
              </p:cNvPr>
              <p:cNvSpPr txBox="1"/>
              <p:nvPr/>
            </p:nvSpPr>
            <p:spPr>
              <a:xfrm>
                <a:off x="10417736" y="4325552"/>
                <a:ext cx="2637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93" name="Tekstfelt 92">
                <a:extLst>
                  <a:ext uri="{FF2B5EF4-FFF2-40B4-BE49-F238E27FC236}">
                    <a16:creationId xmlns:a16="http://schemas.microsoft.com/office/drawing/2014/main" id="{B60CDCDE-33DA-DAA6-4D94-45C13AB33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7736" y="4325552"/>
                <a:ext cx="263727" cy="276999"/>
              </a:xfrm>
              <a:prstGeom prst="rect">
                <a:avLst/>
              </a:prstGeom>
              <a:blipFill>
                <a:blip r:embed="rId9"/>
                <a:stretch>
                  <a:fillRect l="-13953" r="-4651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4" name="Billede 93" descr="Et billede, der indeholder linje/række&#10;&#10;AI-genereret indhold kan være ukorrekt.">
            <a:extLst>
              <a:ext uri="{FF2B5EF4-FFF2-40B4-BE49-F238E27FC236}">
                <a16:creationId xmlns:a16="http://schemas.microsoft.com/office/drawing/2014/main" id="{A65D9DC3-EDE9-B334-CBDE-B2E0D310CB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26962" y="3761079"/>
            <a:ext cx="435371" cy="380027"/>
          </a:xfrm>
          <a:prstGeom prst="rect">
            <a:avLst/>
          </a:prstGeom>
        </p:spPr>
      </p:pic>
      <p:sp>
        <p:nvSpPr>
          <p:cNvPr id="95" name="Rektangel 94">
            <a:extLst>
              <a:ext uri="{FF2B5EF4-FFF2-40B4-BE49-F238E27FC236}">
                <a16:creationId xmlns:a16="http://schemas.microsoft.com/office/drawing/2014/main" id="{B2C30CA3-2E1E-A54E-0EA8-F178DDE80245}"/>
              </a:ext>
            </a:extLst>
          </p:cNvPr>
          <p:cNvSpPr/>
          <p:nvPr/>
        </p:nvSpPr>
        <p:spPr>
          <a:xfrm>
            <a:off x="9601433" y="4749476"/>
            <a:ext cx="177635" cy="18809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6" name="Rektangel 95">
            <a:extLst>
              <a:ext uri="{FF2B5EF4-FFF2-40B4-BE49-F238E27FC236}">
                <a16:creationId xmlns:a16="http://schemas.microsoft.com/office/drawing/2014/main" id="{BF1F4C70-5587-FC65-23CA-A2B111B08B6B}"/>
              </a:ext>
            </a:extLst>
          </p:cNvPr>
          <p:cNvSpPr/>
          <p:nvPr/>
        </p:nvSpPr>
        <p:spPr>
          <a:xfrm>
            <a:off x="9779068" y="4749474"/>
            <a:ext cx="177635" cy="18809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7" name="Rektangel 96">
            <a:extLst>
              <a:ext uri="{FF2B5EF4-FFF2-40B4-BE49-F238E27FC236}">
                <a16:creationId xmlns:a16="http://schemas.microsoft.com/office/drawing/2014/main" id="{002E8B34-D205-20F8-5587-9021DA519E6E}"/>
              </a:ext>
            </a:extLst>
          </p:cNvPr>
          <p:cNvSpPr/>
          <p:nvPr/>
        </p:nvSpPr>
        <p:spPr>
          <a:xfrm>
            <a:off x="9956703" y="4749474"/>
            <a:ext cx="177635" cy="18809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8" name="Rektangel 97">
            <a:extLst>
              <a:ext uri="{FF2B5EF4-FFF2-40B4-BE49-F238E27FC236}">
                <a16:creationId xmlns:a16="http://schemas.microsoft.com/office/drawing/2014/main" id="{6C56353E-0A9E-04EB-C179-5A6C8292D150}"/>
              </a:ext>
            </a:extLst>
          </p:cNvPr>
          <p:cNvSpPr/>
          <p:nvPr/>
        </p:nvSpPr>
        <p:spPr>
          <a:xfrm>
            <a:off x="10134338" y="4749474"/>
            <a:ext cx="177635" cy="18809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9" name="Rektangel 98">
            <a:extLst>
              <a:ext uri="{FF2B5EF4-FFF2-40B4-BE49-F238E27FC236}">
                <a16:creationId xmlns:a16="http://schemas.microsoft.com/office/drawing/2014/main" id="{9CD8A684-F527-687D-AFD7-FE22C297DB74}"/>
              </a:ext>
            </a:extLst>
          </p:cNvPr>
          <p:cNvSpPr/>
          <p:nvPr/>
        </p:nvSpPr>
        <p:spPr>
          <a:xfrm>
            <a:off x="10311973" y="4749476"/>
            <a:ext cx="177635" cy="18809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0" name="Rektangel 99">
            <a:extLst>
              <a:ext uri="{FF2B5EF4-FFF2-40B4-BE49-F238E27FC236}">
                <a16:creationId xmlns:a16="http://schemas.microsoft.com/office/drawing/2014/main" id="{9547F045-2239-AF99-B3AC-751295D6D35B}"/>
              </a:ext>
            </a:extLst>
          </p:cNvPr>
          <p:cNvSpPr/>
          <p:nvPr/>
        </p:nvSpPr>
        <p:spPr>
          <a:xfrm>
            <a:off x="10489608" y="4749474"/>
            <a:ext cx="177635" cy="18809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1" name="Rektangel 100">
            <a:extLst>
              <a:ext uri="{FF2B5EF4-FFF2-40B4-BE49-F238E27FC236}">
                <a16:creationId xmlns:a16="http://schemas.microsoft.com/office/drawing/2014/main" id="{C2E871B9-2C04-BADF-87E7-5D341DA40EA6}"/>
              </a:ext>
            </a:extLst>
          </p:cNvPr>
          <p:cNvSpPr/>
          <p:nvPr/>
        </p:nvSpPr>
        <p:spPr>
          <a:xfrm>
            <a:off x="10667243" y="4749474"/>
            <a:ext cx="177635" cy="18809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2" name="Rektangel 101">
            <a:extLst>
              <a:ext uri="{FF2B5EF4-FFF2-40B4-BE49-F238E27FC236}">
                <a16:creationId xmlns:a16="http://schemas.microsoft.com/office/drawing/2014/main" id="{6B2C641B-B3FC-5154-B5E4-211635E39E3D}"/>
              </a:ext>
            </a:extLst>
          </p:cNvPr>
          <p:cNvSpPr/>
          <p:nvPr/>
        </p:nvSpPr>
        <p:spPr>
          <a:xfrm>
            <a:off x="10844878" y="4749474"/>
            <a:ext cx="177635" cy="188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3" name="Rektangel 102">
            <a:extLst>
              <a:ext uri="{FF2B5EF4-FFF2-40B4-BE49-F238E27FC236}">
                <a16:creationId xmlns:a16="http://schemas.microsoft.com/office/drawing/2014/main" id="{EA453AE5-B889-126B-F452-789464F37548}"/>
              </a:ext>
            </a:extLst>
          </p:cNvPr>
          <p:cNvSpPr/>
          <p:nvPr/>
        </p:nvSpPr>
        <p:spPr>
          <a:xfrm>
            <a:off x="11022513" y="4749474"/>
            <a:ext cx="177635" cy="188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4" name="Rektangel 103">
            <a:extLst>
              <a:ext uri="{FF2B5EF4-FFF2-40B4-BE49-F238E27FC236}">
                <a16:creationId xmlns:a16="http://schemas.microsoft.com/office/drawing/2014/main" id="{F961CE6D-922B-8A65-7994-71043BAC54B5}"/>
              </a:ext>
            </a:extLst>
          </p:cNvPr>
          <p:cNvSpPr/>
          <p:nvPr/>
        </p:nvSpPr>
        <p:spPr>
          <a:xfrm>
            <a:off x="11200148" y="4749472"/>
            <a:ext cx="177635" cy="188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5" name="Rektangel 104">
            <a:extLst>
              <a:ext uri="{FF2B5EF4-FFF2-40B4-BE49-F238E27FC236}">
                <a16:creationId xmlns:a16="http://schemas.microsoft.com/office/drawing/2014/main" id="{E3547A0A-0639-B88C-1FA3-FCD984266EC4}"/>
              </a:ext>
            </a:extLst>
          </p:cNvPr>
          <p:cNvSpPr/>
          <p:nvPr/>
        </p:nvSpPr>
        <p:spPr>
          <a:xfrm>
            <a:off x="11377783" y="4749472"/>
            <a:ext cx="177635" cy="188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6" name="Rektangel 105">
            <a:extLst>
              <a:ext uri="{FF2B5EF4-FFF2-40B4-BE49-F238E27FC236}">
                <a16:creationId xmlns:a16="http://schemas.microsoft.com/office/drawing/2014/main" id="{F570CFBE-B3E3-E37B-8045-51D8A9C13122}"/>
              </a:ext>
            </a:extLst>
          </p:cNvPr>
          <p:cNvSpPr/>
          <p:nvPr/>
        </p:nvSpPr>
        <p:spPr>
          <a:xfrm>
            <a:off x="11555418" y="4749472"/>
            <a:ext cx="177635" cy="188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07" name="Lige pilforbindelse 106">
            <a:extLst>
              <a:ext uri="{FF2B5EF4-FFF2-40B4-BE49-F238E27FC236}">
                <a16:creationId xmlns:a16="http://schemas.microsoft.com/office/drawing/2014/main" id="{33AEC971-92D5-DFF7-5DCD-A6FC1737B76E}"/>
              </a:ext>
            </a:extLst>
          </p:cNvPr>
          <p:cNvCxnSpPr>
            <a:cxnSpLocks/>
          </p:cNvCxnSpPr>
          <p:nvPr/>
        </p:nvCxnSpPr>
        <p:spPr>
          <a:xfrm>
            <a:off x="8014052" y="3298916"/>
            <a:ext cx="0" cy="411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535B8C57-2269-6CFE-EE92-E0DC37CAFFD0}"/>
                  </a:ext>
                </a:extLst>
              </p:cNvPr>
              <p:cNvSpPr txBox="1"/>
              <p:nvPr/>
            </p:nvSpPr>
            <p:spPr>
              <a:xfrm>
                <a:off x="9435913" y="1636015"/>
                <a:ext cx="2703272" cy="1222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 err="1"/>
                  <a:t>Calculate</a:t>
                </a:r>
                <a:r>
                  <a:rPr lang="da-DK" dirty="0"/>
                  <a:t> all </a:t>
                </a:r>
                <a:r>
                  <a:rPr lang="da-DK" dirty="0" err="1"/>
                  <a:t>interatomic</a:t>
                </a:r>
                <a:br>
                  <a:rPr lang="da-DK" dirty="0"/>
                </a:br>
                <a:r>
                  <a:rPr lang="da-DK" dirty="0"/>
                  <a:t>distances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da-DK" dirty="0"/>
                  <a:t> regardless of </a:t>
                </a:r>
                <a:r>
                  <a:rPr lang="da-DK" dirty="0" err="1"/>
                  <a:t>connection</a:t>
                </a:r>
                <a:br>
                  <a:rPr lang="da-DK" dirty="0"/>
                </a:br>
                <a:endParaRPr lang="da-DK" dirty="0"/>
              </a:p>
            </p:txBody>
          </p:sp>
        </mc:Choice>
        <mc:Fallback xmlns="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535B8C57-2269-6CFE-EE92-E0DC37CAF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5913" y="1636015"/>
                <a:ext cx="2703272" cy="1222642"/>
              </a:xfrm>
              <a:prstGeom prst="rect">
                <a:avLst/>
              </a:prstGeom>
              <a:blipFill>
                <a:blip r:embed="rId11"/>
                <a:stretch>
                  <a:fillRect l="-2032" t="-19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9B3E8238-BF45-61D9-2D64-D9782965E412}"/>
                  </a:ext>
                </a:extLst>
              </p:cNvPr>
              <p:cNvSpPr txBox="1"/>
              <p:nvPr/>
            </p:nvSpPr>
            <p:spPr>
              <a:xfrm>
                <a:off x="275034" y="4638856"/>
                <a:ext cx="410766" cy="295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9B3E8238-BF45-61D9-2D64-D9782965E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34" y="4638856"/>
                <a:ext cx="410766" cy="295145"/>
              </a:xfrm>
              <a:prstGeom prst="rect">
                <a:avLst/>
              </a:prstGeom>
              <a:blipFill>
                <a:blip r:embed="rId12"/>
                <a:stretch>
                  <a:fillRect t="-4167" r="-36765" b="-1458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37B7D831-1F21-1108-69DA-D9D49E5A1371}"/>
                  </a:ext>
                </a:extLst>
              </p:cNvPr>
              <p:cNvSpPr txBox="1"/>
              <p:nvPr/>
            </p:nvSpPr>
            <p:spPr>
              <a:xfrm>
                <a:off x="333380" y="3082252"/>
                <a:ext cx="2667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37B7D831-1F21-1108-69DA-D9D49E5A1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80" y="3082252"/>
                <a:ext cx="266700" cy="369332"/>
              </a:xfrm>
              <a:prstGeom prst="rect">
                <a:avLst/>
              </a:prstGeom>
              <a:blipFill>
                <a:blip r:embed="rId13"/>
                <a:stretch>
                  <a:fillRect l="-2326" t="-23333" r="-255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ktangel: afrundede hjørner 7">
                <a:extLst>
                  <a:ext uri="{FF2B5EF4-FFF2-40B4-BE49-F238E27FC236}">
                    <a16:creationId xmlns:a16="http://schemas.microsoft.com/office/drawing/2014/main" id="{15BFEFB8-D2C2-09F4-0E0E-FC1DC4114782}"/>
                  </a:ext>
                </a:extLst>
              </p:cNvPr>
              <p:cNvSpPr/>
              <p:nvPr/>
            </p:nvSpPr>
            <p:spPr>
              <a:xfrm>
                <a:off x="1271584" y="3824540"/>
                <a:ext cx="714375" cy="542874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ktangel: afrundede hjørner 7">
                <a:extLst>
                  <a:ext uri="{FF2B5EF4-FFF2-40B4-BE49-F238E27FC236}">
                    <a16:creationId xmlns:a16="http://schemas.microsoft.com/office/drawing/2014/main" id="{15BFEFB8-D2C2-09F4-0E0E-FC1DC41147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584" y="3824540"/>
                <a:ext cx="714375" cy="542874"/>
              </a:xfrm>
              <a:prstGeom prst="roundRect">
                <a:avLst/>
              </a:prstGeom>
              <a:blipFill>
                <a:blip r:embed="rId14"/>
                <a:stretch>
                  <a:fillRect r="-158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ktangel: afrundede hjørner 9">
                <a:extLst>
                  <a:ext uri="{FF2B5EF4-FFF2-40B4-BE49-F238E27FC236}">
                    <a16:creationId xmlns:a16="http://schemas.microsoft.com/office/drawing/2014/main" id="{B18A67DD-1E0F-FB9E-A0AF-27065FE4EC8B}"/>
                  </a:ext>
                </a:extLst>
              </p:cNvPr>
              <p:cNvSpPr/>
              <p:nvPr/>
            </p:nvSpPr>
            <p:spPr>
              <a:xfrm>
                <a:off x="1271584" y="4514989"/>
                <a:ext cx="714375" cy="542874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ktangel: afrundede hjørner 9">
                <a:extLst>
                  <a:ext uri="{FF2B5EF4-FFF2-40B4-BE49-F238E27FC236}">
                    <a16:creationId xmlns:a16="http://schemas.microsoft.com/office/drawing/2014/main" id="{B18A67DD-1E0F-FB9E-A0AF-27065FE4EC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584" y="4514989"/>
                <a:ext cx="714375" cy="542874"/>
              </a:xfrm>
              <a:prstGeom prst="roundRect">
                <a:avLst/>
              </a:prstGeom>
              <a:blipFill>
                <a:blip r:embed="rId15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43DFC8FE-40D5-913C-82EC-0F7044957489}"/>
                  </a:ext>
                </a:extLst>
              </p:cNvPr>
              <p:cNvSpPr/>
              <p:nvPr/>
            </p:nvSpPr>
            <p:spPr>
              <a:xfrm>
                <a:off x="1271581" y="5205438"/>
                <a:ext cx="714375" cy="542874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ktangel: afrundede hjørner 10">
                <a:extLst>
                  <a:ext uri="{FF2B5EF4-FFF2-40B4-BE49-F238E27FC236}">
                    <a16:creationId xmlns:a16="http://schemas.microsoft.com/office/drawing/2014/main" id="{43DFC8FE-40D5-913C-82EC-0F70449574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581" y="5205438"/>
                <a:ext cx="714375" cy="542874"/>
              </a:xfrm>
              <a:prstGeom prst="roundRect">
                <a:avLst/>
              </a:prstGeom>
              <a:blipFill>
                <a:blip r:embed="rId16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4BFED444-C2D0-2B21-A933-CD056CD27637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685800" y="4786426"/>
            <a:ext cx="585784" cy="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Forbindelse: vinklet 15">
            <a:extLst>
              <a:ext uri="{FF2B5EF4-FFF2-40B4-BE49-F238E27FC236}">
                <a16:creationId xmlns:a16="http://schemas.microsoft.com/office/drawing/2014/main" id="{416BD790-7487-052F-8950-14430A33C6D2}"/>
              </a:ext>
            </a:extLst>
          </p:cNvPr>
          <p:cNvCxnSpPr>
            <a:cxnSpLocks/>
            <a:endCxn id="11" idx="1"/>
          </p:cNvCxnSpPr>
          <p:nvPr/>
        </p:nvCxnSpPr>
        <p:spPr>
          <a:xfrm rot="16200000" flipH="1">
            <a:off x="749551" y="4954844"/>
            <a:ext cx="729735" cy="3143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orbindelse: vinklet 16">
            <a:extLst>
              <a:ext uri="{FF2B5EF4-FFF2-40B4-BE49-F238E27FC236}">
                <a16:creationId xmlns:a16="http://schemas.microsoft.com/office/drawing/2014/main" id="{2CF687E7-ACBE-84B0-E309-CC07496384D5}"/>
              </a:ext>
            </a:extLst>
          </p:cNvPr>
          <p:cNvCxnSpPr>
            <a:cxnSpLocks/>
            <a:endCxn id="8" idx="1"/>
          </p:cNvCxnSpPr>
          <p:nvPr/>
        </p:nvCxnSpPr>
        <p:spPr>
          <a:xfrm rot="5400000" flipH="1" flipV="1">
            <a:off x="747850" y="4305383"/>
            <a:ext cx="733140" cy="3143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orbindelse: vinklet 17">
            <a:extLst>
              <a:ext uri="{FF2B5EF4-FFF2-40B4-BE49-F238E27FC236}">
                <a16:creationId xmlns:a16="http://schemas.microsoft.com/office/drawing/2014/main" id="{5B64DC9C-6EF2-A3A0-A405-97CE0FD7F9C0}"/>
              </a:ext>
            </a:extLst>
          </p:cNvPr>
          <p:cNvCxnSpPr>
            <a:cxnSpLocks/>
            <a:stCxn id="8" idx="3"/>
            <a:endCxn id="10" idx="3"/>
          </p:cNvCxnSpPr>
          <p:nvPr/>
        </p:nvCxnSpPr>
        <p:spPr>
          <a:xfrm>
            <a:off x="1985959" y="4095977"/>
            <a:ext cx="12700" cy="690449"/>
          </a:xfrm>
          <a:prstGeom prst="bentConnector3">
            <a:avLst>
              <a:gd name="adj1" fmla="val 7725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ktangel: afrundede hjørner 18">
            <a:extLst>
              <a:ext uri="{FF2B5EF4-FFF2-40B4-BE49-F238E27FC236}">
                <a16:creationId xmlns:a16="http://schemas.microsoft.com/office/drawing/2014/main" id="{6209B6CD-BC19-009F-806D-4AF9680547C5}"/>
              </a:ext>
            </a:extLst>
          </p:cNvPr>
          <p:cNvSpPr/>
          <p:nvPr/>
        </p:nvSpPr>
        <p:spPr>
          <a:xfrm>
            <a:off x="2105025" y="4169764"/>
            <a:ext cx="1790700" cy="5428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Dot product</a:t>
            </a:r>
          </a:p>
        </p:txBody>
      </p:sp>
      <p:cxnSp>
        <p:nvCxnSpPr>
          <p:cNvPr id="23" name="Lige pilforbindelse 22">
            <a:extLst>
              <a:ext uri="{FF2B5EF4-FFF2-40B4-BE49-F238E27FC236}">
                <a16:creationId xmlns:a16="http://schemas.microsoft.com/office/drawing/2014/main" id="{8058FEE3-B8A9-3457-48EE-963002416505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3895725" y="4441200"/>
            <a:ext cx="30479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ige pilforbindelse 23">
            <a:extLst>
              <a:ext uri="{FF2B5EF4-FFF2-40B4-BE49-F238E27FC236}">
                <a16:creationId xmlns:a16="http://schemas.microsoft.com/office/drawing/2014/main" id="{E00E2C85-AF84-DF5C-C312-518C1A978095}"/>
              </a:ext>
            </a:extLst>
          </p:cNvPr>
          <p:cNvCxnSpPr/>
          <p:nvPr/>
        </p:nvCxnSpPr>
        <p:spPr>
          <a:xfrm>
            <a:off x="657225" y="3298916"/>
            <a:ext cx="5857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kstfelt 24">
                <a:extLst>
                  <a:ext uri="{FF2B5EF4-FFF2-40B4-BE49-F238E27FC236}">
                    <a16:creationId xmlns:a16="http://schemas.microsoft.com/office/drawing/2014/main" id="{A377043D-C240-7112-49A4-DBDBF97D4905}"/>
                  </a:ext>
                </a:extLst>
              </p:cNvPr>
              <p:cNvSpPr txBox="1"/>
              <p:nvPr/>
            </p:nvSpPr>
            <p:spPr>
              <a:xfrm>
                <a:off x="4200523" y="4245377"/>
                <a:ext cx="400051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5" name="Tekstfelt 24">
                <a:extLst>
                  <a:ext uri="{FF2B5EF4-FFF2-40B4-BE49-F238E27FC236}">
                    <a16:creationId xmlns:a16="http://schemas.microsoft.com/office/drawing/2014/main" id="{A377043D-C240-7112-49A4-DBDBF97D4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523" y="4245377"/>
                <a:ext cx="400051" cy="391646"/>
              </a:xfrm>
              <a:prstGeom prst="rect">
                <a:avLst/>
              </a:prstGeom>
              <a:blipFill>
                <a:blip r:embed="rId17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ktangel: afrundede hjørner 26">
            <a:extLst>
              <a:ext uri="{FF2B5EF4-FFF2-40B4-BE49-F238E27FC236}">
                <a16:creationId xmlns:a16="http://schemas.microsoft.com/office/drawing/2014/main" id="{F2052300-72B3-50AA-5CBB-AC411AB609F7}"/>
              </a:ext>
            </a:extLst>
          </p:cNvPr>
          <p:cNvSpPr/>
          <p:nvPr/>
        </p:nvSpPr>
        <p:spPr>
          <a:xfrm>
            <a:off x="1250724" y="2935578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all </a:t>
            </a:r>
            <a:r>
              <a:rPr lang="da-DK" dirty="0" err="1">
                <a:solidFill>
                  <a:schemeClr val="tx1"/>
                </a:solidFill>
              </a:rPr>
              <a:t>interatomic</a:t>
            </a:r>
            <a:r>
              <a:rPr lang="da-DK" dirty="0">
                <a:solidFill>
                  <a:schemeClr val="tx1"/>
                </a:solidFill>
              </a:rPr>
              <a:t> distances</a:t>
            </a:r>
          </a:p>
        </p:txBody>
      </p:sp>
      <p:cxnSp>
        <p:nvCxnSpPr>
          <p:cNvPr id="29" name="Lige pilforbindelse 28">
            <a:extLst>
              <a:ext uri="{FF2B5EF4-FFF2-40B4-BE49-F238E27FC236}">
                <a16:creationId xmlns:a16="http://schemas.microsoft.com/office/drawing/2014/main" id="{9819972A-763F-24D7-965E-D935480C065C}"/>
              </a:ext>
            </a:extLst>
          </p:cNvPr>
          <p:cNvCxnSpPr>
            <a:cxnSpLocks/>
            <a:stCxn id="27" idx="3"/>
            <a:endCxn id="30" idx="1"/>
          </p:cNvCxnSpPr>
          <p:nvPr/>
        </p:nvCxnSpPr>
        <p:spPr>
          <a:xfrm flipV="1">
            <a:off x="3500777" y="3322988"/>
            <a:ext cx="65064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EFFCE9C3-23EF-9530-FEE8-ECC901397C6A}"/>
                  </a:ext>
                </a:extLst>
              </p:cNvPr>
              <p:cNvSpPr txBox="1"/>
              <p:nvPr/>
            </p:nvSpPr>
            <p:spPr>
              <a:xfrm>
                <a:off x="4151421" y="3127165"/>
                <a:ext cx="400051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EFFCE9C3-23EF-9530-FEE8-ECC901397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421" y="3127165"/>
                <a:ext cx="400051" cy="391646"/>
              </a:xfrm>
              <a:prstGeom prst="rect">
                <a:avLst/>
              </a:prstGeom>
              <a:blipFill>
                <a:blip r:embed="rId18"/>
                <a:stretch>
                  <a:fillRect r="-7576" b="-625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5147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C54F-AB31-F728-DB10-97050585E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ktangel: afrundede hjørner 52">
            <a:extLst>
              <a:ext uri="{FF2B5EF4-FFF2-40B4-BE49-F238E27FC236}">
                <a16:creationId xmlns:a16="http://schemas.microsoft.com/office/drawing/2014/main" id="{9A52341A-BEF1-3164-09BC-4F009DC6CEED}"/>
              </a:ext>
            </a:extLst>
          </p:cNvPr>
          <p:cNvSpPr/>
          <p:nvPr/>
        </p:nvSpPr>
        <p:spPr>
          <a:xfrm>
            <a:off x="128927" y="2355253"/>
            <a:ext cx="8172450" cy="402432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868EA2F-7349-F697-3C01-C7199CE41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Global distance </a:t>
            </a:r>
            <a:r>
              <a:rPr lang="da-DK" dirty="0" err="1"/>
              <a:t>aware</a:t>
            </a:r>
            <a:r>
              <a:rPr lang="da-DK" dirty="0"/>
              <a:t> </a:t>
            </a:r>
            <a:r>
              <a:rPr lang="da-DK" dirty="0" err="1"/>
              <a:t>interaction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1F692295-5E3B-21A9-6E08-460E46EF3CF8}"/>
                  </a:ext>
                </a:extLst>
              </p:cNvPr>
              <p:cNvSpPr txBox="1"/>
              <p:nvPr/>
            </p:nvSpPr>
            <p:spPr>
              <a:xfrm>
                <a:off x="275034" y="4638856"/>
                <a:ext cx="410766" cy="295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1F692295-5E3B-21A9-6E08-460E46EF3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34" y="4638856"/>
                <a:ext cx="410766" cy="295145"/>
              </a:xfrm>
              <a:prstGeom prst="rect">
                <a:avLst/>
              </a:prstGeom>
              <a:blipFill>
                <a:blip r:embed="rId2"/>
                <a:stretch>
                  <a:fillRect t="-4167" r="-36765" b="-1458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936FA032-CA99-91E5-7EAE-B411ACE439CE}"/>
                  </a:ext>
                </a:extLst>
              </p:cNvPr>
              <p:cNvSpPr txBox="1"/>
              <p:nvPr/>
            </p:nvSpPr>
            <p:spPr>
              <a:xfrm>
                <a:off x="333380" y="3082252"/>
                <a:ext cx="2667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936FA032-CA99-91E5-7EAE-B411ACE43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80" y="3082252"/>
                <a:ext cx="266700" cy="369332"/>
              </a:xfrm>
              <a:prstGeom prst="rect">
                <a:avLst/>
              </a:prstGeom>
              <a:blipFill>
                <a:blip r:embed="rId3"/>
                <a:stretch>
                  <a:fillRect l="-2326" t="-23333" r="-255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ktangel: afrundede hjørner 8">
                <a:extLst>
                  <a:ext uri="{FF2B5EF4-FFF2-40B4-BE49-F238E27FC236}">
                    <a16:creationId xmlns:a16="http://schemas.microsoft.com/office/drawing/2014/main" id="{DAACB5EE-EDB7-9C18-3311-506A144AD385}"/>
                  </a:ext>
                </a:extLst>
              </p:cNvPr>
              <p:cNvSpPr/>
              <p:nvPr/>
            </p:nvSpPr>
            <p:spPr>
              <a:xfrm>
                <a:off x="1271584" y="3824540"/>
                <a:ext cx="714375" cy="542874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ktangel: afrundede hjørner 8">
                <a:extLst>
                  <a:ext uri="{FF2B5EF4-FFF2-40B4-BE49-F238E27FC236}">
                    <a16:creationId xmlns:a16="http://schemas.microsoft.com/office/drawing/2014/main" id="{DAACB5EE-EDB7-9C18-3311-506A144AD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584" y="3824540"/>
                <a:ext cx="714375" cy="542874"/>
              </a:xfrm>
              <a:prstGeom prst="roundRect">
                <a:avLst/>
              </a:prstGeom>
              <a:blipFill>
                <a:blip r:embed="rId4"/>
                <a:stretch>
                  <a:fillRect r="-158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ktangel: afrundede hjørner 11">
                <a:extLst>
                  <a:ext uri="{FF2B5EF4-FFF2-40B4-BE49-F238E27FC236}">
                    <a16:creationId xmlns:a16="http://schemas.microsoft.com/office/drawing/2014/main" id="{2A1DA7C5-6F0D-480E-0560-270A39C22D0C}"/>
                  </a:ext>
                </a:extLst>
              </p:cNvPr>
              <p:cNvSpPr/>
              <p:nvPr/>
            </p:nvSpPr>
            <p:spPr>
              <a:xfrm>
                <a:off x="1271584" y="4514989"/>
                <a:ext cx="714375" cy="542874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ktangel: afrundede hjørner 11">
                <a:extLst>
                  <a:ext uri="{FF2B5EF4-FFF2-40B4-BE49-F238E27FC236}">
                    <a16:creationId xmlns:a16="http://schemas.microsoft.com/office/drawing/2014/main" id="{2A1DA7C5-6F0D-480E-0560-270A39C22D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584" y="4514989"/>
                <a:ext cx="714375" cy="542874"/>
              </a:xfrm>
              <a:prstGeom prst="roundRect">
                <a:avLst/>
              </a:prstGeom>
              <a:blipFill>
                <a:blip r:embed="rId5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ktangel: afrundede hjørner 12">
                <a:extLst>
                  <a:ext uri="{FF2B5EF4-FFF2-40B4-BE49-F238E27FC236}">
                    <a16:creationId xmlns:a16="http://schemas.microsoft.com/office/drawing/2014/main" id="{7EEF251B-A3F0-75BE-852F-01E090C69C42}"/>
                  </a:ext>
                </a:extLst>
              </p:cNvPr>
              <p:cNvSpPr/>
              <p:nvPr/>
            </p:nvSpPr>
            <p:spPr>
              <a:xfrm>
                <a:off x="1271581" y="5205438"/>
                <a:ext cx="714375" cy="542874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ktangel: afrundede hjørner 12">
                <a:extLst>
                  <a:ext uri="{FF2B5EF4-FFF2-40B4-BE49-F238E27FC236}">
                    <a16:creationId xmlns:a16="http://schemas.microsoft.com/office/drawing/2014/main" id="{7EEF251B-A3F0-75BE-852F-01E090C69C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581" y="5205438"/>
                <a:ext cx="714375" cy="542874"/>
              </a:xfrm>
              <a:prstGeom prst="roundRect">
                <a:avLst/>
              </a:prstGeom>
              <a:blipFill>
                <a:blip r:embed="rId6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Lige forbindelse 14">
            <a:extLst>
              <a:ext uri="{FF2B5EF4-FFF2-40B4-BE49-F238E27FC236}">
                <a16:creationId xmlns:a16="http://schemas.microsoft.com/office/drawing/2014/main" id="{5E92B549-883B-0D19-8B4F-CDB46FE01D4F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685800" y="4786426"/>
            <a:ext cx="585784" cy="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Forbindelse: vinklet 19">
            <a:extLst>
              <a:ext uri="{FF2B5EF4-FFF2-40B4-BE49-F238E27FC236}">
                <a16:creationId xmlns:a16="http://schemas.microsoft.com/office/drawing/2014/main" id="{5FDBCCDC-B745-E070-9579-22653CCA9654}"/>
              </a:ext>
            </a:extLst>
          </p:cNvPr>
          <p:cNvCxnSpPr>
            <a:endCxn id="13" idx="1"/>
          </p:cNvCxnSpPr>
          <p:nvPr/>
        </p:nvCxnSpPr>
        <p:spPr>
          <a:xfrm rot="16200000" flipH="1">
            <a:off x="749551" y="4954844"/>
            <a:ext cx="729735" cy="3143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orbindelse: vinklet 20">
            <a:extLst>
              <a:ext uri="{FF2B5EF4-FFF2-40B4-BE49-F238E27FC236}">
                <a16:creationId xmlns:a16="http://schemas.microsoft.com/office/drawing/2014/main" id="{144075F2-582A-AC2E-17B2-3DF37FEADBC3}"/>
              </a:ext>
            </a:extLst>
          </p:cNvPr>
          <p:cNvCxnSpPr>
            <a:cxnSpLocks/>
            <a:endCxn id="9" idx="1"/>
          </p:cNvCxnSpPr>
          <p:nvPr/>
        </p:nvCxnSpPr>
        <p:spPr>
          <a:xfrm rot="5400000" flipH="1" flipV="1">
            <a:off x="747850" y="4305383"/>
            <a:ext cx="733140" cy="3143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orbindelse: vinklet 27">
            <a:extLst>
              <a:ext uri="{FF2B5EF4-FFF2-40B4-BE49-F238E27FC236}">
                <a16:creationId xmlns:a16="http://schemas.microsoft.com/office/drawing/2014/main" id="{80760892-C53F-D370-B60E-4465F4F9C2C3}"/>
              </a:ext>
            </a:extLst>
          </p:cNvPr>
          <p:cNvCxnSpPr>
            <a:cxnSpLocks/>
            <a:stCxn id="9" idx="3"/>
            <a:endCxn id="12" idx="3"/>
          </p:cNvCxnSpPr>
          <p:nvPr/>
        </p:nvCxnSpPr>
        <p:spPr>
          <a:xfrm>
            <a:off x="1985959" y="4095977"/>
            <a:ext cx="12700" cy="690449"/>
          </a:xfrm>
          <a:prstGeom prst="bentConnector3">
            <a:avLst>
              <a:gd name="adj1" fmla="val 7725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ktangel: afrundede hjørner 25">
            <a:extLst>
              <a:ext uri="{FF2B5EF4-FFF2-40B4-BE49-F238E27FC236}">
                <a16:creationId xmlns:a16="http://schemas.microsoft.com/office/drawing/2014/main" id="{C8F6C9A1-DF91-1CC0-51CF-16E41CF95034}"/>
              </a:ext>
            </a:extLst>
          </p:cNvPr>
          <p:cNvSpPr/>
          <p:nvPr/>
        </p:nvSpPr>
        <p:spPr>
          <a:xfrm>
            <a:off x="2105025" y="4169764"/>
            <a:ext cx="1790700" cy="5428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Dot product</a:t>
            </a:r>
          </a:p>
        </p:txBody>
      </p:sp>
      <p:cxnSp>
        <p:nvCxnSpPr>
          <p:cNvPr id="43" name="Lige pilforbindelse 42">
            <a:extLst>
              <a:ext uri="{FF2B5EF4-FFF2-40B4-BE49-F238E27FC236}">
                <a16:creationId xmlns:a16="http://schemas.microsoft.com/office/drawing/2014/main" id="{CFA71019-F00A-B367-0B31-52120D889B78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 flipV="1">
            <a:off x="1985956" y="5446378"/>
            <a:ext cx="3825254" cy="304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ige pilforbindelse 44">
            <a:extLst>
              <a:ext uri="{FF2B5EF4-FFF2-40B4-BE49-F238E27FC236}">
                <a16:creationId xmlns:a16="http://schemas.microsoft.com/office/drawing/2014/main" id="{9AAC28D8-1A2B-FB22-E2EA-F6536E0ED77E}"/>
              </a:ext>
            </a:extLst>
          </p:cNvPr>
          <p:cNvCxnSpPr>
            <a:cxnSpLocks/>
            <a:stCxn id="26" idx="3"/>
            <a:endCxn id="54" idx="1"/>
          </p:cNvCxnSpPr>
          <p:nvPr/>
        </p:nvCxnSpPr>
        <p:spPr>
          <a:xfrm flipV="1">
            <a:off x="3895725" y="4441200"/>
            <a:ext cx="30479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ige pilforbindelse 46">
            <a:extLst>
              <a:ext uri="{FF2B5EF4-FFF2-40B4-BE49-F238E27FC236}">
                <a16:creationId xmlns:a16="http://schemas.microsoft.com/office/drawing/2014/main" id="{4985A5D7-E66F-6CF5-B009-9EFFD6AAB699}"/>
              </a:ext>
            </a:extLst>
          </p:cNvPr>
          <p:cNvCxnSpPr/>
          <p:nvPr/>
        </p:nvCxnSpPr>
        <p:spPr>
          <a:xfrm>
            <a:off x="657225" y="3298916"/>
            <a:ext cx="5857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6D3BC144-05A1-FFB0-EF23-17B41549720A}"/>
                  </a:ext>
                </a:extLst>
              </p:cNvPr>
              <p:cNvSpPr txBox="1"/>
              <p:nvPr/>
            </p:nvSpPr>
            <p:spPr>
              <a:xfrm>
                <a:off x="4200523" y="4245377"/>
                <a:ext cx="400051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6D3BC144-05A1-FFB0-EF23-17B415497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523" y="4245377"/>
                <a:ext cx="400051" cy="391646"/>
              </a:xfrm>
              <a:prstGeom prst="rect">
                <a:avLst/>
              </a:prstGeom>
              <a:blipFill>
                <a:blip r:embed="rId7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Rektangel: afrundede hjørner 74">
            <a:extLst>
              <a:ext uri="{FF2B5EF4-FFF2-40B4-BE49-F238E27FC236}">
                <a16:creationId xmlns:a16="http://schemas.microsoft.com/office/drawing/2014/main" id="{F83F5C3C-6A61-61D1-F035-D6459D5B0A19}"/>
              </a:ext>
            </a:extLst>
          </p:cNvPr>
          <p:cNvSpPr/>
          <p:nvPr/>
        </p:nvSpPr>
        <p:spPr>
          <a:xfrm>
            <a:off x="1250724" y="2935578"/>
            <a:ext cx="2250053" cy="774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Emb. all </a:t>
            </a:r>
            <a:r>
              <a:rPr lang="da-DK" dirty="0" err="1">
                <a:solidFill>
                  <a:schemeClr val="tx1"/>
                </a:solidFill>
              </a:rPr>
              <a:t>interatomic</a:t>
            </a:r>
            <a:r>
              <a:rPr lang="da-DK" dirty="0">
                <a:solidFill>
                  <a:schemeClr val="tx1"/>
                </a:solidFill>
              </a:rPr>
              <a:t> distances</a:t>
            </a:r>
          </a:p>
        </p:txBody>
      </p:sp>
      <p:cxnSp>
        <p:nvCxnSpPr>
          <p:cNvPr id="110" name="Lige pilforbindelse 109">
            <a:extLst>
              <a:ext uri="{FF2B5EF4-FFF2-40B4-BE49-F238E27FC236}">
                <a16:creationId xmlns:a16="http://schemas.microsoft.com/office/drawing/2014/main" id="{191B6AEC-922B-33B0-CB9D-281266F3B85A}"/>
              </a:ext>
            </a:extLst>
          </p:cNvPr>
          <p:cNvCxnSpPr>
            <a:cxnSpLocks/>
            <a:stCxn id="75" idx="3"/>
            <a:endCxn id="112" idx="1"/>
          </p:cNvCxnSpPr>
          <p:nvPr/>
        </p:nvCxnSpPr>
        <p:spPr>
          <a:xfrm flipV="1">
            <a:off x="3500777" y="3322988"/>
            <a:ext cx="65064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kstfelt 111">
                <a:extLst>
                  <a:ext uri="{FF2B5EF4-FFF2-40B4-BE49-F238E27FC236}">
                    <a16:creationId xmlns:a16="http://schemas.microsoft.com/office/drawing/2014/main" id="{5EC3E592-A0AD-DF3D-31CD-5B8DEE45ED85}"/>
                  </a:ext>
                </a:extLst>
              </p:cNvPr>
              <p:cNvSpPr txBox="1"/>
              <p:nvPr/>
            </p:nvSpPr>
            <p:spPr>
              <a:xfrm>
                <a:off x="4151421" y="3127165"/>
                <a:ext cx="400051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12" name="Tekstfelt 111">
                <a:extLst>
                  <a:ext uri="{FF2B5EF4-FFF2-40B4-BE49-F238E27FC236}">
                    <a16:creationId xmlns:a16="http://schemas.microsoft.com/office/drawing/2014/main" id="{5EC3E592-A0AD-DF3D-31CD-5B8DEE45E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421" y="3127165"/>
                <a:ext cx="400051" cy="391646"/>
              </a:xfrm>
              <a:prstGeom prst="rect">
                <a:avLst/>
              </a:prstGeom>
              <a:blipFill>
                <a:blip r:embed="rId8"/>
                <a:stretch>
                  <a:fillRect r="-7576" b="-625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Forbindelse: vinklet 7">
            <a:extLst>
              <a:ext uri="{FF2B5EF4-FFF2-40B4-BE49-F238E27FC236}">
                <a16:creationId xmlns:a16="http://schemas.microsoft.com/office/drawing/2014/main" id="{FFBC158E-DEB2-BAC5-B988-6F5BAF615AB9}"/>
              </a:ext>
            </a:extLst>
          </p:cNvPr>
          <p:cNvCxnSpPr>
            <a:stCxn id="112" idx="3"/>
            <a:endCxn id="54" idx="3"/>
          </p:cNvCxnSpPr>
          <p:nvPr/>
        </p:nvCxnSpPr>
        <p:spPr>
          <a:xfrm>
            <a:off x="4551472" y="3322988"/>
            <a:ext cx="49102" cy="1118212"/>
          </a:xfrm>
          <a:prstGeom prst="bentConnector3">
            <a:avLst>
              <a:gd name="adj1" fmla="val 124450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ktangel: afrundede hjørner 13">
                <a:extLst>
                  <a:ext uri="{FF2B5EF4-FFF2-40B4-BE49-F238E27FC236}">
                    <a16:creationId xmlns:a16="http://schemas.microsoft.com/office/drawing/2014/main" id="{169F8940-5285-45A4-508C-09837C8EC889}"/>
                  </a:ext>
                </a:extLst>
              </p:cNvPr>
              <p:cNvSpPr/>
              <p:nvPr/>
            </p:nvSpPr>
            <p:spPr>
              <a:xfrm>
                <a:off x="4215152" y="3604592"/>
                <a:ext cx="2284301" cy="542873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𝑆𝑜𝑓𝑡𝑚𝑎𝑥</m:t>
                          </m:r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Rektangel: afrundede hjørner 13">
                <a:extLst>
                  <a:ext uri="{FF2B5EF4-FFF2-40B4-BE49-F238E27FC236}">
                    <a16:creationId xmlns:a16="http://schemas.microsoft.com/office/drawing/2014/main" id="{169F8940-5285-45A4-508C-09837C8EC8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152" y="3604592"/>
                <a:ext cx="2284301" cy="542873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ktangel: afrundede hjørner 15">
                <a:extLst>
                  <a:ext uri="{FF2B5EF4-FFF2-40B4-BE49-F238E27FC236}">
                    <a16:creationId xmlns:a16="http://schemas.microsoft.com/office/drawing/2014/main" id="{27D3A458-7DF0-319E-390C-B7CCF05FBB7C}"/>
                  </a:ext>
                </a:extLst>
              </p:cNvPr>
              <p:cNvSpPr/>
              <p:nvPr/>
            </p:nvSpPr>
            <p:spPr>
              <a:xfrm>
                <a:off x="5811210" y="4953190"/>
                <a:ext cx="2284301" cy="98637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da-DK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da-DK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da-DK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Rektangel: afrundede hjørner 15">
                <a:extLst>
                  <a:ext uri="{FF2B5EF4-FFF2-40B4-BE49-F238E27FC236}">
                    <a16:creationId xmlns:a16="http://schemas.microsoft.com/office/drawing/2014/main" id="{27D3A458-7DF0-319E-390C-B7CCF05FBB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210" y="4953190"/>
                <a:ext cx="2284301" cy="98637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Lige pilforbindelse 17">
            <a:extLst>
              <a:ext uri="{FF2B5EF4-FFF2-40B4-BE49-F238E27FC236}">
                <a16:creationId xmlns:a16="http://schemas.microsoft.com/office/drawing/2014/main" id="{9EF20192-66F1-9487-0441-E8CC636075DD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499453" y="3876028"/>
            <a:ext cx="28426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kstfelt 18">
                <a:extLst>
                  <a:ext uri="{FF2B5EF4-FFF2-40B4-BE49-F238E27FC236}">
                    <a16:creationId xmlns:a16="http://schemas.microsoft.com/office/drawing/2014/main" id="{F31D8FCF-2F39-3F8E-388A-78637E36A34B}"/>
                  </a:ext>
                </a:extLst>
              </p:cNvPr>
              <p:cNvSpPr txBox="1"/>
              <p:nvPr/>
            </p:nvSpPr>
            <p:spPr>
              <a:xfrm>
                <a:off x="6753336" y="3662992"/>
                <a:ext cx="400051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9" name="Tekstfelt 18">
                <a:extLst>
                  <a:ext uri="{FF2B5EF4-FFF2-40B4-BE49-F238E27FC236}">
                    <a16:creationId xmlns:a16="http://schemas.microsoft.com/office/drawing/2014/main" id="{F31D8FCF-2F39-3F8E-388A-78637E36A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3336" y="3662992"/>
                <a:ext cx="400051" cy="391646"/>
              </a:xfrm>
              <a:prstGeom prst="rect">
                <a:avLst/>
              </a:prstGeom>
              <a:blipFill>
                <a:blip r:embed="rId11"/>
                <a:stretch>
                  <a:fillRect r="-16923" b="-625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Lige pilforbindelse 21">
            <a:extLst>
              <a:ext uri="{FF2B5EF4-FFF2-40B4-BE49-F238E27FC236}">
                <a16:creationId xmlns:a16="http://schemas.microsoft.com/office/drawing/2014/main" id="{7DE02077-D6AC-BF7D-B075-A8FC4830CAA7}"/>
              </a:ext>
            </a:extLst>
          </p:cNvPr>
          <p:cNvCxnSpPr>
            <a:cxnSpLocks/>
            <a:stCxn id="19" idx="2"/>
            <a:endCxn id="16" idx="0"/>
          </p:cNvCxnSpPr>
          <p:nvPr/>
        </p:nvCxnSpPr>
        <p:spPr>
          <a:xfrm flipH="1">
            <a:off x="6953361" y="4054638"/>
            <a:ext cx="1" cy="8985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DB568EA0-189D-FF94-7676-7C44132186C2}"/>
                  </a:ext>
                </a:extLst>
              </p:cNvPr>
              <p:cNvSpPr txBox="1"/>
              <p:nvPr/>
            </p:nvSpPr>
            <p:spPr>
              <a:xfrm>
                <a:off x="8667750" y="5254434"/>
                <a:ext cx="400051" cy="383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DB568EA0-189D-FF94-7676-7C4413218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750" y="5254434"/>
                <a:ext cx="400051" cy="383888"/>
              </a:xfrm>
              <a:prstGeom prst="rect">
                <a:avLst/>
              </a:prstGeom>
              <a:blipFill>
                <a:blip r:embed="rId12"/>
                <a:stretch>
                  <a:fillRect t="-9524" r="-303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Lige pilforbindelse 49">
            <a:extLst>
              <a:ext uri="{FF2B5EF4-FFF2-40B4-BE49-F238E27FC236}">
                <a16:creationId xmlns:a16="http://schemas.microsoft.com/office/drawing/2014/main" id="{1792C8A3-C86F-B212-D23C-CA01A559FA0B}"/>
              </a:ext>
            </a:extLst>
          </p:cNvPr>
          <p:cNvCxnSpPr>
            <a:cxnSpLocks/>
          </p:cNvCxnSpPr>
          <p:nvPr/>
        </p:nvCxnSpPr>
        <p:spPr>
          <a:xfrm>
            <a:off x="8095508" y="5461626"/>
            <a:ext cx="5722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kstfelt 54">
            <a:extLst>
              <a:ext uri="{FF2B5EF4-FFF2-40B4-BE49-F238E27FC236}">
                <a16:creationId xmlns:a16="http://schemas.microsoft.com/office/drawing/2014/main" id="{B172882D-0497-269C-0464-75912E1E815F}"/>
              </a:ext>
            </a:extLst>
          </p:cNvPr>
          <p:cNvSpPr txBox="1"/>
          <p:nvPr/>
        </p:nvSpPr>
        <p:spPr>
          <a:xfrm>
            <a:off x="2562660" y="2374011"/>
            <a:ext cx="3533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Global distance </a:t>
            </a:r>
            <a:r>
              <a:rPr lang="da-DK" dirty="0" err="1"/>
              <a:t>aware</a:t>
            </a:r>
            <a:r>
              <a:rPr lang="da-DK" dirty="0"/>
              <a:t> </a:t>
            </a:r>
            <a:r>
              <a:rPr lang="da-DK" dirty="0" err="1"/>
              <a:t>interaction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15167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411D29-5151-05E0-20B8-F0637FB1E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Finally</a:t>
            </a:r>
            <a:r>
              <a:rPr lang="da-DK" dirty="0"/>
              <a:t>: </a:t>
            </a:r>
            <a:r>
              <a:rPr lang="da-DK" dirty="0" err="1"/>
              <a:t>Logit</a:t>
            </a:r>
            <a:r>
              <a:rPr lang="da-DK" dirty="0"/>
              <a:t> head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251DB8A6-AB4C-7A9E-7076-11A30F03E9A9}"/>
                  </a:ext>
                </a:extLst>
              </p:cNvPr>
              <p:cNvSpPr txBox="1"/>
              <p:nvPr/>
            </p:nvSpPr>
            <p:spPr>
              <a:xfrm>
                <a:off x="951309" y="2895781"/>
                <a:ext cx="410766" cy="295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251DB8A6-AB4C-7A9E-7076-11A30F03E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09" y="2895781"/>
                <a:ext cx="410766" cy="295145"/>
              </a:xfrm>
              <a:prstGeom prst="rect">
                <a:avLst/>
              </a:prstGeom>
              <a:blipFill>
                <a:blip r:embed="rId2"/>
                <a:stretch>
                  <a:fillRect t="-2083" r="-38806" b="-1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D5500974-FB00-FE8C-05F2-90B41739A9B5}"/>
                  </a:ext>
                </a:extLst>
              </p:cNvPr>
              <p:cNvSpPr txBox="1"/>
              <p:nvPr/>
            </p:nvSpPr>
            <p:spPr>
              <a:xfrm>
                <a:off x="951309" y="3475131"/>
                <a:ext cx="400051" cy="383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D5500974-FB00-FE8C-05F2-90B41739A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09" y="3475131"/>
                <a:ext cx="400051" cy="383888"/>
              </a:xfrm>
              <a:prstGeom prst="rect">
                <a:avLst/>
              </a:prstGeom>
              <a:blipFill>
                <a:blip r:embed="rId3"/>
                <a:stretch>
                  <a:fillRect t="-9524" r="-45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felt 7">
                <a:extLst>
                  <a:ext uri="{FF2B5EF4-FFF2-40B4-BE49-F238E27FC236}">
                    <a16:creationId xmlns:a16="http://schemas.microsoft.com/office/drawing/2014/main" id="{D2FE23A8-1DEA-0666-2E19-5721B325E549}"/>
                  </a:ext>
                </a:extLst>
              </p:cNvPr>
              <p:cNvSpPr txBox="1"/>
              <p:nvPr/>
            </p:nvSpPr>
            <p:spPr>
              <a:xfrm>
                <a:off x="951309" y="4143224"/>
                <a:ext cx="2985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8" name="Tekstfelt 7">
                <a:extLst>
                  <a:ext uri="{FF2B5EF4-FFF2-40B4-BE49-F238E27FC236}">
                    <a16:creationId xmlns:a16="http://schemas.microsoft.com/office/drawing/2014/main" id="{D2FE23A8-1DEA-0666-2E19-5721B325E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09" y="4143224"/>
                <a:ext cx="298595" cy="369332"/>
              </a:xfrm>
              <a:prstGeom prst="rect">
                <a:avLst/>
              </a:prstGeom>
              <a:blipFill>
                <a:blip r:embed="rId4"/>
                <a:stretch>
                  <a:fillRect r="-4082" b="-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D51FD6DB-B2ED-D0A0-F179-C4D7919584DB}"/>
              </a:ext>
            </a:extLst>
          </p:cNvPr>
          <p:cNvCxnSpPr>
            <a:cxnSpLocks/>
          </p:cNvCxnSpPr>
          <p:nvPr/>
        </p:nvCxnSpPr>
        <p:spPr>
          <a:xfrm>
            <a:off x="1362075" y="3070316"/>
            <a:ext cx="4857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493BF814-6F7B-B865-5753-B206ED36FF8A}"/>
              </a:ext>
            </a:extLst>
          </p:cNvPr>
          <p:cNvCxnSpPr>
            <a:cxnSpLocks/>
          </p:cNvCxnSpPr>
          <p:nvPr/>
        </p:nvCxnSpPr>
        <p:spPr>
          <a:xfrm>
            <a:off x="1351360" y="3689441"/>
            <a:ext cx="4857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B752098B-F800-D0CA-B348-CAB59C76872B}"/>
              </a:ext>
            </a:extLst>
          </p:cNvPr>
          <p:cNvCxnSpPr>
            <a:cxnSpLocks/>
          </p:cNvCxnSpPr>
          <p:nvPr/>
        </p:nvCxnSpPr>
        <p:spPr>
          <a:xfrm>
            <a:off x="1351360" y="4356191"/>
            <a:ext cx="4857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ktangel: afrundede hjørner 12">
                <a:extLst>
                  <a:ext uri="{FF2B5EF4-FFF2-40B4-BE49-F238E27FC236}">
                    <a16:creationId xmlns:a16="http://schemas.microsoft.com/office/drawing/2014/main" id="{94F17EB4-68E7-0B17-B37E-B1BA841FA33F}"/>
                  </a:ext>
                </a:extLst>
              </p:cNvPr>
              <p:cNvSpPr/>
              <p:nvPr/>
            </p:nvSpPr>
            <p:spPr>
              <a:xfrm>
                <a:off x="1847850" y="2630070"/>
                <a:ext cx="2250053" cy="207401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̃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ktangel: afrundede hjørner 12">
                <a:extLst>
                  <a:ext uri="{FF2B5EF4-FFF2-40B4-BE49-F238E27FC236}">
                    <a16:creationId xmlns:a16="http://schemas.microsoft.com/office/drawing/2014/main" id="{94F17EB4-68E7-0B17-B37E-B1BA841FA3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850" y="2630070"/>
                <a:ext cx="2250053" cy="207401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5B532D76-AB3B-AC0D-8929-50C0A6567D77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4097903" y="3689441"/>
            <a:ext cx="5979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felt 14">
                <a:extLst>
                  <a:ext uri="{FF2B5EF4-FFF2-40B4-BE49-F238E27FC236}">
                    <a16:creationId xmlns:a16="http://schemas.microsoft.com/office/drawing/2014/main" id="{60A44A94-F5A6-DFD4-CFC6-1C3C01FCD547}"/>
                  </a:ext>
                </a:extLst>
              </p:cNvPr>
              <p:cNvSpPr txBox="1"/>
              <p:nvPr/>
            </p:nvSpPr>
            <p:spPr>
              <a:xfrm>
                <a:off x="4695849" y="3550941"/>
                <a:ext cx="15026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5" name="Tekstfelt 14">
                <a:extLst>
                  <a:ext uri="{FF2B5EF4-FFF2-40B4-BE49-F238E27FC236}">
                    <a16:creationId xmlns:a16="http://schemas.microsoft.com/office/drawing/2014/main" id="{60A44A94-F5A6-DFD4-CFC6-1C3C01FCD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849" y="3550941"/>
                <a:ext cx="1502655" cy="276999"/>
              </a:xfrm>
              <a:prstGeom prst="rect">
                <a:avLst/>
              </a:prstGeom>
              <a:blipFill>
                <a:blip r:embed="rId6"/>
                <a:stretch>
                  <a:fillRect l="-5263" t="-4444" r="-5263" b="-3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ktangel: afrundede hjørner 17">
                <a:extLst>
                  <a:ext uri="{FF2B5EF4-FFF2-40B4-BE49-F238E27FC236}">
                    <a16:creationId xmlns:a16="http://schemas.microsoft.com/office/drawing/2014/main" id="{A50F5B4B-0B5A-02A9-FB37-CA56D33A1C7D}"/>
                  </a:ext>
                </a:extLst>
              </p:cNvPr>
              <p:cNvSpPr/>
              <p:nvPr/>
            </p:nvSpPr>
            <p:spPr>
              <a:xfrm>
                <a:off x="6672662" y="3414688"/>
                <a:ext cx="2842873" cy="542873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𝑆𝑜𝑓𝑡𝑚𝑎𝑥</m:t>
                      </m:r>
                      <m:r>
                        <a:rPr lang="da-DK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Rektangel: afrundede hjørner 17">
                <a:extLst>
                  <a:ext uri="{FF2B5EF4-FFF2-40B4-BE49-F238E27FC236}">
                    <a16:creationId xmlns:a16="http://schemas.microsoft.com/office/drawing/2014/main" id="{A50F5B4B-0B5A-02A9-FB37-CA56D33A1C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662" y="3414688"/>
                <a:ext cx="2842873" cy="542873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E5F2ED29-D904-359C-6A9A-FFA7B857E6A7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 flipV="1">
            <a:off x="6198504" y="3686125"/>
            <a:ext cx="474158" cy="33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ige pilforbindelse 23">
            <a:extLst>
              <a:ext uri="{FF2B5EF4-FFF2-40B4-BE49-F238E27FC236}">
                <a16:creationId xmlns:a16="http://schemas.microsoft.com/office/drawing/2014/main" id="{041F961A-0FE2-D130-5AA1-AFFA625642D0}"/>
              </a:ext>
            </a:extLst>
          </p:cNvPr>
          <p:cNvCxnSpPr>
            <a:cxnSpLocks/>
          </p:cNvCxnSpPr>
          <p:nvPr/>
        </p:nvCxnSpPr>
        <p:spPr>
          <a:xfrm flipV="1">
            <a:off x="9515535" y="3687518"/>
            <a:ext cx="474158" cy="33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kstfelt 25">
                <a:extLst>
                  <a:ext uri="{FF2B5EF4-FFF2-40B4-BE49-F238E27FC236}">
                    <a16:creationId xmlns:a16="http://schemas.microsoft.com/office/drawing/2014/main" id="{231B6D3E-234B-C5B4-63CA-9618DF9D04D4}"/>
                  </a:ext>
                </a:extLst>
              </p:cNvPr>
              <p:cNvSpPr txBox="1"/>
              <p:nvPr/>
            </p:nvSpPr>
            <p:spPr>
              <a:xfrm>
                <a:off x="9989693" y="3482409"/>
                <a:ext cx="1333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6" name="Tekstfelt 25">
                <a:extLst>
                  <a:ext uri="{FF2B5EF4-FFF2-40B4-BE49-F238E27FC236}">
                    <a16:creationId xmlns:a16="http://schemas.microsoft.com/office/drawing/2014/main" id="{231B6D3E-234B-C5B4-63CA-9618DF9D0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9693" y="3482409"/>
                <a:ext cx="1333500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953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0B90F-7DF3-6547-EA68-E9A480700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D14712-1148-B91D-EA86-C22AD9F30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Review of final model </a:t>
            </a:r>
            <a:r>
              <a:rPr lang="da-DK" dirty="0" err="1"/>
              <a:t>implementation</a:t>
            </a:r>
            <a:endParaRPr lang="da-DK" dirty="0"/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DCCA1266-85BD-2370-6FC8-874B0542E0B1}"/>
              </a:ext>
            </a:extLst>
          </p:cNvPr>
          <p:cNvSpPr/>
          <p:nvPr/>
        </p:nvSpPr>
        <p:spPr>
          <a:xfrm>
            <a:off x="2543175" y="1872584"/>
            <a:ext cx="6381750" cy="55245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>
                <a:solidFill>
                  <a:schemeClr val="tx1"/>
                </a:solidFill>
              </a:rPr>
              <a:t>Embedding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block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D2A47022-1233-BEFE-BE9E-E84150317E4D}"/>
              </a:ext>
            </a:extLst>
          </p:cNvPr>
          <p:cNvSpPr/>
          <p:nvPr/>
        </p:nvSpPr>
        <p:spPr>
          <a:xfrm>
            <a:off x="2536698" y="2934495"/>
            <a:ext cx="6381750" cy="55245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B4279B38-8829-145E-5C97-90862C47E16B}"/>
              </a:ext>
            </a:extLst>
          </p:cNvPr>
          <p:cNvSpPr/>
          <p:nvPr/>
        </p:nvSpPr>
        <p:spPr>
          <a:xfrm>
            <a:off x="2536698" y="3015458"/>
            <a:ext cx="6381750" cy="55245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Rektangel: afrundede hjørner 7">
            <a:extLst>
              <a:ext uri="{FF2B5EF4-FFF2-40B4-BE49-F238E27FC236}">
                <a16:creationId xmlns:a16="http://schemas.microsoft.com/office/drawing/2014/main" id="{BAE0A111-19C8-690C-0956-A7F69D9AE6CD}"/>
              </a:ext>
            </a:extLst>
          </p:cNvPr>
          <p:cNvSpPr/>
          <p:nvPr/>
        </p:nvSpPr>
        <p:spPr>
          <a:xfrm>
            <a:off x="2536698" y="3109244"/>
            <a:ext cx="6381750" cy="55245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9C14E8B1-724C-A313-F680-D26181734719}"/>
              </a:ext>
            </a:extLst>
          </p:cNvPr>
          <p:cNvSpPr/>
          <p:nvPr/>
        </p:nvSpPr>
        <p:spPr>
          <a:xfrm>
            <a:off x="2536698" y="3198147"/>
            <a:ext cx="6381750" cy="55245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>
                <a:solidFill>
                  <a:schemeClr val="tx1"/>
                </a:solidFill>
              </a:rPr>
              <a:t>Interaction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blocks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9" name="Rektangel: afrundede hjørner 8">
            <a:extLst>
              <a:ext uri="{FF2B5EF4-FFF2-40B4-BE49-F238E27FC236}">
                <a16:creationId xmlns:a16="http://schemas.microsoft.com/office/drawing/2014/main" id="{BDEA498A-3AD5-4BC3-05D8-D23AAE4F2D4E}"/>
              </a:ext>
            </a:extLst>
          </p:cNvPr>
          <p:cNvSpPr/>
          <p:nvPr/>
        </p:nvSpPr>
        <p:spPr>
          <a:xfrm>
            <a:off x="2536698" y="4215067"/>
            <a:ext cx="6381750" cy="55245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Global distance-</a:t>
            </a:r>
            <a:r>
              <a:rPr lang="da-DK" dirty="0" err="1">
                <a:solidFill>
                  <a:schemeClr val="tx1"/>
                </a:solidFill>
              </a:rPr>
              <a:t>aware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interaction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10" name="Rektangel: afrundede hjørner 9">
            <a:extLst>
              <a:ext uri="{FF2B5EF4-FFF2-40B4-BE49-F238E27FC236}">
                <a16:creationId xmlns:a16="http://schemas.microsoft.com/office/drawing/2014/main" id="{DE5DA101-4B73-91B9-B06A-F5F720089E7C}"/>
              </a:ext>
            </a:extLst>
          </p:cNvPr>
          <p:cNvSpPr/>
          <p:nvPr/>
        </p:nvSpPr>
        <p:spPr>
          <a:xfrm>
            <a:off x="2543175" y="5245226"/>
            <a:ext cx="6381750" cy="5524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>
                <a:solidFill>
                  <a:schemeClr val="tx1"/>
                </a:solidFill>
              </a:rPr>
              <a:t>Logit</a:t>
            </a:r>
            <a:r>
              <a:rPr lang="da-DK" dirty="0">
                <a:solidFill>
                  <a:schemeClr val="tx1"/>
                </a:solidFill>
              </a:rPr>
              <a:t> head</a:t>
            </a:r>
          </a:p>
        </p:txBody>
      </p: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444296C5-917B-8861-9202-7A16DFECD5E6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5727573" y="2425034"/>
            <a:ext cx="6477" cy="5094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921DA340-8978-3371-9C6F-5447B76C17BF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727573" y="3750597"/>
            <a:ext cx="0" cy="46447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ge pilforbindelse 17">
            <a:extLst>
              <a:ext uri="{FF2B5EF4-FFF2-40B4-BE49-F238E27FC236}">
                <a16:creationId xmlns:a16="http://schemas.microsoft.com/office/drawing/2014/main" id="{903A54BF-E54D-F106-60A6-B36AA7ED592D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5727573" y="4767517"/>
            <a:ext cx="6477" cy="4777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C79E9935-0F50-64C3-43C5-36C04646DC04}"/>
              </a:ext>
            </a:extLst>
          </p:cNvPr>
          <p:cNvCxnSpPr>
            <a:cxnSpLocks/>
          </p:cNvCxnSpPr>
          <p:nvPr/>
        </p:nvCxnSpPr>
        <p:spPr>
          <a:xfrm flipH="1">
            <a:off x="8931402" y="4515359"/>
            <a:ext cx="5715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kstfelt 14">
            <a:extLst>
              <a:ext uri="{FF2B5EF4-FFF2-40B4-BE49-F238E27FC236}">
                <a16:creationId xmlns:a16="http://schemas.microsoft.com/office/drawing/2014/main" id="{6FF502D1-585A-EB6B-29A4-6D26C8CA73FF}"/>
              </a:ext>
            </a:extLst>
          </p:cNvPr>
          <p:cNvSpPr txBox="1"/>
          <p:nvPr/>
        </p:nvSpPr>
        <p:spPr>
          <a:xfrm>
            <a:off x="9502902" y="4083041"/>
            <a:ext cx="2409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This is </a:t>
            </a: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seems</a:t>
            </a:r>
            <a:r>
              <a:rPr lang="da-DK" dirty="0"/>
              <a:t> to </a:t>
            </a:r>
            <a:r>
              <a:rPr lang="da-DK" dirty="0" err="1"/>
              <a:t>having</a:t>
            </a:r>
            <a:r>
              <a:rPr lang="da-DK" dirty="0"/>
              <a:t> </a:t>
            </a:r>
            <a:r>
              <a:rPr lang="da-DK" dirty="0" err="1"/>
              <a:t>solved</a:t>
            </a:r>
            <a:r>
              <a:rPr lang="da-DK" dirty="0"/>
              <a:t> all issues</a:t>
            </a:r>
          </a:p>
        </p:txBody>
      </p:sp>
    </p:spTree>
    <p:extLst>
      <p:ext uri="{BB962C8B-B14F-4D97-AF65-F5344CB8AC3E}">
        <p14:creationId xmlns:p14="http://schemas.microsoft.com/office/powerpoint/2010/main" val="2404892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FE161F-8889-DC66-946C-51AC23988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Quick note on diffusion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D2D902A-5392-395D-E3E6-7E9F24169F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Final output of GNN is </a:t>
                </a:r>
                <a:r>
                  <a:rPr lang="da-DK" dirty="0" err="1"/>
                  <a:t>producing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da-DK" dirty="0"/>
              </a:p>
              <a:p>
                <a:pPr lvl="1"/>
                <a:r>
                  <a:rPr lang="da-DK" dirty="0"/>
                  <a:t>Distribution is over: </a:t>
                </a: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a-DK" dirty="0"/>
                  <a:t>, and not </a:t>
                </a: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a-DK" dirty="0"/>
                  <a:t> for </a:t>
                </a:r>
                <a:r>
                  <a:rPr lang="da-DK" dirty="0" err="1"/>
                  <a:t>each</a:t>
                </a:r>
                <a:r>
                  <a:rPr lang="da-DK" dirty="0"/>
                  <a:t> node</a:t>
                </a:r>
              </a:p>
              <a:p>
                <a:r>
                  <a:rPr lang="da-DK" dirty="0"/>
                  <a:t>Diffusion </a:t>
                </a:r>
                <a:r>
                  <a:rPr lang="da-DK" dirty="0" err="1"/>
                  <a:t>process</a:t>
                </a:r>
                <a:r>
                  <a:rPr lang="da-DK" dirty="0"/>
                  <a:t> </a:t>
                </a:r>
                <a:r>
                  <a:rPr lang="da-DK" dirty="0" err="1"/>
                  <a:t>below</a:t>
                </a:r>
                <a:r>
                  <a:rPr lang="da-DK" dirty="0"/>
                  <a:t> is </a:t>
                </a:r>
                <a:r>
                  <a:rPr lang="da-DK" dirty="0" err="1"/>
                  <a:t>maybe</a:t>
                </a:r>
                <a:r>
                  <a:rPr lang="da-DK" dirty="0"/>
                  <a:t> a bit </a:t>
                </a:r>
                <a:r>
                  <a:rPr lang="da-DK" dirty="0" err="1"/>
                  <a:t>misleading</a:t>
                </a: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D2D902A-5392-395D-E3E6-7E9F24169F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1F415D2A-A4D7-C303-EE7B-58ADAB150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741" y="3362325"/>
            <a:ext cx="7198517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410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0ACD6-91F9-2C70-51F2-E596C3546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Quick note on diffusion </a:t>
            </a:r>
            <a:r>
              <a:rPr lang="da-DK" dirty="0" err="1"/>
              <a:t>process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D52EB15F-ABBE-0782-2A39-EE119551A5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In practice forward </a:t>
                </a:r>
                <a:r>
                  <a:rPr lang="da-DK" dirty="0" err="1"/>
                  <a:t>noising</a:t>
                </a:r>
                <a:r>
                  <a:rPr lang="da-DK" dirty="0"/>
                  <a:t> </a:t>
                </a:r>
                <a:r>
                  <a:rPr lang="da-DK" dirty="0" err="1"/>
                  <a:t>process</a:t>
                </a:r>
                <a:r>
                  <a:rPr lang="da-DK" dirty="0"/>
                  <a:t> is </a:t>
                </a:r>
                <a:r>
                  <a:rPr lang="da-DK" dirty="0" err="1"/>
                  <a:t>designed</a:t>
                </a:r>
                <a:r>
                  <a:rPr lang="da-DK" dirty="0"/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  <a:p>
                <a:r>
                  <a:rPr lang="da-DK" dirty="0" err="1"/>
                  <a:t>Such</a:t>
                </a:r>
                <a:r>
                  <a:rPr lang="da-DK" dirty="0"/>
                  <a:t> </a:t>
                </a:r>
                <a:r>
                  <a:rPr lang="da-DK" dirty="0" err="1"/>
                  <a:t>that</a:t>
                </a:r>
                <a:r>
                  <a:rPr lang="da-DK" dirty="0"/>
                  <a:t> at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we</a:t>
                </a:r>
                <a:r>
                  <a:rPr lang="da-DK" dirty="0"/>
                  <a:t> end at simple distribution: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D52EB15F-ABBE-0782-2A39-EE119551A5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Ellipse 3">
                <a:extLst>
                  <a:ext uri="{FF2B5EF4-FFF2-40B4-BE49-F238E27FC236}">
                    <a16:creationId xmlns:a16="http://schemas.microsoft.com/office/drawing/2014/main" id="{CFE09798-BD28-F193-2481-1B8A1F95F84F}"/>
                  </a:ext>
                </a:extLst>
              </p:cNvPr>
              <p:cNvSpPr/>
              <p:nvPr/>
            </p:nvSpPr>
            <p:spPr>
              <a:xfrm>
                <a:off x="3800475" y="3814247"/>
                <a:ext cx="1552575" cy="155257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Ellipse 3">
                <a:extLst>
                  <a:ext uri="{FF2B5EF4-FFF2-40B4-BE49-F238E27FC236}">
                    <a16:creationId xmlns:a16="http://schemas.microsoft.com/office/drawing/2014/main" id="{CFE09798-BD28-F193-2481-1B8A1F95F8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475" y="3814247"/>
                <a:ext cx="1552575" cy="155257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AEC77E13-A763-AEEA-508D-FA77C6C7B998}"/>
                  </a:ext>
                </a:extLst>
              </p:cNvPr>
              <p:cNvSpPr/>
              <p:nvPr/>
            </p:nvSpPr>
            <p:spPr>
              <a:xfrm>
                <a:off x="6267450" y="3814247"/>
                <a:ext cx="1552575" cy="155257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AEC77E13-A763-AEEA-508D-FA77C6C7B9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450" y="3814247"/>
                <a:ext cx="1552575" cy="155257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Forbindelse: buet 6">
            <a:extLst>
              <a:ext uri="{FF2B5EF4-FFF2-40B4-BE49-F238E27FC236}">
                <a16:creationId xmlns:a16="http://schemas.microsoft.com/office/drawing/2014/main" id="{64849E53-C140-8575-A687-AA7DDBCA9259}"/>
              </a:ext>
            </a:extLst>
          </p:cNvPr>
          <p:cNvCxnSpPr>
            <a:cxnSpLocks/>
            <a:stCxn id="4" idx="5"/>
            <a:endCxn id="5" idx="3"/>
          </p:cNvCxnSpPr>
          <p:nvPr/>
        </p:nvCxnSpPr>
        <p:spPr>
          <a:xfrm rot="16200000" flipH="1">
            <a:off x="5810250" y="4454884"/>
            <a:ext cx="12700" cy="1369138"/>
          </a:xfrm>
          <a:prstGeom prst="curvedConnector3">
            <a:avLst>
              <a:gd name="adj1" fmla="val 1490307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59A96ACD-950B-D6E8-6D48-7BC871336732}"/>
                  </a:ext>
                </a:extLst>
              </p:cNvPr>
              <p:cNvSpPr txBox="1"/>
              <p:nvPr/>
            </p:nvSpPr>
            <p:spPr>
              <a:xfrm>
                <a:off x="4697412" y="5402560"/>
                <a:ext cx="20859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59A96ACD-950B-D6E8-6D48-7BC871336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412" y="5402560"/>
                <a:ext cx="2085975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9422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9FDC9-3F55-AFF3-DC7A-A411DA971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33106C-E57A-0FDF-BB04-F4395EEF2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Quick note on diffusion </a:t>
            </a:r>
            <a:r>
              <a:rPr lang="da-DK" dirty="0" err="1"/>
              <a:t>process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D9CBB75A-1E8A-B7DA-839B-6C048B6BF8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For </a:t>
                </a:r>
                <a:r>
                  <a:rPr lang="da-DK" dirty="0" err="1"/>
                  <a:t>gaussian</a:t>
                </a:r>
                <a:r>
                  <a:rPr lang="da-DK" dirty="0"/>
                  <a:t> diffusion </a:t>
                </a:r>
                <a:r>
                  <a:rPr lang="da-DK" dirty="0" err="1"/>
                  <a:t>process</a:t>
                </a:r>
                <a:r>
                  <a:rPr lang="da-DK" dirty="0"/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ad>
                        <m:radPr>
                          <m:degHide m:val="on"/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rad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  <a:p>
                <a:r>
                  <a:rPr lang="da-DK" dirty="0"/>
                  <a:t>This </a:t>
                </a:r>
                <a:r>
                  <a:rPr lang="da-DK" dirty="0" err="1"/>
                  <a:t>process</a:t>
                </a:r>
                <a:r>
                  <a:rPr lang="da-DK" dirty="0"/>
                  <a:t> is </a:t>
                </a:r>
                <a:r>
                  <a:rPr lang="da-DK" dirty="0" err="1"/>
                  <a:t>equivalent</a:t>
                </a:r>
                <a:r>
                  <a:rPr lang="da-DK" dirty="0"/>
                  <a:t> to: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rad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a-DK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;0,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  <a:p>
                <a:r>
                  <a:rPr lang="da-DK" dirty="0"/>
                  <a:t>It is </a:t>
                </a:r>
                <a:r>
                  <a:rPr lang="da-DK" dirty="0" err="1"/>
                  <a:t>easy</a:t>
                </a:r>
                <a:r>
                  <a:rPr lang="da-DK" dirty="0"/>
                  <a:t> to </a:t>
                </a:r>
                <a:r>
                  <a:rPr lang="da-DK" dirty="0" err="1"/>
                  <a:t>see</a:t>
                </a:r>
                <a:r>
                  <a:rPr lang="da-DK" dirty="0"/>
                  <a:t> </a:t>
                </a:r>
                <a:r>
                  <a:rPr lang="da-DK" dirty="0" err="1"/>
                  <a:t>that</a:t>
                </a:r>
                <a:r>
                  <a:rPr lang="da-DK" dirty="0"/>
                  <a:t>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can</a:t>
                </a:r>
                <a:r>
                  <a:rPr lang="da-DK" dirty="0"/>
                  <a:t>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da-DK" dirty="0"/>
                </a:br>
                <a:r>
                  <a:rPr lang="da-DK" dirty="0"/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a-DK" dirty="0"/>
                  <a:t>.</a:t>
                </a:r>
              </a:p>
              <a:p>
                <a:pPr lvl="1"/>
                <a:r>
                  <a:rPr lang="da-DK" dirty="0" err="1"/>
                  <a:t>Recursively</a:t>
                </a:r>
                <a:r>
                  <a:rPr lang="da-DK" dirty="0"/>
                  <a:t>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can</a:t>
                </a:r>
                <a:r>
                  <a:rPr lang="da-DK" dirty="0"/>
                  <a:t> find,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D9CBB75A-1E8A-B7DA-839B-6C048B6BF8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Billede 5">
            <a:extLst>
              <a:ext uri="{FF2B5EF4-FFF2-40B4-BE49-F238E27FC236}">
                <a16:creationId xmlns:a16="http://schemas.microsoft.com/office/drawing/2014/main" id="{67F653F3-2195-EF0B-972D-92103B203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614" y="2847975"/>
            <a:ext cx="4120554" cy="313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77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60FB9-F554-4D3E-26C1-FD6C9B8A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Quick note on diffusion </a:t>
            </a:r>
            <a:r>
              <a:rPr lang="da-DK" dirty="0" err="1"/>
              <a:t>process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98E6458-AA8A-9DAF-8F76-B8C4E2D81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This is just an implicit statement of ”</a:t>
            </a:r>
            <a:r>
              <a:rPr lang="da-DK" dirty="0" err="1"/>
              <a:t>Markov</a:t>
            </a:r>
            <a:r>
              <a:rPr lang="da-DK" dirty="0"/>
              <a:t> </a:t>
            </a:r>
            <a:r>
              <a:rPr lang="da-DK" dirty="0" err="1"/>
              <a:t>property</a:t>
            </a:r>
            <a:r>
              <a:rPr lang="da-DK" dirty="0"/>
              <a:t>” and gives:</a:t>
            </a:r>
          </a:p>
          <a:p>
            <a:endParaRPr lang="da-DK" dirty="0"/>
          </a:p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”jump” </a:t>
            </a:r>
            <a:r>
              <a:rPr lang="da-DK" dirty="0" err="1"/>
              <a:t>anywhere</a:t>
            </a:r>
            <a:endParaRPr lang="da-DK" dirty="0"/>
          </a:p>
          <a:p>
            <a:pPr marL="457200" lvl="1" indent="0">
              <a:buNone/>
            </a:pPr>
            <a:endParaRPr lang="da-DK" dirty="0"/>
          </a:p>
        </p:txBody>
      </p:sp>
      <p:pic>
        <p:nvPicPr>
          <p:cNvPr id="5" name="Billede 4" descr="Et billede, der indeholder Font/skrifttype, tekst, typografi, kalligrafi&#10;&#10;AI-genereret indhold kan være ukorrekt.">
            <a:extLst>
              <a:ext uri="{FF2B5EF4-FFF2-40B4-BE49-F238E27FC236}">
                <a16:creationId xmlns:a16="http://schemas.microsoft.com/office/drawing/2014/main" id="{5BBBF067-4D63-C456-2683-F3FC6FA16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169" y="2314534"/>
            <a:ext cx="4229690" cy="552527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ABF23D19-656A-14C1-E894-0BDA2A877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468" y="2390744"/>
            <a:ext cx="1390844" cy="419158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8C51921F-D14C-D31D-BDBC-1A701D607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515" y="2390744"/>
            <a:ext cx="1581371" cy="4096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105D16A2-F1B3-C320-54DC-BCEDEAE06F78}"/>
                  </a:ext>
                </a:extLst>
              </p:cNvPr>
              <p:cNvSpPr/>
              <p:nvPr/>
            </p:nvSpPr>
            <p:spPr>
              <a:xfrm>
                <a:off x="5467350" y="3814247"/>
                <a:ext cx="1552575" cy="155257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105D16A2-F1B3-C320-54DC-BCEDEAE06F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350" y="3814247"/>
                <a:ext cx="1552575" cy="155257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B26287B8-B9A3-CA0C-CD8A-7B5C10DD85DF}"/>
                  </a:ext>
                </a:extLst>
              </p:cNvPr>
              <p:cNvSpPr/>
              <p:nvPr/>
            </p:nvSpPr>
            <p:spPr>
              <a:xfrm>
                <a:off x="7934325" y="3814247"/>
                <a:ext cx="1552575" cy="155257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B26287B8-B9A3-CA0C-CD8A-7B5C10DD85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325" y="3814247"/>
                <a:ext cx="1552575" cy="155257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Forbindelse: buet 13">
            <a:extLst>
              <a:ext uri="{FF2B5EF4-FFF2-40B4-BE49-F238E27FC236}">
                <a16:creationId xmlns:a16="http://schemas.microsoft.com/office/drawing/2014/main" id="{AF16BC83-6818-05F2-604F-02B65791BBA1}"/>
              </a:ext>
            </a:extLst>
          </p:cNvPr>
          <p:cNvCxnSpPr>
            <a:cxnSpLocks/>
            <a:stCxn id="12" idx="5"/>
            <a:endCxn id="13" idx="3"/>
          </p:cNvCxnSpPr>
          <p:nvPr/>
        </p:nvCxnSpPr>
        <p:spPr>
          <a:xfrm rot="16200000" flipH="1">
            <a:off x="7477125" y="4454884"/>
            <a:ext cx="12700" cy="1369138"/>
          </a:xfrm>
          <a:prstGeom prst="curvedConnector3">
            <a:avLst>
              <a:gd name="adj1" fmla="val 1490307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felt 14">
                <a:extLst>
                  <a:ext uri="{FF2B5EF4-FFF2-40B4-BE49-F238E27FC236}">
                    <a16:creationId xmlns:a16="http://schemas.microsoft.com/office/drawing/2014/main" id="{DE4E13D4-7169-574F-B453-FBFF5589394B}"/>
                  </a:ext>
                </a:extLst>
              </p:cNvPr>
              <p:cNvSpPr txBox="1"/>
              <p:nvPr/>
            </p:nvSpPr>
            <p:spPr>
              <a:xfrm>
                <a:off x="6364287" y="5402560"/>
                <a:ext cx="20859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5" name="Tekstfelt 14">
                <a:extLst>
                  <a:ext uri="{FF2B5EF4-FFF2-40B4-BE49-F238E27FC236}">
                    <a16:creationId xmlns:a16="http://schemas.microsoft.com/office/drawing/2014/main" id="{DE4E13D4-7169-574F-B453-FBFF55893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287" y="5402560"/>
                <a:ext cx="2085975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CFE7B810-22FE-661E-F20A-28A713A0CDD5}"/>
                  </a:ext>
                </a:extLst>
              </p:cNvPr>
              <p:cNvSpPr/>
              <p:nvPr/>
            </p:nvSpPr>
            <p:spPr>
              <a:xfrm>
                <a:off x="2595919" y="3814247"/>
                <a:ext cx="1552575" cy="155257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CFE7B810-22FE-661E-F20A-28A713A0CD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919" y="3814247"/>
                <a:ext cx="1552575" cy="1552575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kstfelt 16">
                <a:extLst>
                  <a:ext uri="{FF2B5EF4-FFF2-40B4-BE49-F238E27FC236}">
                    <a16:creationId xmlns:a16="http://schemas.microsoft.com/office/drawing/2014/main" id="{76C13271-E0C0-0710-DBC6-7453A9A16365}"/>
                  </a:ext>
                </a:extLst>
              </p:cNvPr>
              <p:cNvSpPr txBox="1"/>
              <p:nvPr/>
            </p:nvSpPr>
            <p:spPr>
              <a:xfrm>
                <a:off x="4148494" y="4590534"/>
                <a:ext cx="10981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7" name="Tekstfelt 16">
                <a:extLst>
                  <a:ext uri="{FF2B5EF4-FFF2-40B4-BE49-F238E27FC236}">
                    <a16:creationId xmlns:a16="http://schemas.microsoft.com/office/drawing/2014/main" id="{76C13271-E0C0-0710-DBC6-7453A9A16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494" y="4590534"/>
                <a:ext cx="109819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Forbindelse: buet 18">
            <a:extLst>
              <a:ext uri="{FF2B5EF4-FFF2-40B4-BE49-F238E27FC236}">
                <a16:creationId xmlns:a16="http://schemas.microsoft.com/office/drawing/2014/main" id="{7D5B798D-1F38-19F8-B590-0BF22639B16B}"/>
              </a:ext>
            </a:extLst>
          </p:cNvPr>
          <p:cNvCxnSpPr>
            <a:cxnSpLocks/>
            <a:stCxn id="16" idx="5"/>
            <a:endCxn id="12" idx="3"/>
          </p:cNvCxnSpPr>
          <p:nvPr/>
        </p:nvCxnSpPr>
        <p:spPr>
          <a:xfrm rot="16200000" flipH="1">
            <a:off x="4807922" y="4252656"/>
            <a:ext cx="12700" cy="1773594"/>
          </a:xfrm>
          <a:prstGeom prst="curvedConnector3">
            <a:avLst>
              <a:gd name="adj1" fmla="val 3590307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orbindelse: buet 22">
            <a:extLst>
              <a:ext uri="{FF2B5EF4-FFF2-40B4-BE49-F238E27FC236}">
                <a16:creationId xmlns:a16="http://schemas.microsoft.com/office/drawing/2014/main" id="{A7E4F2DE-2C74-C5A9-A7BF-990788D3C851}"/>
              </a:ext>
            </a:extLst>
          </p:cNvPr>
          <p:cNvCxnSpPr>
            <a:cxnSpLocks/>
            <a:stCxn id="16" idx="4"/>
            <a:endCxn id="13" idx="4"/>
          </p:cNvCxnSpPr>
          <p:nvPr/>
        </p:nvCxnSpPr>
        <p:spPr>
          <a:xfrm rot="16200000" flipH="1">
            <a:off x="6041410" y="2697619"/>
            <a:ext cx="12700" cy="5338406"/>
          </a:xfrm>
          <a:prstGeom prst="curvedConnector3">
            <a:avLst>
              <a:gd name="adj1" fmla="val 8325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kstfelt 27">
                <a:extLst>
                  <a:ext uri="{FF2B5EF4-FFF2-40B4-BE49-F238E27FC236}">
                    <a16:creationId xmlns:a16="http://schemas.microsoft.com/office/drawing/2014/main" id="{2C29D432-BB37-B043-6974-9C4CEBD7AA71}"/>
                  </a:ext>
                </a:extLst>
              </p:cNvPr>
              <p:cNvSpPr txBox="1"/>
              <p:nvPr/>
            </p:nvSpPr>
            <p:spPr>
              <a:xfrm>
                <a:off x="5053012" y="6481206"/>
                <a:ext cx="20859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8" name="Tekstfelt 27">
                <a:extLst>
                  <a:ext uri="{FF2B5EF4-FFF2-40B4-BE49-F238E27FC236}">
                    <a16:creationId xmlns:a16="http://schemas.microsoft.com/office/drawing/2014/main" id="{2C29D432-BB37-B043-6974-9C4CEBD7A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012" y="6481206"/>
                <a:ext cx="2085975" cy="369332"/>
              </a:xfrm>
              <a:prstGeom prst="rect">
                <a:avLst/>
              </a:prstGeom>
              <a:blipFill>
                <a:blip r:embed="rId10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kstfelt 28">
                <a:extLst>
                  <a:ext uri="{FF2B5EF4-FFF2-40B4-BE49-F238E27FC236}">
                    <a16:creationId xmlns:a16="http://schemas.microsoft.com/office/drawing/2014/main" id="{A3D5C7E6-A1FA-076A-B429-528B29402510}"/>
                  </a:ext>
                </a:extLst>
              </p:cNvPr>
              <p:cNvSpPr txBox="1"/>
              <p:nvPr/>
            </p:nvSpPr>
            <p:spPr>
              <a:xfrm>
                <a:off x="3654603" y="5654517"/>
                <a:ext cx="20859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9" name="Tekstfelt 28">
                <a:extLst>
                  <a:ext uri="{FF2B5EF4-FFF2-40B4-BE49-F238E27FC236}">
                    <a16:creationId xmlns:a16="http://schemas.microsoft.com/office/drawing/2014/main" id="{A3D5C7E6-A1FA-076A-B429-528B29402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603" y="5654517"/>
                <a:ext cx="2085975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114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3ACEB8-A96A-0CB9-A111-853A9503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Quick note on diffusion </a:t>
            </a:r>
            <a:r>
              <a:rPr lang="da-DK" dirty="0" err="1"/>
              <a:t>process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89E0273-EFA2-1A41-755E-20AA09B589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 err="1"/>
                  <a:t>Simulating</a:t>
                </a:r>
                <a:r>
                  <a:rPr lang="da-DK" dirty="0"/>
                  <a:t> sampling from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da-DK" dirty="0"/>
                  <a:t> in 2D  </a:t>
                </a: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89E0273-EFA2-1A41-755E-20AA09B58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fik 3">
            <a:extLst>
              <a:ext uri="{FF2B5EF4-FFF2-40B4-BE49-F238E27FC236}">
                <a16:creationId xmlns:a16="http://schemas.microsoft.com/office/drawing/2014/main" id="{AE494AC4-1FC1-9FDB-61A5-EC39A3DB58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154" y="2638425"/>
            <a:ext cx="10095692" cy="314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743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868E6-861C-D39B-91D1-89A84A51C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1231EF-7AC4-A063-8462-AAA77582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Quick note on diffusion </a:t>
            </a:r>
            <a:r>
              <a:rPr lang="da-DK" dirty="0" err="1"/>
              <a:t>process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54C5777-E069-44CE-DE57-EB586FA38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366"/>
            <a:ext cx="10515600" cy="4351338"/>
          </a:xfrm>
        </p:spPr>
        <p:txBody>
          <a:bodyPr/>
          <a:lstStyle/>
          <a:p>
            <a:r>
              <a:rPr lang="da-DK" dirty="0"/>
              <a:t>One last trick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employ</a:t>
            </a:r>
            <a:r>
              <a:rPr lang="da-DK" dirty="0"/>
              <a:t>: </a:t>
            </a:r>
            <a:r>
              <a:rPr lang="da-DK" dirty="0" err="1"/>
              <a:t>Bayes</a:t>
            </a:r>
            <a:r>
              <a:rPr lang="da-DK" dirty="0"/>
              <a:t>’ </a:t>
            </a:r>
            <a:r>
              <a:rPr lang="da-DK" dirty="0" err="1"/>
              <a:t>theorem</a:t>
            </a:r>
            <a:endParaRPr lang="da-DK" dirty="0"/>
          </a:p>
          <a:p>
            <a:endParaRPr lang="da-DK" dirty="0"/>
          </a:p>
          <a:p>
            <a:pPr marL="457200" lvl="1" indent="0">
              <a:buNone/>
            </a:pP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7DB5FDCA-9CC6-0BF2-31C2-9FF21F155B7F}"/>
                  </a:ext>
                </a:extLst>
              </p:cNvPr>
              <p:cNvSpPr/>
              <p:nvPr/>
            </p:nvSpPr>
            <p:spPr>
              <a:xfrm>
                <a:off x="5105400" y="3429000"/>
                <a:ext cx="1552575" cy="155257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7DB5FDCA-9CC6-0BF2-31C2-9FF21F155B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3429000"/>
                <a:ext cx="1552575" cy="155257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BF0E9C26-8823-BA23-FAA1-56C8AB3A9ECB}"/>
                  </a:ext>
                </a:extLst>
              </p:cNvPr>
              <p:cNvSpPr/>
              <p:nvPr/>
            </p:nvSpPr>
            <p:spPr>
              <a:xfrm>
                <a:off x="7572375" y="3429000"/>
                <a:ext cx="1552575" cy="155257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BF0E9C26-8823-BA23-FAA1-56C8AB3A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375" y="3429000"/>
                <a:ext cx="1552575" cy="155257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Forbindelse: buet 13">
            <a:extLst>
              <a:ext uri="{FF2B5EF4-FFF2-40B4-BE49-F238E27FC236}">
                <a16:creationId xmlns:a16="http://schemas.microsoft.com/office/drawing/2014/main" id="{EF6F7D4D-2035-2B6F-DA4E-559368A1DEEA}"/>
              </a:ext>
            </a:extLst>
          </p:cNvPr>
          <p:cNvCxnSpPr>
            <a:cxnSpLocks/>
            <a:stCxn id="12" idx="5"/>
            <a:endCxn id="13" idx="3"/>
          </p:cNvCxnSpPr>
          <p:nvPr/>
        </p:nvCxnSpPr>
        <p:spPr>
          <a:xfrm rot="16200000" flipH="1">
            <a:off x="7115175" y="4069637"/>
            <a:ext cx="12700" cy="1369138"/>
          </a:xfrm>
          <a:prstGeom prst="curvedConnector3">
            <a:avLst>
              <a:gd name="adj1" fmla="val 1490307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felt 14">
                <a:extLst>
                  <a:ext uri="{FF2B5EF4-FFF2-40B4-BE49-F238E27FC236}">
                    <a16:creationId xmlns:a16="http://schemas.microsoft.com/office/drawing/2014/main" id="{CB352B98-ACBF-2E77-5CF0-BB02CDE7998B}"/>
                  </a:ext>
                </a:extLst>
              </p:cNvPr>
              <p:cNvSpPr txBox="1"/>
              <p:nvPr/>
            </p:nvSpPr>
            <p:spPr>
              <a:xfrm>
                <a:off x="6002337" y="5017313"/>
                <a:ext cx="20859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5" name="Tekstfelt 14">
                <a:extLst>
                  <a:ext uri="{FF2B5EF4-FFF2-40B4-BE49-F238E27FC236}">
                    <a16:creationId xmlns:a16="http://schemas.microsoft.com/office/drawing/2014/main" id="{CB352B98-ACBF-2E77-5CF0-BB02CDE79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337" y="5017313"/>
                <a:ext cx="2085975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B1E00DF2-18DB-B809-5F02-4F2A64183782}"/>
                  </a:ext>
                </a:extLst>
              </p:cNvPr>
              <p:cNvSpPr/>
              <p:nvPr/>
            </p:nvSpPr>
            <p:spPr>
              <a:xfrm>
                <a:off x="2233969" y="3429000"/>
                <a:ext cx="1552575" cy="155257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B1E00DF2-18DB-B809-5F02-4F2A641837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969" y="3429000"/>
                <a:ext cx="1552575" cy="155257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kstfelt 16">
                <a:extLst>
                  <a:ext uri="{FF2B5EF4-FFF2-40B4-BE49-F238E27FC236}">
                    <a16:creationId xmlns:a16="http://schemas.microsoft.com/office/drawing/2014/main" id="{254EF484-4087-F13D-7B08-FC693ED30BBC}"/>
                  </a:ext>
                </a:extLst>
              </p:cNvPr>
              <p:cNvSpPr txBox="1"/>
              <p:nvPr/>
            </p:nvSpPr>
            <p:spPr>
              <a:xfrm>
                <a:off x="3786544" y="4205287"/>
                <a:ext cx="10981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7" name="Tekstfelt 16">
                <a:extLst>
                  <a:ext uri="{FF2B5EF4-FFF2-40B4-BE49-F238E27FC236}">
                    <a16:creationId xmlns:a16="http://schemas.microsoft.com/office/drawing/2014/main" id="{254EF484-4087-F13D-7B08-FC693ED30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544" y="4205287"/>
                <a:ext cx="10981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Forbindelse: buet 18">
            <a:extLst>
              <a:ext uri="{FF2B5EF4-FFF2-40B4-BE49-F238E27FC236}">
                <a16:creationId xmlns:a16="http://schemas.microsoft.com/office/drawing/2014/main" id="{EA12E275-305A-DAC6-DA07-4B1CB41D68A9}"/>
              </a:ext>
            </a:extLst>
          </p:cNvPr>
          <p:cNvCxnSpPr>
            <a:cxnSpLocks/>
            <a:stCxn id="16" idx="5"/>
            <a:endCxn id="12" idx="3"/>
          </p:cNvCxnSpPr>
          <p:nvPr/>
        </p:nvCxnSpPr>
        <p:spPr>
          <a:xfrm rot="16200000" flipH="1">
            <a:off x="4445972" y="3867409"/>
            <a:ext cx="12700" cy="1773594"/>
          </a:xfrm>
          <a:prstGeom prst="curvedConnector3">
            <a:avLst>
              <a:gd name="adj1" fmla="val 3590307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orbindelse: buet 22">
            <a:extLst>
              <a:ext uri="{FF2B5EF4-FFF2-40B4-BE49-F238E27FC236}">
                <a16:creationId xmlns:a16="http://schemas.microsoft.com/office/drawing/2014/main" id="{48706ADF-6937-44C6-2E04-18A61187BD3F}"/>
              </a:ext>
            </a:extLst>
          </p:cNvPr>
          <p:cNvCxnSpPr>
            <a:cxnSpLocks/>
            <a:stCxn id="16" idx="4"/>
            <a:endCxn id="13" idx="4"/>
          </p:cNvCxnSpPr>
          <p:nvPr/>
        </p:nvCxnSpPr>
        <p:spPr>
          <a:xfrm rot="16200000" flipH="1">
            <a:off x="5679460" y="2312372"/>
            <a:ext cx="12700" cy="5338406"/>
          </a:xfrm>
          <a:prstGeom prst="curvedConnector3">
            <a:avLst>
              <a:gd name="adj1" fmla="val 8325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kstfelt 27">
                <a:extLst>
                  <a:ext uri="{FF2B5EF4-FFF2-40B4-BE49-F238E27FC236}">
                    <a16:creationId xmlns:a16="http://schemas.microsoft.com/office/drawing/2014/main" id="{43DFC8A8-C77B-2908-1D63-2A527D196B58}"/>
                  </a:ext>
                </a:extLst>
              </p:cNvPr>
              <p:cNvSpPr txBox="1"/>
              <p:nvPr/>
            </p:nvSpPr>
            <p:spPr>
              <a:xfrm>
                <a:off x="4691062" y="6095959"/>
                <a:ext cx="20859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8" name="Tekstfelt 27">
                <a:extLst>
                  <a:ext uri="{FF2B5EF4-FFF2-40B4-BE49-F238E27FC236}">
                    <a16:creationId xmlns:a16="http://schemas.microsoft.com/office/drawing/2014/main" id="{43DFC8A8-C77B-2908-1D63-2A527D196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062" y="6095959"/>
                <a:ext cx="2085975" cy="369332"/>
              </a:xfrm>
              <a:prstGeom prst="rect">
                <a:avLst/>
              </a:prstGeom>
              <a:blipFill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kstfelt 28">
                <a:extLst>
                  <a:ext uri="{FF2B5EF4-FFF2-40B4-BE49-F238E27FC236}">
                    <a16:creationId xmlns:a16="http://schemas.microsoft.com/office/drawing/2014/main" id="{C8CA2680-583A-A25A-86F4-2313EBD2B47D}"/>
                  </a:ext>
                </a:extLst>
              </p:cNvPr>
              <p:cNvSpPr txBox="1"/>
              <p:nvPr/>
            </p:nvSpPr>
            <p:spPr>
              <a:xfrm>
                <a:off x="3292653" y="5269270"/>
                <a:ext cx="20859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9" name="Tekstfelt 28">
                <a:extLst>
                  <a:ext uri="{FF2B5EF4-FFF2-40B4-BE49-F238E27FC236}">
                    <a16:creationId xmlns:a16="http://schemas.microsoft.com/office/drawing/2014/main" id="{C8CA2680-583A-A25A-86F4-2313EBD2B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53" y="5269270"/>
                <a:ext cx="2085975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Forbindelse: buet 3">
            <a:extLst>
              <a:ext uri="{FF2B5EF4-FFF2-40B4-BE49-F238E27FC236}">
                <a16:creationId xmlns:a16="http://schemas.microsoft.com/office/drawing/2014/main" id="{583598C0-A04A-4612-10B0-FF98B92775A3}"/>
              </a:ext>
            </a:extLst>
          </p:cNvPr>
          <p:cNvCxnSpPr>
            <a:cxnSpLocks/>
            <a:stCxn id="13" idx="1"/>
            <a:endCxn id="12" idx="7"/>
          </p:cNvCxnSpPr>
          <p:nvPr/>
        </p:nvCxnSpPr>
        <p:spPr>
          <a:xfrm rot="16200000" flipV="1">
            <a:off x="7115175" y="2971800"/>
            <a:ext cx="12700" cy="1369138"/>
          </a:xfrm>
          <a:prstGeom prst="curvedConnector3">
            <a:avLst>
              <a:gd name="adj1" fmla="val 2240307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Billede 17" descr="Et billede, der indeholder tekst, Font/skrifttype, linje/række, hvid&#10;&#10;AI-genereret indhold kan være ukorrekt.">
            <a:extLst>
              <a:ext uri="{FF2B5EF4-FFF2-40B4-BE49-F238E27FC236}">
                <a16:creationId xmlns:a16="http://schemas.microsoft.com/office/drawing/2014/main" id="{06C565C3-58B8-71FD-32D7-88669BA220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997" y="1905356"/>
            <a:ext cx="4058216" cy="7811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kstfelt 19">
                <a:extLst>
                  <a:ext uri="{FF2B5EF4-FFF2-40B4-BE49-F238E27FC236}">
                    <a16:creationId xmlns:a16="http://schemas.microsoft.com/office/drawing/2014/main" id="{1FC2218D-3327-8CA5-C1D0-9590F07841A3}"/>
                  </a:ext>
                </a:extLst>
              </p:cNvPr>
              <p:cNvSpPr txBox="1"/>
              <p:nvPr/>
            </p:nvSpPr>
            <p:spPr>
              <a:xfrm>
                <a:off x="5915818" y="2860308"/>
                <a:ext cx="22590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0" name="Tekstfelt 19">
                <a:extLst>
                  <a:ext uri="{FF2B5EF4-FFF2-40B4-BE49-F238E27FC236}">
                    <a16:creationId xmlns:a16="http://schemas.microsoft.com/office/drawing/2014/main" id="{1FC2218D-3327-8CA5-C1D0-9590F0784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818" y="2860308"/>
                <a:ext cx="2259012" cy="369332"/>
              </a:xfrm>
              <a:prstGeom prst="rect">
                <a:avLst/>
              </a:prstGeom>
              <a:blipFill>
                <a:blip r:embed="rId10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kstfelt 23">
                <a:extLst>
                  <a:ext uri="{FF2B5EF4-FFF2-40B4-BE49-F238E27FC236}">
                    <a16:creationId xmlns:a16="http://schemas.microsoft.com/office/drawing/2014/main" id="{1A223A1C-729F-8D18-F94C-22322656D79B}"/>
                  </a:ext>
                </a:extLst>
              </p:cNvPr>
              <p:cNvSpPr txBox="1"/>
              <p:nvPr/>
            </p:nvSpPr>
            <p:spPr>
              <a:xfrm>
                <a:off x="5759450" y="2111066"/>
                <a:ext cx="34671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4" name="Tekstfelt 23">
                <a:extLst>
                  <a:ext uri="{FF2B5EF4-FFF2-40B4-BE49-F238E27FC236}">
                    <a16:creationId xmlns:a16="http://schemas.microsoft.com/office/drawing/2014/main" id="{1A223A1C-729F-8D18-F94C-22322656D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9450" y="2111066"/>
                <a:ext cx="3467100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7512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F1A804-5E83-D6B6-3085-E2991FAA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Quick note on diffusion </a:t>
            </a:r>
            <a:r>
              <a:rPr lang="da-DK" dirty="0" err="1"/>
              <a:t>process</a:t>
            </a:r>
            <a:endParaRPr lang="da-DK" dirty="0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B982AD73-46FE-BF95-E5B9-6E32F3591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25" y="3228446"/>
            <a:ext cx="10515600" cy="343587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Pladsholder til indhold 2">
                <a:extLst>
                  <a:ext uri="{FF2B5EF4-FFF2-40B4-BE49-F238E27FC236}">
                    <a16:creationId xmlns:a16="http://schemas.microsoft.com/office/drawing/2014/main" id="{C578C3C3-6B5C-4FCF-35B4-491E2FF2B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a-DK" dirty="0"/>
                  <a:t>Simulating sampling from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da-DK" dirty="0"/>
                  <a:t> in 2D</a:t>
                </a:r>
              </a:p>
              <a:p>
                <a:r>
                  <a:rPr lang="da-DK" dirty="0" err="1"/>
                  <a:t>However</a:t>
                </a:r>
                <a:r>
                  <a:rPr lang="da-DK" dirty="0"/>
                  <a:t> </a:t>
                </a:r>
                <a:r>
                  <a:rPr lang="da-DK" dirty="0" err="1"/>
                  <a:t>this</a:t>
                </a:r>
                <a:r>
                  <a:rPr lang="da-DK" dirty="0"/>
                  <a:t> is not </a:t>
                </a:r>
                <a:r>
                  <a:rPr lang="da-DK" dirty="0" err="1"/>
                  <a:t>what</a:t>
                </a:r>
                <a:r>
                  <a:rPr lang="da-DK" dirty="0"/>
                  <a:t>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want</a:t>
                </a:r>
                <a:r>
                  <a:rPr lang="da-DK" dirty="0"/>
                  <a:t>,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will</a:t>
                </a:r>
                <a:r>
                  <a:rPr lang="da-DK" dirty="0"/>
                  <a:t> </a:t>
                </a:r>
                <a:r>
                  <a:rPr lang="da-DK" dirty="0" err="1"/>
                  <a:t>always</a:t>
                </a:r>
                <a:r>
                  <a:rPr lang="da-DK" dirty="0"/>
                  <a:t> end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da-DK" dirty="0"/>
              </a:p>
              <a:p>
                <a:pPr lvl="1"/>
                <a:r>
                  <a:rPr lang="da-DK" dirty="0" err="1"/>
                  <a:t>We</a:t>
                </a:r>
                <a:r>
                  <a:rPr lang="da-DK" dirty="0"/>
                  <a:t> do not </a:t>
                </a:r>
                <a:r>
                  <a:rPr lang="da-DK" dirty="0" err="1"/>
                  <a:t>know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when</a:t>
                </a:r>
                <a:r>
                  <a:rPr lang="da-DK" dirty="0"/>
                  <a:t> sampling   </a:t>
                </a:r>
              </a:p>
            </p:txBody>
          </p:sp>
        </mc:Choice>
        <mc:Fallback xmlns="">
          <p:sp>
            <p:nvSpPr>
              <p:cNvPr id="8" name="Pladsholder til indhold 2">
                <a:extLst>
                  <a:ext uri="{FF2B5EF4-FFF2-40B4-BE49-F238E27FC236}">
                    <a16:creationId xmlns:a16="http://schemas.microsoft.com/office/drawing/2014/main" id="{C578C3C3-6B5C-4FCF-35B4-491E2FF2B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4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3357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1FFBED-7ADC-DEA8-174B-D3DA3FCE2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Quick note on diffusion </a:t>
            </a:r>
            <a:r>
              <a:rPr lang="da-DK" dirty="0" err="1"/>
              <a:t>process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8D36A79-1053-499C-D559-16F7EF7747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2725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That </a:t>
                </a:r>
                <a:r>
                  <a:rPr lang="da-DK" dirty="0" err="1"/>
                  <a:t>means</a:t>
                </a:r>
                <a:r>
                  <a:rPr lang="da-DK" dirty="0"/>
                  <a:t> </a:t>
                </a:r>
                <a:r>
                  <a:rPr lang="da-DK" dirty="0" err="1"/>
                  <a:t>we</a:t>
                </a:r>
                <a:r>
                  <a:rPr lang="da-DK" dirty="0"/>
                  <a:t> generally do: </a:t>
                </a:r>
                <a:br>
                  <a:rPr lang="da-DK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240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a-DK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da-DK" dirty="0"/>
              </a:p>
              <a:p>
                <a:pPr lvl="1"/>
                <a:r>
                  <a:rPr lang="da-DK" dirty="0" err="1"/>
                  <a:t>Called</a:t>
                </a:r>
                <a:r>
                  <a:rPr lang="da-DK" dirty="0"/>
                  <a:t>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a-DK" dirty="0"/>
                  <a:t>-</a:t>
                </a:r>
                <a:r>
                  <a:rPr lang="da-DK" dirty="0" err="1"/>
                  <a:t>reparameterization</a:t>
                </a:r>
                <a:endParaRPr lang="da-DK" dirty="0"/>
              </a:p>
              <a:p>
                <a:r>
                  <a:rPr lang="da-DK" dirty="0"/>
                  <a:t>More algebra </a:t>
                </a:r>
                <a:r>
                  <a:rPr lang="da-DK" dirty="0" err="1"/>
                  <a:t>then</a:t>
                </a:r>
                <a:r>
                  <a:rPr lang="da-DK" dirty="0"/>
                  <a:t> </a:t>
                </a:r>
                <a:r>
                  <a:rPr lang="da-DK" dirty="0" err="1"/>
                  <a:t>leads</a:t>
                </a:r>
                <a:r>
                  <a:rPr lang="da-DK" dirty="0"/>
                  <a:t> to </a:t>
                </a:r>
                <a:r>
                  <a:rPr lang="da-DK" dirty="0" err="1"/>
                  <a:t>different</a:t>
                </a:r>
                <a:r>
                  <a:rPr lang="da-DK" dirty="0"/>
                  <a:t> ”interpretations”</a:t>
                </a:r>
              </a:p>
              <a:p>
                <a:pPr lvl="1"/>
                <a:r>
                  <a:rPr lang="da-DK" dirty="0"/>
                  <a:t>Direct </a:t>
                </a:r>
                <a:r>
                  <a:rPr lang="da-DK" dirty="0" err="1"/>
                  <a:t>noise</a:t>
                </a:r>
                <a:r>
                  <a:rPr lang="da-DK" dirty="0"/>
                  <a:t> </a:t>
                </a:r>
                <a:r>
                  <a:rPr lang="da-DK" dirty="0" err="1"/>
                  <a:t>prediction</a:t>
                </a:r>
                <a:endParaRPr lang="da-DK" dirty="0"/>
              </a:p>
              <a:p>
                <a:pPr lvl="1"/>
                <a:r>
                  <a:rPr lang="da-DK" dirty="0"/>
                  <a:t>Score-</a:t>
                </a:r>
                <a:r>
                  <a:rPr lang="da-DK" dirty="0" err="1"/>
                  <a:t>based</a:t>
                </a:r>
                <a:r>
                  <a:rPr lang="da-DK" dirty="0"/>
                  <a:t> diffusion model</a:t>
                </a:r>
              </a:p>
              <a:p>
                <a:r>
                  <a:rPr lang="da-DK" dirty="0" err="1"/>
                  <a:t>These</a:t>
                </a:r>
                <a:r>
                  <a:rPr lang="da-DK" dirty="0"/>
                  <a:t> properties hold for </a:t>
                </a:r>
                <a:r>
                  <a:rPr lang="da-DK" dirty="0" err="1"/>
                  <a:t>any</a:t>
                </a:r>
                <a:r>
                  <a:rPr lang="da-DK" dirty="0"/>
                  <a:t> kind of diffusion </a:t>
                </a:r>
                <a:r>
                  <a:rPr lang="da-DK" dirty="0" err="1"/>
                  <a:t>process</a:t>
                </a:r>
                <a:endParaRPr lang="da-DK" dirty="0"/>
              </a:p>
              <a:p>
                <a:pPr marL="457200" lvl="1" indent="0">
                  <a:buNone/>
                </a:pPr>
                <a:r>
                  <a:rPr lang="da-DK" dirty="0"/>
                  <a:t>”See </a:t>
                </a:r>
                <a:r>
                  <a:rPr lang="da-DK" dirty="0" err="1"/>
                  <a:t>many</a:t>
                </a:r>
                <a:r>
                  <a:rPr lang="da-DK" dirty="0"/>
                  <a:t> </a:t>
                </a:r>
                <a:r>
                  <a:rPr lang="da-DK" dirty="0" err="1"/>
                  <a:t>different</a:t>
                </a:r>
                <a:r>
                  <a:rPr lang="da-DK" dirty="0"/>
                  <a:t> </a:t>
                </a:r>
                <a:r>
                  <a:rPr lang="da-DK" dirty="0" err="1"/>
                  <a:t>noised</a:t>
                </a:r>
                <a:r>
                  <a:rPr lang="da-DK" dirty="0"/>
                  <a:t> versions” </a:t>
                </a:r>
                <a:r>
                  <a:rPr lang="da-DK" dirty="0">
                    <a:sym typeface="Wingdings" panose="05000000000000000000" pitchFamily="2" charset="2"/>
                  </a:rPr>
                  <a:t> ”</a:t>
                </a:r>
                <a:r>
                  <a:rPr lang="da-DK" dirty="0" err="1">
                    <a:sym typeface="Wingdings" panose="05000000000000000000" pitchFamily="2" charset="2"/>
                  </a:rPr>
                  <a:t>Infer</a:t>
                </a:r>
                <a:r>
                  <a:rPr lang="da-DK" dirty="0">
                    <a:sym typeface="Wingdings" panose="05000000000000000000" pitchFamily="2" charset="2"/>
                  </a:rPr>
                  <a:t> </a:t>
                </a:r>
                <a:r>
                  <a:rPr lang="da-DK" dirty="0" err="1">
                    <a:sym typeface="Wingdings" panose="05000000000000000000" pitchFamily="2" charset="2"/>
                  </a:rPr>
                  <a:t>where</a:t>
                </a:r>
                <a:r>
                  <a:rPr lang="da-DK" dirty="0">
                    <a:sym typeface="Wingdings" panose="05000000000000000000" pitchFamily="2" charset="2"/>
                  </a:rPr>
                  <a:t> sample </a:t>
                </a:r>
                <a:r>
                  <a:rPr lang="da-DK" dirty="0" err="1">
                    <a:sym typeface="Wingdings" panose="05000000000000000000" pitchFamily="2" charset="2"/>
                  </a:rPr>
                  <a:t>came</a:t>
                </a:r>
                <a:r>
                  <a:rPr lang="da-DK" dirty="0">
                    <a:sym typeface="Wingdings" panose="05000000000000000000" pitchFamily="2" charset="2"/>
                  </a:rPr>
                  <a:t> from”</a:t>
                </a:r>
                <a:endParaRPr lang="da-DK" dirty="0"/>
              </a:p>
              <a:p>
                <a:pPr lvl="1"/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8D36A79-1053-499C-D559-16F7EF7747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27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BA6567B5-82F0-7A6C-3419-7D813635886C}"/>
                  </a:ext>
                </a:extLst>
              </p:cNvPr>
              <p:cNvSpPr txBox="1"/>
              <p:nvPr/>
            </p:nvSpPr>
            <p:spPr>
              <a:xfrm>
                <a:off x="-452437" y="5211202"/>
                <a:ext cx="13096874" cy="9766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a-DK" sz="1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a-DK" sz="1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a-DK" sz="18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da-DK" sz="1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da-DK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a-DK" sz="1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da-DK" sz="1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da-DK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∼</m:t>
                                  </m:r>
                                  <m:r>
                                    <a:rPr lang="da-DK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da-DK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a-DK" sz="1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da-DK" sz="1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a-DK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da-DK" sz="18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da-DK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da-DK" sz="1800" b="0" i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func>
                                    </m:e>
                                  </m:d>
                                  <m:r>
                                    <a:rPr lang="da-DK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a-DK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da-DK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𝐾𝐿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da-DK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a-DK" sz="18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1:</m:t>
                                              </m:r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da-DK" sz="1800" b="0" i="1" smtClean="0">
                                          <a:latin typeface="Cambria Math" panose="02040503050406030204" pitchFamily="18" charset="0"/>
                                        </a:rPr>
                                        <m:t>||</m:t>
                                      </m:r>
                                      <m:r>
                                        <a:rPr lang="da-DK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da-DK" sz="18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  <m:r>
                                        <a:rPr lang="da-DK" sz="18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  <m:r>
                                    <a:rPr lang="da-DK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da-DK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da-DK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da-DK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=2</m:t>
                                      </m:r>
                                    </m:sub>
                                    <m:sup>
                                      <m:r>
                                        <a:rPr lang="da-DK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𝔼</m:t>
                                          </m:r>
                                        </m:e>
                                        <m:sub>
                                          <m: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d>
                                            <m:dPr>
                                              <m:ctrlP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sub>
                                      </m:sSub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𝐾𝐿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da-DK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da-DK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da-DK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da-DK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da-DK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da-DK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da-DK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da-DK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da-DK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da-DK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||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|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da-DK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BA6567B5-82F0-7A6C-3419-7D8136358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2437" y="5211202"/>
                <a:ext cx="13096874" cy="976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43409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68D4-3773-6FB2-9634-A7661272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DA906C-7866-1837-0478-6B6A07D5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Quick diffusion </a:t>
            </a:r>
            <a:r>
              <a:rPr lang="da-DK" dirty="0" err="1"/>
              <a:t>process</a:t>
            </a:r>
            <a:r>
              <a:rPr lang="da-DK" dirty="0"/>
              <a:t> note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8CCB98A3-224B-0E34-8E6C-9A6C713F81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5575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No </a:t>
                </a:r>
                <a:r>
                  <a:rPr lang="da-DK" dirty="0" err="1"/>
                  <a:t>different</a:t>
                </a:r>
                <a:r>
                  <a:rPr lang="da-DK" dirty="0"/>
                  <a:t> for </a:t>
                </a:r>
                <a:r>
                  <a:rPr lang="da-DK" dirty="0" err="1"/>
                  <a:t>discrete</a:t>
                </a:r>
                <a:r>
                  <a:rPr lang="da-DK" dirty="0"/>
                  <a:t> diffusion </a:t>
                </a:r>
                <a:r>
                  <a:rPr lang="da-DK" dirty="0" err="1"/>
                  <a:t>process</a:t>
                </a:r>
                <a:endParaRPr lang="da-DK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a-DK" dirty="0"/>
                  <a:t> single </a:t>
                </a:r>
                <a:r>
                  <a:rPr lang="da-DK" dirty="0" err="1"/>
                  <a:t>token</a:t>
                </a:r>
                <a:r>
                  <a:rPr lang="da-DK" dirty="0"/>
                  <a:t>/species at time t in </a:t>
                </a:r>
                <a:r>
                  <a:rPr lang="da-DK" dirty="0" err="1"/>
                  <a:t>sequence</a:t>
                </a: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r>
                  <a:rPr lang="da-DK" dirty="0"/>
                  <a:t>And from </a:t>
                </a:r>
                <a:r>
                  <a:rPr lang="da-DK" dirty="0" err="1"/>
                  <a:t>this</a:t>
                </a:r>
                <a:r>
                  <a:rPr lang="da-DK" dirty="0"/>
                  <a:t> definition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get</a:t>
                </a:r>
                <a:r>
                  <a:rPr lang="da-DK" dirty="0"/>
                  <a:t>:</a:t>
                </a: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8CCB98A3-224B-0E34-8E6C-9A6C713F81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5575"/>
                <a:ext cx="10515600" cy="4351338"/>
              </a:xfrm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11B5BFD7-12A9-EE4D-927C-95D833EB3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971" y="70543"/>
            <a:ext cx="4037779" cy="3698977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FCBFFCBE-5175-71A5-78FB-AECF891BD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22" y="2415392"/>
            <a:ext cx="4037779" cy="445729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BBD8090F-EFAD-C6EA-BCA4-8480DBCD0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0021" y="2476331"/>
            <a:ext cx="3028950" cy="323850"/>
          </a:xfrm>
          <a:prstGeom prst="rect">
            <a:avLst/>
          </a:prstGeom>
        </p:spPr>
      </p:pic>
      <p:pic>
        <p:nvPicPr>
          <p:cNvPr id="9" name="Billede 8" descr="Et billede, der indeholder tekst, Font/skrifttype, linje/række, håndskrift&#10;&#10;AI-genereret indhold kan være ukorrekt.">
            <a:extLst>
              <a:ext uri="{FF2B5EF4-FFF2-40B4-BE49-F238E27FC236}">
                <a16:creationId xmlns:a16="http://schemas.microsoft.com/office/drawing/2014/main" id="{3AD31080-29A5-7228-044D-9576BECD9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619" y="3401484"/>
            <a:ext cx="7964011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30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2E25D-32F3-5107-1BB1-BCA021D4F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482"/>
            <a:ext cx="10515600" cy="1325563"/>
          </a:xfrm>
        </p:spPr>
        <p:txBody>
          <a:bodyPr/>
          <a:lstStyle/>
          <a:p>
            <a:r>
              <a:rPr lang="da-DK" dirty="0" err="1"/>
              <a:t>Discrete</a:t>
            </a:r>
            <a:r>
              <a:rPr lang="da-DK" dirty="0"/>
              <a:t> </a:t>
            </a:r>
            <a:r>
              <a:rPr lang="da-DK" dirty="0" err="1"/>
              <a:t>space</a:t>
            </a:r>
            <a:r>
              <a:rPr lang="da-DK" dirty="0"/>
              <a:t> diffusion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12FE304-1C73-11E6-E835-05E543A90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797" y="1183455"/>
            <a:ext cx="10515600" cy="4351338"/>
          </a:xfrm>
        </p:spPr>
        <p:txBody>
          <a:bodyPr/>
          <a:lstStyle/>
          <a:p>
            <a:r>
              <a:rPr lang="da-DK" dirty="0"/>
              <a:t>Q-matrices </a:t>
            </a:r>
            <a:r>
              <a:rPr lang="da-DK" dirty="0" err="1"/>
              <a:t>govern</a:t>
            </a:r>
            <a:r>
              <a:rPr lang="da-DK" dirty="0"/>
              <a:t> the transfer </a:t>
            </a:r>
            <a:r>
              <a:rPr lang="da-DK" dirty="0" err="1"/>
              <a:t>between</a:t>
            </a:r>
            <a:r>
              <a:rPr lang="da-DK" dirty="0"/>
              <a:t> </a:t>
            </a:r>
            <a:r>
              <a:rPr lang="da-DK" dirty="0" err="1"/>
              <a:t>different</a:t>
            </a:r>
            <a:br>
              <a:rPr lang="da-DK" dirty="0"/>
            </a:br>
            <a:r>
              <a:rPr lang="da-DK" dirty="0" err="1"/>
              <a:t>categories</a:t>
            </a:r>
            <a:endParaRPr lang="da-DK" dirty="0"/>
          </a:p>
          <a:p>
            <a:pPr lvl="1"/>
            <a:r>
              <a:rPr lang="da-DK" dirty="0"/>
              <a:t>Element pool: [”</a:t>
            </a:r>
            <a:r>
              <a:rPr lang="da-DK" dirty="0" err="1"/>
              <a:t>Rh</a:t>
            </a:r>
            <a:r>
              <a:rPr lang="da-DK" dirty="0"/>
              <a:t>”, ”</a:t>
            </a:r>
            <a:r>
              <a:rPr lang="da-DK" dirty="0" err="1"/>
              <a:t>Pd</a:t>
            </a:r>
            <a:r>
              <a:rPr lang="da-DK" dirty="0"/>
              <a:t>”, ”Ni”, ”Au”] </a:t>
            </a:r>
            <a:r>
              <a:rPr lang="da-DK" dirty="0">
                <a:sym typeface="Wingdings" pitchFamily="2" charset="2"/>
              </a:rPr>
              <a:t> 4 </a:t>
            </a:r>
            <a:r>
              <a:rPr lang="da-DK" dirty="0" err="1">
                <a:sym typeface="Wingdings" pitchFamily="2" charset="2"/>
              </a:rPr>
              <a:t>categories</a:t>
            </a:r>
            <a:endParaRPr lang="da-DK" dirty="0">
              <a:sym typeface="Wingdings" pitchFamily="2" charset="2"/>
            </a:endParaRPr>
          </a:p>
          <a:p>
            <a:pPr lvl="1"/>
            <a:r>
              <a:rPr lang="da-DK" dirty="0" err="1"/>
              <a:t>Example</a:t>
            </a:r>
            <a:r>
              <a:rPr lang="da-DK" dirty="0"/>
              <a:t>: ”</a:t>
            </a:r>
            <a:r>
              <a:rPr lang="da-DK" dirty="0" err="1"/>
              <a:t>Rh</a:t>
            </a:r>
            <a:r>
              <a:rPr lang="da-DK" dirty="0"/>
              <a:t>” </a:t>
            </a:r>
            <a:r>
              <a:rPr lang="da-DK" dirty="0" err="1"/>
              <a:t>coloumn</a:t>
            </a:r>
            <a:r>
              <a:rPr lang="da-DK" dirty="0"/>
              <a:t>/</a:t>
            </a:r>
            <a:r>
              <a:rPr lang="da-DK" dirty="0" err="1"/>
              <a:t>row</a:t>
            </a:r>
            <a:r>
              <a:rPr lang="da-DK" dirty="0"/>
              <a:t> </a:t>
            </a:r>
            <a:r>
              <a:rPr lang="da-DK" dirty="0" err="1"/>
              <a:t>becomes</a:t>
            </a:r>
            <a:r>
              <a:rPr lang="da-DK" dirty="0"/>
              <a:t>: [0.40, 0.20, 0.20, 0.20]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FBDDFBC-7A99-91E8-2CA8-917E6F3E0C3C}"/>
              </a:ext>
            </a:extLst>
          </p:cNvPr>
          <p:cNvSpPr/>
          <p:nvPr/>
        </p:nvSpPr>
        <p:spPr>
          <a:xfrm>
            <a:off x="2018644" y="371316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Rh</a:t>
            </a:r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4673357-24EB-D82A-5EDF-408B683D386F}"/>
              </a:ext>
            </a:extLst>
          </p:cNvPr>
          <p:cNvSpPr/>
          <p:nvPr/>
        </p:nvSpPr>
        <p:spPr>
          <a:xfrm>
            <a:off x="4192018" y="3742554"/>
            <a:ext cx="914400" cy="9144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Pd</a:t>
            </a:r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D49F2FA-0CD6-15CF-8853-4D1FD63F693B}"/>
              </a:ext>
            </a:extLst>
          </p:cNvPr>
          <p:cNvSpPr/>
          <p:nvPr/>
        </p:nvSpPr>
        <p:spPr>
          <a:xfrm>
            <a:off x="3277618" y="5087601"/>
            <a:ext cx="914400" cy="914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Au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F4EA4EE-27E7-D700-C00C-9AAC0C98DE59}"/>
              </a:ext>
            </a:extLst>
          </p:cNvPr>
          <p:cNvSpPr/>
          <p:nvPr/>
        </p:nvSpPr>
        <p:spPr>
          <a:xfrm>
            <a:off x="838200" y="4857583"/>
            <a:ext cx="914400" cy="914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Ni</a:t>
            </a:r>
          </a:p>
        </p:txBody>
      </p: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5D839C7C-00DE-9061-F230-24FA98A96B07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2799133" y="4493654"/>
            <a:ext cx="612396" cy="7278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12A38FD1-08BF-8EB2-1025-F0FE4FB10B06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1618689" y="4493654"/>
            <a:ext cx="533866" cy="4978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B7A02255-9156-A6FE-3B1F-0F8D0E0398A0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2933044" y="4170365"/>
            <a:ext cx="1258974" cy="293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Buet forbindelse 25">
            <a:extLst>
              <a:ext uri="{FF2B5EF4-FFF2-40B4-BE49-F238E27FC236}">
                <a16:creationId xmlns:a16="http://schemas.microsoft.com/office/drawing/2014/main" id="{EC8D69D9-B825-A7C7-2553-B0C69A48EA59}"/>
              </a:ext>
            </a:extLst>
          </p:cNvPr>
          <p:cNvCxnSpPr>
            <a:stCxn id="8" idx="2"/>
            <a:endCxn id="8" idx="0"/>
          </p:cNvCxnSpPr>
          <p:nvPr/>
        </p:nvCxnSpPr>
        <p:spPr>
          <a:xfrm rot="10800000" flipH="1">
            <a:off x="2018644" y="3713165"/>
            <a:ext cx="457200" cy="457200"/>
          </a:xfrm>
          <a:prstGeom prst="curvedConnector4">
            <a:avLst>
              <a:gd name="adj1" fmla="val -50000"/>
              <a:gd name="adj2" fmla="val 15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felt 30">
            <a:extLst>
              <a:ext uri="{FF2B5EF4-FFF2-40B4-BE49-F238E27FC236}">
                <a16:creationId xmlns:a16="http://schemas.microsoft.com/office/drawing/2014/main" id="{62C197F2-457E-BD27-08A7-3179712E4C72}"/>
              </a:ext>
            </a:extLst>
          </p:cNvPr>
          <p:cNvSpPr txBox="1"/>
          <p:nvPr/>
        </p:nvSpPr>
        <p:spPr>
          <a:xfrm>
            <a:off x="3277618" y="3782981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0.20</a:t>
            </a:r>
          </a:p>
        </p:txBody>
      </p:sp>
      <p:sp>
        <p:nvSpPr>
          <p:cNvPr id="32" name="Tekstfelt 31">
            <a:extLst>
              <a:ext uri="{FF2B5EF4-FFF2-40B4-BE49-F238E27FC236}">
                <a16:creationId xmlns:a16="http://schemas.microsoft.com/office/drawing/2014/main" id="{F48D1951-02D9-C9A1-27A4-AFB651258117}"/>
              </a:ext>
            </a:extLst>
          </p:cNvPr>
          <p:cNvSpPr txBox="1"/>
          <p:nvPr/>
        </p:nvSpPr>
        <p:spPr>
          <a:xfrm>
            <a:off x="3084563" y="453464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0.20</a:t>
            </a:r>
          </a:p>
        </p:txBody>
      </p:sp>
      <p:sp>
        <p:nvSpPr>
          <p:cNvPr id="33" name="Tekstfelt 32">
            <a:extLst>
              <a:ext uri="{FF2B5EF4-FFF2-40B4-BE49-F238E27FC236}">
                <a16:creationId xmlns:a16="http://schemas.microsoft.com/office/drawing/2014/main" id="{92DFFEB3-A0ED-7293-7674-9CC0E3DFD038}"/>
              </a:ext>
            </a:extLst>
          </p:cNvPr>
          <p:cNvSpPr txBox="1"/>
          <p:nvPr/>
        </p:nvSpPr>
        <p:spPr>
          <a:xfrm>
            <a:off x="1306118" y="437324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0.20</a:t>
            </a:r>
          </a:p>
        </p:txBody>
      </p:sp>
      <p:sp>
        <p:nvSpPr>
          <p:cNvPr id="34" name="Tekstfelt 33">
            <a:extLst>
              <a:ext uri="{FF2B5EF4-FFF2-40B4-BE49-F238E27FC236}">
                <a16:creationId xmlns:a16="http://schemas.microsoft.com/office/drawing/2014/main" id="{00F755FE-5520-8D41-6BF6-48028A288D98}"/>
              </a:ext>
            </a:extLst>
          </p:cNvPr>
          <p:cNvSpPr txBox="1"/>
          <p:nvPr/>
        </p:nvSpPr>
        <p:spPr>
          <a:xfrm>
            <a:off x="1213617" y="342900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0.40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DB4EECC7-442C-AA7A-5650-C90A74C11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941" y="4060971"/>
            <a:ext cx="4743034" cy="113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881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Afrundet rektangel 41">
            <a:extLst>
              <a:ext uri="{FF2B5EF4-FFF2-40B4-BE49-F238E27FC236}">
                <a16:creationId xmlns:a16="http://schemas.microsoft.com/office/drawing/2014/main" id="{CA56AD73-096D-D156-B831-A587B8AE6977}"/>
              </a:ext>
            </a:extLst>
          </p:cNvPr>
          <p:cNvSpPr/>
          <p:nvPr/>
        </p:nvSpPr>
        <p:spPr>
          <a:xfrm>
            <a:off x="366990" y="4682005"/>
            <a:ext cx="11486200" cy="1906323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sp>
        <p:nvSpPr>
          <p:cNvPr id="46" name="Afrundet rektangel 41">
            <a:extLst>
              <a:ext uri="{FF2B5EF4-FFF2-40B4-BE49-F238E27FC236}">
                <a16:creationId xmlns:a16="http://schemas.microsoft.com/office/drawing/2014/main" id="{DE63CDFB-47BA-7529-86F0-1A665C2D5EB5}"/>
              </a:ext>
            </a:extLst>
          </p:cNvPr>
          <p:cNvSpPr/>
          <p:nvPr/>
        </p:nvSpPr>
        <p:spPr>
          <a:xfrm>
            <a:off x="338810" y="2188838"/>
            <a:ext cx="11514380" cy="1952296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E6C9F2-D531-0A4B-B1A0-8270DF871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20" y="69647"/>
            <a:ext cx="10515600" cy="1325563"/>
          </a:xfrm>
        </p:spPr>
        <p:txBody>
          <a:bodyPr/>
          <a:lstStyle/>
          <a:p>
            <a:r>
              <a:rPr lang="da-DK" dirty="0" err="1"/>
              <a:t>Discrete</a:t>
            </a:r>
            <a:r>
              <a:rPr lang="da-DK" dirty="0"/>
              <a:t> </a:t>
            </a:r>
            <a:r>
              <a:rPr lang="da-DK" dirty="0" err="1"/>
              <a:t>space</a:t>
            </a:r>
            <a:r>
              <a:rPr lang="da-DK" dirty="0"/>
              <a:t> diffusion </a:t>
            </a:r>
            <a:r>
              <a:rPr lang="da-DK" dirty="0" err="1"/>
              <a:t>examples</a:t>
            </a:r>
            <a:endParaRPr lang="da-DK" dirty="0"/>
          </a:p>
        </p:txBody>
      </p:sp>
      <p:pic>
        <p:nvPicPr>
          <p:cNvPr id="5" name="Pladsholder til indhold 4" descr="Et billede, der indeholder gul, cirkel&#10;&#10;AI-genereret indhold kan være ukorrekt.">
            <a:extLst>
              <a:ext uri="{FF2B5EF4-FFF2-40B4-BE49-F238E27FC236}">
                <a16:creationId xmlns:a16="http://schemas.microsoft.com/office/drawing/2014/main" id="{558A3B2B-A7AC-DE8C-AE7B-CD8807AF6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1" y="2825368"/>
            <a:ext cx="1743254" cy="1247206"/>
          </a:xfrm>
        </p:spPr>
      </p:pic>
      <p:pic>
        <p:nvPicPr>
          <p:cNvPr id="7" name="Billede 6" descr="Et billede, der indeholder cirkel, Farverigt, gul&#10;&#10;AI-genereret indhold kan være ukorrekt.">
            <a:extLst>
              <a:ext uri="{FF2B5EF4-FFF2-40B4-BE49-F238E27FC236}">
                <a16:creationId xmlns:a16="http://schemas.microsoft.com/office/drawing/2014/main" id="{05D80E5A-52EB-4840-907D-8382D1E70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47" y="2825368"/>
            <a:ext cx="1743254" cy="1247206"/>
          </a:xfrm>
          <a:prstGeom prst="rect">
            <a:avLst/>
          </a:prstGeom>
        </p:spPr>
      </p:pic>
      <p:pic>
        <p:nvPicPr>
          <p:cNvPr id="9" name="Billede 8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18F2FD88-56CB-6E0A-78CA-5B244BA96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315" y="2818917"/>
            <a:ext cx="1721996" cy="1247207"/>
          </a:xfrm>
          <a:prstGeom prst="rect">
            <a:avLst/>
          </a:prstGeom>
        </p:spPr>
      </p:pic>
      <p:pic>
        <p:nvPicPr>
          <p:cNvPr id="11" name="Billede 10" descr="Et billede, der indeholder Farverigt, cirkel, Grafik&#10;&#10;AI-genereret indhold kan være ukorrekt.">
            <a:extLst>
              <a:ext uri="{FF2B5EF4-FFF2-40B4-BE49-F238E27FC236}">
                <a16:creationId xmlns:a16="http://schemas.microsoft.com/office/drawing/2014/main" id="{CD67B4CC-98A6-0EE9-D5F6-0DA98DF147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989" y="2832199"/>
            <a:ext cx="1729082" cy="1218861"/>
          </a:xfrm>
          <a:prstGeom prst="rect">
            <a:avLst/>
          </a:prstGeom>
        </p:spPr>
      </p:pic>
      <p:pic>
        <p:nvPicPr>
          <p:cNvPr id="13" name="Billede 12" descr="Et billede, der indeholder Farverigt, cirkel&#10;&#10;AI-genereret indhold kan være ukorrekt.">
            <a:extLst>
              <a:ext uri="{FF2B5EF4-FFF2-40B4-BE49-F238E27FC236}">
                <a16:creationId xmlns:a16="http://schemas.microsoft.com/office/drawing/2014/main" id="{28861026-A0C3-EEBA-57F9-4551CE084F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194" y="2823587"/>
            <a:ext cx="1743255" cy="1218861"/>
          </a:xfrm>
          <a:prstGeom prst="rect">
            <a:avLst/>
          </a:prstGeom>
        </p:spPr>
      </p:pic>
      <p:pic>
        <p:nvPicPr>
          <p:cNvPr id="15" name="Billede 14" descr="Et billede, der indeholder gul, cirkel&#10;&#10;AI-genereret indhold kan være ukorrekt.">
            <a:extLst>
              <a:ext uri="{FF2B5EF4-FFF2-40B4-BE49-F238E27FC236}">
                <a16:creationId xmlns:a16="http://schemas.microsoft.com/office/drawing/2014/main" id="{FE562EA9-F9D3-E769-6F08-44F1D9295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51" y="5252627"/>
            <a:ext cx="1828781" cy="1308396"/>
          </a:xfrm>
          <a:prstGeom prst="rect">
            <a:avLst/>
          </a:prstGeom>
        </p:spPr>
      </p:pic>
      <p:pic>
        <p:nvPicPr>
          <p:cNvPr id="17" name="Billede 16" descr="Et billede, der indeholder gul, cirkel&#10;&#10;AI-genereret indhold kan være ukorrekt.">
            <a:extLst>
              <a:ext uri="{FF2B5EF4-FFF2-40B4-BE49-F238E27FC236}">
                <a16:creationId xmlns:a16="http://schemas.microsoft.com/office/drawing/2014/main" id="{5E1F8DBB-4AAC-744E-6A05-1ED9CED502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327" y="5252627"/>
            <a:ext cx="1828781" cy="1308396"/>
          </a:xfrm>
          <a:prstGeom prst="rect">
            <a:avLst/>
          </a:prstGeom>
        </p:spPr>
      </p:pic>
      <p:pic>
        <p:nvPicPr>
          <p:cNvPr id="19" name="Billede 18" descr="Et billede, der indeholder cirkel, Farverigt, gul&#10;&#10;AI-genereret indhold kan være ukorrekt.">
            <a:extLst>
              <a:ext uri="{FF2B5EF4-FFF2-40B4-BE49-F238E27FC236}">
                <a16:creationId xmlns:a16="http://schemas.microsoft.com/office/drawing/2014/main" id="{AFBF53D2-1B87-E02D-8E09-ADF37CC433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369" y="5252627"/>
            <a:ext cx="1754440" cy="1308396"/>
          </a:xfrm>
          <a:prstGeom prst="rect">
            <a:avLst/>
          </a:prstGeom>
        </p:spPr>
      </p:pic>
      <p:pic>
        <p:nvPicPr>
          <p:cNvPr id="21" name="Billede 20" descr="Et billede, der indeholder Farverigt, cirkel, rød, Rav&#10;&#10;AI-genereret indhold kan være ukorrekt.">
            <a:extLst>
              <a:ext uri="{FF2B5EF4-FFF2-40B4-BE49-F238E27FC236}">
                <a16:creationId xmlns:a16="http://schemas.microsoft.com/office/drawing/2014/main" id="{DC015D71-6A3A-358A-BD98-771214A10F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987" y="5354246"/>
            <a:ext cx="1642930" cy="1092809"/>
          </a:xfrm>
          <a:prstGeom prst="rect">
            <a:avLst/>
          </a:prstGeom>
        </p:spPr>
      </p:pic>
      <p:pic>
        <p:nvPicPr>
          <p:cNvPr id="23" name="Billede 22" descr="Et billede, der indeholder rød, Farverigt, cirkel, Rav&#10;&#10;AI-genereret indhold kan være ukorrekt.">
            <a:extLst>
              <a:ext uri="{FF2B5EF4-FFF2-40B4-BE49-F238E27FC236}">
                <a16:creationId xmlns:a16="http://schemas.microsoft.com/office/drawing/2014/main" id="{71334578-AB09-7B57-E9A0-BD213F4EBD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600" y="5354246"/>
            <a:ext cx="1613194" cy="1092809"/>
          </a:xfrm>
          <a:prstGeom prst="rect">
            <a:avLst/>
          </a:prstGeom>
        </p:spPr>
      </p:pic>
      <p:cxnSp>
        <p:nvCxnSpPr>
          <p:cNvPr id="25" name="Lige pilforbindelse 24">
            <a:extLst>
              <a:ext uri="{FF2B5EF4-FFF2-40B4-BE49-F238E27FC236}">
                <a16:creationId xmlns:a16="http://schemas.microsoft.com/office/drawing/2014/main" id="{6B4DB119-72AB-1B9B-2E6C-0E5B07A1A89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138425" y="3448971"/>
            <a:ext cx="69962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Lige pilforbindelse 29">
            <a:extLst>
              <a:ext uri="{FF2B5EF4-FFF2-40B4-BE49-F238E27FC236}">
                <a16:creationId xmlns:a16="http://schemas.microsoft.com/office/drawing/2014/main" id="{1630FF1F-ACEB-F7AE-13B7-9877E829D97F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4581301" y="3442521"/>
            <a:ext cx="657014" cy="645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Lige pilforbindelse 32">
            <a:extLst>
              <a:ext uri="{FF2B5EF4-FFF2-40B4-BE49-F238E27FC236}">
                <a16:creationId xmlns:a16="http://schemas.microsoft.com/office/drawing/2014/main" id="{D5007D05-7B9B-F96E-5F9B-E3BB64E57D9C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6960311" y="3441630"/>
            <a:ext cx="655678" cy="89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Lige pilforbindelse 37">
            <a:extLst>
              <a:ext uri="{FF2B5EF4-FFF2-40B4-BE49-F238E27FC236}">
                <a16:creationId xmlns:a16="http://schemas.microsoft.com/office/drawing/2014/main" id="{BCE729E1-20E1-2644-A41C-C1AFB04BFAB2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9345071" y="3433018"/>
            <a:ext cx="656123" cy="861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Lige pilforbindelse 41">
            <a:extLst>
              <a:ext uri="{FF2B5EF4-FFF2-40B4-BE49-F238E27FC236}">
                <a16:creationId xmlns:a16="http://schemas.microsoft.com/office/drawing/2014/main" id="{A763A5A6-E4BC-95CE-94AB-84F9A43E6AE1}"/>
              </a:ext>
            </a:extLst>
          </p:cNvPr>
          <p:cNvCxnSpPr>
            <a:cxnSpLocks/>
          </p:cNvCxnSpPr>
          <p:nvPr/>
        </p:nvCxnSpPr>
        <p:spPr>
          <a:xfrm>
            <a:off x="2339071" y="5935600"/>
            <a:ext cx="558134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Lige pilforbindelse 42">
            <a:extLst>
              <a:ext uri="{FF2B5EF4-FFF2-40B4-BE49-F238E27FC236}">
                <a16:creationId xmlns:a16="http://schemas.microsoft.com/office/drawing/2014/main" id="{993E43D3-7A07-031D-2C8C-E8F5699AF628}"/>
              </a:ext>
            </a:extLst>
          </p:cNvPr>
          <p:cNvCxnSpPr>
            <a:cxnSpLocks/>
          </p:cNvCxnSpPr>
          <p:nvPr/>
        </p:nvCxnSpPr>
        <p:spPr>
          <a:xfrm flipV="1">
            <a:off x="4781947" y="5929499"/>
            <a:ext cx="517834" cy="61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Lige pilforbindelse 43">
            <a:extLst>
              <a:ext uri="{FF2B5EF4-FFF2-40B4-BE49-F238E27FC236}">
                <a16:creationId xmlns:a16="http://schemas.microsoft.com/office/drawing/2014/main" id="{2D7AAB83-8F29-1797-2C45-287DC1FC4104}"/>
              </a:ext>
            </a:extLst>
          </p:cNvPr>
          <p:cNvCxnSpPr>
            <a:cxnSpLocks/>
          </p:cNvCxnSpPr>
          <p:nvPr/>
        </p:nvCxnSpPr>
        <p:spPr>
          <a:xfrm flipV="1">
            <a:off x="7159621" y="5929149"/>
            <a:ext cx="517834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Lige pilforbindelse 44">
            <a:extLst>
              <a:ext uri="{FF2B5EF4-FFF2-40B4-BE49-F238E27FC236}">
                <a16:creationId xmlns:a16="http://schemas.microsoft.com/office/drawing/2014/main" id="{EA00A071-3106-8B31-89EE-080DB242F35C}"/>
              </a:ext>
            </a:extLst>
          </p:cNvPr>
          <p:cNvCxnSpPr>
            <a:cxnSpLocks/>
          </p:cNvCxnSpPr>
          <p:nvPr/>
        </p:nvCxnSpPr>
        <p:spPr>
          <a:xfrm flipV="1">
            <a:off x="9544827" y="5921004"/>
            <a:ext cx="517834" cy="81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5F413FCC-7459-B072-D597-A4471C890DD7}"/>
                  </a:ext>
                </a:extLst>
              </p:cNvPr>
              <p:cNvSpPr txBox="1"/>
              <p:nvPr/>
            </p:nvSpPr>
            <p:spPr>
              <a:xfrm>
                <a:off x="974261" y="2395100"/>
                <a:ext cx="53922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5F413FCC-7459-B072-D597-A4471C890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1" y="2395100"/>
                <a:ext cx="539229" cy="276999"/>
              </a:xfrm>
              <a:prstGeom prst="rect">
                <a:avLst/>
              </a:prstGeom>
              <a:blipFill>
                <a:blip r:embed="rId11"/>
                <a:stretch>
                  <a:fillRect l="-13636" r="-13636" b="-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EDF74521-D05B-4190-AD7C-4BCE3564E963}"/>
                  </a:ext>
                </a:extLst>
              </p:cNvPr>
              <p:cNvSpPr txBox="1"/>
              <p:nvPr/>
            </p:nvSpPr>
            <p:spPr>
              <a:xfrm>
                <a:off x="3470539" y="2207572"/>
                <a:ext cx="553044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EDF74521-D05B-4190-AD7C-4BCE3564E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539" y="2207572"/>
                <a:ext cx="553044" cy="51674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kstfelt 49">
                <a:extLst>
                  <a:ext uri="{FF2B5EF4-FFF2-40B4-BE49-F238E27FC236}">
                    <a16:creationId xmlns:a16="http://schemas.microsoft.com/office/drawing/2014/main" id="{CCDFFC40-B94E-AF86-1E13-990FCEF641EE}"/>
                  </a:ext>
                </a:extLst>
              </p:cNvPr>
              <p:cNvSpPr txBox="1"/>
              <p:nvPr/>
            </p:nvSpPr>
            <p:spPr>
              <a:xfrm>
                <a:off x="5859510" y="2188837"/>
                <a:ext cx="553044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0" name="Tekstfelt 49">
                <a:extLst>
                  <a:ext uri="{FF2B5EF4-FFF2-40B4-BE49-F238E27FC236}">
                    <a16:creationId xmlns:a16="http://schemas.microsoft.com/office/drawing/2014/main" id="{CCDFFC40-B94E-AF86-1E13-990FCEF64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510" y="2188837"/>
                <a:ext cx="553044" cy="5167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E127FA11-80CB-AD28-FC33-F679C14EA2AE}"/>
                  </a:ext>
                </a:extLst>
              </p:cNvPr>
              <p:cNvSpPr txBox="1"/>
              <p:nvPr/>
            </p:nvSpPr>
            <p:spPr>
              <a:xfrm>
                <a:off x="8240949" y="2207682"/>
                <a:ext cx="673704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E127FA11-80CB-AD28-FC33-F679C14EA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949" y="2207682"/>
                <a:ext cx="673704" cy="51860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2538007D-275F-2F30-6F0F-3273A91565EC}"/>
                  </a:ext>
                </a:extLst>
              </p:cNvPr>
              <p:cNvSpPr txBox="1"/>
              <p:nvPr/>
            </p:nvSpPr>
            <p:spPr>
              <a:xfrm>
                <a:off x="10629920" y="2313274"/>
                <a:ext cx="55304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2538007D-275F-2F30-6F0F-3273A9156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920" y="2313274"/>
                <a:ext cx="553045" cy="276999"/>
              </a:xfrm>
              <a:prstGeom prst="rect">
                <a:avLst/>
              </a:prstGeom>
              <a:blipFill>
                <a:blip r:embed="rId15"/>
                <a:stretch>
                  <a:fillRect l="-13333" r="-13333" b="-652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A55E791C-FD3A-9086-9A6B-047EDD05B090}"/>
                  </a:ext>
                </a:extLst>
              </p:cNvPr>
              <p:cNvSpPr txBox="1"/>
              <p:nvPr/>
            </p:nvSpPr>
            <p:spPr>
              <a:xfrm>
                <a:off x="974261" y="4886749"/>
                <a:ext cx="5420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A55E791C-FD3A-9086-9A6B-047EDD05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1" y="4886749"/>
                <a:ext cx="542059" cy="276999"/>
              </a:xfrm>
              <a:prstGeom prst="rect">
                <a:avLst/>
              </a:prstGeom>
              <a:blipFill>
                <a:blip r:embed="rId16"/>
                <a:stretch>
                  <a:fillRect l="-12360" r="-12360" b="-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C4D9EE07-7A53-6168-1790-A46A9328B3AD}"/>
                  </a:ext>
                </a:extLst>
              </p:cNvPr>
              <p:cNvSpPr txBox="1"/>
              <p:nvPr/>
            </p:nvSpPr>
            <p:spPr>
              <a:xfrm>
                <a:off x="3470538" y="4698037"/>
                <a:ext cx="555947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C4D9EE07-7A53-6168-1790-A46A9328B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538" y="4698037"/>
                <a:ext cx="555947" cy="51674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433FEC3F-46F1-CD49-B13D-C445FC08CC7A}"/>
                  </a:ext>
                </a:extLst>
              </p:cNvPr>
              <p:cNvSpPr txBox="1"/>
              <p:nvPr/>
            </p:nvSpPr>
            <p:spPr>
              <a:xfrm>
                <a:off x="5859509" y="4679302"/>
                <a:ext cx="555947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433FEC3F-46F1-CD49-B13D-C445FC08C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509" y="4679302"/>
                <a:ext cx="555947" cy="51674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kstfelt 56">
                <a:extLst>
                  <a:ext uri="{FF2B5EF4-FFF2-40B4-BE49-F238E27FC236}">
                    <a16:creationId xmlns:a16="http://schemas.microsoft.com/office/drawing/2014/main" id="{F21D7847-FBBD-578F-FABD-1F1C88828F2C}"/>
                  </a:ext>
                </a:extLst>
              </p:cNvPr>
              <p:cNvSpPr txBox="1"/>
              <p:nvPr/>
            </p:nvSpPr>
            <p:spPr>
              <a:xfrm>
                <a:off x="8240949" y="4698137"/>
                <a:ext cx="677241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7" name="Tekstfelt 56">
                <a:extLst>
                  <a:ext uri="{FF2B5EF4-FFF2-40B4-BE49-F238E27FC236}">
                    <a16:creationId xmlns:a16="http://schemas.microsoft.com/office/drawing/2014/main" id="{F21D7847-FBBD-578F-FABD-1F1C88828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949" y="4698137"/>
                <a:ext cx="677241" cy="51860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kstfelt 57">
                <a:extLst>
                  <a:ext uri="{FF2B5EF4-FFF2-40B4-BE49-F238E27FC236}">
                    <a16:creationId xmlns:a16="http://schemas.microsoft.com/office/drawing/2014/main" id="{9595AA4E-655A-5DDA-247C-B5D7ABCB36B3}"/>
                  </a:ext>
                </a:extLst>
              </p:cNvPr>
              <p:cNvSpPr txBox="1"/>
              <p:nvPr/>
            </p:nvSpPr>
            <p:spPr>
              <a:xfrm>
                <a:off x="10629920" y="4804923"/>
                <a:ext cx="555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8" name="Tekstfelt 57">
                <a:extLst>
                  <a:ext uri="{FF2B5EF4-FFF2-40B4-BE49-F238E27FC236}">
                    <a16:creationId xmlns:a16="http://schemas.microsoft.com/office/drawing/2014/main" id="{9595AA4E-655A-5DDA-247C-B5D7ABCB3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920" y="4804923"/>
                <a:ext cx="555948" cy="276999"/>
              </a:xfrm>
              <a:prstGeom prst="rect">
                <a:avLst/>
              </a:prstGeom>
              <a:blipFill>
                <a:blip r:embed="rId20"/>
                <a:stretch>
                  <a:fillRect l="-12088" r="-12088" b="-652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kstfelt 58">
                <a:extLst>
                  <a:ext uri="{FF2B5EF4-FFF2-40B4-BE49-F238E27FC236}">
                    <a16:creationId xmlns:a16="http://schemas.microsoft.com/office/drawing/2014/main" id="{DF9085CE-E868-5463-3EE3-8017049C9C98}"/>
                  </a:ext>
                </a:extLst>
              </p:cNvPr>
              <p:cNvSpPr txBox="1"/>
              <p:nvPr/>
            </p:nvSpPr>
            <p:spPr>
              <a:xfrm>
                <a:off x="3560560" y="1818154"/>
                <a:ext cx="5354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a-DK" dirty="0"/>
                  <a:t>Uniform diffusion;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</a:t>
                </a:r>
              </a:p>
            </p:txBody>
          </p:sp>
        </mc:Choice>
        <mc:Fallback xmlns="">
          <p:sp>
            <p:nvSpPr>
              <p:cNvPr id="59" name="Tekstfelt 58">
                <a:extLst>
                  <a:ext uri="{FF2B5EF4-FFF2-40B4-BE49-F238E27FC236}">
                    <a16:creationId xmlns:a16="http://schemas.microsoft.com/office/drawing/2014/main" id="{DF9085CE-E868-5463-3EE3-8017049C9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560" y="1818154"/>
                <a:ext cx="5354093" cy="369332"/>
              </a:xfrm>
              <a:prstGeom prst="rect">
                <a:avLst/>
              </a:prstGeom>
              <a:blipFill>
                <a:blip r:embed="rId21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kstfelt 59">
                <a:extLst>
                  <a:ext uri="{FF2B5EF4-FFF2-40B4-BE49-F238E27FC236}">
                    <a16:creationId xmlns:a16="http://schemas.microsoft.com/office/drawing/2014/main" id="{6126F798-F216-B334-5BDD-3D62EF92C2BD}"/>
                  </a:ext>
                </a:extLst>
              </p:cNvPr>
              <p:cNvSpPr txBox="1"/>
              <p:nvPr/>
            </p:nvSpPr>
            <p:spPr>
              <a:xfrm>
                <a:off x="3343369" y="4312673"/>
                <a:ext cx="5505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a-DK" dirty="0"/>
                  <a:t>Absorbing diffusion;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60" name="Tekstfelt 59">
                <a:extLst>
                  <a:ext uri="{FF2B5EF4-FFF2-40B4-BE49-F238E27FC236}">
                    <a16:creationId xmlns:a16="http://schemas.microsoft.com/office/drawing/2014/main" id="{6126F798-F216-B334-5BDD-3D62EF92C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369" y="4312673"/>
                <a:ext cx="5505261" cy="369332"/>
              </a:xfrm>
              <a:prstGeom prst="rect">
                <a:avLst/>
              </a:prstGeom>
              <a:blipFill>
                <a:blip r:embed="rId22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A02B88E3-0307-6BBA-547B-D21444663802}"/>
                  </a:ext>
                </a:extLst>
              </p:cNvPr>
              <p:cNvSpPr txBox="1"/>
              <p:nvPr/>
            </p:nvSpPr>
            <p:spPr>
              <a:xfrm>
                <a:off x="433451" y="1293354"/>
                <a:ext cx="59974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Used </a:t>
                </a:r>
                <a:r>
                  <a:rPr lang="da-DK" dirty="0" err="1"/>
                  <a:t>Exponential</a:t>
                </a:r>
                <a:r>
                  <a:rPr lang="da-DK" dirty="0"/>
                  <a:t> </a:t>
                </a:r>
                <a:r>
                  <a:rPr lang="da-DK" dirty="0" err="1"/>
                  <a:t>schedule</a:t>
                </a:r>
                <a:r>
                  <a:rPr lang="da-DK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A02B88E3-0307-6BBA-547B-D21444663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51" y="1293354"/>
                <a:ext cx="5997411" cy="369332"/>
              </a:xfrm>
              <a:prstGeom prst="rect">
                <a:avLst/>
              </a:prstGeom>
              <a:blipFill>
                <a:blip r:embed="rId23"/>
                <a:stretch>
                  <a:fillRect l="-634" t="-6452" b="-225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5781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DD5EE-3E7F-39CB-B56B-7F46C70C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EBFF1B-AD52-8FE6-E259-AC6916617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Quick diffusion </a:t>
            </a:r>
            <a:r>
              <a:rPr lang="da-DK" dirty="0" err="1"/>
              <a:t>process</a:t>
            </a:r>
            <a:r>
              <a:rPr lang="da-DK" dirty="0"/>
              <a:t> note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354F7489-79A5-6995-574E-232BAA81A7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5575"/>
                <a:ext cx="10944225" cy="4351338"/>
              </a:xfrm>
            </p:spPr>
            <p:txBody>
              <a:bodyPr>
                <a:normAutofit/>
              </a:bodyPr>
              <a:lstStyle/>
              <a:p>
                <a:r>
                  <a:rPr lang="da-DK" dirty="0"/>
                  <a:t>No </a:t>
                </a:r>
                <a:r>
                  <a:rPr lang="da-DK" dirty="0" err="1"/>
                  <a:t>different</a:t>
                </a:r>
                <a:r>
                  <a:rPr lang="da-DK" dirty="0"/>
                  <a:t> for </a:t>
                </a:r>
                <a:r>
                  <a:rPr lang="da-DK" dirty="0" err="1"/>
                  <a:t>discrete</a:t>
                </a:r>
                <a:r>
                  <a:rPr lang="da-DK" dirty="0"/>
                  <a:t> diffusion </a:t>
                </a:r>
                <a:r>
                  <a:rPr lang="da-DK" dirty="0" err="1"/>
                  <a:t>process</a:t>
                </a:r>
                <a:endParaRPr lang="da-DK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a-DK" dirty="0"/>
                  <a:t> single </a:t>
                </a:r>
                <a:r>
                  <a:rPr lang="da-DK" dirty="0" err="1"/>
                  <a:t>token</a:t>
                </a:r>
                <a:r>
                  <a:rPr lang="da-DK" dirty="0"/>
                  <a:t>/species at time t in </a:t>
                </a:r>
                <a:r>
                  <a:rPr lang="da-DK" dirty="0" err="1"/>
                  <a:t>sequence</a:t>
                </a: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r>
                  <a:rPr lang="da-DK" dirty="0"/>
                  <a:t>And from </a:t>
                </a:r>
                <a:r>
                  <a:rPr lang="da-DK" dirty="0" err="1"/>
                  <a:t>this</a:t>
                </a:r>
                <a:r>
                  <a:rPr lang="da-DK" dirty="0"/>
                  <a:t> definition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get</a:t>
                </a:r>
                <a:r>
                  <a:rPr lang="da-DK" dirty="0"/>
                  <a:t>:</a:t>
                </a:r>
              </a:p>
              <a:p>
                <a:endParaRPr lang="da-DK" dirty="0"/>
              </a:p>
              <a:p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r>
                  <a:rPr lang="da-DK" dirty="0"/>
                  <a:t>And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a-DK" dirty="0"/>
                  <a:t>-</a:t>
                </a:r>
                <a:r>
                  <a:rPr lang="da-DK" dirty="0" err="1"/>
                  <a:t>reparameterization</a:t>
                </a:r>
                <a:r>
                  <a:rPr lang="da-DK" dirty="0"/>
                  <a:t> ”sum over all </a:t>
                </a:r>
                <a:r>
                  <a:rPr lang="da-DK" dirty="0" err="1"/>
                  <a:t>possible</a:t>
                </a:r>
                <a:r>
                  <a:rPr lang="da-DK" dirty="0"/>
                  <a:t> versions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a-DK" dirty="0"/>
                  <a:t>”</a:t>
                </a: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354F7489-79A5-6995-574E-232BAA81A7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5575"/>
                <a:ext cx="10944225" cy="4351338"/>
              </a:xfrm>
              <a:blipFill>
                <a:blip r:embed="rId2"/>
                <a:stretch>
                  <a:fillRect l="-1003" t="-252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6BF36FD4-B9E8-37CB-A899-6872FD805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971" y="70543"/>
            <a:ext cx="4037779" cy="3698977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FAE758AA-CAC7-784B-86EF-9F3CD1C81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22" y="2415392"/>
            <a:ext cx="4037779" cy="445729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384D5402-81C5-91E1-DCBB-5C4C1F479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0021" y="2476331"/>
            <a:ext cx="3028950" cy="323850"/>
          </a:xfrm>
          <a:prstGeom prst="rect">
            <a:avLst/>
          </a:prstGeom>
        </p:spPr>
      </p:pic>
      <p:pic>
        <p:nvPicPr>
          <p:cNvPr id="9" name="Billede 8" descr="Et billede, der indeholder tekst, Font/skrifttype, linje/række, håndskrift&#10;&#10;AI-genereret indhold kan være ukorrekt.">
            <a:extLst>
              <a:ext uri="{FF2B5EF4-FFF2-40B4-BE49-F238E27FC236}">
                <a16:creationId xmlns:a16="http://schemas.microsoft.com/office/drawing/2014/main" id="{9959A6FD-2CAF-0E14-12AE-621638F3A2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619" y="3401484"/>
            <a:ext cx="7964011" cy="1190791"/>
          </a:xfrm>
          <a:prstGeom prst="rect">
            <a:avLst/>
          </a:prstGeom>
        </p:spPr>
      </p:pic>
      <p:pic>
        <p:nvPicPr>
          <p:cNvPr id="8" name="Billede 7" descr="Et billede, der indeholder Font/skrifttype, tekst, hvid, linje/række&#10;&#10;AI-genereret indhold kan være ukorrekt.">
            <a:extLst>
              <a:ext uri="{FF2B5EF4-FFF2-40B4-BE49-F238E27FC236}">
                <a16:creationId xmlns:a16="http://schemas.microsoft.com/office/drawing/2014/main" id="{9E7C82BF-043A-5DD8-B862-C7E4E1EA48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8739" y="5460012"/>
            <a:ext cx="5081770" cy="84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097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E2F90F-CD01-8C1A-A1BE-EDCB6763D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else</a:t>
            </a:r>
            <a:r>
              <a:rPr lang="da-DK" dirty="0"/>
              <a:t> have I </a:t>
            </a:r>
            <a:r>
              <a:rPr lang="da-DK" dirty="0" err="1"/>
              <a:t>been</a:t>
            </a:r>
            <a:r>
              <a:rPr lang="da-DK" dirty="0"/>
              <a:t> </a:t>
            </a:r>
            <a:r>
              <a:rPr lang="da-DK" dirty="0" err="1"/>
              <a:t>doing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5802939-2E74-841A-74DF-6DFD0FCB8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Implemented</a:t>
            </a:r>
            <a:r>
              <a:rPr lang="da-DK" dirty="0"/>
              <a:t> </a:t>
            </a:r>
            <a:r>
              <a:rPr lang="da-DK" dirty="0" err="1"/>
              <a:t>stability</a:t>
            </a:r>
            <a:r>
              <a:rPr lang="da-DK" dirty="0"/>
              <a:t> as </a:t>
            </a:r>
            <a:r>
              <a:rPr lang="da-DK" dirty="0" err="1"/>
              <a:t>condition</a:t>
            </a:r>
            <a:r>
              <a:rPr lang="da-DK" dirty="0"/>
              <a:t> </a:t>
            </a:r>
            <a:r>
              <a:rPr lang="da-DK" dirty="0" err="1"/>
              <a:t>aswell</a:t>
            </a:r>
            <a:endParaRPr lang="da-DK" dirty="0"/>
          </a:p>
          <a:p>
            <a:r>
              <a:rPr lang="da-DK" dirty="0" err="1"/>
              <a:t>Went</a:t>
            </a:r>
            <a:r>
              <a:rPr lang="da-DK" dirty="0"/>
              <a:t> from </a:t>
            </a:r>
            <a:r>
              <a:rPr lang="da-DK" dirty="0" err="1"/>
              <a:t>only</a:t>
            </a:r>
            <a:r>
              <a:rPr lang="da-DK" dirty="0"/>
              <a:t> </a:t>
            </a:r>
            <a:r>
              <a:rPr lang="da-DK" dirty="0" err="1"/>
              <a:t>considering</a:t>
            </a:r>
            <a:r>
              <a:rPr lang="da-DK" dirty="0"/>
              <a:t> nearest </a:t>
            </a:r>
            <a:r>
              <a:rPr lang="da-DK" dirty="0" err="1"/>
              <a:t>neighbors</a:t>
            </a:r>
            <a:r>
              <a:rPr lang="da-DK" dirty="0"/>
              <a:t> to </a:t>
            </a:r>
            <a:r>
              <a:rPr lang="da-DK" dirty="0" err="1"/>
              <a:t>whole</a:t>
            </a:r>
            <a:r>
              <a:rPr lang="da-DK" dirty="0"/>
              <a:t> </a:t>
            </a:r>
            <a:r>
              <a:rPr lang="da-DK" dirty="0" err="1"/>
              <a:t>surface</a:t>
            </a:r>
            <a:endParaRPr lang="da-DK" dirty="0"/>
          </a:p>
          <a:p>
            <a:pPr lvl="1"/>
            <a:r>
              <a:rPr lang="da-DK" dirty="0"/>
              <a:t>Same task just more elements</a:t>
            </a: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7" name="Billede 6" descr="Et billede, der indeholder gul, tegneserie&#10;&#10;AI-genereret indhold kan være ukorrekt.">
            <a:extLst>
              <a:ext uri="{FF2B5EF4-FFF2-40B4-BE49-F238E27FC236}">
                <a16:creationId xmlns:a16="http://schemas.microsoft.com/office/drawing/2014/main" id="{E6A09B3C-D3C6-46EC-6CEC-16DC65A23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074" y="3677786"/>
            <a:ext cx="3377426" cy="2533069"/>
          </a:xfrm>
          <a:prstGeom prst="rect">
            <a:avLst/>
          </a:prstGeom>
        </p:spPr>
      </p:pic>
      <p:pic>
        <p:nvPicPr>
          <p:cNvPr id="9" name="Billede 8" descr="Et billede, der indeholder gul, tegneserie&#10;&#10;AI-genereret indhold kan være ukorrekt.">
            <a:extLst>
              <a:ext uri="{FF2B5EF4-FFF2-40B4-BE49-F238E27FC236}">
                <a16:creationId xmlns:a16="http://schemas.microsoft.com/office/drawing/2014/main" id="{49D0078A-E8FE-4D10-9DB5-36267152D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3429000"/>
            <a:ext cx="3646876" cy="2735157"/>
          </a:xfrm>
          <a:prstGeom prst="rect">
            <a:avLst/>
          </a:prstGeom>
        </p:spPr>
      </p:pic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6838016A-9F5E-0C80-C7C1-93F1DB76970F}"/>
              </a:ext>
            </a:extLst>
          </p:cNvPr>
          <p:cNvCxnSpPr/>
          <p:nvPr/>
        </p:nvCxnSpPr>
        <p:spPr>
          <a:xfrm>
            <a:off x="4953000" y="4752975"/>
            <a:ext cx="188595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888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6C8B66-495E-4B8E-E77F-F279AFB9E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Stability</a:t>
            </a:r>
            <a:r>
              <a:rPr lang="da-DK" dirty="0"/>
              <a:t> </a:t>
            </a:r>
            <a:r>
              <a:rPr lang="da-DK" dirty="0" err="1"/>
              <a:t>estimation</a:t>
            </a:r>
            <a:endParaRPr lang="da-DK" dirty="0"/>
          </a:p>
        </p:txBody>
      </p:sp>
      <p:pic>
        <p:nvPicPr>
          <p:cNvPr id="7" name="Pladsholder til indhold 6">
            <a:extLst>
              <a:ext uri="{FF2B5EF4-FFF2-40B4-BE49-F238E27FC236}">
                <a16:creationId xmlns:a16="http://schemas.microsoft.com/office/drawing/2014/main" id="{F14949DB-C979-17C5-8648-8BCEFF40D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2201" y="51362"/>
            <a:ext cx="4887030" cy="2748954"/>
          </a:xfrm>
        </p:spPr>
      </p:pic>
      <p:sp>
        <p:nvSpPr>
          <p:cNvPr id="12" name="Tekstfelt 11">
            <a:extLst>
              <a:ext uri="{FF2B5EF4-FFF2-40B4-BE49-F238E27FC236}">
                <a16:creationId xmlns:a16="http://schemas.microsoft.com/office/drawing/2014/main" id="{3ED9E4CF-8842-03C1-3454-320F7725A870}"/>
              </a:ext>
            </a:extLst>
          </p:cNvPr>
          <p:cNvSpPr txBox="1"/>
          <p:nvPr/>
        </p:nvSpPr>
        <p:spPr>
          <a:xfrm>
            <a:off x="713232" y="1681285"/>
            <a:ext cx="57863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To </a:t>
            </a:r>
            <a:r>
              <a:rPr lang="da-DK" dirty="0" err="1"/>
              <a:t>estimate</a:t>
            </a:r>
            <a:r>
              <a:rPr lang="da-DK" dirty="0"/>
              <a:t> </a:t>
            </a:r>
            <a:r>
              <a:rPr lang="da-DK" dirty="0" err="1"/>
              <a:t>stability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first</a:t>
            </a:r>
            <a:r>
              <a:rPr lang="da-DK" dirty="0"/>
              <a:t> </a:t>
            </a:r>
            <a:r>
              <a:rPr lang="da-DK" dirty="0" err="1"/>
              <a:t>apply</a:t>
            </a:r>
            <a:r>
              <a:rPr lang="da-DK" dirty="0"/>
              <a:t> inversion </a:t>
            </a:r>
            <a:r>
              <a:rPr lang="da-DK" dirty="0" err="1"/>
              <a:t>symmetry</a:t>
            </a:r>
            <a:endParaRPr lang="da-D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Take </a:t>
            </a:r>
            <a:r>
              <a:rPr lang="da-DK" dirty="0" err="1"/>
              <a:t>invert</a:t>
            </a:r>
            <a:r>
              <a:rPr lang="da-DK" dirty="0"/>
              <a:t> </a:t>
            </a:r>
            <a:r>
              <a:rPr lang="da-DK" dirty="0" err="1"/>
              <a:t>through</a:t>
            </a:r>
            <a:r>
              <a:rPr lang="da-DK" dirty="0"/>
              <a:t> inversion center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</p:txBody>
      </p:sp>
      <p:pic>
        <p:nvPicPr>
          <p:cNvPr id="14" name="Billede 13" descr="Et billede, der indeholder blomst, gul&#10;&#10;AI-genereret indhold kan være ukorrekt.">
            <a:extLst>
              <a:ext uri="{FF2B5EF4-FFF2-40B4-BE49-F238E27FC236}">
                <a16:creationId xmlns:a16="http://schemas.microsoft.com/office/drawing/2014/main" id="{091C43A5-1925-33EF-C59E-5125D1B70E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03165"/>
            <a:ext cx="1499224" cy="3813815"/>
          </a:xfrm>
          <a:prstGeom prst="rect">
            <a:avLst/>
          </a:prstGeom>
        </p:spPr>
      </p:pic>
      <p:pic>
        <p:nvPicPr>
          <p:cNvPr id="16" name="Billede 15" descr="Et billede, der indeholder gul&#10;&#10;AI-genereret indhold kan være ukorrekt.">
            <a:extLst>
              <a:ext uri="{FF2B5EF4-FFF2-40B4-BE49-F238E27FC236}">
                <a16:creationId xmlns:a16="http://schemas.microsoft.com/office/drawing/2014/main" id="{D23CE4D0-8766-69F1-47F0-CEC4AD5AFA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506" y="2072630"/>
            <a:ext cx="1425583" cy="4674883"/>
          </a:xfrm>
          <a:prstGeom prst="rect">
            <a:avLst/>
          </a:prstGeom>
        </p:spPr>
      </p:pic>
      <p:cxnSp>
        <p:nvCxnSpPr>
          <p:cNvPr id="18" name="Lige forbindelse 17">
            <a:extLst>
              <a:ext uri="{FF2B5EF4-FFF2-40B4-BE49-F238E27FC236}">
                <a16:creationId xmlns:a16="http://schemas.microsoft.com/office/drawing/2014/main" id="{045B33F4-83CB-8AC4-000C-F17CCD19ED8F}"/>
              </a:ext>
            </a:extLst>
          </p:cNvPr>
          <p:cNvCxnSpPr/>
          <p:nvPr/>
        </p:nvCxnSpPr>
        <p:spPr>
          <a:xfrm flipH="1">
            <a:off x="1181100" y="5057775"/>
            <a:ext cx="1156324" cy="1238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69BE6E9B-ADF0-49DC-2E91-B939C5254E88}"/>
              </a:ext>
            </a:extLst>
          </p:cNvPr>
          <p:cNvCxnSpPr>
            <a:cxnSpLocks/>
          </p:cNvCxnSpPr>
          <p:nvPr/>
        </p:nvCxnSpPr>
        <p:spPr>
          <a:xfrm flipH="1" flipV="1">
            <a:off x="969264" y="4882896"/>
            <a:ext cx="211836" cy="2987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ge forbindelse 25">
            <a:extLst>
              <a:ext uri="{FF2B5EF4-FFF2-40B4-BE49-F238E27FC236}">
                <a16:creationId xmlns:a16="http://schemas.microsoft.com/office/drawing/2014/main" id="{957AFAED-8B90-683E-9BDB-742179A6E41E}"/>
              </a:ext>
            </a:extLst>
          </p:cNvPr>
          <p:cNvCxnSpPr>
            <a:cxnSpLocks/>
          </p:cNvCxnSpPr>
          <p:nvPr/>
        </p:nvCxnSpPr>
        <p:spPr>
          <a:xfrm flipH="1">
            <a:off x="4851765" y="4530385"/>
            <a:ext cx="1156324" cy="1238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ge forbindelse 26">
            <a:extLst>
              <a:ext uri="{FF2B5EF4-FFF2-40B4-BE49-F238E27FC236}">
                <a16:creationId xmlns:a16="http://schemas.microsoft.com/office/drawing/2014/main" id="{528A4580-ED9A-2AA3-7342-415FF0B0985E}"/>
              </a:ext>
            </a:extLst>
          </p:cNvPr>
          <p:cNvCxnSpPr>
            <a:cxnSpLocks/>
          </p:cNvCxnSpPr>
          <p:nvPr/>
        </p:nvCxnSpPr>
        <p:spPr>
          <a:xfrm flipH="1" flipV="1">
            <a:off x="4654296" y="4270248"/>
            <a:ext cx="197469" cy="3839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ige pilforbindelse 33">
            <a:extLst>
              <a:ext uri="{FF2B5EF4-FFF2-40B4-BE49-F238E27FC236}">
                <a16:creationId xmlns:a16="http://schemas.microsoft.com/office/drawing/2014/main" id="{75C8D5C8-4C6B-A30E-16C2-F14366B5FE00}"/>
              </a:ext>
            </a:extLst>
          </p:cNvPr>
          <p:cNvCxnSpPr>
            <a:cxnSpLocks/>
          </p:cNvCxnSpPr>
          <p:nvPr/>
        </p:nvCxnSpPr>
        <p:spPr>
          <a:xfrm>
            <a:off x="2633472" y="4530385"/>
            <a:ext cx="16916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ktangel 36">
            <a:extLst>
              <a:ext uri="{FF2B5EF4-FFF2-40B4-BE49-F238E27FC236}">
                <a16:creationId xmlns:a16="http://schemas.microsoft.com/office/drawing/2014/main" id="{AE92B69E-BC76-EDAB-183E-136FFE142A52}"/>
              </a:ext>
            </a:extLst>
          </p:cNvPr>
          <p:cNvSpPr/>
          <p:nvPr/>
        </p:nvSpPr>
        <p:spPr>
          <a:xfrm>
            <a:off x="2816351" y="3282093"/>
            <a:ext cx="1274683" cy="923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5DEE6F70-DDB4-5402-291D-65EDDF470510}"/>
              </a:ext>
            </a:extLst>
          </p:cNvPr>
          <p:cNvSpPr/>
          <p:nvPr/>
        </p:nvSpPr>
        <p:spPr>
          <a:xfrm>
            <a:off x="3414245" y="373927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Tekstfelt 38">
            <a:extLst>
              <a:ext uri="{FF2B5EF4-FFF2-40B4-BE49-F238E27FC236}">
                <a16:creationId xmlns:a16="http://schemas.microsoft.com/office/drawing/2014/main" id="{7BE3D8C8-FCCE-BB11-3C9A-DD5EE425C7F3}"/>
              </a:ext>
            </a:extLst>
          </p:cNvPr>
          <p:cNvSpPr txBox="1"/>
          <p:nvPr/>
        </p:nvSpPr>
        <p:spPr>
          <a:xfrm>
            <a:off x="2544816" y="4654210"/>
            <a:ext cx="1780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Apply</a:t>
            </a:r>
            <a:r>
              <a:rPr lang="da-DK" dirty="0"/>
              <a:t> </a:t>
            </a:r>
            <a:r>
              <a:rPr lang="da-DK" dirty="0" err="1"/>
              <a:t>symmetry</a:t>
            </a:r>
            <a:endParaRPr lang="da-DK" dirty="0"/>
          </a:p>
        </p:txBody>
      </p:sp>
      <p:sp>
        <p:nvSpPr>
          <p:cNvPr id="40" name="Tekstfelt 39">
            <a:extLst>
              <a:ext uri="{FF2B5EF4-FFF2-40B4-BE49-F238E27FC236}">
                <a16:creationId xmlns:a16="http://schemas.microsoft.com/office/drawing/2014/main" id="{353A19B7-4EFB-FD03-8B2E-E7B8CA5FC8EF}"/>
              </a:ext>
            </a:extLst>
          </p:cNvPr>
          <p:cNvSpPr txBox="1"/>
          <p:nvPr/>
        </p:nvSpPr>
        <p:spPr>
          <a:xfrm>
            <a:off x="2525088" y="2822182"/>
            <a:ext cx="1908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Top-view of plane</a:t>
            </a:r>
          </a:p>
        </p:txBody>
      </p:sp>
    </p:spTree>
    <p:extLst>
      <p:ext uri="{BB962C8B-B14F-4D97-AF65-F5344CB8AC3E}">
        <p14:creationId xmlns:p14="http://schemas.microsoft.com/office/powerpoint/2010/main" val="31024478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E3A55D-5387-9A07-011C-762938340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Stability</a:t>
            </a:r>
            <a:r>
              <a:rPr lang="da-DK" dirty="0"/>
              <a:t> </a:t>
            </a:r>
            <a:r>
              <a:rPr lang="da-DK" dirty="0" err="1"/>
              <a:t>estimation</a:t>
            </a:r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E9A8E1F-44DC-70A4-E8A8-82322A1BCC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Workflow</a:t>
                </a:r>
              </a:p>
              <a:p>
                <a:pPr lvl="1"/>
                <a:r>
                  <a:rPr lang="da-DK" dirty="0"/>
                  <a:t>Select elements of </a:t>
                </a:r>
                <a:r>
                  <a:rPr lang="da-DK" dirty="0" err="1"/>
                  <a:t>slab</a:t>
                </a:r>
                <a:endParaRPr lang="da-DK" dirty="0"/>
              </a:p>
              <a:p>
                <a:pPr lvl="1"/>
                <a:r>
                  <a:rPr lang="da-DK" dirty="0" err="1"/>
                  <a:t>Apply</a:t>
                </a:r>
                <a:r>
                  <a:rPr lang="da-DK" dirty="0"/>
                  <a:t> inversion</a:t>
                </a:r>
              </a:p>
              <a:p>
                <a:pPr lvl="1"/>
                <a:r>
                  <a:rPr lang="da-DK" dirty="0"/>
                  <a:t>Do variable </a:t>
                </a:r>
                <a:r>
                  <a:rPr lang="da-DK" dirty="0" err="1"/>
                  <a:t>cell</a:t>
                </a:r>
                <a:r>
                  <a:rPr lang="da-DK" dirty="0"/>
                  <a:t> </a:t>
                </a:r>
                <a:r>
                  <a:rPr lang="da-DK" dirty="0" err="1"/>
                  <a:t>relaxation</a:t>
                </a:r>
                <a:r>
                  <a:rPr lang="da-DK" dirty="0"/>
                  <a:t> with MLIP</a:t>
                </a:r>
              </a:p>
              <a:p>
                <a:pPr lvl="1"/>
                <a:r>
                  <a:rPr lang="da-DK" dirty="0" err="1"/>
                  <a:t>Get</a:t>
                </a:r>
                <a:r>
                  <a:rPr lang="da-DK" dirty="0"/>
                  <a:t> </a:t>
                </a:r>
                <a:r>
                  <a:rPr lang="da-DK" dirty="0" err="1"/>
                  <a:t>estimate</a:t>
                </a:r>
                <a:r>
                  <a:rPr lang="da-DK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E9A8E1F-44DC-70A4-E8A8-82322A1BCC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80453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09F65B-C620-7454-7891-81381FD87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Workflow for </a:t>
            </a:r>
            <a:r>
              <a:rPr lang="da-DK" dirty="0" err="1"/>
              <a:t>stability</a:t>
            </a:r>
            <a:endParaRPr lang="da-DK" dirty="0"/>
          </a:p>
        </p:txBody>
      </p:sp>
      <p:pic>
        <p:nvPicPr>
          <p:cNvPr id="5" name="Pladsholder til indhold 4" descr="Et billede, der indeholder Farverigt, tegneserie&#10;&#10;AI-genereret indhold kan være ukorrekt.">
            <a:extLst>
              <a:ext uri="{FF2B5EF4-FFF2-40B4-BE49-F238E27FC236}">
                <a16:creationId xmlns:a16="http://schemas.microsoft.com/office/drawing/2014/main" id="{3C8CC7E1-8AF5-0067-BB03-9AE90D142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03" y="2273300"/>
            <a:ext cx="1534542" cy="3903662"/>
          </a:xfrm>
        </p:spPr>
      </p:pic>
      <p:pic>
        <p:nvPicPr>
          <p:cNvPr id="7" name="Billede 6" descr="Et billede, der indeholder tegneserie, Farverigt&#10;&#10;AI-genereret indhold kan være ukorrekt.">
            <a:extLst>
              <a:ext uri="{FF2B5EF4-FFF2-40B4-BE49-F238E27FC236}">
                <a16:creationId xmlns:a16="http://schemas.microsoft.com/office/drawing/2014/main" id="{C79EC4AF-17A0-A126-6DBD-6830E4E3D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012" y="2273300"/>
            <a:ext cx="1201127" cy="3903662"/>
          </a:xfrm>
          <a:prstGeom prst="rect">
            <a:avLst/>
          </a:prstGeom>
        </p:spPr>
      </p:pic>
      <p:pic>
        <p:nvPicPr>
          <p:cNvPr id="9" name="Billede 8" descr="Et billede, der indeholder tegning, skitse, Børnekunst, kunst&#10;&#10;AI-genereret indhold kan være ukorrekt.">
            <a:extLst>
              <a:ext uri="{FF2B5EF4-FFF2-40B4-BE49-F238E27FC236}">
                <a16:creationId xmlns:a16="http://schemas.microsoft.com/office/drawing/2014/main" id="{2E95E867-221B-AE29-DAF6-6BE7BC3DC4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963" y="1824235"/>
            <a:ext cx="6402388" cy="4801791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7D01A71F-5E34-B978-8F9F-7CF9A8124D86}"/>
              </a:ext>
            </a:extLst>
          </p:cNvPr>
          <p:cNvSpPr txBox="1"/>
          <p:nvPr/>
        </p:nvSpPr>
        <p:spPr>
          <a:xfrm>
            <a:off x="685800" y="1904999"/>
            <a:ext cx="2257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Choose</a:t>
            </a:r>
            <a:r>
              <a:rPr lang="da-DK" dirty="0"/>
              <a:t> </a:t>
            </a:r>
            <a:r>
              <a:rPr lang="da-DK" dirty="0" err="1"/>
              <a:t>composition</a:t>
            </a:r>
            <a:endParaRPr lang="da-DK" dirty="0"/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BBCF8CD6-96B2-D7B6-94DA-B883ABD6B089}"/>
              </a:ext>
            </a:extLst>
          </p:cNvPr>
          <p:cNvSpPr txBox="1"/>
          <p:nvPr/>
        </p:nvSpPr>
        <p:spPr>
          <a:xfrm>
            <a:off x="2724150" y="3970893"/>
            <a:ext cx="1689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Apply</a:t>
            </a:r>
            <a:r>
              <a:rPr lang="da-DK" dirty="0"/>
              <a:t> inversion</a:t>
            </a:r>
          </a:p>
        </p:txBody>
      </p: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F566FD31-BAB9-1FD6-DE49-6C84EBE6323F}"/>
              </a:ext>
            </a:extLst>
          </p:cNvPr>
          <p:cNvCxnSpPr/>
          <p:nvPr/>
        </p:nvCxnSpPr>
        <p:spPr>
          <a:xfrm>
            <a:off x="2724150" y="4457700"/>
            <a:ext cx="188595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E08E0FE4-0931-7B1B-B364-30CA00278928}"/>
              </a:ext>
            </a:extLst>
          </p:cNvPr>
          <p:cNvSpPr txBox="1"/>
          <p:nvPr/>
        </p:nvSpPr>
        <p:spPr>
          <a:xfrm>
            <a:off x="6415065" y="3970893"/>
            <a:ext cx="2748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Do variable </a:t>
            </a:r>
            <a:r>
              <a:rPr lang="da-DK" dirty="0" err="1"/>
              <a:t>cell</a:t>
            </a:r>
            <a:r>
              <a:rPr lang="da-DK" dirty="0"/>
              <a:t> </a:t>
            </a:r>
            <a:r>
              <a:rPr lang="da-DK" dirty="0" err="1"/>
              <a:t>relaxation</a:t>
            </a:r>
            <a:endParaRPr lang="da-DK" dirty="0"/>
          </a:p>
        </p:txBody>
      </p: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C3D42D7D-9B29-D39E-E1D7-7667E30BF7E8}"/>
              </a:ext>
            </a:extLst>
          </p:cNvPr>
          <p:cNvCxnSpPr/>
          <p:nvPr/>
        </p:nvCxnSpPr>
        <p:spPr>
          <a:xfrm>
            <a:off x="6665912" y="4457700"/>
            <a:ext cx="188595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7998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DA127A-4E7D-10A8-1924-52E31516A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Very</a:t>
            </a:r>
            <a:r>
              <a:rPr lang="da-DK" dirty="0"/>
              <a:t> </a:t>
            </a:r>
            <a:r>
              <a:rPr lang="da-DK" dirty="0" err="1"/>
              <a:t>preliminary</a:t>
            </a:r>
            <a:r>
              <a:rPr lang="da-DK" dirty="0"/>
              <a:t> </a:t>
            </a:r>
            <a:r>
              <a:rPr lang="da-DK" dirty="0" err="1"/>
              <a:t>results</a:t>
            </a:r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43C12046-9D90-80C7-E943-A99BB4822F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1000 </a:t>
                </a:r>
                <a:r>
                  <a:rPr lang="da-DK" dirty="0" err="1"/>
                  <a:t>structures</a:t>
                </a:r>
                <a:r>
                  <a:rPr lang="da-DK" dirty="0"/>
                  <a:t> with </a:t>
                </a:r>
                <a:r>
                  <a:rPr lang="da-DK" dirty="0" err="1"/>
                  <a:t>random</a:t>
                </a:r>
                <a:r>
                  <a:rPr lang="da-DK" dirty="0"/>
                  <a:t> </a:t>
                </a:r>
                <a:r>
                  <a:rPr lang="da-DK" dirty="0" err="1"/>
                  <a:t>search</a:t>
                </a:r>
                <a:endParaRPr lang="da-DK" dirty="0"/>
              </a:p>
              <a:p>
                <a:pPr lvl="1"/>
                <a:r>
                  <a:rPr lang="da-DK" dirty="0"/>
                  <a:t>rate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da-DK" dirty="0"/>
              </a:p>
              <a:p>
                <a:r>
                  <a:rPr lang="da-DK" dirty="0"/>
                  <a:t>CHGNet </a:t>
                </a:r>
                <a:r>
                  <a:rPr lang="da-DK" dirty="0" err="1"/>
                  <a:t>used</a:t>
                </a:r>
                <a:r>
                  <a:rPr lang="da-DK" dirty="0"/>
                  <a:t> for </a:t>
                </a:r>
                <a:r>
                  <a:rPr lang="da-DK" dirty="0" err="1"/>
                  <a:t>relaxation</a:t>
                </a:r>
                <a:endParaRPr lang="da-DK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=0.05[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𝑒𝑉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Å</m:t>
                        </m:r>
                      </m:den>
                    </m:f>
                    <m:r>
                      <a:rPr lang="da-DK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da-DK" dirty="0"/>
              </a:p>
              <a:p>
                <a:r>
                  <a:rPr lang="da-DK" dirty="0"/>
                  <a:t>Cross = </a:t>
                </a:r>
                <a:r>
                  <a:rPr lang="da-DK" dirty="0" err="1"/>
                  <a:t>condition</a:t>
                </a:r>
                <a:endParaRPr lang="da-DK" dirty="0"/>
              </a:p>
              <a:p>
                <a:pPr lvl="1"/>
                <a:r>
                  <a:rPr lang="da-DK" dirty="0" err="1"/>
                  <a:t>Only</a:t>
                </a:r>
                <a:r>
                  <a:rPr lang="da-DK" dirty="0"/>
                  <a:t> 20 samples per </a:t>
                </a:r>
                <a:r>
                  <a:rPr lang="da-DK" dirty="0" err="1"/>
                  <a:t>condition</a:t>
                </a:r>
                <a:endParaRPr lang="da-DK" dirty="0"/>
              </a:p>
              <a:p>
                <a:pPr lvl="1"/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43C12046-9D90-80C7-E943-A99BB4822F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lede 4" descr="Et billede, der indeholder skærmbillede, kort&#10;&#10;AI-genereret indhold kan være ukorrekt.">
            <a:extLst>
              <a:ext uri="{FF2B5EF4-FFF2-40B4-BE49-F238E27FC236}">
                <a16:creationId xmlns:a16="http://schemas.microsoft.com/office/drawing/2014/main" id="{EA67409D-C648-26EF-F3FB-BD70A20E1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824" y="2582013"/>
            <a:ext cx="5220462" cy="391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907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1557</Words>
  <Application>Microsoft Office PowerPoint</Application>
  <PresentationFormat>Widescreen</PresentationFormat>
  <Paragraphs>390</Paragraphs>
  <Slides>42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42</vt:i4>
      </vt:variant>
    </vt:vector>
  </HeadingPairs>
  <TitlesOfParts>
    <vt:vector size="48" baseType="lpstr">
      <vt:lpstr>Aptos</vt:lpstr>
      <vt:lpstr>Aptos Display</vt:lpstr>
      <vt:lpstr>Arial</vt:lpstr>
      <vt:lpstr>Cambria Math</vt:lpstr>
      <vt:lpstr>Wingdings</vt:lpstr>
      <vt:lpstr>Office-tema</vt:lpstr>
      <vt:lpstr>Diffusion models</vt:lpstr>
      <vt:lpstr>Outline</vt:lpstr>
      <vt:lpstr>Brief summary</vt:lpstr>
      <vt:lpstr>Brief summary</vt:lpstr>
      <vt:lpstr>Brief summary</vt:lpstr>
      <vt:lpstr>Review of final model implementation</vt:lpstr>
      <vt:lpstr>Embedding block</vt:lpstr>
      <vt:lpstr>Embedding block</vt:lpstr>
      <vt:lpstr>Embedding block</vt:lpstr>
      <vt:lpstr>Embedding block</vt:lpstr>
      <vt:lpstr>Embedding block</vt:lpstr>
      <vt:lpstr>Embedding block</vt:lpstr>
      <vt:lpstr>Embedding block</vt:lpstr>
      <vt:lpstr>Embedding block</vt:lpstr>
      <vt:lpstr>Next up: Interaction block</vt:lpstr>
      <vt:lpstr>Interaction block</vt:lpstr>
      <vt:lpstr>Interaction block</vt:lpstr>
      <vt:lpstr>Interaction block</vt:lpstr>
      <vt:lpstr>Interaction block</vt:lpstr>
      <vt:lpstr>Interaction block</vt:lpstr>
      <vt:lpstr>Next: Global distance aware interaction</vt:lpstr>
      <vt:lpstr>Global distance aware interaction</vt:lpstr>
      <vt:lpstr>Global distance aware interaction</vt:lpstr>
      <vt:lpstr>Finally: Logit head</vt:lpstr>
      <vt:lpstr>Review of final model implementation</vt:lpstr>
      <vt:lpstr>Quick note on diffusion models</vt:lpstr>
      <vt:lpstr>Quick note on diffusion process</vt:lpstr>
      <vt:lpstr>Quick note on diffusion process</vt:lpstr>
      <vt:lpstr>Quick note on diffusion process</vt:lpstr>
      <vt:lpstr>Quick note on diffusion process</vt:lpstr>
      <vt:lpstr>Quick note on diffusion process</vt:lpstr>
      <vt:lpstr>Quick note on diffusion process</vt:lpstr>
      <vt:lpstr>Quick note on diffusion process</vt:lpstr>
      <vt:lpstr>Quick diffusion process note</vt:lpstr>
      <vt:lpstr>Discrete space diffusion</vt:lpstr>
      <vt:lpstr>Discrete space diffusion examples</vt:lpstr>
      <vt:lpstr>Quick diffusion process note</vt:lpstr>
      <vt:lpstr>What else have I been doing</vt:lpstr>
      <vt:lpstr>Stability estimation</vt:lpstr>
      <vt:lpstr>Stability estimation</vt:lpstr>
      <vt:lpstr>Workflow for stability</vt:lpstr>
      <vt:lpstr>Very preliminary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Karsten Walz Jensen</dc:creator>
  <cp:lastModifiedBy>Karsten Walz Jensen</cp:lastModifiedBy>
  <cp:revision>15</cp:revision>
  <dcterms:created xsi:type="dcterms:W3CDTF">2026-03-18T10:55:50Z</dcterms:created>
  <dcterms:modified xsi:type="dcterms:W3CDTF">2026-03-19T07:38:02Z</dcterms:modified>
</cp:coreProperties>
</file>