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947" r:id="rId3"/>
    <p:sldId id="948" r:id="rId4"/>
    <p:sldId id="257" r:id="rId5"/>
    <p:sldId id="949" r:id="rId6"/>
    <p:sldId id="966" r:id="rId7"/>
    <p:sldId id="964" r:id="rId8"/>
    <p:sldId id="941" r:id="rId9"/>
    <p:sldId id="969" r:id="rId10"/>
    <p:sldId id="962" r:id="rId11"/>
    <p:sldId id="946" r:id="rId12"/>
    <p:sldId id="258" r:id="rId13"/>
    <p:sldId id="967" r:id="rId14"/>
    <p:sldId id="965" r:id="rId15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1D8"/>
    <a:srgbClr val="C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47"/>
    <p:restoredTop sz="94638"/>
  </p:normalViewPr>
  <p:slideViewPr>
    <p:cSldViewPr snapToGrid="0">
      <p:cViewPr>
        <p:scale>
          <a:sx n="97" d="100"/>
          <a:sy n="97" d="100"/>
        </p:scale>
        <p:origin x="144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B78552-CC39-B140-A72F-275FA32BFDC9}" type="datetimeFigureOut">
              <a:rPr lang="da-DK" smtClean="0"/>
              <a:t>30.09.2025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016230-B633-F54D-AC77-D78DBB14EEA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22265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24895-C82B-201C-287C-D9640AE27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CF1DAC0-F5E9-BA50-38A5-63DD934C9F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52C7357-7BE0-8453-4DE4-9A6939F41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Could we use another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color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CO to not confuse it with the carboxyl path?</a:t>
            </a:r>
          </a:p>
          <a:p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 made </a:t>
            </a:r>
            <a:r>
              <a:rPr lang="en-GB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dark blue</a:t>
            </a:r>
            <a:endParaRPr lang="en-GB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B33CD35-0197-EAEE-D175-58F351CF8A2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CB9E19B-BFA2-87EA-CD54-676FD8A34E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546D05-D909-41EF-B0C2-7821E802C0FF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663366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2F2EE-1D1F-CC87-96A6-8633DC029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F83B22F-5B72-B549-AF26-78FD3D0CAA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</p:spPr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D8F4CBC-4B14-EBA2-9C27-6499B29137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Could we use another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color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 CO to not confuse it with the carboxyl path?</a:t>
            </a:r>
          </a:p>
          <a:p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 made it dark blue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4815894-9AC4-2DC4-97B5-E0B0F2445D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F78B750-306E-1E00-F380-7FDF5044CF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5546D05-D909-41EF-B0C2-7821E802C0FF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56200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Change plots </a:t>
            </a:r>
            <a:r>
              <a:rPr lang="da-DK" dirty="0" err="1"/>
              <a:t>into</a:t>
            </a:r>
            <a:r>
              <a:rPr lang="da-DK" dirty="0"/>
              <a:t> distributions </a:t>
            </a:r>
            <a:r>
              <a:rPr lang="da-DK" dirty="0" err="1"/>
              <a:t>instead</a:t>
            </a:r>
            <a:r>
              <a:rPr lang="da-DK" dirty="0"/>
              <a:t>. </a:t>
            </a:r>
          </a:p>
          <a:p>
            <a:r>
              <a:rPr lang="da-DK" dirty="0" err="1"/>
              <a:t>Implement</a:t>
            </a:r>
            <a:r>
              <a:rPr lang="da-DK" dirty="0"/>
              <a:t> diffusion model </a:t>
            </a:r>
            <a:r>
              <a:rPr lang="da-DK" dirty="0">
                <a:sym typeface="Wingdings" pitchFamily="2" charset="2"/>
              </a:rPr>
              <a:t> Check </a:t>
            </a:r>
            <a:r>
              <a:rPr lang="da-DK" dirty="0" err="1">
                <a:sym typeface="Wingdings" pitchFamily="2" charset="2"/>
              </a:rPr>
              <a:t>whether</a:t>
            </a:r>
            <a:r>
              <a:rPr lang="da-DK" dirty="0">
                <a:sym typeface="Wingdings" pitchFamily="2" charset="2"/>
              </a:rPr>
              <a:t> it is </a:t>
            </a:r>
            <a:r>
              <a:rPr lang="da-DK" dirty="0" err="1">
                <a:sym typeface="Wingdings" pitchFamily="2" charset="2"/>
              </a:rPr>
              <a:t>better</a:t>
            </a:r>
            <a:r>
              <a:rPr lang="da-DK" dirty="0">
                <a:sym typeface="Wingdings" pitchFamily="2" charset="2"/>
              </a:rPr>
              <a:t> – Find </a:t>
            </a:r>
            <a:r>
              <a:rPr lang="da-DK" dirty="0" err="1">
                <a:sym typeface="Wingdings" pitchFamily="2" charset="2"/>
              </a:rPr>
              <a:t>different</a:t>
            </a:r>
            <a:r>
              <a:rPr lang="da-DK" dirty="0">
                <a:sym typeface="Wingdings" pitchFamily="2" charset="2"/>
              </a:rPr>
              <a:t> </a:t>
            </a:r>
            <a:r>
              <a:rPr lang="da-DK" dirty="0" err="1">
                <a:sym typeface="Wingdings" pitchFamily="2" charset="2"/>
              </a:rPr>
              <a:t>training</a:t>
            </a:r>
            <a:r>
              <a:rPr lang="da-DK" dirty="0">
                <a:sym typeface="Wingdings" pitchFamily="2" charset="2"/>
              </a:rPr>
              <a:t> </a:t>
            </a:r>
            <a:r>
              <a:rPr lang="da-DK" dirty="0" err="1">
                <a:sym typeface="Wingdings" pitchFamily="2" charset="2"/>
              </a:rPr>
              <a:t>schemes</a:t>
            </a:r>
            <a:r>
              <a:rPr lang="da-DK" dirty="0">
                <a:sym typeface="Wingdings" pitchFamily="2" charset="2"/>
              </a:rPr>
              <a:t> and </a:t>
            </a:r>
            <a:r>
              <a:rPr lang="da-DK" dirty="0" err="1">
                <a:sym typeface="Wingdings" pitchFamily="2" charset="2"/>
              </a:rPr>
              <a:t>other</a:t>
            </a:r>
            <a:r>
              <a:rPr lang="da-DK" dirty="0">
                <a:sym typeface="Wingdings" pitchFamily="2" charset="2"/>
              </a:rPr>
              <a:t>.</a:t>
            </a:r>
          </a:p>
          <a:p>
            <a:r>
              <a:rPr lang="da-DK" dirty="0">
                <a:sym typeface="Wingdings" pitchFamily="2" charset="2"/>
              </a:rPr>
              <a:t>Try to </a:t>
            </a:r>
            <a:r>
              <a:rPr lang="da-DK" dirty="0" err="1">
                <a:sym typeface="Wingdings" pitchFamily="2" charset="2"/>
              </a:rPr>
              <a:t>change</a:t>
            </a:r>
            <a:r>
              <a:rPr lang="da-DK" dirty="0">
                <a:sym typeface="Wingdings" pitchFamily="2" charset="2"/>
              </a:rPr>
              <a:t> the </a:t>
            </a:r>
            <a:r>
              <a:rPr lang="da-DK" dirty="0" err="1">
                <a:sym typeface="Wingdings" pitchFamily="2" charset="2"/>
              </a:rPr>
              <a:t>random</a:t>
            </a:r>
            <a:r>
              <a:rPr lang="da-DK" dirty="0">
                <a:sym typeface="Wingdings" pitchFamily="2" charset="2"/>
              </a:rPr>
              <a:t> </a:t>
            </a:r>
            <a:r>
              <a:rPr lang="da-DK" dirty="0" err="1">
                <a:sym typeface="Wingdings" pitchFamily="2" charset="2"/>
              </a:rPr>
              <a:t>searching</a:t>
            </a:r>
            <a:r>
              <a:rPr lang="da-DK" dirty="0">
                <a:sym typeface="Wingdings" pitchFamily="2" charset="2"/>
              </a:rPr>
              <a:t> to </a:t>
            </a:r>
            <a:r>
              <a:rPr lang="da-DK" dirty="0" err="1">
                <a:sym typeface="Wingdings" pitchFamily="2" charset="2"/>
              </a:rPr>
              <a:t>something</a:t>
            </a:r>
            <a:r>
              <a:rPr lang="da-DK" dirty="0">
                <a:sym typeface="Wingdings" pitchFamily="2" charset="2"/>
              </a:rPr>
              <a:t> </a:t>
            </a:r>
            <a:r>
              <a:rPr lang="da-DK" dirty="0" err="1">
                <a:sym typeface="Wingdings" pitchFamily="2" charset="2"/>
              </a:rPr>
              <a:t>that</a:t>
            </a:r>
            <a:r>
              <a:rPr lang="da-DK" dirty="0">
                <a:sym typeface="Wingdings" pitchFamily="2" charset="2"/>
              </a:rPr>
              <a:t> </a:t>
            </a:r>
            <a:r>
              <a:rPr lang="da-DK" dirty="0" err="1">
                <a:sym typeface="Wingdings" pitchFamily="2" charset="2"/>
              </a:rPr>
              <a:t>depends</a:t>
            </a:r>
            <a:r>
              <a:rPr lang="da-DK" dirty="0">
                <a:sym typeface="Wingdings" pitchFamily="2" charset="2"/>
              </a:rPr>
              <a:t> on prior info.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016230-B633-F54D-AC77-D78DBB14EEAF}" type="slidenum">
              <a:rPr lang="da-DK" smtClean="0"/>
              <a:t>14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90209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830495-2624-DD60-E32B-D98DFD24EF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331B20CD-C2CF-EB7E-B36A-FCFEEADD86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A1EC2639-FC8D-2300-5220-BC819F715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D68BC-5D62-2845-9C29-1698F070BA5C}" type="datetimeFigureOut">
              <a:rPr lang="da-DK" smtClean="0"/>
              <a:t>30.09.2025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58C86E8F-58A3-49C1-A95F-EA9A4C807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FB1EB99B-9AD4-C77B-7EEC-3CFA6100A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DC1BE-62FE-5144-BD89-B144E489CC06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04668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768516-FD11-7394-2EA7-DD0A72101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540A73B-0F5D-529C-E4F3-CBA182DC0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119DDF8-639F-56F1-AC17-F112A1FF0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D68BC-5D62-2845-9C29-1698F070BA5C}" type="datetimeFigureOut">
              <a:rPr lang="da-DK" smtClean="0"/>
              <a:t>30.09.2025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D370323F-517E-F46E-9EBB-08023FD54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AFC8445D-6790-517C-02F6-DCC01F8DE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DC1BE-62FE-5144-BD89-B144E489CC06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616233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6E0EF2-1CCF-C810-C39C-9C276DEDE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27176ACB-F822-3422-CB35-36098CD79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92547545-F38A-1B16-3659-91B8F0833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D68BC-5D62-2845-9C29-1698F070BA5C}" type="datetimeFigureOut">
              <a:rPr lang="da-DK" smtClean="0"/>
              <a:t>30.09.2025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59E25CBB-CA39-F98F-9409-874A8C0A4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BBFB683B-3A6C-5564-5BAD-5B4151AAC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DC1BE-62FE-5144-BD89-B144E489CC06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263552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5ACD6F-0B3C-CF82-0B51-76F5F1D5B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962FB90-3B70-0762-223A-EA09C31CEA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113EE322-8E9E-9A0D-47D1-F230DFC8D0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CA3CEC09-E6C4-C3E2-F2D0-BE05798C4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D68BC-5D62-2845-9C29-1698F070BA5C}" type="datetimeFigureOut">
              <a:rPr lang="da-DK" smtClean="0"/>
              <a:t>30.09.2025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3FFAE1BC-6698-51BE-401B-A738C765F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89B23A31-3A35-CB6D-35A1-EC7CA9685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DC1BE-62FE-5144-BD89-B144E489CC06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1530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9A912B-BF4B-AC08-0B2E-CD55496BC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8E827F0-1D84-80E2-0054-0747B19C56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41303F74-18BE-6533-7B20-BC121ECCE5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5AC04FA3-910E-4B0F-28BF-47F8D3789E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159609A1-010C-C5D8-3690-53ADD1B0D1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3CD7DCB7-DC45-9CC4-D768-1161DF871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D68BC-5D62-2845-9C29-1698F070BA5C}" type="datetimeFigureOut">
              <a:rPr lang="da-DK" smtClean="0"/>
              <a:t>30.09.2025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6FA00DA8-A667-0851-1FB4-A1F6027A5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2C3BE8B7-E1C0-36DC-F6DD-ABB3488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DC1BE-62FE-5144-BD89-B144E489CC06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31632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7EA244-12A4-A261-EF31-D9DAD1655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45680F88-58E2-CE66-84FA-6A21510BD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D68BC-5D62-2845-9C29-1698F070BA5C}" type="datetimeFigureOut">
              <a:rPr lang="da-DK" smtClean="0"/>
              <a:t>30.09.2025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66156FCC-A374-CAA3-67ED-1B5C91416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C165CE67-4611-1C69-425B-3F11CAC7C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DC1BE-62FE-5144-BD89-B144E489CC06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06048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32C5D985-F654-F167-2E42-071426C36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D68BC-5D62-2845-9C29-1698F070BA5C}" type="datetimeFigureOut">
              <a:rPr lang="da-DK" smtClean="0"/>
              <a:t>30.09.2025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D7E9FEF2-9246-EB60-81EE-57B86A86F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F8206C7B-9156-F0AD-282D-C6F96E758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DC1BE-62FE-5144-BD89-B144E489CC06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37312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6A7527-00F9-B993-8CDD-3B581F2E3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17DF425-A794-3685-1593-72CA3DA15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C7676E51-111C-E733-8322-5E56A837DD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02A14A08-8F74-07EE-AE3B-D9D3D524E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D68BC-5D62-2845-9C29-1698F070BA5C}" type="datetimeFigureOut">
              <a:rPr lang="da-DK" smtClean="0"/>
              <a:t>30.09.2025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D0AC78D7-A308-B464-F0C0-5161C18E9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C9B405BB-845C-DC16-8C72-5AAAAE7C0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DC1BE-62FE-5144-BD89-B144E489CC06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42325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F4CAA9-7AB3-B27D-0DD4-6FC706809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72747646-4591-2D5F-3BEE-AF9BBF2C83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63D4A8E-5E48-9907-3056-1AF3FD0A2A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AA9717F5-E2F4-CD31-55A1-DE33530C2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D68BC-5D62-2845-9C29-1698F070BA5C}" type="datetimeFigureOut">
              <a:rPr lang="da-DK" smtClean="0"/>
              <a:t>30.09.2025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B60D74FE-AA1D-5749-26CC-B50D7C35C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3E2B4B4A-BF92-7C1D-102D-2F7F61C58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DC1BE-62FE-5144-BD89-B144E489CC06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65998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CDBEF6-604B-DC1C-76E5-6AFA90FA1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D5462912-C3DA-ED81-56D9-51A63D7BEB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08AD999F-1011-0580-DD6B-AEA21E1A6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D68BC-5D62-2845-9C29-1698F070BA5C}" type="datetimeFigureOut">
              <a:rPr lang="da-DK" smtClean="0"/>
              <a:t>30.09.2025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86EA13B-4B23-E34F-4B50-062D506BE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DB41AC26-2543-784B-D1CB-478E19642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DC1BE-62FE-5144-BD89-B144E489CC06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25252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48FAAC81-DBC5-06CA-AF51-79FAF07726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EAA8E62D-73E0-4921-86B3-9A4FC5A53B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3716CA37-70E0-081E-1CE4-6DD206AE1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2D68BC-5D62-2845-9C29-1698F070BA5C}" type="datetimeFigureOut">
              <a:rPr lang="da-DK" smtClean="0"/>
              <a:t>30.09.2025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710EB643-9237-BA3A-397E-3E5CE546F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CAA3630E-603F-B0E2-C630-31F6D6588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EDC1BE-62FE-5144-BD89-B144E489CC06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4872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27FAA623-473E-8CE2-D297-35DE2698E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348D7B5-A770-1B8F-6D47-3838790111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4589606-4538-DAE0-1113-7CC2F30176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2D68BC-5D62-2845-9C29-1698F070BA5C}" type="datetimeFigureOut">
              <a:rPr lang="da-DK" smtClean="0"/>
              <a:t>30.09.2025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023FFCAE-E662-89D6-F664-FB2C0B87E2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4FA3D11-44EA-981F-A11B-40903416E0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EDC1BE-62FE-5144-BD89-B144E489CC06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59391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gif"/><Relationship Id="rId5" Type="http://schemas.openxmlformats.org/officeDocument/2006/relationships/image" Target="../media/image1.gif"/><Relationship Id="rId4" Type="http://schemas.openxmlformats.org/officeDocument/2006/relationships/image" Target="../media/image21.gi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18" Type="http://schemas.openxmlformats.org/officeDocument/2006/relationships/image" Target="../media/image38.png"/><Relationship Id="rId3" Type="http://schemas.openxmlformats.org/officeDocument/2006/relationships/image" Target="../media/image23.svg"/><Relationship Id="rId21" Type="http://schemas.openxmlformats.org/officeDocument/2006/relationships/image" Target="../media/image41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17" Type="http://schemas.openxmlformats.org/officeDocument/2006/relationships/image" Target="../media/image37.png"/><Relationship Id="rId2" Type="http://schemas.openxmlformats.org/officeDocument/2006/relationships/image" Target="../media/image22.png"/><Relationship Id="rId16" Type="http://schemas.openxmlformats.org/officeDocument/2006/relationships/image" Target="../media/image36.png"/><Relationship Id="rId20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5" Type="http://schemas.openxmlformats.org/officeDocument/2006/relationships/image" Target="../media/image35.png"/><Relationship Id="rId23" Type="http://schemas.openxmlformats.org/officeDocument/2006/relationships/image" Target="../media/image43.svg"/><Relationship Id="rId10" Type="http://schemas.openxmlformats.org/officeDocument/2006/relationships/image" Target="../media/image30.png"/><Relationship Id="rId19" Type="http://schemas.openxmlformats.org/officeDocument/2006/relationships/image" Target="../media/image39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Relationship Id="rId22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9CAFE8-3D36-BCB6-88B3-D2DA919BD97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Finding</a:t>
            </a:r>
            <a:r>
              <a:rPr lang="da-DK" dirty="0"/>
              <a:t>/</a:t>
            </a:r>
            <a:r>
              <a:rPr lang="da-DK" dirty="0" err="1"/>
              <a:t>Designing</a:t>
            </a:r>
            <a:r>
              <a:rPr lang="da-DK" dirty="0"/>
              <a:t> </a:t>
            </a:r>
            <a:r>
              <a:rPr lang="da-DK" dirty="0" err="1"/>
              <a:t>highly</a:t>
            </a:r>
            <a:r>
              <a:rPr lang="da-DK" dirty="0"/>
              <a:t> </a:t>
            </a:r>
            <a:r>
              <a:rPr lang="da-DK" dirty="0" err="1"/>
              <a:t>active</a:t>
            </a:r>
            <a:r>
              <a:rPr lang="da-DK" dirty="0"/>
              <a:t> </a:t>
            </a:r>
            <a:r>
              <a:rPr lang="da-DK" dirty="0" err="1"/>
              <a:t>catalysts</a:t>
            </a:r>
            <a:r>
              <a:rPr lang="da-DK" dirty="0"/>
              <a:t> with </a:t>
            </a:r>
            <a:r>
              <a:rPr lang="da-DK" dirty="0" err="1"/>
              <a:t>genAI</a:t>
            </a:r>
            <a:endParaRPr lang="da-DK" dirty="0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2AA41529-5B28-966C-4CEA-9E8F8AEA2E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78004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CFCB6B-EF6B-6DC3-6F62-9886629EF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Outline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7D516C0-4F57-C93F-666B-B643EE12CA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Problem </a:t>
            </a:r>
            <a:r>
              <a:rPr lang="da-DK" dirty="0" err="1"/>
              <a:t>introduction</a:t>
            </a:r>
            <a:endParaRPr lang="da-DK" dirty="0"/>
          </a:p>
          <a:p>
            <a:r>
              <a:rPr lang="da-DK" dirty="0"/>
              <a:t>Motivation</a:t>
            </a:r>
          </a:p>
          <a:p>
            <a:r>
              <a:rPr lang="da-DK" dirty="0" err="1"/>
              <a:t>Detailed</a:t>
            </a:r>
            <a:r>
              <a:rPr lang="da-DK" dirty="0"/>
              <a:t> </a:t>
            </a:r>
            <a:r>
              <a:rPr lang="da-DK" dirty="0" err="1"/>
              <a:t>description</a:t>
            </a:r>
            <a:endParaRPr lang="da-DK" dirty="0"/>
          </a:p>
          <a:p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preliminary</a:t>
            </a:r>
            <a:r>
              <a:rPr lang="da-DK" dirty="0"/>
              <a:t> </a:t>
            </a:r>
            <a:r>
              <a:rPr lang="da-DK" dirty="0" err="1"/>
              <a:t>results</a:t>
            </a:r>
            <a:endParaRPr lang="da-DK" dirty="0"/>
          </a:p>
          <a:p>
            <a:r>
              <a:rPr lang="da-DK" dirty="0" err="1"/>
              <a:t>What</a:t>
            </a:r>
            <a:r>
              <a:rPr lang="da-DK" dirty="0"/>
              <a:t> I </a:t>
            </a:r>
            <a:r>
              <a:rPr lang="da-DK" dirty="0" err="1"/>
              <a:t>think</a:t>
            </a:r>
            <a:r>
              <a:rPr lang="da-DK" dirty="0"/>
              <a:t> is </a:t>
            </a:r>
            <a:r>
              <a:rPr lang="da-DK" dirty="0" err="1"/>
              <a:t>next</a:t>
            </a: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11864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1AA98E-0DCD-B25D-0B83-D07899D8D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Problem </a:t>
            </a:r>
            <a:r>
              <a:rPr lang="da-DK" dirty="0" err="1"/>
              <a:t>introduction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CCE1741-C460-E9C6-FA3D-F5B1BD6A95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 err="1"/>
              <a:t>Investigate</a:t>
            </a:r>
            <a:r>
              <a:rPr lang="da-DK" dirty="0"/>
              <a:t> RWGS: CO</a:t>
            </a:r>
            <a:r>
              <a:rPr lang="da-DK" baseline="-25000" dirty="0"/>
              <a:t>2</a:t>
            </a:r>
            <a:r>
              <a:rPr lang="da-DK" dirty="0"/>
              <a:t> + H</a:t>
            </a:r>
            <a:r>
              <a:rPr lang="da-DK" baseline="-25000" dirty="0"/>
              <a:t>2 </a:t>
            </a:r>
            <a:r>
              <a:rPr lang="da-DK" dirty="0"/>
              <a:t>⇌ CO + H</a:t>
            </a:r>
            <a:r>
              <a:rPr lang="da-DK" baseline="-25000" dirty="0"/>
              <a:t>2</a:t>
            </a:r>
            <a:r>
              <a:rPr lang="da-DK" dirty="0"/>
              <a:t>O on metallic </a:t>
            </a:r>
            <a:r>
              <a:rPr lang="da-DK" dirty="0" err="1"/>
              <a:t>alloys</a:t>
            </a:r>
            <a:endParaRPr lang="da-DK" dirty="0"/>
          </a:p>
          <a:p>
            <a:r>
              <a:rPr lang="da-DK" dirty="0" err="1"/>
              <a:t>Example</a:t>
            </a:r>
            <a:r>
              <a:rPr lang="da-DK" dirty="0"/>
              <a:t>: 111-surface with </a:t>
            </a:r>
            <a:r>
              <a:rPr lang="da-DK" dirty="0" err="1"/>
              <a:t>only</a:t>
            </a:r>
            <a:r>
              <a:rPr lang="da-DK" dirty="0"/>
              <a:t> 4 </a:t>
            </a:r>
            <a:r>
              <a:rPr lang="da-DK" dirty="0" err="1"/>
              <a:t>active</a:t>
            </a:r>
            <a:r>
              <a:rPr lang="da-DK" dirty="0"/>
              <a:t> sites</a:t>
            </a:r>
          </a:p>
          <a:p>
            <a:pPr lvl="1"/>
            <a:r>
              <a:rPr lang="da-DK" dirty="0"/>
              <a:t>Element pool of 3 </a:t>
            </a:r>
            <a:r>
              <a:rPr lang="da-DK" dirty="0" err="1"/>
              <a:t>yields</a:t>
            </a:r>
            <a:r>
              <a:rPr lang="da-DK" dirty="0"/>
              <a:t> 3.5billion </a:t>
            </a:r>
            <a:r>
              <a:rPr lang="da-DK" dirty="0" err="1"/>
              <a:t>conf</a:t>
            </a:r>
            <a:r>
              <a:rPr lang="da-DK" dirty="0"/>
              <a:t>.</a:t>
            </a:r>
          </a:p>
          <a:p>
            <a:r>
              <a:rPr lang="da-DK" dirty="0" err="1"/>
              <a:t>Approximation</a:t>
            </a:r>
            <a:r>
              <a:rPr lang="da-DK" dirty="0"/>
              <a:t>: </a:t>
            </a:r>
            <a:r>
              <a:rPr lang="da-DK" dirty="0" err="1"/>
              <a:t>Ignore</a:t>
            </a:r>
            <a:r>
              <a:rPr lang="da-DK" dirty="0"/>
              <a:t> </a:t>
            </a:r>
            <a:r>
              <a:rPr lang="da-DK" dirty="0" err="1"/>
              <a:t>effect</a:t>
            </a:r>
            <a:r>
              <a:rPr lang="da-DK" dirty="0"/>
              <a:t> of </a:t>
            </a:r>
            <a:r>
              <a:rPr lang="da-DK" dirty="0" err="1"/>
              <a:t>stability</a:t>
            </a:r>
            <a:r>
              <a:rPr lang="da-DK" dirty="0"/>
              <a:t>/</a:t>
            </a:r>
            <a:r>
              <a:rPr lang="da-DK" dirty="0" err="1"/>
              <a:t>geometrical</a:t>
            </a:r>
            <a:r>
              <a:rPr lang="da-DK" dirty="0"/>
              <a:t> DOF’s.</a:t>
            </a:r>
          </a:p>
          <a:p>
            <a:r>
              <a:rPr lang="da-DK" dirty="0" err="1"/>
              <a:t>Use</a:t>
            </a:r>
            <a:r>
              <a:rPr lang="da-DK" dirty="0"/>
              <a:t> </a:t>
            </a:r>
            <a:r>
              <a:rPr lang="da-DK" dirty="0" err="1"/>
              <a:t>genAI</a:t>
            </a:r>
            <a:r>
              <a:rPr lang="da-DK" dirty="0"/>
              <a:t> </a:t>
            </a:r>
            <a:r>
              <a:rPr lang="da-DK" dirty="0" err="1"/>
              <a:t>tools</a:t>
            </a:r>
            <a:endParaRPr lang="da-DK" dirty="0"/>
          </a:p>
          <a:p>
            <a:pPr marL="457200" lvl="1" indent="0">
              <a:buNone/>
            </a:pPr>
            <a:endParaRPr lang="da-DK" dirty="0"/>
          </a:p>
          <a:p>
            <a:pPr lvl="1"/>
            <a:endParaRPr lang="da-DK" dirty="0"/>
          </a:p>
          <a:p>
            <a:endParaRPr lang="da-DK" dirty="0"/>
          </a:p>
          <a:p>
            <a:endParaRPr lang="da-DK" dirty="0"/>
          </a:p>
          <a:p>
            <a:endParaRPr lang="da-DK" dirty="0"/>
          </a:p>
        </p:txBody>
      </p:sp>
      <p:pic>
        <p:nvPicPr>
          <p:cNvPr id="4" name="Picture 34" descr="A group of yellow and brown circles&#10;&#10;AI-generated content may be incorrect.">
            <a:extLst>
              <a:ext uri="{FF2B5EF4-FFF2-40B4-BE49-F238E27FC236}">
                <a16:creationId xmlns:a16="http://schemas.microsoft.com/office/drawing/2014/main" id="{B4A93256-B485-57B9-F2A7-90EE2D1D6A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521" r="22617" b="36600"/>
          <a:stretch>
            <a:fillRect/>
          </a:stretch>
        </p:blipFill>
        <p:spPr>
          <a:xfrm>
            <a:off x="2596243" y="4249652"/>
            <a:ext cx="2954549" cy="2608348"/>
          </a:xfrm>
          <a:prstGeom prst="rect">
            <a:avLst/>
          </a:prstGeom>
        </p:spPr>
      </p:pic>
      <p:sp>
        <p:nvSpPr>
          <p:cNvPr id="5" name="TextBox 38">
            <a:extLst>
              <a:ext uri="{FF2B5EF4-FFF2-40B4-BE49-F238E27FC236}">
                <a16:creationId xmlns:a16="http://schemas.microsoft.com/office/drawing/2014/main" id="{1CEF9200-749F-4F4D-7960-4DFDBBFF5F86}"/>
              </a:ext>
            </a:extLst>
          </p:cNvPr>
          <p:cNvSpPr txBox="1"/>
          <p:nvPr/>
        </p:nvSpPr>
        <p:spPr>
          <a:xfrm>
            <a:off x="131601" y="5628196"/>
            <a:ext cx="19517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22222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Brown: site atoms</a:t>
            </a:r>
          </a:p>
        </p:txBody>
      </p:sp>
      <p:sp>
        <p:nvSpPr>
          <p:cNvPr id="6" name="TextBox 39">
            <a:extLst>
              <a:ext uri="{FF2B5EF4-FFF2-40B4-BE49-F238E27FC236}">
                <a16:creationId xmlns:a16="http://schemas.microsoft.com/office/drawing/2014/main" id="{873E7FF5-7C13-48EE-DE91-95699F1B76EF}"/>
              </a:ext>
            </a:extLst>
          </p:cNvPr>
          <p:cNvSpPr txBox="1"/>
          <p:nvPr/>
        </p:nvSpPr>
        <p:spPr>
          <a:xfrm>
            <a:off x="131601" y="6073821"/>
            <a:ext cx="24646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22222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Yellow: neighbor atoms</a:t>
            </a:r>
          </a:p>
        </p:txBody>
      </p:sp>
      <p:cxnSp>
        <p:nvCxnSpPr>
          <p:cNvPr id="7" name="Straight Arrow Connector 42">
            <a:extLst>
              <a:ext uri="{FF2B5EF4-FFF2-40B4-BE49-F238E27FC236}">
                <a16:creationId xmlns:a16="http://schemas.microsoft.com/office/drawing/2014/main" id="{E33426F0-00C9-9103-0456-3785281BDB12}"/>
              </a:ext>
            </a:extLst>
          </p:cNvPr>
          <p:cNvCxnSpPr>
            <a:cxnSpLocks/>
          </p:cNvCxnSpPr>
          <p:nvPr/>
        </p:nvCxnSpPr>
        <p:spPr bwMode="auto">
          <a:xfrm flipV="1">
            <a:off x="2083364" y="5628196"/>
            <a:ext cx="1466565" cy="185961"/>
          </a:xfrm>
          <a:prstGeom prst="straightConnector1">
            <a:avLst/>
          </a:prstGeom>
          <a:ln w="2540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53">
            <a:extLst>
              <a:ext uri="{FF2B5EF4-FFF2-40B4-BE49-F238E27FC236}">
                <a16:creationId xmlns:a16="http://schemas.microsoft.com/office/drawing/2014/main" id="{DF46D72D-C767-BC39-27C0-25F6467062BF}"/>
              </a:ext>
            </a:extLst>
          </p:cNvPr>
          <p:cNvCxnSpPr>
            <a:cxnSpLocks/>
            <a:stCxn id="6" idx="3"/>
          </p:cNvCxnSpPr>
          <p:nvPr/>
        </p:nvCxnSpPr>
        <p:spPr bwMode="auto">
          <a:xfrm flipV="1">
            <a:off x="2596243" y="6073821"/>
            <a:ext cx="953686" cy="169277"/>
          </a:xfrm>
          <a:prstGeom prst="straightConnector1">
            <a:avLst/>
          </a:prstGeom>
          <a:ln w="2540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42">
            <a:extLst>
              <a:ext uri="{FF2B5EF4-FFF2-40B4-BE49-F238E27FC236}">
                <a16:creationId xmlns:a16="http://schemas.microsoft.com/office/drawing/2014/main" id="{6B47D78E-EDD9-2380-D937-6CBBAEE294B9}"/>
              </a:ext>
            </a:extLst>
          </p:cNvPr>
          <p:cNvCxnSpPr>
            <a:cxnSpLocks/>
          </p:cNvCxnSpPr>
          <p:nvPr/>
        </p:nvCxnSpPr>
        <p:spPr bwMode="auto">
          <a:xfrm>
            <a:off x="5550792" y="5683808"/>
            <a:ext cx="1287890" cy="0"/>
          </a:xfrm>
          <a:prstGeom prst="straightConnector1">
            <a:avLst/>
          </a:prstGeom>
          <a:ln w="317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38">
            <a:extLst>
              <a:ext uri="{FF2B5EF4-FFF2-40B4-BE49-F238E27FC236}">
                <a16:creationId xmlns:a16="http://schemas.microsoft.com/office/drawing/2014/main" id="{71CB7983-2534-C2CE-45AF-BFA4D01D0B6A}"/>
              </a:ext>
            </a:extLst>
          </p:cNvPr>
          <p:cNvSpPr txBox="1"/>
          <p:nvPr/>
        </p:nvSpPr>
        <p:spPr>
          <a:xfrm>
            <a:off x="5381358" y="5210317"/>
            <a:ext cx="1752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22222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Swap elements</a:t>
            </a:r>
          </a:p>
        </p:txBody>
      </p:sp>
      <p:pic>
        <p:nvPicPr>
          <p:cNvPr id="19" name="Picture 77" descr="A group of colorful circles&#10;&#10;AI-generated content may be incorrect.">
            <a:extLst>
              <a:ext uri="{FF2B5EF4-FFF2-40B4-BE49-F238E27FC236}">
                <a16:creationId xmlns:a16="http://schemas.microsoft.com/office/drawing/2014/main" id="{DA30463B-6006-1F07-A3B2-0E7570C3D9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463" t="12696" r="25755" b="42065"/>
          <a:stretch>
            <a:fillRect/>
          </a:stretch>
        </p:blipFill>
        <p:spPr>
          <a:xfrm>
            <a:off x="7078186" y="4665435"/>
            <a:ext cx="2748219" cy="2036746"/>
          </a:xfrm>
          <a:prstGeom prst="rect">
            <a:avLst/>
          </a:prstGeom>
        </p:spPr>
      </p:pic>
      <p:cxnSp>
        <p:nvCxnSpPr>
          <p:cNvPr id="20" name="Straight Arrow Connector 42">
            <a:extLst>
              <a:ext uri="{FF2B5EF4-FFF2-40B4-BE49-F238E27FC236}">
                <a16:creationId xmlns:a16="http://schemas.microsoft.com/office/drawing/2014/main" id="{48D4AB77-0076-F434-E445-ECD3F34617C3}"/>
              </a:ext>
            </a:extLst>
          </p:cNvPr>
          <p:cNvCxnSpPr>
            <a:cxnSpLocks/>
          </p:cNvCxnSpPr>
          <p:nvPr/>
        </p:nvCxnSpPr>
        <p:spPr bwMode="auto">
          <a:xfrm>
            <a:off x="9909261" y="5638078"/>
            <a:ext cx="767325" cy="0"/>
          </a:xfrm>
          <a:prstGeom prst="straightConnector1">
            <a:avLst/>
          </a:prstGeom>
          <a:ln w="317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38">
            <a:extLst>
              <a:ext uri="{FF2B5EF4-FFF2-40B4-BE49-F238E27FC236}">
                <a16:creationId xmlns:a16="http://schemas.microsoft.com/office/drawing/2014/main" id="{006C0E8B-01E7-B014-3E7D-0A6888FD4533}"/>
              </a:ext>
            </a:extLst>
          </p:cNvPr>
          <p:cNvSpPr txBox="1"/>
          <p:nvPr/>
        </p:nvSpPr>
        <p:spPr>
          <a:xfrm>
            <a:off x="10676586" y="5468801"/>
            <a:ext cx="1752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22222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Reaction rate</a:t>
            </a:r>
          </a:p>
        </p:txBody>
      </p:sp>
    </p:spTree>
    <p:extLst>
      <p:ext uri="{BB962C8B-B14F-4D97-AF65-F5344CB8AC3E}">
        <p14:creationId xmlns:p14="http://schemas.microsoft.com/office/powerpoint/2010/main" val="2682534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lede 6">
            <a:extLst>
              <a:ext uri="{FF2B5EF4-FFF2-40B4-BE49-F238E27FC236}">
                <a16:creationId xmlns:a16="http://schemas.microsoft.com/office/drawing/2014/main" id="{316B859B-B134-B3D7-3A71-AD9548FBD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77" y="952081"/>
            <a:ext cx="4935070" cy="6486093"/>
          </a:xfrm>
          <a:prstGeom prst="rect">
            <a:avLst/>
          </a:prstGeom>
        </p:spPr>
      </p:pic>
      <p:sp>
        <p:nvSpPr>
          <p:cNvPr id="10" name="Rektangel 9">
            <a:extLst>
              <a:ext uri="{FF2B5EF4-FFF2-40B4-BE49-F238E27FC236}">
                <a16:creationId xmlns:a16="http://schemas.microsoft.com/office/drawing/2014/main" id="{D9FE24C2-0B11-A296-CDB7-BBA5EFF12149}"/>
              </a:ext>
            </a:extLst>
          </p:cNvPr>
          <p:cNvSpPr/>
          <p:nvPr/>
        </p:nvSpPr>
        <p:spPr>
          <a:xfrm>
            <a:off x="6869058" y="3429000"/>
            <a:ext cx="5266765" cy="18216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80826E-49BA-A122-9910-DA4732B76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846" y="0"/>
            <a:ext cx="10515600" cy="1325563"/>
          </a:xfrm>
        </p:spPr>
        <p:txBody>
          <a:bodyPr/>
          <a:lstStyle/>
          <a:p>
            <a:r>
              <a:rPr lang="da-DK" dirty="0"/>
              <a:t>Motivation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5345C058-82FE-3239-5BF5-1DC7C70C1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560" y="805893"/>
            <a:ext cx="6445349" cy="2623107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54F69EA5-53E0-C732-ADEF-F284146827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660793"/>
            <a:ext cx="5848560" cy="4334920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ED26C24E-FCA4-F272-BDE9-221C665A4C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9958" y="3660793"/>
            <a:ext cx="6212042" cy="2823057"/>
          </a:xfrm>
          <a:prstGeom prst="rect">
            <a:avLst/>
          </a:prstGeom>
        </p:spPr>
      </p:pic>
      <p:sp>
        <p:nvSpPr>
          <p:cNvPr id="11" name="Rektangel 10">
            <a:extLst>
              <a:ext uri="{FF2B5EF4-FFF2-40B4-BE49-F238E27FC236}">
                <a16:creationId xmlns:a16="http://schemas.microsoft.com/office/drawing/2014/main" id="{E8BDF428-7487-C258-49AD-B4E9FB11A211}"/>
              </a:ext>
            </a:extLst>
          </p:cNvPr>
          <p:cNvSpPr/>
          <p:nvPr/>
        </p:nvSpPr>
        <p:spPr>
          <a:xfrm>
            <a:off x="165846" y="3176521"/>
            <a:ext cx="4910774" cy="5049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BEEE1E0A-1B75-61DF-546D-8837BE7904A3}"/>
              </a:ext>
            </a:extLst>
          </p:cNvPr>
          <p:cNvSpPr/>
          <p:nvPr/>
        </p:nvSpPr>
        <p:spPr>
          <a:xfrm>
            <a:off x="2087074" y="5705341"/>
            <a:ext cx="4450290" cy="22549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978428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14A4B-C8DF-AE0F-68E5-04B163574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ktangel 9">
            <a:extLst>
              <a:ext uri="{FF2B5EF4-FFF2-40B4-BE49-F238E27FC236}">
                <a16:creationId xmlns:a16="http://schemas.microsoft.com/office/drawing/2014/main" id="{673B5ED1-C85D-688B-7CA9-FA3189CC7F3A}"/>
              </a:ext>
            </a:extLst>
          </p:cNvPr>
          <p:cNvSpPr/>
          <p:nvPr/>
        </p:nvSpPr>
        <p:spPr>
          <a:xfrm>
            <a:off x="6759389" y="3429000"/>
            <a:ext cx="5266765" cy="18216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53A631E-0CF7-EFF0-8E67-990BEF9F8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846" y="0"/>
            <a:ext cx="10515600" cy="1325563"/>
          </a:xfrm>
        </p:spPr>
        <p:txBody>
          <a:bodyPr/>
          <a:lstStyle/>
          <a:p>
            <a:r>
              <a:rPr lang="da-DK" dirty="0"/>
              <a:t>Motivation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B9CECB68-801A-9623-1B64-954E3FE548F0}"/>
                  </a:ext>
                </a:extLst>
              </p:cNvPr>
              <p:cNvSpPr txBox="1"/>
              <p:nvPr/>
            </p:nvSpPr>
            <p:spPr>
              <a:xfrm>
                <a:off x="153664" y="1228496"/>
                <a:ext cx="472742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a-DK" dirty="0" err="1"/>
                  <a:t>Ammonia</a:t>
                </a:r>
                <a:r>
                  <a:rPr lang="da-DK" dirty="0"/>
                  <a:t> formation: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a-DK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a-DK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a-D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⇌</m:t>
                    </m:r>
                    <m:r>
                      <a:rPr lang="da-DK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a-DK" b="0" i="1" smtClean="0">
                        <a:latin typeface="Cambria Math" panose="02040503050406030204" pitchFamily="18" charset="0"/>
                      </a:rPr>
                      <m:t>𝑁</m:t>
                    </m:r>
                    <m:sSub>
                      <m:sSub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da-DK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a-DK" dirty="0"/>
                  <a:t>Swap </a:t>
                </a:r>
                <a:r>
                  <a:rPr lang="da-DK" dirty="0" err="1"/>
                  <a:t>surface</a:t>
                </a:r>
                <a:r>
                  <a:rPr lang="da-DK" dirty="0"/>
                  <a:t> elements: </a:t>
                </a:r>
                <a:r>
                  <a:rPr lang="da-DK" dirty="0" err="1"/>
                  <a:t>Rh</a:t>
                </a:r>
                <a:r>
                  <a:rPr lang="da-DK" dirty="0"/>
                  <a:t>, Ru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a-DK" dirty="0"/>
                  <a:t>Generative </a:t>
                </a:r>
                <a:r>
                  <a:rPr lang="da-DK" dirty="0" err="1"/>
                  <a:t>Adversarial</a:t>
                </a:r>
                <a:r>
                  <a:rPr lang="da-DK" dirty="0"/>
                  <a:t> Neural-</a:t>
                </a:r>
                <a:r>
                  <a:rPr lang="da-DK" dirty="0" err="1"/>
                  <a:t>networks</a:t>
                </a:r>
                <a:r>
                  <a:rPr lang="da-DK" dirty="0"/>
                  <a:t> (</a:t>
                </a:r>
                <a:r>
                  <a:rPr lang="da-DK" dirty="0" err="1"/>
                  <a:t>GAN’s</a:t>
                </a:r>
                <a:r>
                  <a:rPr lang="da-DK" dirty="0"/>
                  <a:t>)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da-DK" dirty="0" err="1"/>
                  <a:t>Reward</a:t>
                </a:r>
                <a:r>
                  <a:rPr lang="da-DK" dirty="0"/>
                  <a:t> Generator for </a:t>
                </a:r>
                <a:r>
                  <a:rPr lang="da-DK" dirty="0" err="1"/>
                  <a:t>fooling</a:t>
                </a:r>
                <a:r>
                  <a:rPr lang="da-DK" dirty="0"/>
                  <a:t> </a:t>
                </a:r>
                <a:r>
                  <a:rPr lang="da-DK" dirty="0" err="1"/>
                  <a:t>Discriminator</a:t>
                </a:r>
                <a:endParaRPr lang="da-DK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a-DK" dirty="0"/>
                  <a:t>Do </a:t>
                </a:r>
                <a:r>
                  <a:rPr lang="da-DK" dirty="0" err="1"/>
                  <a:t>several</a:t>
                </a:r>
                <a:r>
                  <a:rPr lang="da-DK" dirty="0"/>
                  <a:t> </a:t>
                </a:r>
                <a:r>
                  <a:rPr lang="da-DK" dirty="0" err="1"/>
                  <a:t>training</a:t>
                </a:r>
                <a:r>
                  <a:rPr lang="da-DK" dirty="0"/>
                  <a:t> + </a:t>
                </a:r>
                <a:r>
                  <a:rPr lang="da-DK" dirty="0" err="1"/>
                  <a:t>evaluation</a:t>
                </a:r>
                <a:r>
                  <a:rPr lang="da-DK" dirty="0"/>
                  <a:t> iterations &amp; </a:t>
                </a:r>
                <a:r>
                  <a:rPr lang="da-DK" dirty="0" err="1"/>
                  <a:t>add</a:t>
                </a:r>
                <a:r>
                  <a:rPr lang="da-DK" dirty="0"/>
                  <a:t> new samples </a:t>
                </a:r>
                <a:r>
                  <a:rPr lang="da-DK" dirty="0">
                    <a:sym typeface="Wingdings" pitchFamily="2" charset="2"/>
                  </a:rPr>
                  <a:t> Make </a:t>
                </a:r>
                <a:r>
                  <a:rPr lang="da-DK" dirty="0" err="1">
                    <a:sym typeface="Wingdings" pitchFamily="2" charset="2"/>
                  </a:rPr>
                  <a:t>Discriminator</a:t>
                </a:r>
                <a:r>
                  <a:rPr lang="da-DK" dirty="0">
                    <a:sym typeface="Wingdings" pitchFamily="2" charset="2"/>
                  </a:rPr>
                  <a:t> </a:t>
                </a:r>
                <a:r>
                  <a:rPr lang="da-DK" dirty="0" err="1">
                    <a:sym typeface="Wingdings" pitchFamily="2" charset="2"/>
                  </a:rPr>
                  <a:t>smarter</a:t>
                </a:r>
                <a:endParaRPr lang="da-DK" dirty="0"/>
              </a:p>
            </p:txBody>
          </p:sp>
        </mc:Choice>
        <mc:Fallback>
          <p:sp>
            <p:nvSpPr>
              <p:cNvPr id="4" name="Tekstfelt 3">
                <a:extLst>
                  <a:ext uri="{FF2B5EF4-FFF2-40B4-BE49-F238E27FC236}">
                    <a16:creationId xmlns:a16="http://schemas.microsoft.com/office/drawing/2014/main" id="{B9CECB68-801A-9623-1B64-954E3FE548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664" y="1228496"/>
                <a:ext cx="4727429" cy="2585323"/>
              </a:xfrm>
              <a:prstGeom prst="rect">
                <a:avLst/>
              </a:prstGeom>
              <a:blipFill>
                <a:blip r:embed="rId2"/>
                <a:stretch>
                  <a:fillRect l="-804" t="-976" r="-1340" b="-2439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Billede 13">
            <a:extLst>
              <a:ext uri="{FF2B5EF4-FFF2-40B4-BE49-F238E27FC236}">
                <a16:creationId xmlns:a16="http://schemas.microsoft.com/office/drawing/2014/main" id="{DA1C9298-5BF6-8715-44A4-B1C424F4BF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5236" y="-318905"/>
            <a:ext cx="4935070" cy="6486093"/>
          </a:xfrm>
          <a:prstGeom prst="rect">
            <a:avLst/>
          </a:prstGeom>
        </p:spPr>
      </p:pic>
      <p:pic>
        <p:nvPicPr>
          <p:cNvPr id="13" name="Billede 12">
            <a:extLst>
              <a:ext uri="{FF2B5EF4-FFF2-40B4-BE49-F238E27FC236}">
                <a16:creationId xmlns:a16="http://schemas.microsoft.com/office/drawing/2014/main" id="{FB71A60E-E132-209C-C96A-119EDE983F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022" y="4522719"/>
            <a:ext cx="11079340" cy="2300749"/>
          </a:xfrm>
          <a:prstGeom prst="rect">
            <a:avLst/>
          </a:prstGeom>
        </p:spPr>
      </p:pic>
      <p:sp>
        <p:nvSpPr>
          <p:cNvPr id="15" name="Rektangel 14">
            <a:extLst>
              <a:ext uri="{FF2B5EF4-FFF2-40B4-BE49-F238E27FC236}">
                <a16:creationId xmlns:a16="http://schemas.microsoft.com/office/drawing/2014/main" id="{51390DBE-D9EA-C4DB-3F37-BCFD6EC75321}"/>
              </a:ext>
            </a:extLst>
          </p:cNvPr>
          <p:cNvSpPr/>
          <p:nvPr/>
        </p:nvSpPr>
        <p:spPr>
          <a:xfrm>
            <a:off x="7830355" y="2318197"/>
            <a:ext cx="4029951" cy="14082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16" name="Rektangel 15">
            <a:extLst>
              <a:ext uri="{FF2B5EF4-FFF2-40B4-BE49-F238E27FC236}">
                <a16:creationId xmlns:a16="http://schemas.microsoft.com/office/drawing/2014/main" id="{8408D288-01F8-A44B-ADBE-8F0B965C93AD}"/>
              </a:ext>
            </a:extLst>
          </p:cNvPr>
          <p:cNvSpPr/>
          <p:nvPr/>
        </p:nvSpPr>
        <p:spPr>
          <a:xfrm>
            <a:off x="7200040" y="3157180"/>
            <a:ext cx="4784677" cy="14082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17" name="Billede 16">
            <a:extLst>
              <a:ext uri="{FF2B5EF4-FFF2-40B4-BE49-F238E27FC236}">
                <a16:creationId xmlns:a16="http://schemas.microsoft.com/office/drawing/2014/main" id="{081277D1-767A-53D9-EE3E-195823DB4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6892" y="1945853"/>
            <a:ext cx="5471942" cy="2576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632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DDDEF9-6F0D-2556-E15F-C60E9C63A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Motivation</a:t>
            </a:r>
          </a:p>
        </p:txBody>
      </p:sp>
      <p:pic>
        <p:nvPicPr>
          <p:cNvPr id="4" name="Pladsholder til indhold 3">
            <a:extLst>
              <a:ext uri="{FF2B5EF4-FFF2-40B4-BE49-F238E27FC236}">
                <a16:creationId xmlns:a16="http://schemas.microsoft.com/office/drawing/2014/main" id="{A52305AD-BDAB-025C-1340-032613524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1411" y="1577313"/>
            <a:ext cx="8440617" cy="4606526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0FCBC398-1E95-023D-D9E0-5FB0B8F600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420" y="1005368"/>
            <a:ext cx="6096460" cy="5750417"/>
          </a:xfrm>
          <a:prstGeom prst="rect">
            <a:avLst/>
          </a:prstGeom>
        </p:spPr>
      </p:pic>
      <p:sp>
        <p:nvSpPr>
          <p:cNvPr id="8" name="Rektangel 7">
            <a:extLst>
              <a:ext uri="{FF2B5EF4-FFF2-40B4-BE49-F238E27FC236}">
                <a16:creationId xmlns:a16="http://schemas.microsoft.com/office/drawing/2014/main" id="{EC5A0DDC-24AF-E1FE-8D62-0322560105B5}"/>
              </a:ext>
            </a:extLst>
          </p:cNvPr>
          <p:cNvSpPr/>
          <p:nvPr/>
        </p:nvSpPr>
        <p:spPr>
          <a:xfrm>
            <a:off x="0" y="5460642"/>
            <a:ext cx="6236420" cy="5859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65196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5F6AE-680C-542F-93CB-86CCD017A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7F6BFC-79C6-1180-C284-1209B2123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Detailed</a:t>
            </a:r>
            <a:r>
              <a:rPr lang="da-DK" dirty="0"/>
              <a:t> </a:t>
            </a:r>
            <a:r>
              <a:rPr lang="da-DK" dirty="0" err="1"/>
              <a:t>description</a:t>
            </a:r>
            <a:endParaRPr lang="da-DK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73AF905F-6332-C777-EA0C-06BD2CE87D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a-DK" sz="2000" dirty="0"/>
                  <a:t>What do </a:t>
                </a:r>
                <a:r>
                  <a:rPr lang="da-DK" sz="2000" dirty="0" err="1"/>
                  <a:t>we</a:t>
                </a:r>
                <a:r>
                  <a:rPr lang="da-DK" sz="2000" dirty="0"/>
                  <a:t> </a:t>
                </a:r>
                <a:r>
                  <a:rPr lang="da-DK" sz="2000" dirty="0" err="1"/>
                  <a:t>actually</a:t>
                </a:r>
                <a:r>
                  <a:rPr lang="da-DK" sz="2000" dirty="0"/>
                  <a:t> do?</a:t>
                </a:r>
              </a:p>
              <a:p>
                <a:r>
                  <a:rPr lang="da-DK" sz="2000" dirty="0"/>
                  <a:t>Break </a:t>
                </a:r>
                <a:r>
                  <a:rPr lang="da-DK" sz="2000" dirty="0" err="1"/>
                  <a:t>reaction</a:t>
                </a:r>
                <a:r>
                  <a:rPr lang="da-DK" sz="2000" dirty="0"/>
                  <a:t> </a:t>
                </a:r>
                <a:r>
                  <a:rPr lang="da-DK" sz="2000" dirty="0" err="1"/>
                  <a:t>into</a:t>
                </a:r>
                <a:r>
                  <a:rPr lang="da-DK" sz="2000" dirty="0"/>
                  <a:t> </a:t>
                </a:r>
                <a:r>
                  <a:rPr lang="da-DK" sz="2000" dirty="0" err="1"/>
                  <a:t>elementary</a:t>
                </a:r>
                <a:r>
                  <a:rPr lang="da-DK" sz="2000" dirty="0"/>
                  <a:t> steps.</a:t>
                </a:r>
              </a:p>
              <a:p>
                <a:r>
                  <a:rPr lang="da-DK" sz="2000" dirty="0"/>
                  <a:t>General kinetics: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da-DK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begChr m:val="["/>
                        <m:endChr m:val="]"/>
                        <m:ctrlPr>
                          <a:rPr lang="da-DK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m:rPr>
                        <m:nor/>
                      </m:rPr>
                      <a:rPr lang="da-DK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da-DK" sz="2000" dirty="0"/>
                      <m:t>⇌</m:t>
                    </m:r>
                    <m:r>
                      <a:rPr lang="da-DK" sz="20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a-DK" sz="2000" b="0" i="1" dirty="0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begChr m:val="["/>
                        <m:endChr m:val="]"/>
                        <m:ctrlPr>
                          <a:rPr lang="da-DK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da-DK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begChr m:val="["/>
                        <m:endChr m:val="]"/>
                        <m:ctrlPr>
                          <a:rPr lang="da-DK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endParaRPr lang="da-DK" sz="2000" dirty="0"/>
              </a:p>
              <a:p>
                <a:pPr lvl="1"/>
                <a:r>
                  <a:rPr lang="da-DK" sz="2000" b="0" dirty="0"/>
                  <a:t>Power </a:t>
                </a:r>
                <a:r>
                  <a:rPr lang="da-DK" sz="2000" b="0" dirty="0" err="1"/>
                  <a:t>law</a:t>
                </a:r>
                <a:r>
                  <a:rPr lang="da-DK" sz="2000" b="0" dirty="0"/>
                  <a:t>:</a:t>
                </a:r>
                <a14:m>
                  <m:oMath xmlns:m="http://schemas.openxmlformats.org/officeDocument/2006/math"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a-DK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a-DK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a-DK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a-DK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p>
                      <m:sSupPr>
                        <m:ctrlPr>
                          <a:rPr lang="da-DK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a-DK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a-DK" sz="20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a-DK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da-DK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a-DK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a-DK" sz="20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d>
                      </m:e>
                      <m:sup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sSup>
                      <m:sSupPr>
                        <m:ctrlPr>
                          <a:rPr lang="da-DK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a-DK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a-DK" sz="2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e>
                      <m:sup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da-DK" sz="2000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da-DK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da-DK" sz="2000" dirty="0"/>
              </a:p>
              <a:p>
                <a:r>
                  <a:rPr lang="da-DK" sz="2000" dirty="0" err="1"/>
                  <a:t>Heterogeneous</a:t>
                </a:r>
                <a:r>
                  <a:rPr lang="da-DK" sz="2000" dirty="0"/>
                  <a:t> </a:t>
                </a:r>
                <a:r>
                  <a:rPr lang="da-DK" sz="2000" dirty="0" err="1"/>
                  <a:t>catalysis</a:t>
                </a:r>
                <a:r>
                  <a:rPr lang="da-DK" sz="2000" dirty="0"/>
                  <a:t> (</a:t>
                </a:r>
                <a:r>
                  <a:rPr lang="da-DK" sz="2000" dirty="0" err="1"/>
                  <a:t>surface</a:t>
                </a:r>
                <a:r>
                  <a:rPr lang="da-DK" sz="2000" dirty="0"/>
                  <a:t> </a:t>
                </a:r>
                <a:r>
                  <a:rPr lang="da-DK" sz="2000" dirty="0" err="1"/>
                  <a:t>reaction</a:t>
                </a:r>
                <a:r>
                  <a:rPr lang="da-DK" sz="2000" dirty="0"/>
                  <a:t>)</a:t>
                </a:r>
                <a:br>
                  <a:rPr lang="da-DK" sz="2000" dirty="0"/>
                </a:br>
                <a:r>
                  <a:rPr lang="da-DK" sz="2000" dirty="0">
                    <a:sym typeface="Wingdings" pitchFamily="2" charset="2"/>
                  </a:rPr>
                  <a:t> </a:t>
                </a:r>
                <a:r>
                  <a:rPr lang="da-DK" sz="2000" dirty="0" err="1">
                    <a:sym typeface="Wingdings" pitchFamily="2" charset="2"/>
                  </a:rPr>
                  <a:t>Langmuir</a:t>
                </a:r>
                <a:r>
                  <a:rPr lang="da-DK" sz="2000" dirty="0">
                    <a:sym typeface="Wingdings" pitchFamily="2" charset="2"/>
                  </a:rPr>
                  <a:t> </a:t>
                </a:r>
                <a:r>
                  <a:rPr lang="da-DK" sz="2000" dirty="0" err="1">
                    <a:sym typeface="Wingdings" pitchFamily="2" charset="2"/>
                  </a:rPr>
                  <a:t>Hinshelwood</a:t>
                </a:r>
                <a:endParaRPr lang="da-DK" sz="2000" dirty="0">
                  <a:sym typeface="Wingdings" pitchFamily="2" charset="2"/>
                </a:endParaRPr>
              </a:p>
              <a:p>
                <a:pPr lvl="1"/>
                <a:r>
                  <a:rPr lang="da-DK" sz="2000" dirty="0" err="1">
                    <a:sym typeface="Wingdings" pitchFamily="2" charset="2"/>
                  </a:rPr>
                  <a:t>Use</a:t>
                </a:r>
                <a:r>
                  <a:rPr lang="da-DK" sz="2000" dirty="0">
                    <a:sym typeface="Wingdings" pitchFamily="2" charset="2"/>
                  </a:rPr>
                  <a:t> site </a:t>
                </a:r>
                <a:r>
                  <a:rPr lang="da-DK" sz="2000" dirty="0" err="1">
                    <a:sym typeface="Wingdings" pitchFamily="2" charset="2"/>
                  </a:rPr>
                  <a:t>coverages</a:t>
                </a:r>
                <a:r>
                  <a:rPr lang="da-DK" sz="2000" dirty="0">
                    <a:sym typeface="Wingdings" pitchFamily="2" charset="2"/>
                  </a:rPr>
                  <a:t> </a:t>
                </a:r>
                <a:r>
                  <a:rPr lang="da-DK" sz="2000" dirty="0" err="1">
                    <a:sym typeface="Wingdings" pitchFamily="2" charset="2"/>
                  </a:rPr>
                  <a:t>instead</a:t>
                </a:r>
                <a:endParaRPr lang="da-DK" sz="2000" dirty="0">
                  <a:sym typeface="Wingdings" pitchFamily="2" charset="2"/>
                </a:endParaRPr>
              </a:p>
              <a:p>
                <a:r>
                  <a:rPr lang="da-DK" sz="2000" dirty="0" err="1">
                    <a:sym typeface="Wingdings" pitchFamily="2" charset="2"/>
                  </a:rPr>
                  <a:t>Use</a:t>
                </a:r>
                <a:r>
                  <a:rPr lang="da-DK" sz="2000" dirty="0">
                    <a:sym typeface="Wingdings" pitchFamily="2" charset="2"/>
                  </a:rPr>
                  <a:t> RDS </a:t>
                </a:r>
                <a:r>
                  <a:rPr lang="da-DK" sz="2000" dirty="0" err="1">
                    <a:sym typeface="Wingdings" pitchFamily="2" charset="2"/>
                  </a:rPr>
                  <a:t>approximation</a:t>
                </a:r>
                <a:r>
                  <a:rPr lang="da-DK" sz="2000" dirty="0">
                    <a:sym typeface="Wingdings" pitchFamily="2" charset="2"/>
                  </a:rPr>
                  <a:t>  </a:t>
                </a:r>
                <a:br>
                  <a:rPr lang="da-DK" sz="2000" dirty="0">
                    <a:sym typeface="Wingdings" pitchFamily="2" charset="2"/>
                  </a:rPr>
                </a:br>
                <a:r>
                  <a:rPr lang="da-DK" sz="2000" dirty="0" err="1">
                    <a:sym typeface="Wingdings" pitchFamily="2" charset="2"/>
                  </a:rPr>
                  <a:t>Analytic</a:t>
                </a:r>
                <a:r>
                  <a:rPr lang="da-DK" sz="2000" dirty="0">
                    <a:sym typeface="Wingdings" pitchFamily="2" charset="2"/>
                  </a:rPr>
                  <a:t> </a:t>
                </a:r>
                <a:r>
                  <a:rPr lang="da-DK" sz="2000" dirty="0" err="1">
                    <a:sym typeface="Wingdings" pitchFamily="2" charset="2"/>
                  </a:rPr>
                  <a:t>expression</a:t>
                </a:r>
                <a:r>
                  <a:rPr lang="da-DK" sz="2000" dirty="0">
                    <a:sym typeface="Wingdings" pitchFamily="2" charset="2"/>
                  </a:rPr>
                  <a:t> for rate</a:t>
                </a:r>
              </a:p>
            </p:txBody>
          </p:sp>
        </mc:Choice>
        <mc:Fallback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73AF905F-6332-C777-EA0C-06BD2CE87D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116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28">
            <a:extLst>
              <a:ext uri="{FF2B5EF4-FFF2-40B4-BE49-F238E27FC236}">
                <a16:creationId xmlns:a16="http://schemas.microsoft.com/office/drawing/2014/main" id="{E2691741-0E85-BEE5-8A58-14CE8F54E086}"/>
              </a:ext>
            </a:extLst>
          </p:cNvPr>
          <p:cNvSpPr/>
          <p:nvPr/>
        </p:nvSpPr>
        <p:spPr bwMode="auto">
          <a:xfrm>
            <a:off x="7786141" y="1492639"/>
            <a:ext cx="3259955" cy="2250604"/>
          </a:xfrm>
          <a:prstGeom prst="roundRect">
            <a:avLst>
              <a:gd name="adj" fmla="val 4620"/>
            </a:avLst>
          </a:prstGeom>
          <a:solidFill>
            <a:srgbClr val="FFF2D9"/>
          </a:solidFill>
          <a:ln>
            <a:solidFill>
              <a:srgbClr val="FFF1D8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rtl="0" eaLnBrk="1" fontAlgn="ctr" latinLnBrk="0" hangingPunct="1">
              <a:lnSpc>
                <a:spcPct val="100000"/>
              </a:lnSpc>
              <a:spcAft>
                <a:spcPts val="300"/>
              </a:spcAft>
              <a:tabLst>
                <a:tab pos="449263" algn="l"/>
              </a:tabLst>
            </a:pPr>
            <a:r>
              <a:rPr lang="en-US" sz="1400" b="1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Adsorptions</a:t>
            </a:r>
          </a:p>
          <a:p>
            <a:pPr algn="just" fontAlgn="ctr">
              <a:lnSpc>
                <a:spcPct val="100000"/>
              </a:lnSpc>
              <a:spcAft>
                <a:spcPts val="0"/>
              </a:spcAft>
              <a:tabLst>
                <a:tab pos="449263" algn="l"/>
              </a:tabLst>
            </a:pP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(1)	H</a:t>
            </a:r>
            <a:r>
              <a:rPr lang="en-US" sz="1400" b="0" i="0" u="none" strike="noStrike" kern="100" baseline="-250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400" kern="100" dirty="0">
                <a:solidFill>
                  <a:schemeClr val="tx1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+ 2 *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↔ H* + H*</a:t>
            </a:r>
            <a:endParaRPr lang="en-US" sz="1400" b="0" i="0" u="none" strike="noStrike" dirty="0">
              <a:effectLst/>
              <a:latin typeface="Arial" panose="020B0604020202020204" pitchFamily="34" charset="0"/>
            </a:endParaRPr>
          </a:p>
          <a:p>
            <a:pPr algn="just" fontAlgn="ctr">
              <a:lnSpc>
                <a:spcPct val="100000"/>
              </a:lnSpc>
              <a:spcAft>
                <a:spcPts val="0"/>
              </a:spcAft>
              <a:tabLst>
                <a:tab pos="449263" algn="l"/>
              </a:tabLst>
            </a:pP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(2)	CO</a:t>
            </a:r>
            <a:r>
              <a:rPr lang="en-US" sz="1400" b="0" i="0" u="none" strike="noStrike" kern="100" baseline="-250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400" kern="100" dirty="0">
                <a:solidFill>
                  <a:schemeClr val="tx1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+ *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↔ CO</a:t>
            </a:r>
            <a:r>
              <a:rPr lang="en-US" sz="1400" b="0" i="0" u="none" strike="noStrike" kern="100" baseline="-250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*</a:t>
            </a:r>
            <a:endParaRPr lang="en-US" sz="1400" b="0" i="0" u="none" strike="noStrike" dirty="0">
              <a:effectLst/>
              <a:latin typeface="Arial" panose="020B0604020202020204" pitchFamily="34" charset="0"/>
            </a:endParaRPr>
          </a:p>
          <a:p>
            <a:pPr algn="just" fontAlgn="ctr">
              <a:lnSpc>
                <a:spcPct val="100000"/>
              </a:lnSpc>
              <a:spcAft>
                <a:spcPts val="0"/>
              </a:spcAft>
              <a:tabLst>
                <a:tab pos="449263" algn="l"/>
              </a:tabLst>
            </a:pP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(3)	H</a:t>
            </a:r>
            <a:r>
              <a:rPr lang="en-US" sz="1400" b="0" i="0" u="none" strike="noStrike" kern="100" baseline="-250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O</a:t>
            </a:r>
            <a:r>
              <a:rPr lang="en-US" sz="1400" kern="100" dirty="0">
                <a:solidFill>
                  <a:schemeClr val="tx1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+ *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↔ H</a:t>
            </a:r>
            <a:r>
              <a:rPr lang="en-US" sz="1400" b="0" i="0" u="none" strike="noStrike" kern="100" baseline="-250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O*</a:t>
            </a:r>
            <a:endParaRPr lang="en-US" sz="1400" b="0" i="0" u="none" strike="noStrike" dirty="0">
              <a:effectLst/>
              <a:latin typeface="Arial" panose="020B0604020202020204" pitchFamily="34" charset="0"/>
            </a:endParaRPr>
          </a:p>
          <a:p>
            <a:pPr algn="just" fontAlgn="ctr">
              <a:lnSpc>
                <a:spcPct val="100000"/>
              </a:lnSpc>
              <a:spcAft>
                <a:spcPts val="0"/>
              </a:spcAft>
              <a:tabLst>
                <a:tab pos="449263" algn="l"/>
              </a:tabLst>
            </a:pP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(4)	CO</a:t>
            </a:r>
            <a:r>
              <a:rPr lang="en-US" sz="1400" kern="100" dirty="0">
                <a:solidFill>
                  <a:schemeClr val="tx1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+ *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↔ CO*</a:t>
            </a:r>
            <a:endParaRPr lang="en-US" sz="1400" kern="100" dirty="0">
              <a:solidFill>
                <a:srgbClr val="000000"/>
              </a:solidFill>
              <a:latin typeface="Noto Sans" panose="020B0502040504020204" pitchFamily="34"/>
              <a:ea typeface="Noto Sans" panose="020B0502040504020204" pitchFamily="34"/>
              <a:cs typeface="Noto Sans" panose="020B0502040504020204" pitchFamily="34"/>
            </a:endParaRPr>
          </a:p>
          <a:p>
            <a:pPr rtl="0" eaLnBrk="1" fontAlgn="ctr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tabLst>
                <a:tab pos="449263" algn="l"/>
              </a:tabLst>
            </a:pPr>
            <a:r>
              <a:rPr lang="en-US" sz="1400" b="1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CO-O path and H</a:t>
            </a:r>
            <a:r>
              <a:rPr lang="en-US" sz="1400" b="1" i="0" u="none" strike="noStrike" kern="100" baseline="-250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400" b="1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O formation</a:t>
            </a:r>
          </a:p>
          <a:p>
            <a:pPr algn="just" rtl="0" eaLnBrk="1" fontAlgn="ctr" latinLnBrk="0" hangingPunct="1">
              <a:lnSpc>
                <a:spcPct val="100000"/>
              </a:lnSpc>
              <a:spcAft>
                <a:spcPts val="0"/>
              </a:spcAft>
              <a:tabLst>
                <a:tab pos="449263" algn="l"/>
              </a:tabLst>
            </a:pPr>
            <a:r>
              <a:rPr lang="en-US" sz="1400" b="0" i="0" u="none" strike="noStrike" kern="100" dirty="0">
                <a:solidFill>
                  <a:srgbClr val="FF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(5)	CO</a:t>
            </a:r>
            <a:r>
              <a:rPr lang="en-US" sz="1400" b="0" i="0" u="none" strike="noStrike" kern="100" baseline="-25000" dirty="0">
                <a:solidFill>
                  <a:srgbClr val="FF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400" b="0" i="0" u="none" strike="noStrike" kern="100" dirty="0">
                <a:solidFill>
                  <a:srgbClr val="FF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* + * ↔ CO* + O* (RDS)</a:t>
            </a:r>
            <a:endParaRPr lang="en-US" sz="1400" b="0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just" fontAlgn="ctr">
              <a:lnSpc>
                <a:spcPct val="100000"/>
              </a:lnSpc>
              <a:spcAft>
                <a:spcPts val="0"/>
              </a:spcAft>
              <a:tabLst>
                <a:tab pos="449263" algn="l"/>
              </a:tabLst>
            </a:pP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(6)	H</a:t>
            </a:r>
            <a:r>
              <a:rPr lang="en-US" sz="1400" b="0" i="0" u="none" strike="noStrike" kern="100" baseline="-250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O*</a:t>
            </a:r>
            <a:r>
              <a:rPr lang="en-US" sz="1400" kern="100" dirty="0">
                <a:solidFill>
                  <a:schemeClr val="tx1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+ *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↔ OH* + H*</a:t>
            </a:r>
            <a:endParaRPr lang="en-US" sz="1400" b="0" i="0" u="none" strike="noStrike" dirty="0">
              <a:effectLst/>
              <a:latin typeface="Arial" panose="020B0604020202020204" pitchFamily="34" charset="0"/>
            </a:endParaRPr>
          </a:p>
          <a:p>
            <a:pPr algn="just" fontAlgn="ctr">
              <a:lnSpc>
                <a:spcPct val="100000"/>
              </a:lnSpc>
              <a:spcAft>
                <a:spcPts val="0"/>
              </a:spcAft>
              <a:tabLst>
                <a:tab pos="449263" algn="l"/>
              </a:tabLst>
            </a:pP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(7)	OH*</a:t>
            </a:r>
            <a:r>
              <a:rPr lang="en-US" sz="1400" kern="100" dirty="0">
                <a:solidFill>
                  <a:schemeClr val="tx1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+ *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↔ O* + H*</a:t>
            </a:r>
          </a:p>
        </p:txBody>
      </p:sp>
      <p:sp>
        <p:nvSpPr>
          <p:cNvPr id="11" name="Rectangle: Rounded Corners 28">
            <a:extLst>
              <a:ext uri="{FF2B5EF4-FFF2-40B4-BE49-F238E27FC236}">
                <a16:creationId xmlns:a16="http://schemas.microsoft.com/office/drawing/2014/main" id="{BB313B7F-A305-B896-252B-75D4C3D510F4}"/>
              </a:ext>
            </a:extLst>
          </p:cNvPr>
          <p:cNvSpPr/>
          <p:nvPr/>
        </p:nvSpPr>
        <p:spPr bwMode="auto">
          <a:xfrm>
            <a:off x="7860939" y="365125"/>
            <a:ext cx="3110360" cy="309465"/>
          </a:xfrm>
          <a:prstGeom prst="roundRect">
            <a:avLst>
              <a:gd name="adj" fmla="val 4620"/>
            </a:avLst>
          </a:prstGeom>
          <a:solidFill>
            <a:srgbClr val="FFF2D9"/>
          </a:solidFill>
          <a:ln>
            <a:solidFill>
              <a:srgbClr val="FFF1D8"/>
            </a:solidFill>
            <a:headEnd type="none" w="med" len="med"/>
            <a:tailEnd type="none" w="med" len="med"/>
          </a:ln>
          <a:effectLst>
            <a:softEdge rad="12700"/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a-DK" dirty="0"/>
              <a:t>CO</a:t>
            </a:r>
            <a:r>
              <a:rPr lang="da-DK" baseline="-25000" dirty="0"/>
              <a:t>2</a:t>
            </a:r>
            <a:r>
              <a:rPr lang="da-DK" dirty="0"/>
              <a:t> + H</a:t>
            </a:r>
            <a:r>
              <a:rPr lang="da-DK" baseline="-25000" dirty="0"/>
              <a:t>2 </a:t>
            </a:r>
            <a:r>
              <a:rPr lang="da-DK" dirty="0"/>
              <a:t>⇌ CO + H</a:t>
            </a:r>
            <a:r>
              <a:rPr lang="da-DK" baseline="-25000" dirty="0"/>
              <a:t>2</a:t>
            </a:r>
            <a:r>
              <a:rPr lang="da-DK" dirty="0"/>
              <a:t>O </a:t>
            </a:r>
          </a:p>
        </p:txBody>
      </p:sp>
      <p:cxnSp>
        <p:nvCxnSpPr>
          <p:cNvPr id="12" name="Lige pilforbindelse 11">
            <a:extLst>
              <a:ext uri="{FF2B5EF4-FFF2-40B4-BE49-F238E27FC236}">
                <a16:creationId xmlns:a16="http://schemas.microsoft.com/office/drawing/2014/main" id="{7EB85595-9A6A-6B83-C3CF-24A2910DDFB6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9416119" y="674590"/>
            <a:ext cx="0" cy="818051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kstfelt 12">
            <a:extLst>
              <a:ext uri="{FF2B5EF4-FFF2-40B4-BE49-F238E27FC236}">
                <a16:creationId xmlns:a16="http://schemas.microsoft.com/office/drawing/2014/main" id="{35A80765-A77D-F5A6-91DE-C523AC5C360C}"/>
              </a:ext>
            </a:extLst>
          </p:cNvPr>
          <p:cNvSpPr txBox="1"/>
          <p:nvPr/>
        </p:nvSpPr>
        <p:spPr>
          <a:xfrm>
            <a:off x="9416119" y="750272"/>
            <a:ext cx="22249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Turn</a:t>
            </a:r>
            <a:r>
              <a:rPr lang="da-DK" dirty="0"/>
              <a:t> </a:t>
            </a:r>
            <a:r>
              <a:rPr lang="da-DK" dirty="0" err="1"/>
              <a:t>into</a:t>
            </a:r>
            <a:r>
              <a:rPr lang="da-DK" dirty="0"/>
              <a:t> </a:t>
            </a:r>
            <a:r>
              <a:rPr lang="da-DK" dirty="0" err="1"/>
              <a:t>elementary</a:t>
            </a:r>
            <a:br>
              <a:rPr lang="da-DK" dirty="0"/>
            </a:br>
            <a:r>
              <a:rPr lang="da-DK" dirty="0"/>
              <a:t>steps</a:t>
            </a:r>
          </a:p>
        </p:txBody>
      </p:sp>
      <p:sp>
        <p:nvSpPr>
          <p:cNvPr id="14" name="Tekstfelt 13">
            <a:extLst>
              <a:ext uri="{FF2B5EF4-FFF2-40B4-BE49-F238E27FC236}">
                <a16:creationId xmlns:a16="http://schemas.microsoft.com/office/drawing/2014/main" id="{580BFC1A-F132-23CD-91F8-5674C0F2CB75}"/>
              </a:ext>
            </a:extLst>
          </p:cNvPr>
          <p:cNvSpPr txBox="1"/>
          <p:nvPr/>
        </p:nvSpPr>
        <p:spPr>
          <a:xfrm>
            <a:off x="9489491" y="3749534"/>
            <a:ext cx="25496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Find rate </a:t>
            </a:r>
            <a:r>
              <a:rPr lang="da-DK" dirty="0" err="1"/>
              <a:t>using</a:t>
            </a:r>
            <a:br>
              <a:rPr lang="da-DK" dirty="0"/>
            </a:br>
            <a:r>
              <a:rPr lang="da-DK" dirty="0" err="1"/>
              <a:t>Langmuir-Hinshelwood</a:t>
            </a:r>
            <a:r>
              <a:rPr lang="da-DK" dirty="0"/>
              <a:t> </a:t>
            </a:r>
          </a:p>
        </p:txBody>
      </p:sp>
      <p:cxnSp>
        <p:nvCxnSpPr>
          <p:cNvPr id="15" name="Lige pilforbindelse 14">
            <a:extLst>
              <a:ext uri="{FF2B5EF4-FFF2-40B4-BE49-F238E27FC236}">
                <a16:creationId xmlns:a16="http://schemas.microsoft.com/office/drawing/2014/main" id="{6E35AD89-F494-9D93-5E2A-5F9F6B82908C}"/>
              </a:ext>
            </a:extLst>
          </p:cNvPr>
          <p:cNvCxnSpPr>
            <a:cxnSpLocks/>
          </p:cNvCxnSpPr>
          <p:nvPr/>
        </p:nvCxnSpPr>
        <p:spPr>
          <a:xfrm>
            <a:off x="9371101" y="3743243"/>
            <a:ext cx="0" cy="733055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28">
            <a:extLst>
              <a:ext uri="{FF2B5EF4-FFF2-40B4-BE49-F238E27FC236}">
                <a16:creationId xmlns:a16="http://schemas.microsoft.com/office/drawing/2014/main" id="{246EB1B6-344F-23D3-1102-56947D6E802E}"/>
              </a:ext>
            </a:extLst>
          </p:cNvPr>
          <p:cNvSpPr/>
          <p:nvPr/>
        </p:nvSpPr>
        <p:spPr bwMode="auto">
          <a:xfrm>
            <a:off x="7935736" y="4479766"/>
            <a:ext cx="3110360" cy="309465"/>
          </a:xfrm>
          <a:prstGeom prst="roundRect">
            <a:avLst>
              <a:gd name="adj" fmla="val 4620"/>
            </a:avLst>
          </a:prstGeom>
          <a:solidFill>
            <a:srgbClr val="FFF2D9"/>
          </a:solidFill>
          <a:ln>
            <a:solidFill>
              <a:srgbClr val="FFF1D8"/>
            </a:solidFill>
            <a:headEnd type="none" w="med" len="med"/>
            <a:tailEnd type="none" w="med" len="med"/>
          </a:ln>
          <a:effectLst>
            <a:softEdge rad="12700"/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a-DK" dirty="0" err="1"/>
              <a:t>Reaction</a:t>
            </a:r>
            <a:r>
              <a:rPr lang="da-DK" dirty="0"/>
              <a:t> rate R</a:t>
            </a:r>
          </a:p>
        </p:txBody>
      </p:sp>
      <p:pic>
        <p:nvPicPr>
          <p:cNvPr id="4" name="Picture 2" descr="Steady-State Approximation – Foundations of Chemical and Biological  Engineering I">
            <a:extLst>
              <a:ext uri="{FF2B5EF4-FFF2-40B4-BE49-F238E27FC236}">
                <a16:creationId xmlns:a16="http://schemas.microsoft.com/office/drawing/2014/main" id="{C821DBBD-5A67-A556-D239-D421ACEFC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4891" y="4116978"/>
            <a:ext cx="2363604" cy="2496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5964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F4226-9607-EB0E-CD89-A3AF7FB5D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618CC46-9D11-A6BD-6769-E5FA430F4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809580" y="6581497"/>
            <a:ext cx="252000" cy="135422"/>
          </a:xfrm>
        </p:spPr>
        <p:txBody>
          <a:bodyPr/>
          <a:lstStyle/>
          <a:p>
            <a:fld id="{7834947A-1B05-2B43-AD85-E646CE852B9E}" type="slidenum">
              <a:rPr lang="it-IT" smtClean="0">
                <a:latin typeface="+mj-lt"/>
              </a:rPr>
              <a:t>8</a:t>
            </a:fld>
            <a:endParaRPr lang="it-IT" dirty="0"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5375B5-9A27-4FE2-0DC6-FBB6EAAEADDD}"/>
              </a:ext>
            </a:extLst>
          </p:cNvPr>
          <p:cNvSpPr txBox="1"/>
          <p:nvPr/>
        </p:nvSpPr>
        <p:spPr>
          <a:xfrm>
            <a:off x="144602" y="124935"/>
            <a:ext cx="112236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kern="0" dirty="0">
                <a:latin typeface="+mj-lt"/>
              </a:rPr>
              <a:t>RWGS on metals and single-atom alloys – Why elementary step 5?</a:t>
            </a:r>
            <a:endParaRPr lang="en-US" sz="3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A80027-E677-8447-C083-1709D9B8D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7" y="1128017"/>
            <a:ext cx="6328725" cy="561291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406B89-6850-79C9-0CCE-B05405DE3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5042" y="1166705"/>
            <a:ext cx="6181679" cy="54825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06CCC6C-03CD-BDF9-4E0E-3276AA7D638D}"/>
              </a:ext>
            </a:extLst>
          </p:cNvPr>
          <p:cNvSpPr txBox="1"/>
          <p:nvPr/>
        </p:nvSpPr>
        <p:spPr>
          <a:xfrm>
            <a:off x="823720" y="904104"/>
            <a:ext cx="47595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200" dirty="0"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CO</a:t>
            </a:r>
            <a:r>
              <a:rPr lang="en-US" sz="1200" baseline="-25000" dirty="0"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200" dirty="0"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* dissociation RDS for most materials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CB976B-F91E-9DF8-99BC-15B3E2F85447}"/>
              </a:ext>
            </a:extLst>
          </p:cNvPr>
          <p:cNvSpPr txBox="1"/>
          <p:nvPr/>
        </p:nvSpPr>
        <p:spPr>
          <a:xfrm>
            <a:off x="6943559" y="904104"/>
            <a:ext cx="47595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200" dirty="0"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Most abundant reaction intermediates: CO*, O*, H*</a:t>
            </a:r>
          </a:p>
        </p:txBody>
      </p:sp>
    </p:spTree>
    <p:extLst>
      <p:ext uri="{BB962C8B-B14F-4D97-AF65-F5344CB8AC3E}">
        <p14:creationId xmlns:p14="http://schemas.microsoft.com/office/powerpoint/2010/main" val="2707968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E647F-8CF2-7B76-E23D-AFDF361B5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AE38AB-1B83-4463-F1F3-2E662FD4E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Detailed</a:t>
            </a:r>
            <a:r>
              <a:rPr lang="da-DK" dirty="0"/>
              <a:t> </a:t>
            </a:r>
            <a:r>
              <a:rPr lang="da-DK" dirty="0" err="1"/>
              <a:t>description</a:t>
            </a:r>
            <a:endParaRPr lang="da-DK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32750E4F-CF4F-D654-9349-4B41CE7806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a-DK" sz="2000" dirty="0" err="1">
                    <a:sym typeface="Wingdings" pitchFamily="2" charset="2"/>
                  </a:rPr>
                  <a:t>Use</a:t>
                </a:r>
                <a:r>
                  <a:rPr lang="da-DK" sz="2000" dirty="0">
                    <a:sym typeface="Wingdings" pitchFamily="2" charset="2"/>
                  </a:rPr>
                  <a:t> RDS </a:t>
                </a:r>
                <a:r>
                  <a:rPr lang="da-DK" sz="2000" dirty="0" err="1">
                    <a:sym typeface="Wingdings" pitchFamily="2" charset="2"/>
                  </a:rPr>
                  <a:t>approximation</a:t>
                </a:r>
                <a:r>
                  <a:rPr lang="da-DK" sz="2000" dirty="0">
                    <a:sym typeface="Wingdings" pitchFamily="2" charset="2"/>
                  </a:rPr>
                  <a:t>  Step 5.</a:t>
                </a:r>
              </a:p>
              <a:p>
                <a:r>
                  <a:rPr lang="da-DK" sz="2000" dirty="0" err="1">
                    <a:sym typeface="Wingdings" pitchFamily="2" charset="2"/>
                  </a:rPr>
                  <a:t>Solve</a:t>
                </a:r>
                <a:r>
                  <a:rPr lang="da-DK" sz="2000" dirty="0">
                    <a:sym typeface="Wingdings" pitchFamily="2" charset="2"/>
                  </a:rPr>
                  <a:t> for global rate:</a:t>
                </a:r>
              </a:p>
              <a:p>
                <a:pPr marL="0" indent="0">
                  <a:buNone/>
                </a:pPr>
                <a:endParaRPr lang="da-DK" sz="2000" dirty="0"/>
              </a:p>
              <a:p>
                <a:pPr marL="0" indent="0">
                  <a:buNone/>
                </a:pPr>
                <a:endParaRPr lang="da-DK" sz="2000" dirty="0"/>
              </a:p>
              <a:p>
                <a:pPr marL="0" indent="0">
                  <a:buNone/>
                </a:pPr>
                <a:endParaRPr lang="da-DK" sz="2000" dirty="0"/>
              </a:p>
              <a:p>
                <a:r>
                  <a:rPr lang="da-DK" sz="2000" dirty="0" err="1"/>
                  <a:t>Boils</a:t>
                </a:r>
                <a:r>
                  <a:rPr lang="da-DK" sz="2000" dirty="0"/>
                  <a:t> </a:t>
                </a:r>
                <a:r>
                  <a:rPr lang="da-DK" sz="2000" dirty="0" err="1"/>
                  <a:t>down</a:t>
                </a:r>
                <a:r>
                  <a:rPr lang="da-DK" sz="2000" dirty="0"/>
                  <a:t> to </a:t>
                </a:r>
                <a:r>
                  <a:rPr lang="da-DK" sz="2000" dirty="0" err="1"/>
                  <a:t>finding</a:t>
                </a:r>
                <a:r>
                  <a:rPr lang="da-DK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sz="20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a-DK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𝐸</m:t>
                        </m:r>
                      </m:e>
                      <m:sub>
                        <m:r>
                          <a:rPr lang="da-DK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da-DK" sz="2000" dirty="0"/>
                  <a:t> &amp;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sz="20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a-DK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𝐸</m:t>
                        </m:r>
                      </m:e>
                      <m:sub>
                        <m:r>
                          <a:rPr lang="da-DK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𝑎𝑐𝑡</m:t>
                        </m:r>
                      </m:sub>
                    </m:sSub>
                  </m:oMath>
                </a14:m>
                <a:endParaRPr lang="da-DK" sz="2000" dirty="0"/>
              </a:p>
            </p:txBody>
          </p:sp>
        </mc:Choice>
        <mc:Fallback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32750E4F-CF4F-D654-9349-4B41CE7806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1453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28">
            <a:extLst>
              <a:ext uri="{FF2B5EF4-FFF2-40B4-BE49-F238E27FC236}">
                <a16:creationId xmlns:a16="http://schemas.microsoft.com/office/drawing/2014/main" id="{CEA8C288-42C7-C5D5-9B83-E62C57BEC855}"/>
              </a:ext>
            </a:extLst>
          </p:cNvPr>
          <p:cNvSpPr/>
          <p:nvPr/>
        </p:nvSpPr>
        <p:spPr bwMode="auto">
          <a:xfrm>
            <a:off x="7939041" y="2303698"/>
            <a:ext cx="3259955" cy="2250604"/>
          </a:xfrm>
          <a:prstGeom prst="roundRect">
            <a:avLst>
              <a:gd name="adj" fmla="val 4620"/>
            </a:avLst>
          </a:prstGeom>
          <a:solidFill>
            <a:srgbClr val="FFF2D9"/>
          </a:solidFill>
          <a:ln>
            <a:solidFill>
              <a:srgbClr val="FFF1D8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rtl="0" eaLnBrk="1" fontAlgn="ctr" latinLnBrk="0" hangingPunct="1">
              <a:lnSpc>
                <a:spcPct val="100000"/>
              </a:lnSpc>
              <a:spcAft>
                <a:spcPts val="300"/>
              </a:spcAft>
              <a:tabLst>
                <a:tab pos="449263" algn="l"/>
              </a:tabLst>
            </a:pPr>
            <a:r>
              <a:rPr lang="en-US" sz="1400" b="1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Adsorptions</a:t>
            </a:r>
          </a:p>
          <a:p>
            <a:pPr algn="just" fontAlgn="ctr">
              <a:lnSpc>
                <a:spcPct val="100000"/>
              </a:lnSpc>
              <a:spcAft>
                <a:spcPts val="0"/>
              </a:spcAft>
              <a:tabLst>
                <a:tab pos="449263" algn="l"/>
              </a:tabLst>
            </a:pP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(1)	H</a:t>
            </a:r>
            <a:r>
              <a:rPr lang="en-US" sz="1400" b="0" i="0" u="none" strike="noStrike" kern="100" baseline="-250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400" kern="100" dirty="0">
                <a:solidFill>
                  <a:schemeClr val="tx1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+ 2 *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↔ H* + H*</a:t>
            </a:r>
            <a:endParaRPr lang="en-US" sz="1400" b="0" i="0" u="none" strike="noStrike" dirty="0">
              <a:effectLst/>
              <a:latin typeface="Arial" panose="020B0604020202020204" pitchFamily="34" charset="0"/>
            </a:endParaRPr>
          </a:p>
          <a:p>
            <a:pPr algn="just" fontAlgn="ctr">
              <a:lnSpc>
                <a:spcPct val="100000"/>
              </a:lnSpc>
              <a:spcAft>
                <a:spcPts val="0"/>
              </a:spcAft>
              <a:tabLst>
                <a:tab pos="449263" algn="l"/>
              </a:tabLst>
            </a:pP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(2)	CO</a:t>
            </a:r>
            <a:r>
              <a:rPr lang="en-US" sz="1400" b="0" i="0" u="none" strike="noStrike" kern="100" baseline="-250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400" kern="100" dirty="0">
                <a:solidFill>
                  <a:schemeClr val="tx1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+ *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↔ CO</a:t>
            </a:r>
            <a:r>
              <a:rPr lang="en-US" sz="1400" b="0" i="0" u="none" strike="noStrike" kern="100" baseline="-250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*</a:t>
            </a:r>
            <a:endParaRPr lang="en-US" sz="1400" b="0" i="0" u="none" strike="noStrike" dirty="0">
              <a:effectLst/>
              <a:latin typeface="Arial" panose="020B0604020202020204" pitchFamily="34" charset="0"/>
            </a:endParaRPr>
          </a:p>
          <a:p>
            <a:pPr algn="just" fontAlgn="ctr">
              <a:lnSpc>
                <a:spcPct val="100000"/>
              </a:lnSpc>
              <a:spcAft>
                <a:spcPts val="0"/>
              </a:spcAft>
              <a:tabLst>
                <a:tab pos="449263" algn="l"/>
              </a:tabLst>
            </a:pP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(3)	H</a:t>
            </a:r>
            <a:r>
              <a:rPr lang="en-US" sz="1400" b="0" i="0" u="none" strike="noStrike" kern="100" baseline="-250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O</a:t>
            </a:r>
            <a:r>
              <a:rPr lang="en-US" sz="1400" kern="100" dirty="0">
                <a:solidFill>
                  <a:schemeClr val="tx1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+ *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↔ H</a:t>
            </a:r>
            <a:r>
              <a:rPr lang="en-US" sz="1400" b="0" i="0" u="none" strike="noStrike" kern="100" baseline="-250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O*</a:t>
            </a:r>
            <a:endParaRPr lang="en-US" sz="1400" b="0" i="0" u="none" strike="noStrike" dirty="0">
              <a:effectLst/>
              <a:latin typeface="Arial" panose="020B0604020202020204" pitchFamily="34" charset="0"/>
            </a:endParaRPr>
          </a:p>
          <a:p>
            <a:pPr algn="just" fontAlgn="ctr">
              <a:lnSpc>
                <a:spcPct val="100000"/>
              </a:lnSpc>
              <a:spcAft>
                <a:spcPts val="0"/>
              </a:spcAft>
              <a:tabLst>
                <a:tab pos="449263" algn="l"/>
              </a:tabLst>
            </a:pP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(4)	CO</a:t>
            </a:r>
            <a:r>
              <a:rPr lang="en-US" sz="1400" kern="100" dirty="0">
                <a:solidFill>
                  <a:schemeClr val="tx1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+ *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↔ CO*</a:t>
            </a:r>
            <a:endParaRPr lang="en-US" sz="1400" kern="100" dirty="0">
              <a:solidFill>
                <a:srgbClr val="000000"/>
              </a:solidFill>
              <a:latin typeface="Noto Sans" panose="020B0502040504020204" pitchFamily="34"/>
              <a:ea typeface="Noto Sans" panose="020B0502040504020204" pitchFamily="34"/>
              <a:cs typeface="Noto Sans" panose="020B0502040504020204" pitchFamily="34"/>
            </a:endParaRPr>
          </a:p>
          <a:p>
            <a:pPr rtl="0" eaLnBrk="1" fontAlgn="ctr" latinLnBrk="0" hangingPunct="1">
              <a:lnSpc>
                <a:spcPct val="100000"/>
              </a:lnSpc>
              <a:spcBef>
                <a:spcPts val="600"/>
              </a:spcBef>
              <a:spcAft>
                <a:spcPts val="300"/>
              </a:spcAft>
              <a:tabLst>
                <a:tab pos="449263" algn="l"/>
              </a:tabLst>
            </a:pPr>
            <a:r>
              <a:rPr lang="en-US" sz="1400" b="1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CO-O path and H</a:t>
            </a:r>
            <a:r>
              <a:rPr lang="en-US" sz="1400" b="1" i="0" u="none" strike="noStrike" kern="100" baseline="-250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400" b="1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O formation</a:t>
            </a:r>
          </a:p>
          <a:p>
            <a:pPr algn="just" rtl="0" eaLnBrk="1" fontAlgn="ctr" latinLnBrk="0" hangingPunct="1">
              <a:lnSpc>
                <a:spcPct val="100000"/>
              </a:lnSpc>
              <a:spcAft>
                <a:spcPts val="0"/>
              </a:spcAft>
              <a:tabLst>
                <a:tab pos="449263" algn="l"/>
              </a:tabLst>
            </a:pPr>
            <a:r>
              <a:rPr lang="en-US" sz="1400" b="0" i="0" u="none" strike="noStrike" kern="100" dirty="0">
                <a:solidFill>
                  <a:srgbClr val="FF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(5)	CO</a:t>
            </a:r>
            <a:r>
              <a:rPr lang="en-US" sz="1400" b="0" i="0" u="none" strike="noStrike" kern="100" baseline="-25000" dirty="0">
                <a:solidFill>
                  <a:srgbClr val="FF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400" b="0" i="0" u="none" strike="noStrike" kern="100" dirty="0">
                <a:solidFill>
                  <a:srgbClr val="FF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* + * ↔ CO* + O* (RDS)</a:t>
            </a:r>
            <a:endParaRPr lang="en-US" sz="1400" b="0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just" fontAlgn="ctr">
              <a:lnSpc>
                <a:spcPct val="100000"/>
              </a:lnSpc>
              <a:spcAft>
                <a:spcPts val="0"/>
              </a:spcAft>
              <a:tabLst>
                <a:tab pos="449263" algn="l"/>
              </a:tabLst>
            </a:pP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(6)	H</a:t>
            </a:r>
            <a:r>
              <a:rPr lang="en-US" sz="1400" b="0" i="0" u="none" strike="noStrike" kern="100" baseline="-250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2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O*</a:t>
            </a:r>
            <a:r>
              <a:rPr lang="en-US" sz="1400" kern="100" dirty="0">
                <a:solidFill>
                  <a:schemeClr val="tx1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+ *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↔ OH* + H*</a:t>
            </a:r>
            <a:endParaRPr lang="en-US" sz="1400" b="0" i="0" u="none" strike="noStrike" dirty="0">
              <a:effectLst/>
              <a:latin typeface="Arial" panose="020B0604020202020204" pitchFamily="34" charset="0"/>
            </a:endParaRPr>
          </a:p>
          <a:p>
            <a:pPr algn="just" fontAlgn="ctr">
              <a:lnSpc>
                <a:spcPct val="100000"/>
              </a:lnSpc>
              <a:spcAft>
                <a:spcPts val="0"/>
              </a:spcAft>
              <a:tabLst>
                <a:tab pos="449263" algn="l"/>
              </a:tabLst>
            </a:pP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(7)	OH*</a:t>
            </a:r>
            <a:r>
              <a:rPr lang="en-US" sz="1400" kern="100" dirty="0">
                <a:solidFill>
                  <a:schemeClr val="tx1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+ *</a:t>
            </a:r>
            <a:r>
              <a:rPr lang="en-US" sz="1400" b="0" i="0" u="none" strike="noStrike" kern="100" dirty="0">
                <a:solidFill>
                  <a:srgbClr val="000000"/>
                </a:solidFill>
                <a:effectLst/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 ↔ O* + H*</a:t>
            </a:r>
          </a:p>
        </p:txBody>
      </p:sp>
      <p:sp>
        <p:nvSpPr>
          <p:cNvPr id="11" name="Rectangle: Rounded Corners 28">
            <a:extLst>
              <a:ext uri="{FF2B5EF4-FFF2-40B4-BE49-F238E27FC236}">
                <a16:creationId xmlns:a16="http://schemas.microsoft.com/office/drawing/2014/main" id="{1AC389FB-EC16-35A0-4E24-C0876F1754BD}"/>
              </a:ext>
            </a:extLst>
          </p:cNvPr>
          <p:cNvSpPr/>
          <p:nvPr/>
        </p:nvSpPr>
        <p:spPr bwMode="auto">
          <a:xfrm>
            <a:off x="8013839" y="1176184"/>
            <a:ext cx="3110360" cy="309465"/>
          </a:xfrm>
          <a:prstGeom prst="roundRect">
            <a:avLst>
              <a:gd name="adj" fmla="val 4620"/>
            </a:avLst>
          </a:prstGeom>
          <a:solidFill>
            <a:srgbClr val="FFF2D9"/>
          </a:solidFill>
          <a:ln>
            <a:solidFill>
              <a:srgbClr val="FFF1D8"/>
            </a:solidFill>
            <a:headEnd type="none" w="med" len="med"/>
            <a:tailEnd type="none" w="med" len="med"/>
          </a:ln>
          <a:effectLst>
            <a:softEdge rad="12700"/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a-DK" dirty="0"/>
              <a:t>CO</a:t>
            </a:r>
            <a:r>
              <a:rPr lang="da-DK" baseline="-25000" dirty="0"/>
              <a:t>2</a:t>
            </a:r>
            <a:r>
              <a:rPr lang="da-DK" dirty="0"/>
              <a:t> + H</a:t>
            </a:r>
            <a:r>
              <a:rPr lang="da-DK" baseline="-25000" dirty="0"/>
              <a:t>2 </a:t>
            </a:r>
            <a:r>
              <a:rPr lang="da-DK" dirty="0"/>
              <a:t>⇌ CO + H</a:t>
            </a:r>
            <a:r>
              <a:rPr lang="da-DK" baseline="-25000" dirty="0"/>
              <a:t>2</a:t>
            </a:r>
            <a:r>
              <a:rPr lang="da-DK" dirty="0"/>
              <a:t>O </a:t>
            </a:r>
          </a:p>
        </p:txBody>
      </p:sp>
      <p:cxnSp>
        <p:nvCxnSpPr>
          <p:cNvPr id="12" name="Lige pilforbindelse 11">
            <a:extLst>
              <a:ext uri="{FF2B5EF4-FFF2-40B4-BE49-F238E27FC236}">
                <a16:creationId xmlns:a16="http://schemas.microsoft.com/office/drawing/2014/main" id="{AB5310EC-7E69-67B7-2FE1-34360C5EDC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9569019" y="1485649"/>
            <a:ext cx="0" cy="818051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kstfelt 12">
            <a:extLst>
              <a:ext uri="{FF2B5EF4-FFF2-40B4-BE49-F238E27FC236}">
                <a16:creationId xmlns:a16="http://schemas.microsoft.com/office/drawing/2014/main" id="{F6CB42BC-B680-52C2-4126-66E86BAEADBB}"/>
              </a:ext>
            </a:extLst>
          </p:cNvPr>
          <p:cNvSpPr txBox="1"/>
          <p:nvPr/>
        </p:nvSpPr>
        <p:spPr>
          <a:xfrm>
            <a:off x="9569019" y="1561331"/>
            <a:ext cx="22249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Turn</a:t>
            </a:r>
            <a:r>
              <a:rPr lang="da-DK" dirty="0"/>
              <a:t> </a:t>
            </a:r>
            <a:r>
              <a:rPr lang="da-DK" dirty="0" err="1"/>
              <a:t>into</a:t>
            </a:r>
            <a:r>
              <a:rPr lang="da-DK" dirty="0"/>
              <a:t> </a:t>
            </a:r>
            <a:r>
              <a:rPr lang="da-DK" dirty="0" err="1"/>
              <a:t>elementary</a:t>
            </a:r>
            <a:br>
              <a:rPr lang="da-DK" dirty="0"/>
            </a:br>
            <a:r>
              <a:rPr lang="da-DK" dirty="0"/>
              <a:t>steps</a:t>
            </a:r>
          </a:p>
        </p:txBody>
      </p:sp>
      <p:sp>
        <p:nvSpPr>
          <p:cNvPr id="14" name="Tekstfelt 13">
            <a:extLst>
              <a:ext uri="{FF2B5EF4-FFF2-40B4-BE49-F238E27FC236}">
                <a16:creationId xmlns:a16="http://schemas.microsoft.com/office/drawing/2014/main" id="{CA56BA33-2E10-6A07-2E0A-D65DAA0EF0E2}"/>
              </a:ext>
            </a:extLst>
          </p:cNvPr>
          <p:cNvSpPr txBox="1"/>
          <p:nvPr/>
        </p:nvSpPr>
        <p:spPr>
          <a:xfrm>
            <a:off x="9642391" y="4560593"/>
            <a:ext cx="25496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Find rate </a:t>
            </a:r>
            <a:r>
              <a:rPr lang="da-DK" dirty="0" err="1"/>
              <a:t>using</a:t>
            </a:r>
            <a:br>
              <a:rPr lang="da-DK" dirty="0"/>
            </a:br>
            <a:r>
              <a:rPr lang="da-DK" dirty="0" err="1"/>
              <a:t>Langmuir-Hinshelwood</a:t>
            </a:r>
            <a:r>
              <a:rPr lang="da-DK" dirty="0"/>
              <a:t> </a:t>
            </a:r>
          </a:p>
        </p:txBody>
      </p:sp>
      <p:cxnSp>
        <p:nvCxnSpPr>
          <p:cNvPr id="15" name="Lige pilforbindelse 14">
            <a:extLst>
              <a:ext uri="{FF2B5EF4-FFF2-40B4-BE49-F238E27FC236}">
                <a16:creationId xmlns:a16="http://schemas.microsoft.com/office/drawing/2014/main" id="{31A9AB46-DB4B-D220-96AF-B5B7ADDC735B}"/>
              </a:ext>
            </a:extLst>
          </p:cNvPr>
          <p:cNvCxnSpPr>
            <a:cxnSpLocks/>
          </p:cNvCxnSpPr>
          <p:nvPr/>
        </p:nvCxnSpPr>
        <p:spPr>
          <a:xfrm>
            <a:off x="9524001" y="4554302"/>
            <a:ext cx="0" cy="733055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28">
            <a:extLst>
              <a:ext uri="{FF2B5EF4-FFF2-40B4-BE49-F238E27FC236}">
                <a16:creationId xmlns:a16="http://schemas.microsoft.com/office/drawing/2014/main" id="{A206F11C-BFA7-A7B9-A64C-4B4D1342AC31}"/>
              </a:ext>
            </a:extLst>
          </p:cNvPr>
          <p:cNvSpPr/>
          <p:nvPr/>
        </p:nvSpPr>
        <p:spPr bwMode="auto">
          <a:xfrm>
            <a:off x="8088636" y="5290825"/>
            <a:ext cx="3110360" cy="309465"/>
          </a:xfrm>
          <a:prstGeom prst="roundRect">
            <a:avLst>
              <a:gd name="adj" fmla="val 4620"/>
            </a:avLst>
          </a:prstGeom>
          <a:solidFill>
            <a:srgbClr val="FFF2D9"/>
          </a:solidFill>
          <a:ln>
            <a:solidFill>
              <a:srgbClr val="FFF1D8"/>
            </a:solidFill>
            <a:headEnd type="none" w="med" len="med"/>
            <a:tailEnd type="none" w="med" len="med"/>
          </a:ln>
          <a:effectLst>
            <a:softEdge rad="12700"/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a-DK" dirty="0" err="1"/>
              <a:t>Reaction</a:t>
            </a:r>
            <a:r>
              <a:rPr lang="da-DK" dirty="0"/>
              <a:t> rate 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kstfelt 17">
                <a:extLst>
                  <a:ext uri="{FF2B5EF4-FFF2-40B4-BE49-F238E27FC236}">
                    <a16:creationId xmlns:a16="http://schemas.microsoft.com/office/drawing/2014/main" id="{995571E7-91BD-5023-27BB-927C05FC3DE6}"/>
                  </a:ext>
                </a:extLst>
              </p:cNvPr>
              <p:cNvSpPr txBox="1"/>
              <p:nvPr/>
            </p:nvSpPr>
            <p:spPr>
              <a:xfrm>
                <a:off x="542428" y="2635002"/>
                <a:ext cx="6162540" cy="10430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i="1" dirty="0" smtClean="0">
                          <a:latin typeface="Cambria Math" panose="02040503050406030204" pitchFamily="18" charset="0"/>
                          <a:ea typeface="Noto Sans" panose="020B0502040504020204" pitchFamily="34"/>
                          <a:cs typeface="Noto Sans" panose="020B0502040504020204" pitchFamily="34"/>
                        </a:rPr>
                        <m:t>𝑅</m:t>
                      </m:r>
                      <m:r>
                        <a:rPr lang="en-US" i="1" dirty="0">
                          <a:latin typeface="Cambria Math" panose="02040503050406030204" pitchFamily="18" charset="0"/>
                          <a:ea typeface="Noto Sans" panose="020B0502040504020204" pitchFamily="34"/>
                          <a:cs typeface="Noto Sans" panose="020B0502040504020204" pitchFamily="34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ea typeface="Noto Sans" panose="020B0502040504020204" pitchFamily="34"/>
                              <a:cs typeface="Noto Sans" panose="020B0502040504020204" pitchFamily="34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Noto Sans" panose="020B0502040504020204" pitchFamily="34"/>
                                  <a:cs typeface="Noto Sans" panose="020B0502040504020204" pitchFamily="34"/>
                                </a:rPr>
                              </m:ctrlPr>
                            </m:sSubPr>
                            <m:e>
                              <m:r>
                                <a:rPr lang="da-DK" b="0" i="1" dirty="0" smtClean="0">
                                  <a:latin typeface="Cambria Math" panose="02040503050406030204" pitchFamily="18" charset="0"/>
                                  <a:ea typeface="Noto Sans" panose="020B0502040504020204" pitchFamily="34"/>
                                  <a:cs typeface="Noto Sans" panose="020B0502040504020204" pitchFamily="34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da-DK" b="0" i="1" dirty="0" smtClean="0">
                                  <a:latin typeface="Cambria Math" panose="02040503050406030204" pitchFamily="18" charset="0"/>
                                  <a:ea typeface="Noto Sans" panose="020B0502040504020204" pitchFamily="34"/>
                                  <a:cs typeface="Noto Sans" panose="020B0502040504020204" pitchFamily="34"/>
                                </a:rPr>
                                <m:t>5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Noto Sans" panose="020B0502040504020204" pitchFamily="34"/>
                                  <a:cs typeface="Noto Sans" panose="020B0502040504020204" pitchFamily="34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Noto Sans" panose="020B0502040504020204" pitchFamily="34"/>
                                  <a:cs typeface="Noto Sans" panose="020B0502040504020204" pitchFamily="34"/>
                                </a:rPr>
                                <m:t>𝐾</m:t>
                              </m:r>
                            </m:e>
                            <m:sub>
                              <m:sSubSup>
                                <m:sSubSupPr>
                                  <m:ctrlPr>
                                    <a:rPr lang="it-IT" i="1" dirty="0">
                                      <a:latin typeface="Cambria Math" panose="02040503050406030204" pitchFamily="18" charset="0"/>
                                      <a:ea typeface="Noto Sans" panose="020B0502040504020204" pitchFamily="34"/>
                                      <a:cs typeface="Noto Sans" panose="020B0502040504020204" pitchFamily="34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Noto Sans" panose="020B0502040504020204" pitchFamily="34"/>
                                      <a:cs typeface="Noto Sans" panose="020B0502040504020204" pitchFamily="34"/>
                                    </a:rPr>
                                    <m:t>𝐶𝑂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Noto Sans" panose="020B0502040504020204" pitchFamily="34"/>
                                      <a:cs typeface="Noto Sans" panose="020B0502040504020204" pitchFamily="34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it-IT" i="1" dirty="0">
                                      <a:latin typeface="Cambria Math" panose="02040503050406030204" pitchFamily="18" charset="0"/>
                                      <a:ea typeface="Noto Sans" panose="020B0502040504020204" pitchFamily="34"/>
                                      <a:cs typeface="Noto Sans" panose="020B0502040504020204" pitchFamily="34"/>
                                    </a:rPr>
                                    <m:t>∗</m:t>
                                  </m:r>
                                </m:sup>
                              </m:sSubSup>
                            </m:sub>
                          </m:sSub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Noto Sans" panose="020B0502040504020204" pitchFamily="34"/>
                                  <a:cs typeface="Noto Sans" panose="020B0502040504020204" pitchFamily="34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Noto Sans" panose="020B0502040504020204" pitchFamily="34"/>
                                  <a:cs typeface="Noto Sans" panose="020B0502040504020204" pitchFamily="34"/>
                                </a:rPr>
                                <m:t>𝑃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  <a:ea typeface="Noto Sans" panose="020B0502040504020204" pitchFamily="34"/>
                                      <a:cs typeface="Noto Sans" panose="020B0502040504020204" pitchFamily="34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Noto Sans" panose="020B0502040504020204" pitchFamily="34"/>
                                      <a:cs typeface="Noto Sans" panose="020B0502040504020204" pitchFamily="34"/>
                                    </a:rPr>
                                    <m:t>𝐶𝑂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Noto Sans" panose="020B0502040504020204" pitchFamily="34"/>
                                      <a:cs typeface="Noto Sans" panose="020B0502040504020204" pitchFamily="34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ea typeface="Noto Sans" panose="020B0502040504020204" pitchFamily="34"/>
                                  <a:cs typeface="Noto Sans" panose="020B0502040504020204" pitchFamily="34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  <a:ea typeface="Noto Sans" panose="020B0502040504020204" pitchFamily="34"/>
                                      <a:cs typeface="Noto Sans" panose="020B0502040504020204" pitchFamily="34"/>
                                    </a:rPr>
                                  </m:ctrlPr>
                                </m:d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Noto Sans" panose="020B0502040504020204" pitchFamily="34"/>
                                      <a:cs typeface="Noto Sans" panose="020B0502040504020204" pitchFamily="34"/>
                                    </a:rPr>
                                    <m:t>1</m:t>
                                  </m:r>
                                  <m:r>
                                    <a:rPr lang="da-DK" b="0" i="1" dirty="0" smtClean="0">
                                      <a:latin typeface="Cambria Math" panose="02040503050406030204" pitchFamily="18" charset="0"/>
                                      <a:ea typeface="Noto Sans" panose="020B0502040504020204" pitchFamily="34"/>
                                      <a:cs typeface="Noto Sans" panose="020B0502040504020204" pitchFamily="34"/>
                                    </a:rPr>
                                    <m:t>+ </m:t>
                                  </m:r>
                                  <m:sSub>
                                    <m:sSub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Noto Sans" panose="020B0502040504020204" pitchFamily="34"/>
                                          <a:cs typeface="Noto Sans" panose="020B0502040504020204" pitchFamily="34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Noto Sans" panose="020B0502040504020204" pitchFamily="34"/>
                                          <a:cs typeface="Noto Sans" panose="020B0502040504020204" pitchFamily="34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it-IT" i="1" dirty="0">
                                          <a:latin typeface="Cambria Math" panose="02040503050406030204" pitchFamily="18" charset="0"/>
                                          <a:ea typeface="Noto Sans" panose="020B0502040504020204" pitchFamily="34"/>
                                          <a:cs typeface="Noto Sans" panose="020B0502040504020204" pitchFamily="34"/>
                                        </a:rPr>
                                        <m:t>𝐶</m:t>
                                      </m:r>
                                      <m:sSup>
                                        <m:sSupPr>
                                          <m:ctrlPr>
                                            <a:rPr lang="it-IT" i="1" dirty="0">
                                              <a:latin typeface="Cambria Math" panose="02040503050406030204" pitchFamily="18" charset="0"/>
                                              <a:ea typeface="Noto Sans" panose="020B0502040504020204" pitchFamily="34"/>
                                              <a:cs typeface="Noto Sans" panose="020B0502040504020204" pitchFamily="34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it-IT" i="1" dirty="0">
                                              <a:latin typeface="Cambria Math" panose="02040503050406030204" pitchFamily="18" charset="0"/>
                                              <a:ea typeface="Noto Sans" panose="020B0502040504020204" pitchFamily="34"/>
                                              <a:cs typeface="Noto Sans" panose="020B0502040504020204" pitchFamily="34"/>
                                            </a:rPr>
                                            <m:t>𝑂</m:t>
                                          </m:r>
                                        </m:e>
                                        <m:sup>
                                          <m:r>
                                            <a:rPr lang="it-IT" i="1" dirty="0">
                                              <a:latin typeface="Cambria Math" panose="02040503050406030204" pitchFamily="18" charset="0"/>
                                              <a:ea typeface="Noto Sans" panose="020B0502040504020204" pitchFamily="34"/>
                                              <a:cs typeface="Noto Sans" panose="020B0502040504020204" pitchFamily="34"/>
                                            </a:rPr>
                                            <m:t>∗</m:t>
                                          </m:r>
                                        </m:sup>
                                      </m:sSup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Noto Sans" panose="020B0502040504020204" pitchFamily="34"/>
                                          <a:cs typeface="Noto Sans" panose="020B0502040504020204" pitchFamily="34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Noto Sans" panose="020B0502040504020204" pitchFamily="34"/>
                                          <a:cs typeface="Noto Sans" panose="020B0502040504020204" pitchFamily="34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Noto Sans" panose="020B0502040504020204" pitchFamily="34"/>
                                          <a:cs typeface="Noto Sans" panose="020B0502040504020204" pitchFamily="34"/>
                                        </a:rPr>
                                        <m:t>𝐶𝑂</m:t>
                                      </m:r>
                                    </m:sub>
                                  </m:sSub>
                                  <m:r>
                                    <a:rPr lang="da-DK" b="0" i="1" dirty="0" smtClean="0">
                                      <a:latin typeface="Cambria Math" panose="02040503050406030204" pitchFamily="18" charset="0"/>
                                      <a:ea typeface="Noto Sans" panose="020B0502040504020204" pitchFamily="34"/>
                                      <a:cs typeface="Noto Sans" panose="020B0502040504020204" pitchFamily="34"/>
                                    </a:rPr>
                                    <m:t> 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Noto Sans" panose="020B0502040504020204" pitchFamily="34"/>
                                      <a:cs typeface="Noto Sans" panose="020B0502040504020204" pitchFamily="34"/>
                                    </a:rPr>
                                    <m:t>+</m:t>
                                  </m:r>
                                  <m:r>
                                    <a:rPr lang="da-DK" b="0" i="1" dirty="0" smtClean="0">
                                      <a:latin typeface="Cambria Math" panose="02040503050406030204" pitchFamily="18" charset="0"/>
                                      <a:ea typeface="Noto Sans" panose="020B0502040504020204" pitchFamily="34"/>
                                      <a:cs typeface="Noto Sans" panose="020B0502040504020204" pitchFamily="34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Noto Sans" panose="020B0502040504020204" pitchFamily="34"/>
                                          <a:cs typeface="Noto Sans" panose="020B0502040504020204" pitchFamily="34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Noto Sans" panose="020B0502040504020204" pitchFamily="34"/>
                                          <a:cs typeface="Noto Sans" panose="020B0502040504020204" pitchFamily="34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sSup>
                                        <m:sSupPr>
                                          <m:ctrlPr>
                                            <a:rPr lang="it-IT" i="1" dirty="0">
                                              <a:latin typeface="Cambria Math" panose="02040503050406030204" pitchFamily="18" charset="0"/>
                                              <a:ea typeface="Noto Sans" panose="020B0502040504020204" pitchFamily="34"/>
                                              <a:cs typeface="Noto Sans" panose="020B0502040504020204" pitchFamily="34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it-IT" i="1" dirty="0">
                                              <a:latin typeface="Cambria Math" panose="02040503050406030204" pitchFamily="18" charset="0"/>
                                              <a:ea typeface="Noto Sans" panose="020B0502040504020204" pitchFamily="34"/>
                                              <a:cs typeface="Noto Sans" panose="020B0502040504020204" pitchFamily="34"/>
                                            </a:rPr>
                                            <m:t>𝐻</m:t>
                                          </m:r>
                                        </m:e>
                                        <m:sup>
                                          <m:r>
                                            <a:rPr lang="it-IT" i="1" dirty="0">
                                              <a:latin typeface="Cambria Math" panose="02040503050406030204" pitchFamily="18" charset="0"/>
                                              <a:ea typeface="Noto Sans" panose="020B0502040504020204" pitchFamily="34"/>
                                              <a:cs typeface="Noto Sans" panose="020B0502040504020204" pitchFamily="34"/>
                                            </a:rPr>
                                            <m:t>∗</m:t>
                                          </m:r>
                                        </m:sup>
                                      </m:sSup>
                                    </m:sub>
                                  </m:sSub>
                                  <m:rad>
                                    <m:radPr>
                                      <m:degHide m:val="on"/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Noto Sans" panose="020B0502040504020204" pitchFamily="34"/>
                                          <a:cs typeface="Noto Sans" panose="020B0502040504020204" pitchFamily="34"/>
                                        </a:rPr>
                                      </m:ctrlPr>
                                    </m:radPr>
                                    <m:deg/>
                                    <m:e>
                                      <m:sSub>
                                        <m:sSubPr>
                                          <m:ctrlPr>
                                            <a:rPr lang="en-US" i="1" dirty="0">
                                              <a:latin typeface="Cambria Math" panose="02040503050406030204" pitchFamily="18" charset="0"/>
                                              <a:ea typeface="Noto Sans" panose="020B0502040504020204" pitchFamily="34"/>
                                              <a:cs typeface="Noto Sans" panose="020B0502040504020204" pitchFamily="34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  <a:ea typeface="Noto Sans" panose="020B0502040504020204" pitchFamily="34"/>
                                              <a:cs typeface="Noto Sans" panose="020B0502040504020204" pitchFamily="34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i="1" dirty="0">
                                                  <a:latin typeface="Cambria Math" panose="02040503050406030204" pitchFamily="18" charset="0"/>
                                                  <a:ea typeface="Noto Sans" panose="020B0502040504020204" pitchFamily="34"/>
                                                  <a:cs typeface="Noto Sans" panose="020B0502040504020204" pitchFamily="34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 dirty="0">
                                                  <a:latin typeface="Cambria Math" panose="02040503050406030204" pitchFamily="18" charset="0"/>
                                                  <a:ea typeface="Noto Sans" panose="020B0502040504020204" pitchFamily="34"/>
                                                  <a:cs typeface="Noto Sans" panose="020B0502040504020204" pitchFamily="34"/>
                                                </a:rPr>
                                                <m:t>𝐻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 dirty="0">
                                                  <a:latin typeface="Cambria Math" panose="02040503050406030204" pitchFamily="18" charset="0"/>
                                                  <a:ea typeface="Noto Sans" panose="020B0502040504020204" pitchFamily="34"/>
                                                  <a:cs typeface="Noto Sans" panose="020B0502040504020204" pitchFamily="34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  <m:r>
                                        <a:rPr lang="da-DK" b="0" i="1" dirty="0" smtClean="0">
                                          <a:latin typeface="Cambria Math" panose="02040503050406030204" pitchFamily="18" charset="0"/>
                                          <a:ea typeface="Noto Sans" panose="020B0502040504020204" pitchFamily="34"/>
                                          <a:cs typeface="Noto Sans" panose="020B0502040504020204" pitchFamily="34"/>
                                        </a:rPr>
                                        <m:t> </m:t>
                                      </m:r>
                                    </m:e>
                                  </m:rad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  <a:ea typeface="Noto Sans" panose="020B0502040504020204" pitchFamily="34"/>
                                      <a:cs typeface="Noto Sans" panose="020B0502040504020204" pitchFamily="34"/>
                                    </a:rPr>
                                    <m:t>+</m:t>
                                  </m:r>
                                  <m:r>
                                    <a:rPr lang="da-DK" b="0" i="1" dirty="0" smtClean="0">
                                      <a:latin typeface="Cambria Math" panose="02040503050406030204" pitchFamily="18" charset="0"/>
                                      <a:ea typeface="Noto Sans" panose="020B0502040504020204" pitchFamily="34"/>
                                      <a:cs typeface="Noto Sans" panose="020B0502040504020204" pitchFamily="34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Noto Sans" panose="020B0502040504020204" pitchFamily="34"/>
                                          <a:cs typeface="Noto Sans" panose="020B0502040504020204" pitchFamily="34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  <a:ea typeface="Noto Sans" panose="020B0502040504020204" pitchFamily="34"/>
                                          <a:cs typeface="Noto Sans" panose="020B0502040504020204" pitchFamily="34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sSup>
                                        <m:sSupPr>
                                          <m:ctrlPr>
                                            <a:rPr lang="it-IT" i="1" dirty="0">
                                              <a:latin typeface="Cambria Math" panose="02040503050406030204" pitchFamily="18" charset="0"/>
                                              <a:ea typeface="Noto Sans" panose="020B0502040504020204" pitchFamily="34"/>
                                              <a:cs typeface="Noto Sans" panose="020B0502040504020204" pitchFamily="34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  <a:ea typeface="Noto Sans" panose="020B0502040504020204" pitchFamily="34"/>
                                              <a:cs typeface="Noto Sans" panose="020B0502040504020204" pitchFamily="34"/>
                                            </a:rPr>
                                            <m:t>𝑂</m:t>
                                          </m:r>
                                        </m:e>
                                        <m:sup>
                                          <m:r>
                                            <a:rPr lang="it-IT" i="1" dirty="0">
                                              <a:latin typeface="Cambria Math" panose="02040503050406030204" pitchFamily="18" charset="0"/>
                                              <a:ea typeface="Noto Sans" panose="020B0502040504020204" pitchFamily="34"/>
                                              <a:cs typeface="Noto Sans" panose="020B0502040504020204" pitchFamily="34"/>
                                            </a:rPr>
                                            <m:t>∗</m:t>
                                          </m:r>
                                        </m:sup>
                                      </m:sSup>
                                    </m:sub>
                                  </m:sSub>
                                  <m:f>
                                    <m:f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  <a:ea typeface="Noto Sans" panose="020B0502040504020204" pitchFamily="34"/>
                                          <a:cs typeface="Noto Sans" panose="020B0502040504020204" pitchFamily="34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i="1" dirty="0">
                                              <a:latin typeface="Cambria Math" panose="02040503050406030204" pitchFamily="18" charset="0"/>
                                              <a:ea typeface="Noto Sans" panose="020B0502040504020204" pitchFamily="34"/>
                                              <a:cs typeface="Noto Sans" panose="020B0502040504020204" pitchFamily="34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  <a:ea typeface="Noto Sans" panose="020B0502040504020204" pitchFamily="34"/>
                                              <a:cs typeface="Noto Sans" panose="020B0502040504020204" pitchFamily="34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i="1" dirty="0">
                                                  <a:latin typeface="Cambria Math" panose="02040503050406030204" pitchFamily="18" charset="0"/>
                                                  <a:ea typeface="Noto Sans" panose="020B0502040504020204" pitchFamily="34"/>
                                                  <a:cs typeface="Noto Sans" panose="020B0502040504020204" pitchFamily="34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 dirty="0">
                                                  <a:latin typeface="Cambria Math" panose="02040503050406030204" pitchFamily="18" charset="0"/>
                                                  <a:ea typeface="Noto Sans" panose="020B0502040504020204" pitchFamily="34"/>
                                                  <a:cs typeface="Noto Sans" panose="020B0502040504020204" pitchFamily="34"/>
                                                </a:rPr>
                                                <m:t>𝐻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 dirty="0">
                                                  <a:latin typeface="Cambria Math" panose="02040503050406030204" pitchFamily="18" charset="0"/>
                                                  <a:ea typeface="Noto Sans" panose="020B0502040504020204" pitchFamily="34"/>
                                                  <a:cs typeface="Noto Sans" panose="020B0502040504020204" pitchFamily="34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da-DK" b="0" i="1" dirty="0" smtClean="0">
                                              <a:latin typeface="Cambria Math" panose="02040503050406030204" pitchFamily="18" charset="0"/>
                                              <a:ea typeface="Noto Sans" panose="020B0502040504020204" pitchFamily="34"/>
                                              <a:cs typeface="Noto Sans" panose="020B0502040504020204" pitchFamily="34"/>
                                            </a:rPr>
                                            <m:t>𝑂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i="1" dirty="0">
                                              <a:latin typeface="Cambria Math" panose="02040503050406030204" pitchFamily="18" charset="0"/>
                                              <a:ea typeface="Noto Sans" panose="020B0502040504020204" pitchFamily="34"/>
                                              <a:cs typeface="Noto Sans" panose="020B0502040504020204" pitchFamily="34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>
                                              <a:latin typeface="Cambria Math" panose="02040503050406030204" pitchFamily="18" charset="0"/>
                                              <a:ea typeface="Noto Sans" panose="020B0502040504020204" pitchFamily="34"/>
                                              <a:cs typeface="Noto Sans" panose="020B0502040504020204" pitchFamily="34"/>
                                            </a:rPr>
                                            <m:t>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i="1" dirty="0">
                                                  <a:latin typeface="Cambria Math" panose="02040503050406030204" pitchFamily="18" charset="0"/>
                                                  <a:ea typeface="Noto Sans" panose="020B0502040504020204" pitchFamily="34"/>
                                                  <a:cs typeface="Noto Sans" panose="020B0502040504020204" pitchFamily="34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 dirty="0">
                                                  <a:latin typeface="Cambria Math" panose="02040503050406030204" pitchFamily="18" charset="0"/>
                                                  <a:ea typeface="Noto Sans" panose="020B0502040504020204" pitchFamily="34"/>
                                                  <a:cs typeface="Noto Sans" panose="020B0502040504020204" pitchFamily="34"/>
                                                </a:rPr>
                                                <m:t>𝐻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 dirty="0">
                                                  <a:latin typeface="Cambria Math" panose="02040503050406030204" pitchFamily="18" charset="0"/>
                                                  <a:ea typeface="Noto Sans" panose="020B0502040504020204" pitchFamily="34"/>
                                                  <a:cs typeface="Noto Sans" panose="020B0502040504020204" pitchFamily="34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ea typeface="Noto Sans" panose="020B0502040504020204" pitchFamily="34"/>
                                  <a:cs typeface="Noto Sans" panose="020B0502040504020204" pitchFamily="34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a-DK" dirty="0"/>
              </a:p>
            </p:txBody>
          </p:sp>
        </mc:Choice>
        <mc:Fallback>
          <p:sp>
            <p:nvSpPr>
              <p:cNvPr id="18" name="Tekstfelt 17">
                <a:extLst>
                  <a:ext uri="{FF2B5EF4-FFF2-40B4-BE49-F238E27FC236}">
                    <a16:creationId xmlns:a16="http://schemas.microsoft.com/office/drawing/2014/main" id="{995571E7-91BD-5023-27BB-927C05FC3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428" y="2635002"/>
                <a:ext cx="6162540" cy="104304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6499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99F24-5A79-6EE2-08BA-095807EAC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107E37-F9CD-5B70-E6D1-4241053E7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Detailed</a:t>
            </a:r>
            <a:r>
              <a:rPr lang="da-DK" dirty="0"/>
              <a:t> </a:t>
            </a:r>
            <a:r>
              <a:rPr lang="da-DK" dirty="0" err="1"/>
              <a:t>description</a:t>
            </a:r>
            <a:endParaRPr lang="da-DK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Pladsholder til indhold 2">
                <a:extLst>
                  <a:ext uri="{FF2B5EF4-FFF2-40B4-BE49-F238E27FC236}">
                    <a16:creationId xmlns:a16="http://schemas.microsoft.com/office/drawing/2014/main" id="{C7640EA6-CF90-A4B2-4277-214F838AAF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06062" y="1453237"/>
                <a:ext cx="10515600" cy="4351338"/>
              </a:xfrm>
            </p:spPr>
            <p:txBody>
              <a:bodyPr/>
              <a:lstStyle/>
              <a:p>
                <a:r>
                  <a:rPr lang="da-DK" dirty="0"/>
                  <a:t>WWL-GPR model or GCNN </a:t>
                </a:r>
                <a:r>
                  <a:rPr lang="da-DK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𝐸</m:t>
                        </m:r>
                      </m:e>
                      <m:sub>
                        <m: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𝑓</m:t>
                        </m:r>
                      </m:sub>
                    </m:sSub>
                  </m:oMath>
                </a14:m>
                <a:endParaRPr lang="da-DK" dirty="0">
                  <a:sym typeface="Wingdings" pitchFamily="2" charset="2"/>
                </a:endParaRPr>
              </a:p>
              <a:p>
                <a:pPr lvl="1"/>
                <a:r>
                  <a:rPr lang="da-DK" dirty="0">
                    <a:sym typeface="Wingdings" pitchFamily="2" charset="2"/>
                  </a:rPr>
                  <a:t>GPR + </a:t>
                </a:r>
                <a:r>
                  <a:rPr lang="da-DK" dirty="0" err="1">
                    <a:sym typeface="Wingdings" pitchFamily="2" charset="2"/>
                  </a:rPr>
                  <a:t>Wasserstein-Weissfehler-lehmann</a:t>
                </a:r>
                <a:r>
                  <a:rPr lang="da-DK" dirty="0">
                    <a:sym typeface="Wingdings" pitchFamily="2" charset="2"/>
                  </a:rPr>
                  <a:t> </a:t>
                </a:r>
                <a:br>
                  <a:rPr lang="da-DK" dirty="0">
                    <a:sym typeface="Wingdings" pitchFamily="2" charset="2"/>
                  </a:rPr>
                </a:br>
                <a:r>
                  <a:rPr lang="da-DK" dirty="0" err="1">
                    <a:sym typeface="Wingdings" pitchFamily="2" charset="2"/>
                  </a:rPr>
                  <a:t>kernel</a:t>
                </a:r>
                <a:endParaRPr lang="da-DK" dirty="0">
                  <a:sym typeface="Wingdings" pitchFamily="2" charset="2"/>
                </a:endParaRPr>
              </a:p>
              <a:p>
                <a:r>
                  <a:rPr lang="da-DK" dirty="0">
                    <a:sym typeface="Wingdings" pitchFamily="2" charset="2"/>
                  </a:rPr>
                  <a:t>Bell-Evans-</a:t>
                </a:r>
                <a:r>
                  <a:rPr lang="da-DK" dirty="0" err="1">
                    <a:sym typeface="Wingdings" pitchFamily="2" charset="2"/>
                  </a:rPr>
                  <a:t>Polyani</a:t>
                </a:r>
                <a:r>
                  <a:rPr lang="da-DK" dirty="0">
                    <a:sym typeface="Wingdings" pitchFamily="2" charset="2"/>
                  </a:rPr>
                  <a:t> (BEP) </a:t>
                </a:r>
                <a:r>
                  <a:rPr lang="da-DK" dirty="0" err="1">
                    <a:sym typeface="Wingdings" pitchFamily="2" charset="2"/>
                  </a:rPr>
                  <a:t>scaling</a:t>
                </a:r>
                <a:r>
                  <a:rPr lang="da-DK" dirty="0">
                    <a:sym typeface="Wingdings" pitchFamily="2" charset="2"/>
                  </a:rPr>
                  <a:t> relations</a:t>
                </a:r>
              </a:p>
              <a:p>
                <a:pPr lvl="1"/>
                <a:r>
                  <a:rPr lang="da-DK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𝐸</m:t>
                        </m:r>
                      </m:e>
                      <m:sub>
                        <m: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𝑎𝑐𝑡</m:t>
                        </m:r>
                      </m:sub>
                    </m:sSub>
                    <m:r>
                      <a:rPr lang="da-DK" i="1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𝐸</m:t>
                        </m:r>
                      </m:e>
                      <m:sub>
                        <m: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0</m:t>
                        </m:r>
                      </m:sub>
                    </m:sSub>
                    <m:r>
                      <a:rPr lang="da-DK" i="1">
                        <a:latin typeface="Cambria Math" panose="02040503050406030204" pitchFamily="18" charset="0"/>
                        <a:sym typeface="Wingdings" pitchFamily="2" charset="2"/>
                      </a:rPr>
                      <m:t>+</m:t>
                    </m:r>
                    <m:r>
                      <a:rPr lang="da-DK" i="1">
                        <a:latin typeface="Cambria Math" panose="02040503050406030204" pitchFamily="18" charset="0"/>
                        <a:sym typeface="Wingdings" pitchFamily="2" charset="2"/>
                      </a:rPr>
                      <m:t>𝛼</m:t>
                    </m:r>
                    <m:r>
                      <m:rPr>
                        <m:sty m:val="p"/>
                      </m:rPr>
                      <a:rPr lang="da-DK">
                        <a:latin typeface="Cambria Math" panose="02040503050406030204" pitchFamily="18" charset="0"/>
                        <a:sym typeface="Wingdings" pitchFamily="2" charset="2"/>
                      </a:rPr>
                      <m:t>Δ</m:t>
                    </m:r>
                    <m:r>
                      <a:rPr lang="da-DK" i="1">
                        <a:latin typeface="Cambria Math" panose="02040503050406030204" pitchFamily="18" charset="0"/>
                        <a:sym typeface="Wingdings" pitchFamily="2" charset="2"/>
                      </a:rPr>
                      <m:t>𝐻</m:t>
                    </m:r>
                  </m:oMath>
                </a14:m>
                <a:endParaRPr lang="da-DK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a-DK">
                        <a:latin typeface="Cambria Math" panose="02040503050406030204" pitchFamily="18" charset="0"/>
                        <a:sym typeface="Wingdings" pitchFamily="2" charset="2"/>
                      </a:rPr>
                      <m:t>Δ</m:t>
                    </m:r>
                    <m:r>
                      <a:rPr lang="da-DK" i="1">
                        <a:latin typeface="Cambria Math" panose="02040503050406030204" pitchFamily="18" charset="0"/>
                        <a:sym typeface="Wingdings" pitchFamily="2" charset="2"/>
                      </a:rPr>
                      <m:t>𝐻</m:t>
                    </m:r>
                    <m:r>
                      <a:rPr lang="da-DK" i="1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bSup>
                      <m:sSubSupPr>
                        <m:ctrlP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SupPr>
                      <m:e>
                        <m: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𝐸</m:t>
                        </m:r>
                      </m:e>
                      <m:sub>
                        <m: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𝑓</m:t>
                        </m:r>
                      </m:sub>
                      <m:sup>
                        <m: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𝑓𝑖𝑛𝑎𝑙</m:t>
                        </m:r>
                      </m:sup>
                    </m:sSubSup>
                    <m:r>
                      <a:rPr lang="da-DK" i="1">
                        <a:latin typeface="Cambria Math" panose="02040503050406030204" pitchFamily="18" charset="0"/>
                        <a:sym typeface="Wingdings" pitchFamily="2" charset="2"/>
                      </a:rPr>
                      <m:t>−</m:t>
                    </m:r>
                    <m:sSubSup>
                      <m:sSubSupPr>
                        <m:ctrlP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SupPr>
                      <m:e>
                        <m: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𝐸</m:t>
                        </m:r>
                      </m:e>
                      <m:sub>
                        <m: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𝑓</m:t>
                        </m:r>
                      </m:sub>
                      <m:sup>
                        <m:r>
                          <a:rPr lang="da-DK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𝑖𝑛𝑖𝑡</m:t>
                        </m:r>
                      </m:sup>
                    </m:sSubSup>
                  </m:oMath>
                </a14:m>
                <a:endParaRPr lang="da-DK" dirty="0"/>
              </a:p>
            </p:txBody>
          </p:sp>
        </mc:Choice>
        <mc:Fallback>
          <p:sp>
            <p:nvSpPr>
              <p:cNvPr id="6" name="Pladsholder til indhold 2">
                <a:extLst>
                  <a:ext uri="{FF2B5EF4-FFF2-40B4-BE49-F238E27FC236}">
                    <a16:creationId xmlns:a16="http://schemas.microsoft.com/office/drawing/2014/main" id="{C7640EA6-CF90-A4B2-4277-214F838AAF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06062" y="1453237"/>
                <a:ext cx="10515600" cy="4351338"/>
              </a:xfrm>
              <a:blipFill>
                <a:blip r:embed="rId2"/>
                <a:stretch>
                  <a:fillRect l="-1086" t="-2332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91" descr="A chart of a graph&#10;&#10;AI-generated content may be incorrect.">
            <a:extLst>
              <a:ext uri="{FF2B5EF4-FFF2-40B4-BE49-F238E27FC236}">
                <a16:creationId xmlns:a16="http://schemas.microsoft.com/office/drawing/2014/main" id="{D286B959-40CB-1519-6F25-FFD875BEE9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453"/>
          <a:stretch>
            <a:fillRect/>
          </a:stretch>
        </p:blipFill>
        <p:spPr>
          <a:xfrm>
            <a:off x="7362679" y="1290876"/>
            <a:ext cx="4829321" cy="4276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333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A86C1-02E8-8EB5-84DE-2F13A4402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80644C1-D7AA-07C9-5C6B-F41BECC4B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809580" y="6581497"/>
            <a:ext cx="252000" cy="135422"/>
          </a:xfrm>
        </p:spPr>
        <p:txBody>
          <a:bodyPr/>
          <a:lstStyle/>
          <a:p>
            <a:fld id="{7834947A-1B05-2B43-AD85-E646CE852B9E}" type="slidenum">
              <a:rPr lang="it-IT" smtClean="0">
                <a:latin typeface="+mj-lt"/>
              </a:rPr>
              <a:t>11</a:t>
            </a:fld>
            <a:endParaRPr lang="it-IT" dirty="0"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DB26C4-CADB-8DA9-F1C5-D77D602B6B6A}"/>
              </a:ext>
            </a:extLst>
          </p:cNvPr>
          <p:cNvSpPr txBox="1"/>
          <p:nvPr/>
        </p:nvSpPr>
        <p:spPr>
          <a:xfrm>
            <a:off x="144602" y="124935"/>
            <a:ext cx="12335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kern="0" dirty="0">
                <a:latin typeface="+mj-lt"/>
              </a:rPr>
              <a:t>Detailed description - How do we do this in practice?</a:t>
            </a:r>
            <a:endParaRPr lang="en-US" sz="4400" dirty="0"/>
          </a:p>
        </p:txBody>
      </p:sp>
      <p:pic>
        <p:nvPicPr>
          <p:cNvPr id="76" name="Picture 75" descr="A group of blue and yellow circles&#10;&#10;AI-generated content may be incorrect.">
            <a:extLst>
              <a:ext uri="{FF2B5EF4-FFF2-40B4-BE49-F238E27FC236}">
                <a16:creationId xmlns:a16="http://schemas.microsoft.com/office/drawing/2014/main" id="{9FE4DDAF-1419-BA39-8FFE-13094A2F67D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9448"/>
          <a:stretch>
            <a:fillRect/>
          </a:stretch>
        </p:blipFill>
        <p:spPr>
          <a:xfrm>
            <a:off x="1311473" y="2348984"/>
            <a:ext cx="1462838" cy="1155954"/>
          </a:xfrm>
          <a:prstGeom prst="rect">
            <a:avLst/>
          </a:prstGeom>
        </p:spPr>
      </p:pic>
      <p:pic>
        <p:nvPicPr>
          <p:cNvPr id="36" name="Picture 35" descr="A group of blue balls with a red pin&#10;&#10;AI-generated content may be incorrect.">
            <a:extLst>
              <a:ext uri="{FF2B5EF4-FFF2-40B4-BE49-F238E27FC236}">
                <a16:creationId xmlns:a16="http://schemas.microsoft.com/office/drawing/2014/main" id="{AB6D3AF8-A08D-7AF3-5314-FFE195A33A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85" r="13957" b="24115"/>
          <a:stretch>
            <a:fillRect/>
          </a:stretch>
        </p:blipFill>
        <p:spPr>
          <a:xfrm>
            <a:off x="4150453" y="794237"/>
            <a:ext cx="1810151" cy="1515975"/>
          </a:xfrm>
          <a:prstGeom prst="rect">
            <a:avLst/>
          </a:prstGeom>
        </p:spPr>
      </p:pic>
      <p:pic>
        <p:nvPicPr>
          <p:cNvPr id="35" name="Picture 34" descr="A group of yellow and brown circles&#10;&#10;AI-generated content may be incorrect.">
            <a:extLst>
              <a:ext uri="{FF2B5EF4-FFF2-40B4-BE49-F238E27FC236}">
                <a16:creationId xmlns:a16="http://schemas.microsoft.com/office/drawing/2014/main" id="{5C44A7FA-A30F-F2B7-E88F-0D270FB9CDF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521" r="22617" b="36600"/>
          <a:stretch>
            <a:fillRect/>
          </a:stretch>
        </p:blipFill>
        <p:spPr>
          <a:xfrm>
            <a:off x="4128831" y="4388319"/>
            <a:ext cx="1853396" cy="1636223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67A1F573-EB2E-CEDC-8F95-CB55E7BE513B}"/>
              </a:ext>
            </a:extLst>
          </p:cNvPr>
          <p:cNvSpPr txBox="1">
            <a:spLocks/>
          </p:cNvSpPr>
          <p:nvPr/>
        </p:nvSpPr>
        <p:spPr bwMode="auto">
          <a:xfrm>
            <a:off x="3696556" y="2247098"/>
            <a:ext cx="2717946" cy="34606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alibri" panose="020F0502020204030204" pitchFamily="34" charset="0"/>
              <a:buChar char="​"/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2pPr>
            <a:lvl3pPr marL="75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15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51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5pPr>
            <a:lvl6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6pPr>
            <a:lvl7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7pPr>
            <a:lvl8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8pPr>
            <a:lvl9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lvl="1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kern="0" spc="100" dirty="0"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DFT DB (RWGS on SAAs)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B71C75-3FD3-635E-FBF9-19C37FA02E48}"/>
              </a:ext>
            </a:extLst>
          </p:cNvPr>
          <p:cNvSpPr txBox="1">
            <a:spLocks/>
          </p:cNvSpPr>
          <p:nvPr/>
        </p:nvSpPr>
        <p:spPr bwMode="auto">
          <a:xfrm>
            <a:off x="3696555" y="3583070"/>
            <a:ext cx="2717946" cy="34606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alibri" panose="020F0502020204030204" pitchFamily="34" charset="0"/>
              <a:buChar char="​"/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2pPr>
            <a:lvl3pPr marL="75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15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51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5pPr>
            <a:lvl6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6pPr>
            <a:lvl7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7pPr>
            <a:lvl8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8pPr>
            <a:lvl9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lvl="1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kern="0" spc="100" dirty="0"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Python function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120F14-D61D-4BA6-121D-B50025625155}"/>
              </a:ext>
            </a:extLst>
          </p:cNvPr>
          <p:cNvSpPr txBox="1">
            <a:spLocks/>
          </p:cNvSpPr>
          <p:nvPr/>
        </p:nvSpPr>
        <p:spPr bwMode="auto">
          <a:xfrm>
            <a:off x="3696555" y="2915084"/>
            <a:ext cx="2717946" cy="34606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alibri" panose="020F0502020204030204" pitchFamily="34" charset="0"/>
              <a:buChar char="​"/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2pPr>
            <a:lvl3pPr marL="75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15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51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5pPr>
            <a:lvl6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6pPr>
            <a:lvl7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7pPr>
            <a:lvl8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8pPr>
            <a:lvl9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lvl="1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kern="0" spc="100" dirty="0"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WWL-GPR graph model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593B0D6-33FF-7414-5DC4-5FC4736282A0}"/>
              </a:ext>
            </a:extLst>
          </p:cNvPr>
          <p:cNvSpPr txBox="1">
            <a:spLocks/>
          </p:cNvSpPr>
          <p:nvPr/>
        </p:nvSpPr>
        <p:spPr bwMode="auto">
          <a:xfrm>
            <a:off x="807462" y="3583070"/>
            <a:ext cx="2470860" cy="34606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alibri" panose="020F0502020204030204" pitchFamily="34" charset="0"/>
              <a:buChar char="​"/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2pPr>
            <a:lvl3pPr marL="75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15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51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5pPr>
            <a:lvl6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6pPr>
            <a:lvl7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7pPr>
            <a:lvl8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8pPr>
            <a:lvl9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lvl="1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kern="0" spc="100" dirty="0"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Surface composition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5412170-590C-0281-9F30-91F9FB53500B}"/>
              </a:ext>
            </a:extLst>
          </p:cNvPr>
          <p:cNvSpPr txBox="1">
            <a:spLocks/>
          </p:cNvSpPr>
          <p:nvPr/>
        </p:nvSpPr>
        <p:spPr bwMode="auto">
          <a:xfrm>
            <a:off x="6832734" y="3581278"/>
            <a:ext cx="2470860" cy="34606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alibri" panose="020F0502020204030204" pitchFamily="34" charset="0"/>
              <a:buChar char="​"/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2pPr>
            <a:lvl3pPr marL="75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15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51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5pPr>
            <a:lvl6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6pPr>
            <a:lvl7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7pPr>
            <a:lvl8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8pPr>
            <a:lvl9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lvl="1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kern="0" spc="100" dirty="0"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Adsorption energies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199B5E2-FA2C-994E-4FD2-9F0520F857E4}"/>
              </a:ext>
            </a:extLst>
          </p:cNvPr>
          <p:cNvSpPr txBox="1">
            <a:spLocks/>
          </p:cNvSpPr>
          <p:nvPr/>
        </p:nvSpPr>
        <p:spPr bwMode="auto">
          <a:xfrm>
            <a:off x="3696555" y="4251057"/>
            <a:ext cx="2717946" cy="34606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alibri" panose="020F0502020204030204" pitchFamily="34" charset="0"/>
              <a:buChar char="​"/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2pPr>
            <a:lvl3pPr marL="75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15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51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5pPr>
            <a:lvl6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6pPr>
            <a:lvl7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7pPr>
            <a:lvl8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8pPr>
            <a:lvl9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lvl="1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kern="0" spc="100" dirty="0"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Adsorption modes DB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36FF865-6969-0DE4-905F-82EDE511325D}"/>
              </a:ext>
            </a:extLst>
          </p:cNvPr>
          <p:cNvCxnSpPr>
            <a:stCxn id="7" idx="3"/>
            <a:endCxn id="4" idx="1"/>
          </p:cNvCxnSpPr>
          <p:nvPr/>
        </p:nvCxnSpPr>
        <p:spPr bwMode="auto">
          <a:xfrm>
            <a:off x="3278323" y="3756104"/>
            <a:ext cx="418233" cy="0"/>
          </a:xfrm>
          <a:prstGeom prst="straightConnector1">
            <a:avLst/>
          </a:prstGeom>
          <a:ln w="28575">
            <a:solidFill>
              <a:srgbClr val="B8CED7"/>
            </a:solidFill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E47FDA0-F638-B9E4-A286-9A1535DD748B}"/>
              </a:ext>
            </a:extLst>
          </p:cNvPr>
          <p:cNvCxnSpPr>
            <a:cxnSpLocks/>
            <a:stCxn id="6" idx="2"/>
            <a:endCxn id="4" idx="0"/>
          </p:cNvCxnSpPr>
          <p:nvPr/>
        </p:nvCxnSpPr>
        <p:spPr bwMode="auto">
          <a:xfrm>
            <a:off x="5055528" y="3261152"/>
            <a:ext cx="0" cy="321918"/>
          </a:xfrm>
          <a:prstGeom prst="straightConnector1">
            <a:avLst/>
          </a:prstGeom>
          <a:ln w="28575">
            <a:solidFill>
              <a:srgbClr val="DCE6EB"/>
            </a:solidFill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2CAB19F-AF1E-F547-6C1E-F7C46B365C44}"/>
              </a:ext>
            </a:extLst>
          </p:cNvPr>
          <p:cNvCxnSpPr>
            <a:cxnSpLocks/>
            <a:stCxn id="3" idx="2"/>
            <a:endCxn id="6" idx="0"/>
          </p:cNvCxnSpPr>
          <p:nvPr/>
        </p:nvCxnSpPr>
        <p:spPr bwMode="auto">
          <a:xfrm flipH="1">
            <a:off x="5055529" y="2593166"/>
            <a:ext cx="1" cy="321918"/>
          </a:xfrm>
          <a:prstGeom prst="straightConnector1">
            <a:avLst/>
          </a:prstGeom>
          <a:ln w="28575">
            <a:solidFill>
              <a:srgbClr val="DCE6EB"/>
            </a:solidFill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452B991-8923-C9AC-9190-572CE0FF4A06}"/>
              </a:ext>
            </a:extLst>
          </p:cNvPr>
          <p:cNvCxnSpPr>
            <a:cxnSpLocks/>
            <a:stCxn id="10" idx="0"/>
            <a:endCxn id="4" idx="2"/>
          </p:cNvCxnSpPr>
          <p:nvPr/>
        </p:nvCxnSpPr>
        <p:spPr bwMode="auto">
          <a:xfrm flipV="1">
            <a:off x="5055528" y="3929139"/>
            <a:ext cx="0" cy="321919"/>
          </a:xfrm>
          <a:prstGeom prst="straightConnector1">
            <a:avLst/>
          </a:prstGeom>
          <a:ln w="28575">
            <a:solidFill>
              <a:srgbClr val="DCE6EB"/>
            </a:solidFill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718F2AD-6925-7959-9E65-00509F18833F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 bwMode="auto">
          <a:xfrm flipV="1">
            <a:off x="6414502" y="3754312"/>
            <a:ext cx="418233" cy="1792"/>
          </a:xfrm>
          <a:prstGeom prst="straightConnector1">
            <a:avLst/>
          </a:prstGeom>
          <a:ln w="28575">
            <a:solidFill>
              <a:srgbClr val="B8CED7"/>
            </a:solidFill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9513204-F937-E324-84D7-8AE7F77A9101}"/>
              </a:ext>
            </a:extLst>
          </p:cNvPr>
          <p:cNvSpPr txBox="1"/>
          <p:nvPr/>
        </p:nvSpPr>
        <p:spPr>
          <a:xfrm>
            <a:off x="5891142" y="1196682"/>
            <a:ext cx="161614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22222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DFT energies (obtained with slab models</a:t>
            </a:r>
            <a:r>
              <a:rPr lang="it-IT" sz="1600" dirty="0">
                <a:solidFill>
                  <a:srgbClr val="222222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)</a:t>
            </a:r>
            <a:endParaRPr lang="en-US" sz="1600" dirty="0">
              <a:solidFill>
                <a:srgbClr val="222222"/>
              </a:solidFill>
              <a:latin typeface="Noto Sans" panose="020B0502040504020204" pitchFamily="34"/>
              <a:ea typeface="Noto Sans" panose="020B0502040504020204" pitchFamily="34"/>
              <a:cs typeface="Noto Sans" panose="020B0502040504020204" pitchFamily="34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BC9FE0-EF45-C13D-A792-4422E4D6D19D}"/>
              </a:ext>
            </a:extLst>
          </p:cNvPr>
          <p:cNvSpPr txBox="1"/>
          <p:nvPr/>
        </p:nvSpPr>
        <p:spPr>
          <a:xfrm>
            <a:off x="5891142" y="4935175"/>
            <a:ext cx="22767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22222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All adsorbate configurations involving site atoms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F6D27CF-7F02-3B22-F32D-0F212B6B5517}"/>
              </a:ext>
            </a:extLst>
          </p:cNvPr>
          <p:cNvSpPr txBox="1"/>
          <p:nvPr/>
        </p:nvSpPr>
        <p:spPr>
          <a:xfrm>
            <a:off x="1936412" y="5076759"/>
            <a:ext cx="19462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22222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Brown: site atoms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61C1F72-87BE-1571-B97A-61D36A813EBA}"/>
              </a:ext>
            </a:extLst>
          </p:cNvPr>
          <p:cNvSpPr txBox="1"/>
          <p:nvPr/>
        </p:nvSpPr>
        <p:spPr>
          <a:xfrm>
            <a:off x="1664188" y="5438859"/>
            <a:ext cx="249069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222222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Yellow: neighbor atoms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1EA0037-EBB0-1DD5-0A4B-58E26940CBAB}"/>
              </a:ext>
            </a:extLst>
          </p:cNvPr>
          <p:cNvCxnSpPr>
            <a:cxnSpLocks/>
            <a:stCxn id="39" idx="3"/>
          </p:cNvCxnSpPr>
          <p:nvPr/>
        </p:nvCxnSpPr>
        <p:spPr bwMode="auto">
          <a:xfrm>
            <a:off x="3882654" y="5246036"/>
            <a:ext cx="897884" cy="0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A08C1C2-BDFE-3D1C-640B-1F811CE5E06E}"/>
              </a:ext>
            </a:extLst>
          </p:cNvPr>
          <p:cNvCxnSpPr>
            <a:cxnSpLocks/>
            <a:stCxn id="40" idx="3"/>
          </p:cNvCxnSpPr>
          <p:nvPr/>
        </p:nvCxnSpPr>
        <p:spPr bwMode="auto">
          <a:xfrm>
            <a:off x="4154878" y="5608136"/>
            <a:ext cx="927638" cy="0"/>
          </a:xfrm>
          <a:prstGeom prst="straightConnector1">
            <a:avLst/>
          </a:prstGeom>
          <a:ln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821EECAF-693D-60A2-8D97-12EB40C4AFAB}"/>
              </a:ext>
            </a:extLst>
          </p:cNvPr>
          <p:cNvCxnSpPr>
            <a:cxnSpLocks/>
            <a:stCxn id="9" idx="3"/>
            <a:endCxn id="65" idx="1"/>
          </p:cNvCxnSpPr>
          <p:nvPr/>
        </p:nvCxnSpPr>
        <p:spPr bwMode="auto">
          <a:xfrm>
            <a:off x="9303594" y="3754312"/>
            <a:ext cx="387092" cy="0"/>
          </a:xfrm>
          <a:prstGeom prst="straightConnector1">
            <a:avLst/>
          </a:prstGeom>
          <a:ln w="28575">
            <a:solidFill>
              <a:srgbClr val="B8CED7"/>
            </a:solidFill>
            <a:headEnd type="none" w="med" len="med"/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5" name="Text Placeholder 3">
            <a:extLst>
              <a:ext uri="{FF2B5EF4-FFF2-40B4-BE49-F238E27FC236}">
                <a16:creationId xmlns:a16="http://schemas.microsoft.com/office/drawing/2014/main" id="{72CAC0B7-5302-428C-D34A-A07074A2A2CF}"/>
              </a:ext>
            </a:extLst>
          </p:cNvPr>
          <p:cNvSpPr txBox="1">
            <a:spLocks/>
          </p:cNvSpPr>
          <p:nvPr/>
        </p:nvSpPr>
        <p:spPr bwMode="auto">
          <a:xfrm>
            <a:off x="9690687" y="3581278"/>
            <a:ext cx="1693853" cy="34606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Calibri" panose="020F0502020204030204" pitchFamily="34" charset="0"/>
              <a:buChar char="​"/>
              <a:defRPr sz="20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2pPr>
            <a:lvl3pPr marL="75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15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512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5pPr>
            <a:lvl6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6pPr>
            <a:lvl7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7pPr>
            <a:lvl8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8pPr>
            <a:lvl9pPr marL="1836000" indent="-180000" algn="l" rtl="0" eaLnBrk="1" fontAlgn="base" hangingPunct="1">
              <a:lnSpc>
                <a:spcPct val="99000"/>
              </a:lnSpc>
              <a:spcBef>
                <a:spcPts val="600"/>
              </a:spcBef>
              <a:spcAft>
                <a:spcPct val="0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marL="0" lvl="1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600" kern="0" spc="100" dirty="0"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Reaction rate</a:t>
            </a:r>
          </a:p>
        </p:txBody>
      </p:sp>
      <p:pic>
        <p:nvPicPr>
          <p:cNvPr id="78" name="Picture 77" descr="A group of colorful circles&#10;&#10;AI-generated content may be incorrect.">
            <a:extLst>
              <a:ext uri="{FF2B5EF4-FFF2-40B4-BE49-F238E27FC236}">
                <a16:creationId xmlns:a16="http://schemas.microsoft.com/office/drawing/2014/main" id="{AF8EAA90-8B06-A233-F73C-B695E2DA9E7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463" t="12696" r="25755" b="42065"/>
          <a:stretch>
            <a:fillRect/>
          </a:stretch>
        </p:blipFill>
        <p:spPr>
          <a:xfrm>
            <a:off x="7288289" y="2348984"/>
            <a:ext cx="1559750" cy="11559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FB061F-AD23-F9FC-B349-CE7541BCC969}"/>
              </a:ext>
            </a:extLst>
          </p:cNvPr>
          <p:cNvSpPr txBox="1"/>
          <p:nvPr/>
        </p:nvSpPr>
        <p:spPr>
          <a:xfrm>
            <a:off x="9503058" y="4040907"/>
            <a:ext cx="207757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222222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From rate equation or microkinetic modeling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C7A8A4-94F0-855C-453F-F6BC9FB1B0C4}"/>
              </a:ext>
            </a:extLst>
          </p:cNvPr>
          <p:cNvSpPr txBox="1"/>
          <p:nvPr/>
        </p:nvSpPr>
        <p:spPr>
          <a:xfrm>
            <a:off x="884985" y="1437267"/>
            <a:ext cx="231581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222222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rPr>
              <a:t>Cluster model including site atoms and their neighbors</a:t>
            </a:r>
          </a:p>
        </p:txBody>
      </p:sp>
    </p:spTree>
    <p:extLst>
      <p:ext uri="{BB962C8B-B14F-4D97-AF65-F5344CB8AC3E}">
        <p14:creationId xmlns:p14="http://schemas.microsoft.com/office/powerpoint/2010/main" val="1487859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CE56C1-F103-17F6-43B8-FD350C6BA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2220"/>
            <a:ext cx="10515600" cy="1325563"/>
          </a:xfrm>
        </p:spPr>
        <p:txBody>
          <a:bodyPr/>
          <a:lstStyle/>
          <a:p>
            <a:r>
              <a:rPr lang="da-DK" dirty="0"/>
              <a:t>Preliminary </a:t>
            </a:r>
            <a:r>
              <a:rPr lang="da-DK" dirty="0" err="1"/>
              <a:t>results</a:t>
            </a:r>
            <a:r>
              <a:rPr lang="da-DK" dirty="0"/>
              <a:t> – </a:t>
            </a:r>
            <a:br>
              <a:rPr lang="da-DK" dirty="0"/>
            </a:br>
            <a:r>
              <a:rPr lang="da-DK" dirty="0" err="1"/>
              <a:t>Random</a:t>
            </a:r>
            <a:r>
              <a:rPr lang="da-DK" dirty="0"/>
              <a:t> </a:t>
            </a:r>
            <a:r>
              <a:rPr lang="da-DK" dirty="0" err="1"/>
              <a:t>search</a:t>
            </a:r>
            <a:endParaRPr lang="da-DK" dirty="0"/>
          </a:p>
        </p:txBody>
      </p:sp>
      <p:pic>
        <p:nvPicPr>
          <p:cNvPr id="13" name="Pladsholder til indhold 12">
            <a:extLst>
              <a:ext uri="{FF2B5EF4-FFF2-40B4-BE49-F238E27FC236}">
                <a16:creationId xmlns:a16="http://schemas.microsoft.com/office/drawing/2014/main" id="{311FCBEF-3282-14C8-974D-1F515C21BE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09301" y="2895618"/>
            <a:ext cx="5283175" cy="3962382"/>
          </a:xfrm>
        </p:spPr>
      </p:pic>
      <p:sp>
        <p:nvSpPr>
          <p:cNvPr id="15" name="Afrundet rektangel 14">
            <a:extLst>
              <a:ext uri="{FF2B5EF4-FFF2-40B4-BE49-F238E27FC236}">
                <a16:creationId xmlns:a16="http://schemas.microsoft.com/office/drawing/2014/main" id="{B2B48067-7947-9280-E8AC-D19C6943C617}"/>
              </a:ext>
            </a:extLst>
          </p:cNvPr>
          <p:cNvSpPr/>
          <p:nvPr/>
        </p:nvSpPr>
        <p:spPr>
          <a:xfrm>
            <a:off x="46511" y="1515680"/>
            <a:ext cx="1930541" cy="5196205"/>
          </a:xfrm>
          <a:prstGeom prst="roundRect">
            <a:avLst/>
          </a:prstGeom>
          <a:solidFill>
            <a:srgbClr val="FFF1D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500" dirty="0"/>
          </a:p>
        </p:txBody>
      </p:sp>
      <p:pic>
        <p:nvPicPr>
          <p:cNvPr id="30" name="Billede 29" descr="Et billede, der indeholder cirkel, Farverigt&#10;&#10;AI-genereret indhold kan være ukorrekt.">
            <a:extLst>
              <a:ext uri="{FF2B5EF4-FFF2-40B4-BE49-F238E27FC236}">
                <a16:creationId xmlns:a16="http://schemas.microsoft.com/office/drawing/2014/main" id="{CFFA74DD-4106-DAF3-E472-5FFFC6113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2" y="5428526"/>
            <a:ext cx="1705849" cy="1219825"/>
          </a:xfrm>
          <a:prstGeom prst="rect">
            <a:avLst/>
          </a:prstGeom>
        </p:spPr>
      </p:pic>
      <p:pic>
        <p:nvPicPr>
          <p:cNvPr id="32" name="Billede 31" descr="Et billede, der indeholder cirkel, Farverigt&#10;&#10;AI-genereret indhold kan være ukorrekt.">
            <a:extLst>
              <a:ext uri="{FF2B5EF4-FFF2-40B4-BE49-F238E27FC236}">
                <a16:creationId xmlns:a16="http://schemas.microsoft.com/office/drawing/2014/main" id="{4B29FDD1-EB1D-972B-BA24-BF3B1C175D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92" y="3960073"/>
            <a:ext cx="1732926" cy="1219825"/>
          </a:xfrm>
          <a:prstGeom prst="rect">
            <a:avLst/>
          </a:prstGeom>
        </p:spPr>
      </p:pic>
      <p:pic>
        <p:nvPicPr>
          <p:cNvPr id="34" name="Billede 33" descr="Et billede, der indeholder cirkel, Farverigt&#10;&#10;AI-genereret indhold kan være ukorrekt.">
            <a:extLst>
              <a:ext uri="{FF2B5EF4-FFF2-40B4-BE49-F238E27FC236}">
                <a16:creationId xmlns:a16="http://schemas.microsoft.com/office/drawing/2014/main" id="{40981D4D-DD21-A918-6EFC-823823488D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11" y="2335575"/>
            <a:ext cx="1713564" cy="1219825"/>
          </a:xfrm>
          <a:prstGeom prst="rect">
            <a:avLst/>
          </a:prstGeom>
        </p:spPr>
      </p:pic>
      <p:sp>
        <p:nvSpPr>
          <p:cNvPr id="35" name="Afrundet rektangel 34">
            <a:extLst>
              <a:ext uri="{FF2B5EF4-FFF2-40B4-BE49-F238E27FC236}">
                <a16:creationId xmlns:a16="http://schemas.microsoft.com/office/drawing/2014/main" id="{00E9FA1E-DD4D-FE92-B513-30C1FD0FB669}"/>
              </a:ext>
            </a:extLst>
          </p:cNvPr>
          <p:cNvSpPr/>
          <p:nvPr/>
        </p:nvSpPr>
        <p:spPr>
          <a:xfrm>
            <a:off x="2132643" y="1529971"/>
            <a:ext cx="1930542" cy="5196205"/>
          </a:xfrm>
          <a:prstGeom prst="roundRect">
            <a:avLst/>
          </a:prstGeom>
          <a:solidFill>
            <a:srgbClr val="FFF1D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500"/>
          </a:p>
        </p:txBody>
      </p:sp>
      <p:pic>
        <p:nvPicPr>
          <p:cNvPr id="37" name="Billede 36" descr="Et billede, der indeholder cirkel, Farverigt&#10;&#10;AI-genereret indhold kan være ukorrekt.">
            <a:extLst>
              <a:ext uri="{FF2B5EF4-FFF2-40B4-BE49-F238E27FC236}">
                <a16:creationId xmlns:a16="http://schemas.microsoft.com/office/drawing/2014/main" id="{AEC29359-D91F-BD2A-33EC-FB2E847756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0880" y="5443256"/>
            <a:ext cx="1712338" cy="1218953"/>
          </a:xfrm>
          <a:prstGeom prst="rect">
            <a:avLst/>
          </a:prstGeom>
        </p:spPr>
      </p:pic>
      <p:pic>
        <p:nvPicPr>
          <p:cNvPr id="39" name="Billede 38" descr="Et billede, der indeholder cirkel, Farverigt&#10;&#10;AI-genereret indhold kan være ukorrekt.">
            <a:extLst>
              <a:ext uri="{FF2B5EF4-FFF2-40B4-BE49-F238E27FC236}">
                <a16:creationId xmlns:a16="http://schemas.microsoft.com/office/drawing/2014/main" id="{05E38C60-AB69-BCBF-9D36-6A5310D4E86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6685" y="3960073"/>
            <a:ext cx="1713564" cy="1219825"/>
          </a:xfrm>
          <a:prstGeom prst="rect">
            <a:avLst/>
          </a:prstGeom>
        </p:spPr>
      </p:pic>
      <p:pic>
        <p:nvPicPr>
          <p:cNvPr id="41" name="Billede 40" descr="Et billede, der indeholder cirkel, Farverigt&#10;&#10;AI-genereret indhold kan være ukorrekt.">
            <a:extLst>
              <a:ext uri="{FF2B5EF4-FFF2-40B4-BE49-F238E27FC236}">
                <a16:creationId xmlns:a16="http://schemas.microsoft.com/office/drawing/2014/main" id="{F92E177E-E0B8-6EC4-D5ED-02AF8C1967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0072" y="2353920"/>
            <a:ext cx="1686789" cy="1219825"/>
          </a:xfrm>
          <a:prstGeom prst="rect">
            <a:avLst/>
          </a:prstGeom>
        </p:spPr>
      </p:pic>
      <p:sp>
        <p:nvSpPr>
          <p:cNvPr id="42" name="Afrundet rektangel 41">
            <a:extLst>
              <a:ext uri="{FF2B5EF4-FFF2-40B4-BE49-F238E27FC236}">
                <a16:creationId xmlns:a16="http://schemas.microsoft.com/office/drawing/2014/main" id="{3CBB6BF8-24C4-987B-0985-C54DA88E0343}"/>
              </a:ext>
            </a:extLst>
          </p:cNvPr>
          <p:cNvSpPr/>
          <p:nvPr/>
        </p:nvSpPr>
        <p:spPr>
          <a:xfrm>
            <a:off x="4165458" y="1542446"/>
            <a:ext cx="1930542" cy="5196205"/>
          </a:xfrm>
          <a:prstGeom prst="roundRect">
            <a:avLst/>
          </a:prstGeom>
          <a:solidFill>
            <a:srgbClr val="FFF1D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500"/>
          </a:p>
        </p:txBody>
      </p:sp>
      <p:pic>
        <p:nvPicPr>
          <p:cNvPr id="44" name="Billede 43" descr="Et billede, der indeholder cirkel, Farverigt, Grafik&#10;&#10;AI-genereret indhold kan være ukorrekt.">
            <a:extLst>
              <a:ext uri="{FF2B5EF4-FFF2-40B4-BE49-F238E27FC236}">
                <a16:creationId xmlns:a16="http://schemas.microsoft.com/office/drawing/2014/main" id="{A440CC3D-D928-2EAF-558A-BF30631DC5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69080" y="5452290"/>
            <a:ext cx="1705848" cy="1219825"/>
          </a:xfrm>
          <a:prstGeom prst="rect">
            <a:avLst/>
          </a:prstGeom>
        </p:spPr>
      </p:pic>
      <p:pic>
        <p:nvPicPr>
          <p:cNvPr id="46" name="Billede 45" descr="Et billede, der indeholder cirkel, Farverigt, Grafik&#10;&#10;AI-genereret indhold kan være ukorrekt.">
            <a:extLst>
              <a:ext uri="{FF2B5EF4-FFF2-40B4-BE49-F238E27FC236}">
                <a16:creationId xmlns:a16="http://schemas.microsoft.com/office/drawing/2014/main" id="{3259D3CA-2F10-B9FD-38D8-24FA8218B7B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42092" y="3983837"/>
            <a:ext cx="1686789" cy="1219825"/>
          </a:xfrm>
          <a:prstGeom prst="rect">
            <a:avLst/>
          </a:prstGeom>
        </p:spPr>
      </p:pic>
      <p:pic>
        <p:nvPicPr>
          <p:cNvPr id="48" name="Billede 47" descr="Et billede, der indeholder cirkel, Farverigt&#10;&#10;AI-genereret indhold kan være ukorrekt.">
            <a:extLst>
              <a:ext uri="{FF2B5EF4-FFF2-40B4-BE49-F238E27FC236}">
                <a16:creationId xmlns:a16="http://schemas.microsoft.com/office/drawing/2014/main" id="{3E29868C-7C36-A9A9-EAB5-EBECF8582C3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69078" y="2359339"/>
            <a:ext cx="1705849" cy="1219825"/>
          </a:xfrm>
          <a:prstGeom prst="rect">
            <a:avLst/>
          </a:prstGeom>
        </p:spPr>
      </p:pic>
      <p:sp>
        <p:nvSpPr>
          <p:cNvPr id="49" name="Tekstfelt 48">
            <a:extLst>
              <a:ext uri="{FF2B5EF4-FFF2-40B4-BE49-F238E27FC236}">
                <a16:creationId xmlns:a16="http://schemas.microsoft.com/office/drawing/2014/main" id="{54E55995-8D13-8723-A6EC-290BC3CED2D3}"/>
              </a:ext>
            </a:extLst>
          </p:cNvPr>
          <p:cNvSpPr txBox="1"/>
          <p:nvPr/>
        </p:nvSpPr>
        <p:spPr>
          <a:xfrm>
            <a:off x="460518" y="1494455"/>
            <a:ext cx="107706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500" dirty="0"/>
              <a:t>{</a:t>
            </a:r>
            <a:r>
              <a:rPr lang="da-DK" sz="1500" dirty="0" err="1"/>
              <a:t>Rh,Cu,Pd</a:t>
            </a:r>
            <a:r>
              <a:rPr lang="da-DK" sz="1500" dirty="0"/>
              <a:t>}</a:t>
            </a:r>
          </a:p>
        </p:txBody>
      </p:sp>
      <p:sp>
        <p:nvSpPr>
          <p:cNvPr id="50" name="Tekstfelt 49">
            <a:extLst>
              <a:ext uri="{FF2B5EF4-FFF2-40B4-BE49-F238E27FC236}">
                <a16:creationId xmlns:a16="http://schemas.microsoft.com/office/drawing/2014/main" id="{28F06785-6787-C3F9-F419-396B2E2FF0B2}"/>
              </a:ext>
            </a:extLst>
          </p:cNvPr>
          <p:cNvSpPr txBox="1"/>
          <p:nvPr/>
        </p:nvSpPr>
        <p:spPr>
          <a:xfrm>
            <a:off x="2386840" y="1519647"/>
            <a:ext cx="135728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500" dirty="0"/>
              <a:t>{</a:t>
            </a:r>
            <a:r>
              <a:rPr lang="da-DK" sz="1500" dirty="0" err="1"/>
              <a:t>Rh,Cu,Au,Pd</a:t>
            </a:r>
            <a:r>
              <a:rPr lang="da-DK" sz="1500" dirty="0"/>
              <a:t>}</a:t>
            </a:r>
          </a:p>
        </p:txBody>
      </p:sp>
      <p:sp>
        <p:nvSpPr>
          <p:cNvPr id="51" name="Tekstfelt 50">
            <a:extLst>
              <a:ext uri="{FF2B5EF4-FFF2-40B4-BE49-F238E27FC236}">
                <a16:creationId xmlns:a16="http://schemas.microsoft.com/office/drawing/2014/main" id="{71704660-2C7D-442D-9A58-20932AFBAF9D}"/>
              </a:ext>
            </a:extLst>
          </p:cNvPr>
          <p:cNvSpPr txBox="1"/>
          <p:nvPr/>
        </p:nvSpPr>
        <p:spPr>
          <a:xfrm>
            <a:off x="4554064" y="1559696"/>
            <a:ext cx="121075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1500" dirty="0"/>
              <a:t>{</a:t>
            </a:r>
            <a:r>
              <a:rPr lang="da-DK" sz="1500" dirty="0" err="1"/>
              <a:t>Rh,Pd,Au</a:t>
            </a:r>
            <a:r>
              <a:rPr lang="da-DK" sz="1500" dirty="0"/>
              <a:t>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kstfelt 51">
                <a:extLst>
                  <a:ext uri="{FF2B5EF4-FFF2-40B4-BE49-F238E27FC236}">
                    <a16:creationId xmlns:a16="http://schemas.microsoft.com/office/drawing/2014/main" id="{3942B892-11F3-F105-BB1C-A39E656C100D}"/>
                  </a:ext>
                </a:extLst>
              </p:cNvPr>
              <p:cNvSpPr txBox="1"/>
              <p:nvPr/>
            </p:nvSpPr>
            <p:spPr>
              <a:xfrm>
                <a:off x="208805" y="2031292"/>
                <a:ext cx="1470759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da-DK" sz="1500"/>
                        <m:t>34.4</m:t>
                      </m:r>
                      <m:r>
                        <m:rPr>
                          <m:nor/>
                        </m:rPr>
                        <a:rPr lang="da-DK" sz="1500" b="0" i="0" smtClean="0"/>
                        <m:t>2 [1/</m:t>
                      </m:r>
                      <m:r>
                        <m:rPr>
                          <m:nor/>
                        </m:rPr>
                        <a:rPr lang="da-DK" sz="1500" b="0" i="0" smtClean="0"/>
                        <m:t>s</m:t>
                      </m:r>
                      <m:r>
                        <m:rPr>
                          <m:nor/>
                        </m:rPr>
                        <a:rPr lang="da-DK" sz="1500" b="0" i="0" smtClean="0"/>
                        <m:t>]</m:t>
                      </m:r>
                    </m:oMath>
                  </m:oMathPara>
                </a14:m>
                <a:endParaRPr lang="da-DK" sz="1500" dirty="0"/>
              </a:p>
            </p:txBody>
          </p:sp>
        </mc:Choice>
        <mc:Fallback>
          <p:sp>
            <p:nvSpPr>
              <p:cNvPr id="52" name="Tekstfelt 51">
                <a:extLst>
                  <a:ext uri="{FF2B5EF4-FFF2-40B4-BE49-F238E27FC236}">
                    <a16:creationId xmlns:a16="http://schemas.microsoft.com/office/drawing/2014/main" id="{3942B892-11F3-F105-BB1C-A39E656C10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805" y="2031292"/>
                <a:ext cx="1470759" cy="323165"/>
              </a:xfrm>
              <a:prstGeom prst="rect">
                <a:avLst/>
              </a:prstGeom>
              <a:blipFill>
                <a:blip r:embed="rId13"/>
                <a:stretch>
                  <a:fillRect b="-1481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kstfelt 52">
                <a:extLst>
                  <a:ext uri="{FF2B5EF4-FFF2-40B4-BE49-F238E27FC236}">
                    <a16:creationId xmlns:a16="http://schemas.microsoft.com/office/drawing/2014/main" id="{105A1E21-1139-B49E-F498-8FFA8328E1C1}"/>
                  </a:ext>
                </a:extLst>
              </p:cNvPr>
              <p:cNvSpPr txBox="1"/>
              <p:nvPr/>
            </p:nvSpPr>
            <p:spPr>
              <a:xfrm>
                <a:off x="208805" y="3636908"/>
                <a:ext cx="1470759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da-DK" sz="1500"/>
                        <m:t>34.</m:t>
                      </m:r>
                      <m:r>
                        <m:rPr>
                          <m:nor/>
                        </m:rPr>
                        <a:rPr lang="da-DK" sz="1500" b="0" i="0" smtClean="0"/>
                        <m:t>33 [1/</m:t>
                      </m:r>
                      <m:r>
                        <m:rPr>
                          <m:nor/>
                        </m:rPr>
                        <a:rPr lang="da-DK" sz="1500" b="0" i="0" smtClean="0"/>
                        <m:t>s</m:t>
                      </m:r>
                      <m:r>
                        <m:rPr>
                          <m:nor/>
                        </m:rPr>
                        <a:rPr lang="da-DK" sz="1500" b="0" i="0" smtClean="0"/>
                        <m:t>]</m:t>
                      </m:r>
                    </m:oMath>
                  </m:oMathPara>
                </a14:m>
                <a:endParaRPr lang="da-DK" sz="1500" dirty="0"/>
              </a:p>
            </p:txBody>
          </p:sp>
        </mc:Choice>
        <mc:Fallback>
          <p:sp>
            <p:nvSpPr>
              <p:cNvPr id="53" name="Tekstfelt 52">
                <a:extLst>
                  <a:ext uri="{FF2B5EF4-FFF2-40B4-BE49-F238E27FC236}">
                    <a16:creationId xmlns:a16="http://schemas.microsoft.com/office/drawing/2014/main" id="{105A1E21-1139-B49E-F498-8FFA8328E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805" y="3636908"/>
                <a:ext cx="1470759" cy="323165"/>
              </a:xfrm>
              <a:prstGeom prst="rect">
                <a:avLst/>
              </a:prstGeom>
              <a:blipFill>
                <a:blip r:embed="rId14"/>
                <a:stretch>
                  <a:fillRect b="-1538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kstfelt 53">
                <a:extLst>
                  <a:ext uri="{FF2B5EF4-FFF2-40B4-BE49-F238E27FC236}">
                    <a16:creationId xmlns:a16="http://schemas.microsoft.com/office/drawing/2014/main" id="{5248C40B-D762-578E-9269-01306856D94F}"/>
                  </a:ext>
                </a:extLst>
              </p:cNvPr>
              <p:cNvSpPr txBox="1"/>
              <p:nvPr/>
            </p:nvSpPr>
            <p:spPr>
              <a:xfrm>
                <a:off x="199524" y="5134151"/>
                <a:ext cx="1470759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da-DK" sz="1500"/>
                        <m:t>3</m:t>
                      </m:r>
                      <m:r>
                        <m:rPr>
                          <m:nor/>
                        </m:rPr>
                        <a:rPr lang="da-DK" sz="1500" b="0" i="0" smtClean="0"/>
                        <m:t>0</m:t>
                      </m:r>
                      <m:r>
                        <m:rPr>
                          <m:nor/>
                        </m:rPr>
                        <a:rPr lang="da-DK" sz="1500"/>
                        <m:t>.</m:t>
                      </m:r>
                      <m:r>
                        <m:rPr>
                          <m:nor/>
                        </m:rPr>
                        <a:rPr lang="da-DK" sz="1500" b="0" i="0" smtClean="0"/>
                        <m:t>39 [1/</m:t>
                      </m:r>
                      <m:r>
                        <m:rPr>
                          <m:nor/>
                        </m:rPr>
                        <a:rPr lang="da-DK" sz="1500" b="0" i="0" smtClean="0"/>
                        <m:t>s</m:t>
                      </m:r>
                      <m:r>
                        <m:rPr>
                          <m:nor/>
                        </m:rPr>
                        <a:rPr lang="da-DK" sz="1500" b="0" i="0" smtClean="0"/>
                        <m:t>]</m:t>
                      </m:r>
                    </m:oMath>
                  </m:oMathPara>
                </a14:m>
                <a:endParaRPr lang="da-DK" sz="1500" dirty="0"/>
              </a:p>
            </p:txBody>
          </p:sp>
        </mc:Choice>
        <mc:Fallback>
          <p:sp>
            <p:nvSpPr>
              <p:cNvPr id="54" name="Tekstfelt 53">
                <a:extLst>
                  <a:ext uri="{FF2B5EF4-FFF2-40B4-BE49-F238E27FC236}">
                    <a16:creationId xmlns:a16="http://schemas.microsoft.com/office/drawing/2014/main" id="{5248C40B-D762-578E-9269-01306856D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524" y="5134151"/>
                <a:ext cx="1470759" cy="323165"/>
              </a:xfrm>
              <a:prstGeom prst="rect">
                <a:avLst/>
              </a:prstGeom>
              <a:blipFill>
                <a:blip r:embed="rId15"/>
                <a:stretch>
                  <a:fillRect t="-3846" b="-1538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kstfelt 54">
                <a:extLst>
                  <a:ext uri="{FF2B5EF4-FFF2-40B4-BE49-F238E27FC236}">
                    <a16:creationId xmlns:a16="http://schemas.microsoft.com/office/drawing/2014/main" id="{BBED2ECC-497F-CFCA-7BF7-DF9DE96E69FC}"/>
                  </a:ext>
                </a:extLst>
              </p:cNvPr>
              <p:cNvSpPr txBox="1"/>
              <p:nvPr/>
            </p:nvSpPr>
            <p:spPr>
              <a:xfrm>
                <a:off x="2325957" y="2045149"/>
                <a:ext cx="1431282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da-DK" sz="1500"/>
                        <m:t>25.5</m:t>
                      </m:r>
                      <m:r>
                        <m:rPr>
                          <m:nor/>
                        </m:rPr>
                        <a:rPr lang="da-DK" sz="1500" b="0" i="0" smtClean="0"/>
                        <m:t>9[1/</m:t>
                      </m:r>
                      <m:r>
                        <m:rPr>
                          <m:nor/>
                        </m:rPr>
                        <a:rPr lang="da-DK" sz="1500" b="0" i="0" smtClean="0"/>
                        <m:t>s</m:t>
                      </m:r>
                      <m:r>
                        <m:rPr>
                          <m:nor/>
                        </m:rPr>
                        <a:rPr lang="da-DK" sz="1500" b="0" i="0" smtClean="0"/>
                        <m:t>]</m:t>
                      </m:r>
                    </m:oMath>
                  </m:oMathPara>
                </a14:m>
                <a:endParaRPr lang="da-DK" sz="1500" dirty="0"/>
              </a:p>
            </p:txBody>
          </p:sp>
        </mc:Choice>
        <mc:Fallback>
          <p:sp>
            <p:nvSpPr>
              <p:cNvPr id="55" name="Tekstfelt 54">
                <a:extLst>
                  <a:ext uri="{FF2B5EF4-FFF2-40B4-BE49-F238E27FC236}">
                    <a16:creationId xmlns:a16="http://schemas.microsoft.com/office/drawing/2014/main" id="{BBED2ECC-497F-CFCA-7BF7-DF9DE96E69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5957" y="2045149"/>
                <a:ext cx="1431282" cy="323165"/>
              </a:xfrm>
              <a:prstGeom prst="rect">
                <a:avLst/>
              </a:prstGeom>
              <a:blipFill>
                <a:blip r:embed="rId16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kstfelt 55">
                <a:extLst>
                  <a:ext uri="{FF2B5EF4-FFF2-40B4-BE49-F238E27FC236}">
                    <a16:creationId xmlns:a16="http://schemas.microsoft.com/office/drawing/2014/main" id="{C055C2B0-ABEB-6F19-D38B-DF251D25F42B}"/>
                  </a:ext>
                </a:extLst>
              </p:cNvPr>
              <p:cNvSpPr txBox="1"/>
              <p:nvPr/>
            </p:nvSpPr>
            <p:spPr>
              <a:xfrm>
                <a:off x="2325957" y="3636908"/>
                <a:ext cx="1431282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da-DK" sz="1500"/>
                        <m:t>23.5</m:t>
                      </m:r>
                      <m:r>
                        <m:rPr>
                          <m:nor/>
                        </m:rPr>
                        <a:rPr lang="da-DK" sz="1500" b="0" i="0" smtClean="0"/>
                        <m:t>9[1/</m:t>
                      </m:r>
                      <m:r>
                        <m:rPr>
                          <m:nor/>
                        </m:rPr>
                        <a:rPr lang="da-DK" sz="1500" b="0" i="0" smtClean="0"/>
                        <m:t>s</m:t>
                      </m:r>
                      <m:r>
                        <m:rPr>
                          <m:nor/>
                        </m:rPr>
                        <a:rPr lang="da-DK" sz="1500" b="0" i="0" smtClean="0"/>
                        <m:t>]</m:t>
                      </m:r>
                    </m:oMath>
                  </m:oMathPara>
                </a14:m>
                <a:endParaRPr lang="da-DK" sz="1500" dirty="0"/>
              </a:p>
            </p:txBody>
          </p:sp>
        </mc:Choice>
        <mc:Fallback>
          <p:sp>
            <p:nvSpPr>
              <p:cNvPr id="56" name="Tekstfelt 55">
                <a:extLst>
                  <a:ext uri="{FF2B5EF4-FFF2-40B4-BE49-F238E27FC236}">
                    <a16:creationId xmlns:a16="http://schemas.microsoft.com/office/drawing/2014/main" id="{C055C2B0-ABEB-6F19-D38B-DF251D25F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5957" y="3636908"/>
                <a:ext cx="1431282" cy="323165"/>
              </a:xfrm>
              <a:prstGeom prst="rect">
                <a:avLst/>
              </a:prstGeom>
              <a:blipFill>
                <a:blip r:embed="rId17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kstfelt 56">
                <a:extLst>
                  <a:ext uri="{FF2B5EF4-FFF2-40B4-BE49-F238E27FC236}">
                    <a16:creationId xmlns:a16="http://schemas.microsoft.com/office/drawing/2014/main" id="{3DEA6D29-7B90-A8DC-042B-B590FC7D25CA}"/>
                  </a:ext>
                </a:extLst>
              </p:cNvPr>
              <p:cNvSpPr txBox="1"/>
              <p:nvPr/>
            </p:nvSpPr>
            <p:spPr>
              <a:xfrm>
                <a:off x="2316676" y="5148008"/>
                <a:ext cx="1431282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da-DK" sz="1500"/>
                        <m:t>23.4</m:t>
                      </m:r>
                      <m:r>
                        <m:rPr>
                          <m:nor/>
                        </m:rPr>
                        <a:rPr lang="da-DK" sz="1500" b="0" i="0" smtClean="0"/>
                        <m:t>9[1/</m:t>
                      </m:r>
                      <m:r>
                        <m:rPr>
                          <m:nor/>
                        </m:rPr>
                        <a:rPr lang="da-DK" sz="1500" b="0" i="0" smtClean="0"/>
                        <m:t>s</m:t>
                      </m:r>
                      <m:r>
                        <m:rPr>
                          <m:nor/>
                        </m:rPr>
                        <a:rPr lang="da-DK" sz="1500" b="0" i="0" smtClean="0"/>
                        <m:t>]</m:t>
                      </m:r>
                    </m:oMath>
                  </m:oMathPara>
                </a14:m>
                <a:endParaRPr lang="da-DK" sz="1500" dirty="0"/>
              </a:p>
            </p:txBody>
          </p:sp>
        </mc:Choice>
        <mc:Fallback>
          <p:sp>
            <p:nvSpPr>
              <p:cNvPr id="57" name="Tekstfelt 56">
                <a:extLst>
                  <a:ext uri="{FF2B5EF4-FFF2-40B4-BE49-F238E27FC236}">
                    <a16:creationId xmlns:a16="http://schemas.microsoft.com/office/drawing/2014/main" id="{3DEA6D29-7B90-A8DC-042B-B590FC7D2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676" y="5148008"/>
                <a:ext cx="1431282" cy="323165"/>
              </a:xfrm>
              <a:prstGeom prst="rect">
                <a:avLst/>
              </a:prstGeom>
              <a:blipFill>
                <a:blip r:embed="rId18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kstfelt 57">
                <a:extLst>
                  <a:ext uri="{FF2B5EF4-FFF2-40B4-BE49-F238E27FC236}">
                    <a16:creationId xmlns:a16="http://schemas.microsoft.com/office/drawing/2014/main" id="{2611DF67-78F9-D202-5F1B-C0C166D3847D}"/>
                  </a:ext>
                </a:extLst>
              </p:cNvPr>
              <p:cNvSpPr txBox="1"/>
              <p:nvPr/>
            </p:nvSpPr>
            <p:spPr>
              <a:xfrm>
                <a:off x="4425091" y="2031292"/>
                <a:ext cx="1326461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da-DK" sz="1500"/>
                        <m:t>1.4</m:t>
                      </m:r>
                      <m:r>
                        <m:rPr>
                          <m:nor/>
                        </m:rPr>
                        <a:rPr lang="da-DK" sz="1500" b="0" i="0" smtClean="0"/>
                        <m:t>1[1/</m:t>
                      </m:r>
                      <m:r>
                        <m:rPr>
                          <m:nor/>
                        </m:rPr>
                        <a:rPr lang="da-DK" sz="1500" b="0" i="0" smtClean="0"/>
                        <m:t>s</m:t>
                      </m:r>
                      <m:r>
                        <m:rPr>
                          <m:nor/>
                        </m:rPr>
                        <a:rPr lang="da-DK" sz="1500" b="0" i="0" smtClean="0"/>
                        <m:t>]</m:t>
                      </m:r>
                    </m:oMath>
                  </m:oMathPara>
                </a14:m>
                <a:endParaRPr lang="da-DK" sz="1500" dirty="0"/>
              </a:p>
            </p:txBody>
          </p:sp>
        </mc:Choice>
        <mc:Fallback>
          <p:sp>
            <p:nvSpPr>
              <p:cNvPr id="58" name="Tekstfelt 57">
                <a:extLst>
                  <a:ext uri="{FF2B5EF4-FFF2-40B4-BE49-F238E27FC236}">
                    <a16:creationId xmlns:a16="http://schemas.microsoft.com/office/drawing/2014/main" id="{2611DF67-78F9-D202-5F1B-C0C166D384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5091" y="2031292"/>
                <a:ext cx="1326461" cy="323165"/>
              </a:xfrm>
              <a:prstGeom prst="rect">
                <a:avLst/>
              </a:prstGeom>
              <a:blipFill>
                <a:blip r:embed="rId19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kstfelt 58">
                <a:extLst>
                  <a:ext uri="{FF2B5EF4-FFF2-40B4-BE49-F238E27FC236}">
                    <a16:creationId xmlns:a16="http://schemas.microsoft.com/office/drawing/2014/main" id="{BF5A46B2-A671-6B00-F504-3548E11B9B06}"/>
                  </a:ext>
                </a:extLst>
              </p:cNvPr>
              <p:cNvSpPr txBox="1"/>
              <p:nvPr/>
            </p:nvSpPr>
            <p:spPr>
              <a:xfrm>
                <a:off x="4425091" y="3636908"/>
                <a:ext cx="1326461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da-DK" sz="1500"/>
                        <m:t>1.38</m:t>
                      </m:r>
                      <m:r>
                        <m:rPr>
                          <m:nor/>
                        </m:rPr>
                        <a:rPr lang="da-DK" sz="1500" b="0" i="0" smtClean="0"/>
                        <m:t>[1/</m:t>
                      </m:r>
                      <m:r>
                        <m:rPr>
                          <m:nor/>
                        </m:rPr>
                        <a:rPr lang="da-DK" sz="1500" b="0" i="0" smtClean="0"/>
                        <m:t>s</m:t>
                      </m:r>
                      <m:r>
                        <m:rPr>
                          <m:nor/>
                        </m:rPr>
                        <a:rPr lang="da-DK" sz="1500" b="0" i="0" smtClean="0"/>
                        <m:t>]</m:t>
                      </m:r>
                    </m:oMath>
                  </m:oMathPara>
                </a14:m>
                <a:endParaRPr lang="da-DK" sz="1500" dirty="0"/>
              </a:p>
            </p:txBody>
          </p:sp>
        </mc:Choice>
        <mc:Fallback>
          <p:sp>
            <p:nvSpPr>
              <p:cNvPr id="59" name="Tekstfelt 58">
                <a:extLst>
                  <a:ext uri="{FF2B5EF4-FFF2-40B4-BE49-F238E27FC236}">
                    <a16:creationId xmlns:a16="http://schemas.microsoft.com/office/drawing/2014/main" id="{BF5A46B2-A671-6B00-F504-3548E11B9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5091" y="3636908"/>
                <a:ext cx="1326461" cy="323165"/>
              </a:xfrm>
              <a:prstGeom prst="rect">
                <a:avLst/>
              </a:prstGeom>
              <a:blipFill>
                <a:blip r:embed="rId20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kstfelt 59">
                <a:extLst>
                  <a:ext uri="{FF2B5EF4-FFF2-40B4-BE49-F238E27FC236}">
                    <a16:creationId xmlns:a16="http://schemas.microsoft.com/office/drawing/2014/main" id="{4D73CE19-EB82-BD2E-07DB-A3632F3C50E5}"/>
                  </a:ext>
                </a:extLst>
              </p:cNvPr>
              <p:cNvSpPr txBox="1"/>
              <p:nvPr/>
            </p:nvSpPr>
            <p:spPr>
              <a:xfrm>
                <a:off x="4425091" y="5157915"/>
                <a:ext cx="1326461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a-DK" sz="1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da-DK" sz="1500"/>
                        <m:t>1.34</m:t>
                      </m:r>
                      <m:r>
                        <m:rPr>
                          <m:nor/>
                        </m:rPr>
                        <a:rPr lang="da-DK" sz="1500" b="0" i="0" smtClean="0"/>
                        <m:t>[1/</m:t>
                      </m:r>
                      <m:r>
                        <m:rPr>
                          <m:nor/>
                        </m:rPr>
                        <a:rPr lang="da-DK" sz="1500" b="0" i="0" smtClean="0"/>
                        <m:t>s</m:t>
                      </m:r>
                      <m:r>
                        <m:rPr>
                          <m:nor/>
                        </m:rPr>
                        <a:rPr lang="da-DK" sz="1500" b="0" i="0" smtClean="0"/>
                        <m:t>]</m:t>
                      </m:r>
                    </m:oMath>
                  </m:oMathPara>
                </a14:m>
                <a:endParaRPr lang="da-DK" sz="1500" dirty="0"/>
              </a:p>
            </p:txBody>
          </p:sp>
        </mc:Choice>
        <mc:Fallback>
          <p:sp>
            <p:nvSpPr>
              <p:cNvPr id="60" name="Tekstfelt 59">
                <a:extLst>
                  <a:ext uri="{FF2B5EF4-FFF2-40B4-BE49-F238E27FC236}">
                    <a16:creationId xmlns:a16="http://schemas.microsoft.com/office/drawing/2014/main" id="{4D73CE19-EB82-BD2E-07DB-A3632F3C50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5091" y="5157915"/>
                <a:ext cx="1326461" cy="323165"/>
              </a:xfrm>
              <a:prstGeom prst="rect">
                <a:avLst/>
              </a:prstGeom>
              <a:blipFill>
                <a:blip r:embed="rId21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3" name="Grafik 62">
            <a:extLst>
              <a:ext uri="{FF2B5EF4-FFF2-40B4-BE49-F238E27FC236}">
                <a16:creationId xmlns:a16="http://schemas.microsoft.com/office/drawing/2014/main" id="{3DE545FD-CB79-5B22-98DB-2EE78610EEB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089813" y="-224946"/>
            <a:ext cx="4641669" cy="3481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5274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ladsholder til indhold 6">
            <a:extLst>
              <a:ext uri="{FF2B5EF4-FFF2-40B4-BE49-F238E27FC236}">
                <a16:creationId xmlns:a16="http://schemas.microsoft.com/office/drawing/2014/main" id="{75068F10-AC3F-1A57-EC7C-B0B3DDE77F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5661" y="1690688"/>
            <a:ext cx="5801784" cy="4351338"/>
          </a:xfrm>
        </p:spPr>
      </p:pic>
      <p:sp>
        <p:nvSpPr>
          <p:cNvPr id="4" name="Titel 1">
            <a:extLst>
              <a:ext uri="{FF2B5EF4-FFF2-40B4-BE49-F238E27FC236}">
                <a16:creationId xmlns:a16="http://schemas.microsoft.com/office/drawing/2014/main" id="{610E5770-0CB9-19FD-43B9-F46EC06AD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Preliminary </a:t>
            </a:r>
            <a:r>
              <a:rPr lang="da-DK" dirty="0" err="1"/>
              <a:t>results</a:t>
            </a:r>
            <a:r>
              <a:rPr lang="da-DK" dirty="0"/>
              <a:t> – </a:t>
            </a:r>
            <a:r>
              <a:rPr lang="da-DK" dirty="0" err="1"/>
              <a:t>Bayesian</a:t>
            </a:r>
            <a:r>
              <a:rPr lang="da-DK" dirty="0"/>
              <a:t> vs. </a:t>
            </a:r>
            <a:r>
              <a:rPr lang="da-DK" dirty="0" err="1"/>
              <a:t>Random</a:t>
            </a:r>
            <a:r>
              <a:rPr lang="da-DK" dirty="0"/>
              <a:t> </a:t>
            </a:r>
            <a:r>
              <a:rPr lang="da-DK" dirty="0" err="1"/>
              <a:t>search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8ED8C9B6-EAF7-6CFE-4B78-E0C559B3CC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67445" y="1660526"/>
            <a:ext cx="5842000" cy="438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322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F2A291-D10F-EFD3-2F8A-65D9FF27E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What’s</a:t>
            </a:r>
            <a:r>
              <a:rPr lang="da-DK" dirty="0"/>
              <a:t> </a:t>
            </a:r>
            <a:r>
              <a:rPr lang="da-DK" dirty="0" err="1"/>
              <a:t>next</a:t>
            </a:r>
            <a:r>
              <a:rPr lang="da-DK" dirty="0"/>
              <a:t>?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AAA095FA-E6FE-B513-236B-B1C698992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Try: </a:t>
            </a:r>
            <a:r>
              <a:rPr lang="da-DK" dirty="0" err="1"/>
              <a:t>Bayesian</a:t>
            </a:r>
            <a:r>
              <a:rPr lang="da-DK" dirty="0"/>
              <a:t> </a:t>
            </a:r>
            <a:r>
              <a:rPr lang="da-DK" dirty="0" err="1"/>
              <a:t>optimization</a:t>
            </a:r>
            <a:endParaRPr lang="da-DK" dirty="0"/>
          </a:p>
          <a:p>
            <a:r>
              <a:rPr lang="da-DK" dirty="0"/>
              <a:t>Check </a:t>
            </a:r>
            <a:r>
              <a:rPr lang="da-DK" dirty="0" err="1"/>
              <a:t>if</a:t>
            </a:r>
            <a:r>
              <a:rPr lang="da-DK" dirty="0"/>
              <a:t> rate is </a:t>
            </a:r>
            <a:r>
              <a:rPr lang="da-DK" dirty="0" err="1"/>
              <a:t>mainly</a:t>
            </a:r>
            <a:r>
              <a:rPr lang="da-DK" dirty="0"/>
              <a:t> </a:t>
            </a:r>
            <a:br>
              <a:rPr lang="da-DK" dirty="0"/>
            </a:br>
            <a:r>
              <a:rPr lang="da-DK" dirty="0"/>
              <a:t>given by </a:t>
            </a:r>
            <a:r>
              <a:rPr lang="da-DK" dirty="0" err="1"/>
              <a:t>active</a:t>
            </a:r>
            <a:r>
              <a:rPr lang="da-DK" dirty="0"/>
              <a:t> site elements</a:t>
            </a:r>
          </a:p>
          <a:p>
            <a:r>
              <a:rPr lang="da-DK" dirty="0" err="1"/>
              <a:t>Implement</a:t>
            </a:r>
            <a:r>
              <a:rPr lang="da-DK" dirty="0"/>
              <a:t> </a:t>
            </a:r>
            <a:r>
              <a:rPr lang="da-DK" dirty="0" err="1"/>
              <a:t>genAI</a:t>
            </a:r>
            <a:r>
              <a:rPr lang="da-DK" dirty="0"/>
              <a:t> </a:t>
            </a:r>
            <a:r>
              <a:rPr lang="da-DK" dirty="0" err="1"/>
              <a:t>tools</a:t>
            </a:r>
            <a:endParaRPr lang="da-DK" dirty="0"/>
          </a:p>
          <a:p>
            <a:r>
              <a:rPr lang="da-DK" dirty="0"/>
              <a:t>Check </a:t>
            </a:r>
            <a:r>
              <a:rPr lang="da-DK" dirty="0" err="1"/>
              <a:t>how</a:t>
            </a:r>
            <a:r>
              <a:rPr lang="da-DK" dirty="0"/>
              <a:t> </a:t>
            </a:r>
            <a:r>
              <a:rPr lang="da-DK" dirty="0" err="1"/>
              <a:t>well</a:t>
            </a:r>
            <a:r>
              <a:rPr lang="da-DK" dirty="0"/>
              <a:t> RDS </a:t>
            </a:r>
            <a:r>
              <a:rPr lang="da-DK" dirty="0" err="1"/>
              <a:t>approximation</a:t>
            </a:r>
            <a:r>
              <a:rPr lang="da-DK" dirty="0"/>
              <a:t> holds?</a:t>
            </a:r>
          </a:p>
          <a:p>
            <a:r>
              <a:rPr lang="da-DK" dirty="0"/>
              <a:t>Any suggestions?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3A2678E3-95A0-BD68-6422-3273BF674B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933060"/>
            <a:ext cx="5878590" cy="2671520"/>
          </a:xfrm>
          <a:prstGeom prst="rect">
            <a:avLst/>
          </a:prstGeom>
        </p:spPr>
      </p:pic>
      <p:cxnSp>
        <p:nvCxnSpPr>
          <p:cNvPr id="9" name="Buet forbindelse 8">
            <a:extLst>
              <a:ext uri="{FF2B5EF4-FFF2-40B4-BE49-F238E27FC236}">
                <a16:creationId xmlns:a16="http://schemas.microsoft.com/office/drawing/2014/main" id="{5E504007-2BD7-A53F-EED2-C46238A52482}"/>
              </a:ext>
            </a:extLst>
          </p:cNvPr>
          <p:cNvCxnSpPr>
            <a:cxnSpLocks/>
          </p:cNvCxnSpPr>
          <p:nvPr/>
        </p:nvCxnSpPr>
        <p:spPr>
          <a:xfrm flipV="1">
            <a:off x="4700789" y="2439434"/>
            <a:ext cx="1558346" cy="1089377"/>
          </a:xfrm>
          <a:prstGeom prst="curvedConnector3">
            <a:avLst>
              <a:gd name="adj1" fmla="val 62397"/>
            </a:avLst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4484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3139</TotalTime>
  <Words>803</Words>
  <Application>Microsoft Macintosh PowerPoint</Application>
  <PresentationFormat>Widescreen</PresentationFormat>
  <Paragraphs>128</Paragraphs>
  <Slides>14</Slides>
  <Notes>3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6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Noto Sans</vt:lpstr>
      <vt:lpstr>Wingdings</vt:lpstr>
      <vt:lpstr>Office-tema</vt:lpstr>
      <vt:lpstr>Finding/Designing highly active catalysts with genAI</vt:lpstr>
      <vt:lpstr>Outline</vt:lpstr>
      <vt:lpstr>Problem introduction</vt:lpstr>
      <vt:lpstr>Motivation</vt:lpstr>
      <vt:lpstr>Motivation</vt:lpstr>
      <vt:lpstr>Motivation</vt:lpstr>
      <vt:lpstr>Detailed description</vt:lpstr>
      <vt:lpstr>PowerPoint-præsentation</vt:lpstr>
      <vt:lpstr>Detailed description</vt:lpstr>
      <vt:lpstr>Detailed description</vt:lpstr>
      <vt:lpstr>PowerPoint-præsentation</vt:lpstr>
      <vt:lpstr>Preliminary results –  Random search</vt:lpstr>
      <vt:lpstr>Preliminary results – Bayesian vs. Random search</vt:lpstr>
      <vt:lpstr>What’s next?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Karsten Walz Jensen</dc:creator>
  <cp:lastModifiedBy>Karsten Walz Jensen</cp:lastModifiedBy>
  <cp:revision>13</cp:revision>
  <dcterms:created xsi:type="dcterms:W3CDTF">2025-09-30T08:29:08Z</dcterms:created>
  <dcterms:modified xsi:type="dcterms:W3CDTF">2025-10-02T12:48:44Z</dcterms:modified>
</cp:coreProperties>
</file>