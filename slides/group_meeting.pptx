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947" r:id="rId3"/>
    <p:sldId id="948" r:id="rId4"/>
    <p:sldId id="257" r:id="rId5"/>
    <p:sldId id="949" r:id="rId6"/>
    <p:sldId id="966" r:id="rId7"/>
    <p:sldId id="964" r:id="rId8"/>
    <p:sldId id="941" r:id="rId9"/>
    <p:sldId id="969" r:id="rId10"/>
    <p:sldId id="962" r:id="rId11"/>
    <p:sldId id="946" r:id="rId12"/>
    <p:sldId id="258" r:id="rId13"/>
    <p:sldId id="967" r:id="rId14"/>
    <p:sldId id="965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D8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8"/>
    <p:restoredTop sz="94610"/>
  </p:normalViewPr>
  <p:slideViewPr>
    <p:cSldViewPr snapToGrid="0">
      <p:cViewPr varScale="1">
        <p:scale>
          <a:sx n="116" d="100"/>
          <a:sy n="116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78552-CC39-B140-A72F-275FA32BFDC9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16230-B633-F54D-AC77-D78DBB14EEA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226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4895-C82B-201C-287C-D9640AE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F1DAC0-F5E9-BA50-38A5-63DD934C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52C7357-7BE0-8453-4DE4-9A6939F4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we use another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CO to not confuse it with the carboxyl path?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 made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dark blue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33CD35-0197-EAEE-D175-58F351CF8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B9E19B-BFA2-87EA-CD54-676FD8A34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546D05-D909-41EF-B0C2-7821E802C0F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633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2F2EE-1D1F-CC87-96A6-8633DC029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83B22F-5B72-B549-AF26-78FD3D0CA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D8F4CBC-4B14-EBA2-9C27-6499B2913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we use another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CO to not confuse it with the carboxyl path?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 made it dark blue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4815894-9AC4-2DC4-97B5-E0B0F2445D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F78B750-306E-1E00-F380-7FDF5044C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546D05-D909-41EF-B0C2-7821E802C0F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200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Change plots </a:t>
            </a:r>
            <a:r>
              <a:rPr lang="da-DK" dirty="0" err="1"/>
              <a:t>into</a:t>
            </a:r>
            <a:r>
              <a:rPr lang="da-DK" dirty="0"/>
              <a:t> distributions </a:t>
            </a:r>
            <a:r>
              <a:rPr lang="da-DK" dirty="0" err="1"/>
              <a:t>instead</a:t>
            </a:r>
            <a:r>
              <a:rPr lang="da-DK" dirty="0"/>
              <a:t>. </a:t>
            </a:r>
          </a:p>
          <a:p>
            <a:r>
              <a:rPr lang="da-DK" dirty="0" err="1"/>
              <a:t>Implement</a:t>
            </a:r>
            <a:r>
              <a:rPr lang="da-DK" dirty="0"/>
              <a:t> diffusion model </a:t>
            </a:r>
            <a:r>
              <a:rPr lang="da-DK" dirty="0">
                <a:sym typeface="Wingdings" pitchFamily="2" charset="2"/>
              </a:rPr>
              <a:t> Check </a:t>
            </a:r>
            <a:r>
              <a:rPr lang="da-DK" dirty="0" err="1">
                <a:sym typeface="Wingdings" pitchFamily="2" charset="2"/>
              </a:rPr>
              <a:t>whether</a:t>
            </a:r>
            <a:r>
              <a:rPr lang="da-DK" dirty="0">
                <a:sym typeface="Wingdings" pitchFamily="2" charset="2"/>
              </a:rPr>
              <a:t> it is </a:t>
            </a:r>
            <a:r>
              <a:rPr lang="da-DK" dirty="0" err="1">
                <a:sym typeface="Wingdings" pitchFamily="2" charset="2"/>
              </a:rPr>
              <a:t>better</a:t>
            </a:r>
            <a:r>
              <a:rPr lang="da-DK" dirty="0">
                <a:sym typeface="Wingdings" pitchFamily="2" charset="2"/>
              </a:rPr>
              <a:t> – Find </a:t>
            </a:r>
            <a:r>
              <a:rPr lang="da-DK" dirty="0" err="1">
                <a:sym typeface="Wingdings" pitchFamily="2" charset="2"/>
              </a:rPr>
              <a:t>different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training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schemes</a:t>
            </a:r>
            <a:r>
              <a:rPr lang="da-DK" dirty="0">
                <a:sym typeface="Wingdings" pitchFamily="2" charset="2"/>
              </a:rPr>
              <a:t> and </a:t>
            </a:r>
            <a:r>
              <a:rPr lang="da-DK" dirty="0" err="1">
                <a:sym typeface="Wingdings" pitchFamily="2" charset="2"/>
              </a:rPr>
              <a:t>other</a:t>
            </a:r>
            <a:r>
              <a:rPr lang="da-DK" dirty="0">
                <a:sym typeface="Wingdings" pitchFamily="2" charset="2"/>
              </a:rPr>
              <a:t>.</a:t>
            </a:r>
          </a:p>
          <a:p>
            <a:r>
              <a:rPr lang="da-DK" dirty="0">
                <a:sym typeface="Wingdings" pitchFamily="2" charset="2"/>
              </a:rPr>
              <a:t>Try to </a:t>
            </a:r>
            <a:r>
              <a:rPr lang="da-DK" dirty="0" err="1">
                <a:sym typeface="Wingdings" pitchFamily="2" charset="2"/>
              </a:rPr>
              <a:t>change</a:t>
            </a:r>
            <a:r>
              <a:rPr lang="da-DK" dirty="0">
                <a:sym typeface="Wingdings" pitchFamily="2" charset="2"/>
              </a:rPr>
              <a:t> the </a:t>
            </a:r>
            <a:r>
              <a:rPr lang="da-DK" dirty="0" err="1">
                <a:sym typeface="Wingdings" pitchFamily="2" charset="2"/>
              </a:rPr>
              <a:t>random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searching</a:t>
            </a:r>
            <a:r>
              <a:rPr lang="da-DK" dirty="0">
                <a:sym typeface="Wingdings" pitchFamily="2" charset="2"/>
              </a:rPr>
              <a:t> to </a:t>
            </a:r>
            <a:r>
              <a:rPr lang="da-DK" dirty="0" err="1">
                <a:sym typeface="Wingdings" pitchFamily="2" charset="2"/>
              </a:rPr>
              <a:t>something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that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depends</a:t>
            </a:r>
            <a:r>
              <a:rPr lang="da-DK" dirty="0">
                <a:sym typeface="Wingdings" pitchFamily="2" charset="2"/>
              </a:rPr>
              <a:t> on prior info.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6230-B633-F54D-AC77-D78DBB14EEAF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020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30495-2624-DD60-E32B-D98DFD24E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31B20CD-C2CF-EB7E-B36A-FCFEEADD8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EC2639-FC8D-2300-5220-BC819F715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8C86E8F-58A3-49C1-A95F-EA9A4C80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B1EB99B-9AD4-C77B-7EEC-3CFA6100A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466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68516-FD11-7394-2EA7-DD0A7210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40A73B-0F5D-529C-E4F3-CBA182DC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119DDF8-639F-56F1-AC17-F112A1FF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370323F-517E-F46E-9EBB-08023FD5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FC8445D-6790-517C-02F6-DCC01F8D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62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E0EF2-1CCF-C810-C39C-9C276DED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7176ACB-F822-3422-CB35-36098CD79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2547545-F38A-1B16-3659-91B8F083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E25CBB-CA39-F98F-9409-874A8C0A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FB683B-3A6C-5564-5BAD-5B4151AA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635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ACD6F-0B3C-CF82-0B51-76F5F1D5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962FB90-3B70-0762-223A-EA09C31CE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13EE322-8E9E-9A0D-47D1-F230DFC8D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A3CEC09-E6C4-C3E2-F2D0-BE05798C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FFAE1BC-6698-51BE-401B-A738C765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9B23A31-3A35-CB6D-35A1-EC7CA968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53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A912B-BF4B-AC08-0B2E-CD55496B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8E827F0-1D84-80E2-0054-0747B19C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1303F74-18BE-6533-7B20-BC121ECCE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5AC04FA3-910E-4B0F-28BF-47F8D3789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159609A1-010C-C5D8-3690-53ADD1B0D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CD7DCB7-DC45-9CC4-D768-1161DF87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6FA00DA8-A667-0851-1FB4-A1F6027A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C3BE8B7-E1C0-36DC-F6DD-ABB3488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1632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EA244-12A4-A261-EF31-D9DAD165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5680F88-58E2-CE66-84FA-6A21510B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6156FCC-A374-CAA3-67ED-1B5C9141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165CE67-4611-1C69-425B-3F11CAC7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6048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2C5D985-F654-F167-2E42-071426C3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D7E9FEF2-9246-EB60-81EE-57B86A86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8206C7B-9156-F0AD-282D-C6F96E75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731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A7527-00F9-B993-8CDD-3B581F2E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7DF425-A794-3685-1593-72CA3DA1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7676E51-111C-E733-8322-5E56A837D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2A14A08-8F74-07EE-AE3B-D9D3D524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0AC78D7-A308-B464-F0C0-5161C18E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9B405BB-845C-DC16-8C72-5AAAAE7C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4232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4CAA9-7AB3-B27D-0DD4-6FC70680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72747646-4591-2D5F-3BEE-AF9BBF2C8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63D4A8E-5E48-9907-3056-1AF3FD0A2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A9717F5-E2F4-CD31-55A1-DE33530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60D74FE-AA1D-5749-26CC-B50D7C35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E2B4B4A-BF92-7C1D-102D-2F7F61C5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599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CDBEF6-604B-DC1C-76E5-6AFA90FA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5462912-C3DA-ED81-56D9-51A63D7BE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8AD999F-1011-0580-DD6B-AEA21E1A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86EA13B-4B23-E34F-4B50-062D506B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B41AC26-2543-784B-D1CB-478E1964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52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8FAAC81-DBC5-06CA-AF51-79FAF0772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AA8E62D-73E0-4921-86B3-9A4FC5A53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716CA37-70E0-081E-1CE4-6DD206AE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10EB643-9237-BA3A-397E-3E5CE546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AA3630E-603F-B0E2-C630-31F6D658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487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7FAA623-473E-8CE2-D297-35DE2698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348D7B5-A770-1B8F-6D47-38387901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589606-4538-DAE0-1113-7CC2F3017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D68BC-5D62-2845-9C29-1698F070BA5C}" type="datetimeFigureOut">
              <a:rPr lang="da-DK" smtClean="0"/>
              <a:t>27.02.2026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3FFCAE-E662-89D6-F664-FB2C0B87E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4FA3D11-44EA-981F-A11B-40903416E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DC1BE-62FE-5144-BD89-B144E489CC0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939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gif"/><Relationship Id="rId5" Type="http://schemas.openxmlformats.org/officeDocument/2006/relationships/image" Target="../media/image1.gif"/><Relationship Id="rId4" Type="http://schemas.openxmlformats.org/officeDocument/2006/relationships/image" Target="../media/image21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sv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sv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CAFE8-3D36-BCB6-88B3-D2DA919BD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Finding</a:t>
            </a:r>
            <a:r>
              <a:rPr lang="da-DK" dirty="0"/>
              <a:t>/</a:t>
            </a:r>
            <a:r>
              <a:rPr lang="da-DK" dirty="0" err="1"/>
              <a:t>Designing</a:t>
            </a:r>
            <a:r>
              <a:rPr lang="da-DK" dirty="0"/>
              <a:t>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active</a:t>
            </a:r>
            <a:r>
              <a:rPr lang="da-DK" dirty="0"/>
              <a:t> </a:t>
            </a:r>
            <a:r>
              <a:rPr lang="da-DK" dirty="0" err="1"/>
              <a:t>catalysts</a:t>
            </a:r>
            <a:r>
              <a:rPr lang="da-DK" dirty="0"/>
              <a:t> with </a:t>
            </a:r>
            <a:r>
              <a:rPr lang="da-DK" dirty="0" err="1"/>
              <a:t>genAI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AA41529-5B28-966C-4CEA-9E8F8AEA2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800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FCB6B-EF6B-6DC3-6F62-9886629E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Outline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D516C0-4F57-C93F-666B-B643EE12C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Problem </a:t>
            </a:r>
            <a:r>
              <a:rPr lang="da-DK" dirty="0" err="1"/>
              <a:t>introduction</a:t>
            </a:r>
            <a:endParaRPr lang="da-DK" dirty="0"/>
          </a:p>
          <a:p>
            <a:r>
              <a:rPr lang="da-DK" dirty="0"/>
              <a:t>Motivation</a:t>
            </a:r>
          </a:p>
          <a:p>
            <a:r>
              <a:rPr lang="da-DK" dirty="0" err="1"/>
              <a:t>Detailed</a:t>
            </a:r>
            <a:r>
              <a:rPr lang="da-DK" dirty="0"/>
              <a:t> </a:t>
            </a:r>
            <a:r>
              <a:rPr lang="da-DK" dirty="0" err="1"/>
              <a:t>description</a:t>
            </a:r>
            <a:endParaRPr lang="da-DK" dirty="0"/>
          </a:p>
          <a:p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preliminary</a:t>
            </a:r>
            <a:r>
              <a:rPr lang="da-DK" dirty="0"/>
              <a:t> </a:t>
            </a:r>
            <a:r>
              <a:rPr lang="da-DK" dirty="0" err="1"/>
              <a:t>results</a:t>
            </a:r>
            <a:endParaRPr lang="da-DK" dirty="0"/>
          </a:p>
          <a:p>
            <a:r>
              <a:rPr lang="da-DK" dirty="0" err="1"/>
              <a:t>What</a:t>
            </a:r>
            <a:r>
              <a:rPr lang="da-DK" dirty="0"/>
              <a:t> I </a:t>
            </a:r>
            <a:r>
              <a:rPr lang="da-DK" dirty="0" err="1"/>
              <a:t>think</a:t>
            </a:r>
            <a:r>
              <a:rPr lang="da-DK" dirty="0"/>
              <a:t> is </a:t>
            </a:r>
            <a:r>
              <a:rPr lang="da-DK" dirty="0" err="1"/>
              <a:t>next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186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AA98E-0DCD-B25D-0B83-D07899D8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Problem </a:t>
            </a:r>
            <a:r>
              <a:rPr lang="da-DK" dirty="0" err="1"/>
              <a:t>introduction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CE1741-C460-E9C6-FA3D-F5B1BD6A9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Investigate</a:t>
            </a:r>
            <a:r>
              <a:rPr lang="da-DK" dirty="0"/>
              <a:t> RWGS: 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on metallic </a:t>
            </a:r>
            <a:r>
              <a:rPr lang="da-DK" dirty="0" err="1"/>
              <a:t>alloys</a:t>
            </a:r>
            <a:endParaRPr lang="da-DK" dirty="0"/>
          </a:p>
          <a:p>
            <a:r>
              <a:rPr lang="da-DK" dirty="0" err="1"/>
              <a:t>Example</a:t>
            </a:r>
            <a:r>
              <a:rPr lang="da-DK" dirty="0"/>
              <a:t>: 111-surface with </a:t>
            </a:r>
            <a:r>
              <a:rPr lang="da-DK" dirty="0" err="1"/>
              <a:t>only</a:t>
            </a:r>
            <a:r>
              <a:rPr lang="da-DK" dirty="0"/>
              <a:t> 4 </a:t>
            </a:r>
            <a:r>
              <a:rPr lang="da-DK" dirty="0" err="1"/>
              <a:t>active</a:t>
            </a:r>
            <a:r>
              <a:rPr lang="da-DK" dirty="0"/>
              <a:t> sites</a:t>
            </a:r>
          </a:p>
          <a:p>
            <a:pPr lvl="1"/>
            <a:r>
              <a:rPr lang="da-DK" dirty="0"/>
              <a:t>Element pool of 3 </a:t>
            </a:r>
            <a:r>
              <a:rPr lang="da-DK" dirty="0" err="1"/>
              <a:t>yields</a:t>
            </a:r>
            <a:r>
              <a:rPr lang="da-DK" dirty="0"/>
              <a:t> 3.5billion </a:t>
            </a:r>
            <a:r>
              <a:rPr lang="da-DK" dirty="0" err="1"/>
              <a:t>conf</a:t>
            </a:r>
            <a:r>
              <a:rPr lang="da-DK" dirty="0"/>
              <a:t>.</a:t>
            </a:r>
          </a:p>
          <a:p>
            <a:r>
              <a:rPr lang="da-DK" dirty="0" err="1"/>
              <a:t>Approximation</a:t>
            </a:r>
            <a:r>
              <a:rPr lang="da-DK" dirty="0"/>
              <a:t>: </a:t>
            </a:r>
            <a:r>
              <a:rPr lang="da-DK" dirty="0" err="1"/>
              <a:t>Ignore</a:t>
            </a:r>
            <a:r>
              <a:rPr lang="da-DK" dirty="0"/>
              <a:t> </a:t>
            </a:r>
            <a:r>
              <a:rPr lang="da-DK" dirty="0" err="1"/>
              <a:t>effect</a:t>
            </a:r>
            <a:r>
              <a:rPr lang="da-DK" dirty="0"/>
              <a:t> of </a:t>
            </a:r>
            <a:r>
              <a:rPr lang="da-DK" dirty="0" err="1"/>
              <a:t>stability</a:t>
            </a:r>
            <a:r>
              <a:rPr lang="da-DK" dirty="0"/>
              <a:t>/</a:t>
            </a:r>
            <a:r>
              <a:rPr lang="da-DK" dirty="0" err="1"/>
              <a:t>geometrical</a:t>
            </a:r>
            <a:r>
              <a:rPr lang="da-DK" dirty="0"/>
              <a:t> DOF’s.</a:t>
            </a:r>
          </a:p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genAI</a:t>
            </a:r>
            <a:r>
              <a:rPr lang="da-DK" dirty="0"/>
              <a:t> </a:t>
            </a:r>
            <a:r>
              <a:rPr lang="da-DK" dirty="0" err="1"/>
              <a:t>tools</a:t>
            </a: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lvl="1"/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Picture 34" descr="A group of yellow and brown circles&#10;&#10;AI-generated content may be incorrect.">
            <a:extLst>
              <a:ext uri="{FF2B5EF4-FFF2-40B4-BE49-F238E27FC236}">
                <a16:creationId xmlns:a16="http://schemas.microsoft.com/office/drawing/2014/main" id="{B4A93256-B485-57B9-F2A7-90EE2D1D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1" r="22617" b="36600"/>
          <a:stretch>
            <a:fillRect/>
          </a:stretch>
        </p:blipFill>
        <p:spPr>
          <a:xfrm>
            <a:off x="2596243" y="4249652"/>
            <a:ext cx="2954549" cy="2608348"/>
          </a:xfrm>
          <a:prstGeom prst="rect">
            <a:avLst/>
          </a:prstGeom>
        </p:spPr>
      </p:pic>
      <p:sp>
        <p:nvSpPr>
          <p:cNvPr id="5" name="TextBox 38">
            <a:extLst>
              <a:ext uri="{FF2B5EF4-FFF2-40B4-BE49-F238E27FC236}">
                <a16:creationId xmlns:a16="http://schemas.microsoft.com/office/drawing/2014/main" id="{1CEF9200-749F-4F4D-7960-4DFDBBFF5F86}"/>
              </a:ext>
            </a:extLst>
          </p:cNvPr>
          <p:cNvSpPr txBox="1"/>
          <p:nvPr/>
        </p:nvSpPr>
        <p:spPr>
          <a:xfrm>
            <a:off x="131601" y="5628196"/>
            <a:ext cx="1951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Brown: site atoms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873E7FF5-7C13-48EE-DE91-95699F1B76EF}"/>
              </a:ext>
            </a:extLst>
          </p:cNvPr>
          <p:cNvSpPr txBox="1"/>
          <p:nvPr/>
        </p:nvSpPr>
        <p:spPr>
          <a:xfrm>
            <a:off x="131601" y="6073821"/>
            <a:ext cx="2464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Yellow: neighbor atoms</a:t>
            </a:r>
          </a:p>
        </p:txBody>
      </p:sp>
      <p:cxnSp>
        <p:nvCxnSpPr>
          <p:cNvPr id="7" name="Straight Arrow Connector 42">
            <a:extLst>
              <a:ext uri="{FF2B5EF4-FFF2-40B4-BE49-F238E27FC236}">
                <a16:creationId xmlns:a16="http://schemas.microsoft.com/office/drawing/2014/main" id="{E33426F0-00C9-9103-0456-3785281BDB12}"/>
              </a:ext>
            </a:extLst>
          </p:cNvPr>
          <p:cNvCxnSpPr>
            <a:cxnSpLocks/>
          </p:cNvCxnSpPr>
          <p:nvPr/>
        </p:nvCxnSpPr>
        <p:spPr bwMode="auto">
          <a:xfrm flipV="1">
            <a:off x="2083364" y="5628196"/>
            <a:ext cx="1466565" cy="185961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53">
            <a:extLst>
              <a:ext uri="{FF2B5EF4-FFF2-40B4-BE49-F238E27FC236}">
                <a16:creationId xmlns:a16="http://schemas.microsoft.com/office/drawing/2014/main" id="{DF46D72D-C767-BC39-27C0-25F6467062BF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2596243" y="6073821"/>
            <a:ext cx="953686" cy="169277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2">
            <a:extLst>
              <a:ext uri="{FF2B5EF4-FFF2-40B4-BE49-F238E27FC236}">
                <a16:creationId xmlns:a16="http://schemas.microsoft.com/office/drawing/2014/main" id="{6B47D78E-EDD9-2380-D937-6CBBAEE294B9}"/>
              </a:ext>
            </a:extLst>
          </p:cNvPr>
          <p:cNvCxnSpPr>
            <a:cxnSpLocks/>
          </p:cNvCxnSpPr>
          <p:nvPr/>
        </p:nvCxnSpPr>
        <p:spPr bwMode="auto">
          <a:xfrm>
            <a:off x="5550792" y="5683808"/>
            <a:ext cx="1287890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38">
            <a:extLst>
              <a:ext uri="{FF2B5EF4-FFF2-40B4-BE49-F238E27FC236}">
                <a16:creationId xmlns:a16="http://schemas.microsoft.com/office/drawing/2014/main" id="{71CB7983-2534-C2CE-45AF-BFA4D01D0B6A}"/>
              </a:ext>
            </a:extLst>
          </p:cNvPr>
          <p:cNvSpPr txBox="1"/>
          <p:nvPr/>
        </p:nvSpPr>
        <p:spPr>
          <a:xfrm>
            <a:off x="5381358" y="5210317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Swap elements</a:t>
            </a:r>
          </a:p>
        </p:txBody>
      </p:sp>
      <p:pic>
        <p:nvPicPr>
          <p:cNvPr id="19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DA30463B-6006-1F07-A3B2-0E7570C3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63" t="12696" r="25755" b="42065"/>
          <a:stretch>
            <a:fillRect/>
          </a:stretch>
        </p:blipFill>
        <p:spPr>
          <a:xfrm>
            <a:off x="7078186" y="4665435"/>
            <a:ext cx="2748219" cy="2036746"/>
          </a:xfrm>
          <a:prstGeom prst="rect">
            <a:avLst/>
          </a:prstGeom>
        </p:spPr>
      </p:pic>
      <p:cxnSp>
        <p:nvCxnSpPr>
          <p:cNvPr id="20" name="Straight Arrow Connector 42">
            <a:extLst>
              <a:ext uri="{FF2B5EF4-FFF2-40B4-BE49-F238E27FC236}">
                <a16:creationId xmlns:a16="http://schemas.microsoft.com/office/drawing/2014/main" id="{48D4AB77-0076-F434-E445-ECD3F34617C3}"/>
              </a:ext>
            </a:extLst>
          </p:cNvPr>
          <p:cNvCxnSpPr>
            <a:cxnSpLocks/>
          </p:cNvCxnSpPr>
          <p:nvPr/>
        </p:nvCxnSpPr>
        <p:spPr bwMode="auto">
          <a:xfrm>
            <a:off x="9909261" y="5638078"/>
            <a:ext cx="767325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38">
            <a:extLst>
              <a:ext uri="{FF2B5EF4-FFF2-40B4-BE49-F238E27FC236}">
                <a16:creationId xmlns:a16="http://schemas.microsoft.com/office/drawing/2014/main" id="{006C0E8B-01E7-B014-3E7D-0A6888FD4533}"/>
              </a:ext>
            </a:extLst>
          </p:cNvPr>
          <p:cNvSpPr txBox="1"/>
          <p:nvPr/>
        </p:nvSpPr>
        <p:spPr>
          <a:xfrm>
            <a:off x="10676586" y="5468801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Reaction rate</a:t>
            </a:r>
          </a:p>
        </p:txBody>
      </p:sp>
    </p:spTree>
    <p:extLst>
      <p:ext uri="{BB962C8B-B14F-4D97-AF65-F5344CB8AC3E}">
        <p14:creationId xmlns:p14="http://schemas.microsoft.com/office/powerpoint/2010/main" val="268253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>
            <a:extLst>
              <a:ext uri="{FF2B5EF4-FFF2-40B4-BE49-F238E27FC236}">
                <a16:creationId xmlns:a16="http://schemas.microsoft.com/office/drawing/2014/main" id="{316B859B-B134-B3D7-3A71-AD9548FBD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7" y="952081"/>
            <a:ext cx="4935070" cy="6486093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D9FE24C2-0B11-A296-CDB7-BBA5EFF12149}"/>
              </a:ext>
            </a:extLst>
          </p:cNvPr>
          <p:cNvSpPr/>
          <p:nvPr/>
        </p:nvSpPr>
        <p:spPr>
          <a:xfrm>
            <a:off x="6869058" y="3429000"/>
            <a:ext cx="5266765" cy="1821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80826E-49BA-A122-9910-DA4732B7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6" y="0"/>
            <a:ext cx="10515600" cy="1325563"/>
          </a:xfrm>
        </p:spPr>
        <p:txBody>
          <a:bodyPr/>
          <a:lstStyle/>
          <a:p>
            <a:r>
              <a:rPr lang="da-DK" dirty="0"/>
              <a:t>Motivation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5345C058-82FE-3239-5BF5-1DC7C70C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560" y="805893"/>
            <a:ext cx="6445349" cy="2623107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54F69EA5-53E0-C732-ADEF-F28414682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0793"/>
            <a:ext cx="5848560" cy="4334920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ED26C24E-FCA4-F272-BDE9-221C665A4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958" y="3660793"/>
            <a:ext cx="6212042" cy="2823057"/>
          </a:xfrm>
          <a:prstGeom prst="rect">
            <a:avLst/>
          </a:prstGeom>
        </p:spPr>
      </p:pic>
      <p:sp>
        <p:nvSpPr>
          <p:cNvPr id="11" name="Rektangel 10">
            <a:extLst>
              <a:ext uri="{FF2B5EF4-FFF2-40B4-BE49-F238E27FC236}">
                <a16:creationId xmlns:a16="http://schemas.microsoft.com/office/drawing/2014/main" id="{E8BDF428-7487-C258-49AD-B4E9FB11A211}"/>
              </a:ext>
            </a:extLst>
          </p:cNvPr>
          <p:cNvSpPr/>
          <p:nvPr/>
        </p:nvSpPr>
        <p:spPr>
          <a:xfrm>
            <a:off x="165846" y="3176521"/>
            <a:ext cx="4910774" cy="504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BEEE1E0A-1B75-61DF-546D-8837BE7904A3}"/>
              </a:ext>
            </a:extLst>
          </p:cNvPr>
          <p:cNvSpPr/>
          <p:nvPr/>
        </p:nvSpPr>
        <p:spPr>
          <a:xfrm>
            <a:off x="2087074" y="5705341"/>
            <a:ext cx="4450290" cy="2254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9784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4A4B-C8DF-AE0F-68E5-04B16357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673B5ED1-C85D-688B-7CA9-FA3189CC7F3A}"/>
              </a:ext>
            </a:extLst>
          </p:cNvPr>
          <p:cNvSpPr/>
          <p:nvPr/>
        </p:nvSpPr>
        <p:spPr>
          <a:xfrm>
            <a:off x="6759389" y="3429000"/>
            <a:ext cx="5266765" cy="1821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3A631E-0CF7-EFF0-8E67-990BEF9F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6" y="0"/>
            <a:ext cx="10515600" cy="1325563"/>
          </a:xfrm>
        </p:spPr>
        <p:txBody>
          <a:bodyPr/>
          <a:lstStyle/>
          <a:p>
            <a:r>
              <a:rPr lang="da-DK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B9CECB68-801A-9623-1B64-954E3FE548F0}"/>
                  </a:ext>
                </a:extLst>
              </p:cNvPr>
              <p:cNvSpPr txBox="1"/>
              <p:nvPr/>
            </p:nvSpPr>
            <p:spPr>
              <a:xfrm>
                <a:off x="153664" y="1228496"/>
                <a:ext cx="472742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 err="1"/>
                  <a:t>Ammonia</a:t>
                </a:r>
                <a:r>
                  <a:rPr lang="da-DK" dirty="0"/>
                  <a:t> formation: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⇌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Swap </a:t>
                </a:r>
                <a:r>
                  <a:rPr lang="da-DK" dirty="0" err="1"/>
                  <a:t>surface</a:t>
                </a:r>
                <a:r>
                  <a:rPr lang="da-DK" dirty="0"/>
                  <a:t> elements: </a:t>
                </a:r>
                <a:r>
                  <a:rPr lang="da-DK" dirty="0" err="1"/>
                  <a:t>Rh</a:t>
                </a:r>
                <a:r>
                  <a:rPr lang="da-DK" dirty="0"/>
                  <a:t>, Ru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Generative </a:t>
                </a:r>
                <a:r>
                  <a:rPr lang="da-DK" dirty="0" err="1"/>
                  <a:t>Adversarial</a:t>
                </a:r>
                <a:r>
                  <a:rPr lang="da-DK" dirty="0"/>
                  <a:t> Neural-</a:t>
                </a:r>
                <a:r>
                  <a:rPr lang="da-DK" dirty="0" err="1"/>
                  <a:t>networks</a:t>
                </a:r>
                <a:r>
                  <a:rPr lang="da-DK" dirty="0"/>
                  <a:t> (</a:t>
                </a:r>
                <a:r>
                  <a:rPr lang="da-DK" dirty="0" err="1"/>
                  <a:t>GAN’s</a:t>
                </a:r>
                <a:r>
                  <a:rPr lang="da-DK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a-DK" dirty="0" err="1"/>
                  <a:t>Reward</a:t>
                </a:r>
                <a:r>
                  <a:rPr lang="da-DK" dirty="0"/>
                  <a:t> Generator for </a:t>
                </a:r>
                <a:r>
                  <a:rPr lang="da-DK" dirty="0" err="1"/>
                  <a:t>fooling</a:t>
                </a:r>
                <a:r>
                  <a:rPr lang="da-DK" dirty="0"/>
                  <a:t> </a:t>
                </a:r>
                <a:r>
                  <a:rPr lang="da-DK" dirty="0" err="1"/>
                  <a:t>Discriminator</a:t>
                </a:r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Do </a:t>
                </a:r>
                <a:r>
                  <a:rPr lang="da-DK" dirty="0" err="1"/>
                  <a:t>several</a:t>
                </a:r>
                <a:r>
                  <a:rPr lang="da-DK" dirty="0"/>
                  <a:t> </a:t>
                </a:r>
                <a:r>
                  <a:rPr lang="da-DK" dirty="0" err="1"/>
                  <a:t>training</a:t>
                </a:r>
                <a:r>
                  <a:rPr lang="da-DK" dirty="0"/>
                  <a:t> + </a:t>
                </a:r>
                <a:r>
                  <a:rPr lang="da-DK" dirty="0" err="1"/>
                  <a:t>evaluation</a:t>
                </a:r>
                <a:r>
                  <a:rPr lang="da-DK" dirty="0"/>
                  <a:t> iterations &amp; </a:t>
                </a:r>
                <a:r>
                  <a:rPr lang="da-DK" dirty="0" err="1"/>
                  <a:t>add</a:t>
                </a:r>
                <a:r>
                  <a:rPr lang="da-DK" dirty="0"/>
                  <a:t> new samples </a:t>
                </a:r>
                <a:r>
                  <a:rPr lang="da-DK" dirty="0">
                    <a:sym typeface="Wingdings" pitchFamily="2" charset="2"/>
                  </a:rPr>
                  <a:t> Make </a:t>
                </a:r>
                <a:r>
                  <a:rPr lang="da-DK" dirty="0" err="1">
                    <a:sym typeface="Wingdings" pitchFamily="2" charset="2"/>
                  </a:rPr>
                  <a:t>Discriminator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smarter</a:t>
                </a:r>
                <a:endParaRPr lang="da-DK" dirty="0"/>
              </a:p>
            </p:txBody>
          </p:sp>
        </mc:Choice>
        <mc:Fallback xmlns="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B9CECB68-801A-9623-1B64-954E3FE54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64" y="1228496"/>
                <a:ext cx="4727429" cy="2585323"/>
              </a:xfrm>
              <a:prstGeom prst="rect">
                <a:avLst/>
              </a:prstGeom>
              <a:blipFill>
                <a:blip r:embed="rId2"/>
                <a:stretch>
                  <a:fillRect l="-804" t="-976" r="-1340" b="-243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Billede 13">
            <a:extLst>
              <a:ext uri="{FF2B5EF4-FFF2-40B4-BE49-F238E27FC236}">
                <a16:creationId xmlns:a16="http://schemas.microsoft.com/office/drawing/2014/main" id="{DA1C9298-5BF6-8715-44A4-B1C424F4B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236" y="-318905"/>
            <a:ext cx="4935070" cy="6486093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FB71A60E-E132-209C-C96A-119EDE983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22" y="4522719"/>
            <a:ext cx="11079340" cy="2300749"/>
          </a:xfrm>
          <a:prstGeom prst="rect">
            <a:avLst/>
          </a:prstGeom>
        </p:spPr>
      </p:pic>
      <p:sp>
        <p:nvSpPr>
          <p:cNvPr id="15" name="Rektangel 14">
            <a:extLst>
              <a:ext uri="{FF2B5EF4-FFF2-40B4-BE49-F238E27FC236}">
                <a16:creationId xmlns:a16="http://schemas.microsoft.com/office/drawing/2014/main" id="{51390DBE-D9EA-C4DB-3F37-BCFD6EC75321}"/>
              </a:ext>
            </a:extLst>
          </p:cNvPr>
          <p:cNvSpPr/>
          <p:nvPr/>
        </p:nvSpPr>
        <p:spPr>
          <a:xfrm>
            <a:off x="7830355" y="2318197"/>
            <a:ext cx="4029951" cy="1408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8408D288-01F8-A44B-ADBE-8F0B965C93AD}"/>
              </a:ext>
            </a:extLst>
          </p:cNvPr>
          <p:cNvSpPr/>
          <p:nvPr/>
        </p:nvSpPr>
        <p:spPr>
          <a:xfrm>
            <a:off x="7200040" y="3157180"/>
            <a:ext cx="4784677" cy="1408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17" name="Billede 16">
            <a:extLst>
              <a:ext uri="{FF2B5EF4-FFF2-40B4-BE49-F238E27FC236}">
                <a16:creationId xmlns:a16="http://schemas.microsoft.com/office/drawing/2014/main" id="{081277D1-767A-53D9-EE3E-195823DB4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892" y="1945853"/>
            <a:ext cx="5471942" cy="25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3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DDDEF9-6F0D-2556-E15F-C60E9C63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Motivation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A52305AD-BDAB-025C-1340-032613524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11" y="1577313"/>
            <a:ext cx="8440617" cy="4606526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0FCBC398-1E95-023D-D9E0-5FB0B8F60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420" y="1005368"/>
            <a:ext cx="6096460" cy="5750417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EC5A0DDC-24AF-E1FE-8D62-0322560105B5}"/>
              </a:ext>
            </a:extLst>
          </p:cNvPr>
          <p:cNvSpPr/>
          <p:nvPr/>
        </p:nvSpPr>
        <p:spPr>
          <a:xfrm>
            <a:off x="0" y="5460642"/>
            <a:ext cx="6236420" cy="585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519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F6AE-680C-542F-93CB-86CCD017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7F6BFC-79C6-1180-C284-1209B212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Detailed</a:t>
            </a:r>
            <a:r>
              <a:rPr lang="da-DK" dirty="0"/>
              <a:t> </a:t>
            </a:r>
            <a:r>
              <a:rPr lang="da-DK" dirty="0" err="1"/>
              <a:t>description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3AF905F-6332-C777-EA0C-06BD2CE87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sz="2000" dirty="0"/>
                  <a:t>What do </a:t>
                </a:r>
                <a:r>
                  <a:rPr lang="da-DK" sz="2000" dirty="0" err="1"/>
                  <a:t>we</a:t>
                </a:r>
                <a:r>
                  <a:rPr lang="da-DK" sz="2000" dirty="0"/>
                  <a:t> </a:t>
                </a:r>
                <a:r>
                  <a:rPr lang="da-DK" sz="2000" dirty="0" err="1"/>
                  <a:t>actually</a:t>
                </a:r>
                <a:r>
                  <a:rPr lang="da-DK" sz="2000" dirty="0"/>
                  <a:t> do?</a:t>
                </a:r>
              </a:p>
              <a:p>
                <a:r>
                  <a:rPr lang="da-DK" sz="2000" dirty="0"/>
                  <a:t>Break </a:t>
                </a:r>
                <a:r>
                  <a:rPr lang="da-DK" sz="2000" dirty="0" err="1"/>
                  <a:t>reaction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into</a:t>
                </a:r>
                <a:r>
                  <a:rPr lang="da-DK" sz="2000" dirty="0"/>
                  <a:t> </a:t>
                </a:r>
                <a:r>
                  <a:rPr lang="da-DK" sz="2000" dirty="0" err="1"/>
                  <a:t>elementary</a:t>
                </a:r>
                <a:r>
                  <a:rPr lang="da-DK" sz="2000" dirty="0"/>
                  <a:t> steps.</a:t>
                </a:r>
              </a:p>
              <a:p>
                <a:r>
                  <a:rPr lang="da-DK" sz="2000" dirty="0"/>
                  <a:t>General kinetics: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nor/>
                      </m:rPr>
                      <a:rPr lang="da-DK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a-DK" sz="2000" dirty="0"/>
                      <m:t>⇌</m:t>
                    </m:r>
                    <m:r>
                      <a:rPr lang="da-DK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b="0" i="1" dirty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da-DK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endChr m:val="]"/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da-DK" sz="2000" dirty="0"/>
              </a:p>
              <a:p>
                <a:pPr lvl="1"/>
                <a:r>
                  <a:rPr lang="da-DK" sz="2000" b="0" dirty="0"/>
                  <a:t>Power </a:t>
                </a:r>
                <a:r>
                  <a:rPr lang="da-DK" sz="2000" b="0" dirty="0" err="1"/>
                  <a:t>law</a:t>
                </a:r>
                <a:r>
                  <a:rPr lang="da-DK" sz="2000" b="0" dirty="0"/>
                  <a:t>: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sSup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da-DK" sz="20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da-DK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da-DK" sz="2000" dirty="0"/>
              </a:p>
              <a:p>
                <a:r>
                  <a:rPr lang="da-DK" sz="2000" dirty="0" err="1"/>
                  <a:t>Heterogeneous</a:t>
                </a:r>
                <a:r>
                  <a:rPr lang="da-DK" sz="2000" dirty="0"/>
                  <a:t> </a:t>
                </a:r>
                <a:r>
                  <a:rPr lang="da-DK" sz="2000" dirty="0" err="1"/>
                  <a:t>catalysis</a:t>
                </a:r>
                <a:r>
                  <a:rPr lang="da-DK" sz="2000" dirty="0"/>
                  <a:t> (</a:t>
                </a:r>
                <a:r>
                  <a:rPr lang="da-DK" sz="2000" dirty="0" err="1"/>
                  <a:t>surface</a:t>
                </a:r>
                <a:r>
                  <a:rPr lang="da-DK" sz="2000" dirty="0"/>
                  <a:t> </a:t>
                </a:r>
                <a:r>
                  <a:rPr lang="da-DK" sz="2000" dirty="0" err="1"/>
                  <a:t>reaction</a:t>
                </a:r>
                <a:r>
                  <a:rPr lang="da-DK" sz="2000" dirty="0"/>
                  <a:t>)</a:t>
                </a:r>
                <a:br>
                  <a:rPr lang="da-DK" sz="2000" dirty="0"/>
                </a:br>
                <a:r>
                  <a:rPr lang="da-DK" sz="2000" dirty="0">
                    <a:sym typeface="Wingdings" pitchFamily="2" charset="2"/>
                  </a:rPr>
                  <a:t> </a:t>
                </a:r>
                <a:r>
                  <a:rPr lang="da-DK" sz="2000" dirty="0" err="1">
                    <a:sym typeface="Wingdings" pitchFamily="2" charset="2"/>
                  </a:rPr>
                  <a:t>Langmuir</a:t>
                </a:r>
                <a:r>
                  <a:rPr lang="da-DK" sz="2000" dirty="0">
                    <a:sym typeface="Wingdings" pitchFamily="2" charset="2"/>
                  </a:rPr>
                  <a:t> </a:t>
                </a:r>
                <a:r>
                  <a:rPr lang="da-DK" sz="2000" dirty="0" err="1">
                    <a:sym typeface="Wingdings" pitchFamily="2" charset="2"/>
                  </a:rPr>
                  <a:t>Hinshelwood</a:t>
                </a:r>
                <a:endParaRPr lang="da-DK" sz="2000" dirty="0">
                  <a:sym typeface="Wingdings" pitchFamily="2" charset="2"/>
                </a:endParaRPr>
              </a:p>
              <a:p>
                <a:pPr lvl="1"/>
                <a:r>
                  <a:rPr lang="da-DK" sz="2000" dirty="0" err="1">
                    <a:sym typeface="Wingdings" pitchFamily="2" charset="2"/>
                  </a:rPr>
                  <a:t>Use</a:t>
                </a:r>
                <a:r>
                  <a:rPr lang="da-DK" sz="2000" dirty="0">
                    <a:sym typeface="Wingdings" pitchFamily="2" charset="2"/>
                  </a:rPr>
                  <a:t> site </a:t>
                </a:r>
                <a:r>
                  <a:rPr lang="da-DK" sz="2000" dirty="0" err="1">
                    <a:sym typeface="Wingdings" pitchFamily="2" charset="2"/>
                  </a:rPr>
                  <a:t>coverages</a:t>
                </a:r>
                <a:r>
                  <a:rPr lang="da-DK" sz="2000" dirty="0">
                    <a:sym typeface="Wingdings" pitchFamily="2" charset="2"/>
                  </a:rPr>
                  <a:t> </a:t>
                </a:r>
                <a:r>
                  <a:rPr lang="da-DK" sz="2000" dirty="0" err="1">
                    <a:sym typeface="Wingdings" pitchFamily="2" charset="2"/>
                  </a:rPr>
                  <a:t>instead</a:t>
                </a:r>
                <a:endParaRPr lang="da-DK" sz="2000" dirty="0">
                  <a:sym typeface="Wingdings" pitchFamily="2" charset="2"/>
                </a:endParaRPr>
              </a:p>
              <a:p>
                <a:r>
                  <a:rPr lang="da-DK" sz="2000" dirty="0" err="1">
                    <a:sym typeface="Wingdings" pitchFamily="2" charset="2"/>
                  </a:rPr>
                  <a:t>Use</a:t>
                </a:r>
                <a:r>
                  <a:rPr lang="da-DK" sz="2000" dirty="0">
                    <a:sym typeface="Wingdings" pitchFamily="2" charset="2"/>
                  </a:rPr>
                  <a:t> RDS </a:t>
                </a:r>
                <a:r>
                  <a:rPr lang="da-DK" sz="2000" dirty="0" err="1">
                    <a:sym typeface="Wingdings" pitchFamily="2" charset="2"/>
                  </a:rPr>
                  <a:t>approximation</a:t>
                </a:r>
                <a:r>
                  <a:rPr lang="da-DK" sz="2000" dirty="0">
                    <a:sym typeface="Wingdings" pitchFamily="2" charset="2"/>
                  </a:rPr>
                  <a:t>  </a:t>
                </a:r>
                <a:br>
                  <a:rPr lang="da-DK" sz="2000" dirty="0">
                    <a:sym typeface="Wingdings" pitchFamily="2" charset="2"/>
                  </a:rPr>
                </a:br>
                <a:r>
                  <a:rPr lang="da-DK" sz="2000" dirty="0" err="1">
                    <a:sym typeface="Wingdings" pitchFamily="2" charset="2"/>
                  </a:rPr>
                  <a:t>Analytic</a:t>
                </a:r>
                <a:r>
                  <a:rPr lang="da-DK" sz="2000" dirty="0">
                    <a:sym typeface="Wingdings" pitchFamily="2" charset="2"/>
                  </a:rPr>
                  <a:t> </a:t>
                </a:r>
                <a:r>
                  <a:rPr lang="da-DK" sz="2000" dirty="0" err="1">
                    <a:sym typeface="Wingdings" pitchFamily="2" charset="2"/>
                  </a:rPr>
                  <a:t>expression</a:t>
                </a:r>
                <a:r>
                  <a:rPr lang="da-DK" sz="2000" dirty="0">
                    <a:sym typeface="Wingdings" pitchFamily="2" charset="2"/>
                  </a:rPr>
                  <a:t> for rate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3AF905F-6332-C777-EA0C-06BD2CE87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16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28">
            <a:extLst>
              <a:ext uri="{FF2B5EF4-FFF2-40B4-BE49-F238E27FC236}">
                <a16:creationId xmlns:a16="http://schemas.microsoft.com/office/drawing/2014/main" id="{E2691741-0E85-BEE5-8A58-14CE8F54E086}"/>
              </a:ext>
            </a:extLst>
          </p:cNvPr>
          <p:cNvSpPr/>
          <p:nvPr/>
        </p:nvSpPr>
        <p:spPr bwMode="auto">
          <a:xfrm>
            <a:off x="7786141" y="1492639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11" name="Rectangle: Rounded Corners 28">
            <a:extLst>
              <a:ext uri="{FF2B5EF4-FFF2-40B4-BE49-F238E27FC236}">
                <a16:creationId xmlns:a16="http://schemas.microsoft.com/office/drawing/2014/main" id="{BB313B7F-A305-B896-252B-75D4C3D510F4}"/>
              </a:ext>
            </a:extLst>
          </p:cNvPr>
          <p:cNvSpPr/>
          <p:nvPr/>
        </p:nvSpPr>
        <p:spPr bwMode="auto">
          <a:xfrm>
            <a:off x="7860939" y="365125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7EB85595-9A6A-6B83-C3CF-24A2910DDFB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416119" y="674590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35A80765-A77D-F5A6-91DE-C523AC5C360C}"/>
              </a:ext>
            </a:extLst>
          </p:cNvPr>
          <p:cNvSpPr txBox="1"/>
          <p:nvPr/>
        </p:nvSpPr>
        <p:spPr>
          <a:xfrm>
            <a:off x="9416119" y="750272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580BFC1A-F132-23CD-91F8-5674C0F2CB75}"/>
              </a:ext>
            </a:extLst>
          </p:cNvPr>
          <p:cNvSpPr txBox="1"/>
          <p:nvPr/>
        </p:nvSpPr>
        <p:spPr>
          <a:xfrm>
            <a:off x="9489491" y="3749534"/>
            <a:ext cx="2549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Langmuir-Hinshelwood</a:t>
            </a:r>
            <a:r>
              <a:rPr lang="da-DK" dirty="0"/>
              <a:t> </a:t>
            </a:r>
          </a:p>
        </p:txBody>
      </p: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6E35AD89-F494-9D93-5E2A-5F9F6B82908C}"/>
              </a:ext>
            </a:extLst>
          </p:cNvPr>
          <p:cNvCxnSpPr>
            <a:cxnSpLocks/>
          </p:cNvCxnSpPr>
          <p:nvPr/>
        </p:nvCxnSpPr>
        <p:spPr>
          <a:xfrm>
            <a:off x="9371101" y="3743243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28">
            <a:extLst>
              <a:ext uri="{FF2B5EF4-FFF2-40B4-BE49-F238E27FC236}">
                <a16:creationId xmlns:a16="http://schemas.microsoft.com/office/drawing/2014/main" id="{246EB1B6-344F-23D3-1102-56947D6E802E}"/>
              </a:ext>
            </a:extLst>
          </p:cNvPr>
          <p:cNvSpPr/>
          <p:nvPr/>
        </p:nvSpPr>
        <p:spPr bwMode="auto">
          <a:xfrm>
            <a:off x="7935736" y="4479766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  <p:pic>
        <p:nvPicPr>
          <p:cNvPr id="4" name="Picture 2" descr="Steady-State Approximation – Foundations of Chemical and Biological  Engineering I">
            <a:extLst>
              <a:ext uri="{FF2B5EF4-FFF2-40B4-BE49-F238E27FC236}">
                <a16:creationId xmlns:a16="http://schemas.microsoft.com/office/drawing/2014/main" id="{C821DBBD-5A67-A556-D239-D421ACEFC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891" y="4116978"/>
            <a:ext cx="2363604" cy="249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96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4226-9607-EB0E-CD89-A3AF7FB5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618CC46-9D11-A6BD-6769-E5FA430F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580" y="6581497"/>
            <a:ext cx="252000" cy="135422"/>
          </a:xfrm>
        </p:spPr>
        <p:txBody>
          <a:bodyPr/>
          <a:lstStyle/>
          <a:p>
            <a:fld id="{7834947A-1B05-2B43-AD85-E646CE852B9E}" type="slidenum">
              <a:rPr lang="it-IT" smtClean="0">
                <a:latin typeface="+mj-lt"/>
              </a:rPr>
              <a:t>8</a:t>
            </a:fld>
            <a:endParaRPr lang="it-IT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375B5-9A27-4FE2-0DC6-FBB6EAAEADDD}"/>
              </a:ext>
            </a:extLst>
          </p:cNvPr>
          <p:cNvSpPr txBox="1"/>
          <p:nvPr/>
        </p:nvSpPr>
        <p:spPr>
          <a:xfrm>
            <a:off x="144602" y="124935"/>
            <a:ext cx="112236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0" dirty="0">
                <a:latin typeface="+mj-lt"/>
              </a:rPr>
              <a:t>RWGS on metals and single-atom alloys – Why elementary step 5?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80027-E677-8447-C083-1709D9B8D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7" y="1128017"/>
            <a:ext cx="6328725" cy="56129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406B89-6850-79C9-0CCE-B05405DE3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042" y="1166705"/>
            <a:ext cx="6181679" cy="54825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CCC6C-03CD-BDF9-4E0E-3276AA7D638D}"/>
              </a:ext>
            </a:extLst>
          </p:cNvPr>
          <p:cNvSpPr txBox="1"/>
          <p:nvPr/>
        </p:nvSpPr>
        <p:spPr>
          <a:xfrm>
            <a:off x="823720" y="904104"/>
            <a:ext cx="4759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</a:t>
            </a:r>
            <a:r>
              <a:rPr lang="en-US" sz="1200" baseline="-250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2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dissociation RDS for most materials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B976B-F91E-9DF8-99BC-15B3E2F85447}"/>
              </a:ext>
            </a:extLst>
          </p:cNvPr>
          <p:cNvSpPr txBox="1"/>
          <p:nvPr/>
        </p:nvSpPr>
        <p:spPr>
          <a:xfrm>
            <a:off x="6943559" y="904104"/>
            <a:ext cx="4759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Most abundant reaction intermediates: CO*, O*, H*</a:t>
            </a:r>
          </a:p>
        </p:txBody>
      </p:sp>
    </p:spTree>
    <p:extLst>
      <p:ext uri="{BB962C8B-B14F-4D97-AF65-F5344CB8AC3E}">
        <p14:creationId xmlns:p14="http://schemas.microsoft.com/office/powerpoint/2010/main" val="270796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647F-8CF2-7B76-E23D-AFDF361B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E38AB-1B83-4463-F1F3-2E662FD4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Detailed</a:t>
            </a:r>
            <a:r>
              <a:rPr lang="da-DK" dirty="0"/>
              <a:t> </a:t>
            </a:r>
            <a:r>
              <a:rPr lang="da-DK" dirty="0" err="1"/>
              <a:t>description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2750E4F-CF4F-D654-9349-4B41CE7806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sz="2000" dirty="0" err="1">
                    <a:sym typeface="Wingdings" pitchFamily="2" charset="2"/>
                  </a:rPr>
                  <a:t>Use</a:t>
                </a:r>
                <a:r>
                  <a:rPr lang="da-DK" sz="2000" dirty="0">
                    <a:sym typeface="Wingdings" pitchFamily="2" charset="2"/>
                  </a:rPr>
                  <a:t> RDS </a:t>
                </a:r>
                <a:r>
                  <a:rPr lang="da-DK" sz="2000" dirty="0" err="1">
                    <a:sym typeface="Wingdings" pitchFamily="2" charset="2"/>
                  </a:rPr>
                  <a:t>approximation</a:t>
                </a:r>
                <a:r>
                  <a:rPr lang="da-DK" sz="2000" dirty="0">
                    <a:sym typeface="Wingdings" pitchFamily="2" charset="2"/>
                  </a:rPr>
                  <a:t>  Step 5.</a:t>
                </a:r>
              </a:p>
              <a:p>
                <a:r>
                  <a:rPr lang="da-DK" sz="2000" dirty="0" err="1">
                    <a:sym typeface="Wingdings" pitchFamily="2" charset="2"/>
                  </a:rPr>
                  <a:t>Solve</a:t>
                </a:r>
                <a:r>
                  <a:rPr lang="da-DK" sz="2000" dirty="0">
                    <a:sym typeface="Wingdings" pitchFamily="2" charset="2"/>
                  </a:rPr>
                  <a:t> for global rate:</a:t>
                </a:r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pPr marL="0" indent="0">
                  <a:buNone/>
                </a:pPr>
                <a:endParaRPr lang="da-DK" sz="2000" dirty="0"/>
              </a:p>
              <a:p>
                <a:r>
                  <a:rPr lang="da-DK" sz="2000" dirty="0" err="1"/>
                  <a:t>Boils</a:t>
                </a:r>
                <a:r>
                  <a:rPr lang="da-DK" sz="2000" dirty="0"/>
                  <a:t> </a:t>
                </a:r>
                <a:r>
                  <a:rPr lang="da-DK" sz="2000" dirty="0" err="1"/>
                  <a:t>down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finding</a:t>
                </a:r>
                <a:r>
                  <a:rPr lang="da-DK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da-DK" sz="2000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sz="20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sz="20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𝑎𝑐𝑡</m:t>
                        </m:r>
                      </m:sub>
                    </m:sSub>
                  </m:oMath>
                </a14:m>
                <a:endParaRPr lang="da-DK" sz="20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2750E4F-CF4F-D654-9349-4B41CE7806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45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28">
            <a:extLst>
              <a:ext uri="{FF2B5EF4-FFF2-40B4-BE49-F238E27FC236}">
                <a16:creationId xmlns:a16="http://schemas.microsoft.com/office/drawing/2014/main" id="{CEA8C288-42C7-C5D5-9B83-E62C57BEC855}"/>
              </a:ext>
            </a:extLst>
          </p:cNvPr>
          <p:cNvSpPr/>
          <p:nvPr/>
        </p:nvSpPr>
        <p:spPr bwMode="auto">
          <a:xfrm>
            <a:off x="7939041" y="2303698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11" name="Rectangle: Rounded Corners 28">
            <a:extLst>
              <a:ext uri="{FF2B5EF4-FFF2-40B4-BE49-F238E27FC236}">
                <a16:creationId xmlns:a16="http://schemas.microsoft.com/office/drawing/2014/main" id="{1AC389FB-EC16-35A0-4E24-C0876F1754BD}"/>
              </a:ext>
            </a:extLst>
          </p:cNvPr>
          <p:cNvSpPr/>
          <p:nvPr/>
        </p:nvSpPr>
        <p:spPr bwMode="auto">
          <a:xfrm>
            <a:off x="8013839" y="1176184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AB5310EC-7E69-67B7-2FE1-34360C5EDC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569019" y="1485649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F6CB42BC-B680-52C2-4126-66E86BAEADBB}"/>
              </a:ext>
            </a:extLst>
          </p:cNvPr>
          <p:cNvSpPr txBox="1"/>
          <p:nvPr/>
        </p:nvSpPr>
        <p:spPr>
          <a:xfrm>
            <a:off x="9569019" y="1561331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CA56BA33-2E10-6A07-2E0A-D65DAA0EF0E2}"/>
              </a:ext>
            </a:extLst>
          </p:cNvPr>
          <p:cNvSpPr txBox="1"/>
          <p:nvPr/>
        </p:nvSpPr>
        <p:spPr>
          <a:xfrm>
            <a:off x="9642391" y="4560593"/>
            <a:ext cx="2549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Langmuir-Hinshelwood</a:t>
            </a:r>
            <a:r>
              <a:rPr lang="da-DK" dirty="0"/>
              <a:t> </a:t>
            </a:r>
          </a:p>
        </p:txBody>
      </p: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31A9AB46-DB4B-D220-96AF-B5B7ADDC735B}"/>
              </a:ext>
            </a:extLst>
          </p:cNvPr>
          <p:cNvCxnSpPr>
            <a:cxnSpLocks/>
          </p:cNvCxnSpPr>
          <p:nvPr/>
        </p:nvCxnSpPr>
        <p:spPr>
          <a:xfrm>
            <a:off x="9524001" y="4554302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28">
            <a:extLst>
              <a:ext uri="{FF2B5EF4-FFF2-40B4-BE49-F238E27FC236}">
                <a16:creationId xmlns:a16="http://schemas.microsoft.com/office/drawing/2014/main" id="{A206F11C-BFA7-A7B9-A64C-4B4D1342AC31}"/>
              </a:ext>
            </a:extLst>
          </p:cNvPr>
          <p:cNvSpPr/>
          <p:nvPr/>
        </p:nvSpPr>
        <p:spPr bwMode="auto">
          <a:xfrm>
            <a:off x="8088636" y="5290825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felt 17">
                <a:extLst>
                  <a:ext uri="{FF2B5EF4-FFF2-40B4-BE49-F238E27FC236}">
                    <a16:creationId xmlns:a16="http://schemas.microsoft.com/office/drawing/2014/main" id="{995571E7-91BD-5023-27BB-927C05FC3DE6}"/>
                  </a:ext>
                </a:extLst>
              </p:cNvPr>
              <p:cNvSpPr txBox="1"/>
              <p:nvPr/>
            </p:nvSpPr>
            <p:spPr>
              <a:xfrm>
                <a:off x="542428" y="2635002"/>
                <a:ext cx="6162540" cy="1043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 smtClean="0">
                          <a:latin typeface="Cambria Math" panose="02040503050406030204" pitchFamily="18" charset="0"/>
                          <a:ea typeface="Noto Sans" panose="020B0502040504020204" pitchFamily="34"/>
                          <a:cs typeface="Noto Sans" panose="020B0502040504020204" pitchFamily="34"/>
                        </a:rPr>
                        <m:t>𝑅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Noto Sans" panose="020B0502040504020204" pitchFamily="34"/>
                          <a:cs typeface="Noto Sans" panose="020B0502040504020204" pitchFamily="34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Noto Sans" panose="020B0502040504020204" pitchFamily="34"/>
                              <a:cs typeface="Noto Sans" panose="020B0502040504020204" pitchFamily="3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</m:ctrlPr>
                            </m:sSubPr>
                            <m:e>
                              <m:r>
                                <a:rPr lang="da-DK" b="0" i="1" dirty="0" smtClean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a-DK" b="0" i="1" dirty="0" smtClean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  <m:t>5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  <m:t>𝐾</m:t>
                              </m:r>
                            </m:e>
                            <m:sub>
                              <m:sSubSup>
                                <m:sSubSup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𝐶𝑂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∗</m:t>
                                  </m:r>
                                </m:sup>
                              </m:sSubSup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𝐶𝑂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1</m:t>
                                  </m:r>
                                  <m:r>
                                    <a:rPr lang="da-DK" b="0" i="1" dirty="0" smtClean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𝐶</m:t>
                                      </m:r>
                                      <m:sSup>
                                        <m:sSup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𝑂</m:t>
                                          </m:r>
                                        </m:e>
                                        <m:sup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𝐶𝑂</m:t>
                                      </m:r>
                                    </m:sub>
                                  </m:sSub>
                                  <m:r>
                                    <a:rPr lang="da-DK" b="0" i="1" dirty="0" smtClean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 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+</m:t>
                                  </m:r>
                                  <m:r>
                                    <a:rPr lang="da-DK" b="0" i="1" dirty="0" smtClean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𝐻</m:t>
                                          </m:r>
                                        </m:e>
                                        <m:sup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da-DK" b="0" i="1" dirty="0" smtClean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 </m:t>
                                      </m:r>
                                    </m:e>
                                  </m:rad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+</m:t>
                                  </m:r>
                                  <m:r>
                                    <a:rPr lang="da-DK" b="0" i="1" dirty="0" smtClean="0">
                                      <a:latin typeface="Cambria Math" panose="02040503050406030204" pitchFamily="18" charset="0"/>
                                      <a:ea typeface="Noto Sans" panose="020B0502040504020204" pitchFamily="34"/>
                                      <a:cs typeface="Noto Sans" panose="020B0502040504020204" pitchFamily="34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𝑂</m:t>
                                          </m:r>
                                        </m:e>
                                        <m:sup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Noto Sans" panose="020B0502040504020204" pitchFamily="34"/>
                                          <a:cs typeface="Noto Sans" panose="020B0502040504020204" pitchFamily="34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da-DK" b="0" i="1" dirty="0" smtClean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𝑂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  <a:ea typeface="Noto Sans" panose="020B0502040504020204" pitchFamily="34"/>
                                              <a:cs typeface="Noto Sans" panose="020B0502040504020204" pitchFamily="34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  <a:ea typeface="Noto Sans" panose="020B0502040504020204" pitchFamily="34"/>
                                                  <a:cs typeface="Noto Sans" panose="020B0502040504020204" pitchFamily="34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Noto Sans" panose="020B0502040504020204" pitchFamily="34"/>
                                  <a:cs typeface="Noto Sans" panose="020B0502040504020204" pitchFamily="34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8" name="Tekstfelt 17">
                <a:extLst>
                  <a:ext uri="{FF2B5EF4-FFF2-40B4-BE49-F238E27FC236}">
                    <a16:creationId xmlns:a16="http://schemas.microsoft.com/office/drawing/2014/main" id="{995571E7-91BD-5023-27BB-927C05FC3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28" y="2635002"/>
                <a:ext cx="6162540" cy="10430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49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9F24-5A79-6EE2-08BA-095807EAC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107E37-F9CD-5B70-E6D1-4241053E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Detailed</a:t>
            </a:r>
            <a:r>
              <a:rPr lang="da-DK" dirty="0"/>
              <a:t> </a:t>
            </a:r>
            <a:r>
              <a:rPr lang="da-DK" dirty="0" err="1"/>
              <a:t>description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dsholder til indhold 2">
                <a:extLst>
                  <a:ext uri="{FF2B5EF4-FFF2-40B4-BE49-F238E27FC236}">
                    <a16:creationId xmlns:a16="http://schemas.microsoft.com/office/drawing/2014/main" id="{C7640EA6-CF90-A4B2-4277-214F838AAF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062" y="1453237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WWL-GPR model or GCNN </a:t>
                </a:r>
                <a:r>
                  <a:rPr lang="da-DK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GPR + </a:t>
                </a:r>
                <a:r>
                  <a:rPr lang="da-DK" dirty="0" err="1">
                    <a:sym typeface="Wingdings" pitchFamily="2" charset="2"/>
                  </a:rPr>
                  <a:t>Wasserstein-Weissfehler-lehmann</a:t>
                </a:r>
                <a:r>
                  <a:rPr lang="da-DK" dirty="0">
                    <a:sym typeface="Wingdings" pitchFamily="2" charset="2"/>
                  </a:rPr>
                  <a:t> </a:t>
                </a:r>
                <a:br>
                  <a:rPr lang="da-DK" dirty="0">
                    <a:sym typeface="Wingdings" pitchFamily="2" charset="2"/>
                  </a:rPr>
                </a:br>
                <a:r>
                  <a:rPr lang="da-DK" dirty="0" err="1">
                    <a:sym typeface="Wingdings" pitchFamily="2" charset="2"/>
                  </a:rPr>
                  <a:t>kernel</a:t>
                </a:r>
                <a:endParaRPr lang="da-DK" dirty="0">
                  <a:sym typeface="Wingdings" pitchFamily="2" charset="2"/>
                </a:endParaRPr>
              </a:p>
              <a:p>
                <a:r>
                  <a:rPr lang="da-DK" dirty="0">
                    <a:sym typeface="Wingdings" pitchFamily="2" charset="2"/>
                  </a:rPr>
                  <a:t>Bell-Evans-</a:t>
                </a:r>
                <a:r>
                  <a:rPr lang="da-DK" dirty="0" err="1">
                    <a:sym typeface="Wingdings" pitchFamily="2" charset="2"/>
                  </a:rPr>
                  <a:t>Polyani</a:t>
                </a:r>
                <a:r>
                  <a:rPr lang="da-DK" dirty="0">
                    <a:sym typeface="Wingdings" pitchFamily="2" charset="2"/>
                  </a:rPr>
                  <a:t> (BEP) </a:t>
                </a:r>
                <a:r>
                  <a:rPr lang="da-DK" dirty="0" err="1">
                    <a:sym typeface="Wingdings" pitchFamily="2" charset="2"/>
                  </a:rPr>
                  <a:t>scaling</a:t>
                </a:r>
                <a:r>
                  <a:rPr lang="da-DK" dirty="0">
                    <a:sym typeface="Wingdings" pitchFamily="2" charset="2"/>
                  </a:rPr>
                  <a:t> relations</a:t>
                </a:r>
              </a:p>
              <a:p>
                <a:pPr lvl="1"/>
                <a:r>
                  <a:rPr lang="da-DK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𝑎𝑐𝑡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  <a:sym typeface="Wingdings" pitchFamily="2" charset="2"/>
                      </a:rPr>
                      <m:t>Δ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𝐻</m:t>
                    </m:r>
                  </m:oMath>
                </a14:m>
                <a:endParaRPr lang="da-DK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  <a:sym typeface="Wingdings" pitchFamily="2" charset="2"/>
                      </a:rPr>
                      <m:t>Δ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𝐻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𝑓𝑖𝑛𝑎𝑙</m:t>
                        </m:r>
                      </m:sup>
                    </m:sSubSup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−</m:t>
                    </m:r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𝑖𝑛𝑖𝑡</m:t>
                        </m:r>
                      </m:sup>
                    </m:sSubSup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6" name="Pladsholder til indhold 2">
                <a:extLst>
                  <a:ext uri="{FF2B5EF4-FFF2-40B4-BE49-F238E27FC236}">
                    <a16:creationId xmlns:a16="http://schemas.microsoft.com/office/drawing/2014/main" id="{C7640EA6-CF90-A4B2-4277-214F838AA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062" y="1453237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91" descr="A chart of a graph&#10;&#10;AI-generated content may be incorrect.">
            <a:extLst>
              <a:ext uri="{FF2B5EF4-FFF2-40B4-BE49-F238E27FC236}">
                <a16:creationId xmlns:a16="http://schemas.microsoft.com/office/drawing/2014/main" id="{D286B959-40CB-1519-6F25-FFD875BE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53"/>
          <a:stretch>
            <a:fillRect/>
          </a:stretch>
        </p:blipFill>
        <p:spPr>
          <a:xfrm>
            <a:off x="7362679" y="1290876"/>
            <a:ext cx="4829321" cy="427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3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86C1-02E8-8EB5-84DE-2F13A440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0644C1-D7AA-07C9-5C6B-F41BECC4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580" y="6581497"/>
            <a:ext cx="252000" cy="135422"/>
          </a:xfrm>
        </p:spPr>
        <p:txBody>
          <a:bodyPr/>
          <a:lstStyle/>
          <a:p>
            <a:fld id="{7834947A-1B05-2B43-AD85-E646CE852B9E}" type="slidenum">
              <a:rPr lang="it-IT" smtClean="0">
                <a:latin typeface="+mj-lt"/>
              </a:rPr>
              <a:t>11</a:t>
            </a:fld>
            <a:endParaRPr lang="it-IT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DB26C4-CADB-8DA9-F1C5-D77D602B6B6A}"/>
              </a:ext>
            </a:extLst>
          </p:cNvPr>
          <p:cNvSpPr txBox="1"/>
          <p:nvPr/>
        </p:nvSpPr>
        <p:spPr>
          <a:xfrm>
            <a:off x="144602" y="124935"/>
            <a:ext cx="12335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0" dirty="0">
                <a:latin typeface="+mj-lt"/>
              </a:rPr>
              <a:t>Detailed description - How do we do this in practice?</a:t>
            </a:r>
            <a:endParaRPr lang="en-US" sz="4400" dirty="0"/>
          </a:p>
        </p:txBody>
      </p:sp>
      <p:pic>
        <p:nvPicPr>
          <p:cNvPr id="76" name="Picture 75" descr="A group of blue and yellow circles&#10;&#10;AI-generated content may be incorrect.">
            <a:extLst>
              <a:ext uri="{FF2B5EF4-FFF2-40B4-BE49-F238E27FC236}">
                <a16:creationId xmlns:a16="http://schemas.microsoft.com/office/drawing/2014/main" id="{9FE4DDAF-1419-BA39-8FFE-13094A2F67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448"/>
          <a:stretch>
            <a:fillRect/>
          </a:stretch>
        </p:blipFill>
        <p:spPr>
          <a:xfrm>
            <a:off x="1311473" y="2348984"/>
            <a:ext cx="1462838" cy="1155954"/>
          </a:xfrm>
          <a:prstGeom prst="rect">
            <a:avLst/>
          </a:prstGeom>
        </p:spPr>
      </p:pic>
      <p:pic>
        <p:nvPicPr>
          <p:cNvPr id="36" name="Picture 35" descr="A group of blue balls with a red pin&#10;&#10;AI-generated content may be incorrect.">
            <a:extLst>
              <a:ext uri="{FF2B5EF4-FFF2-40B4-BE49-F238E27FC236}">
                <a16:creationId xmlns:a16="http://schemas.microsoft.com/office/drawing/2014/main" id="{AB6D3AF8-A08D-7AF3-5314-FFE195A33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85" r="13957" b="24115"/>
          <a:stretch>
            <a:fillRect/>
          </a:stretch>
        </p:blipFill>
        <p:spPr>
          <a:xfrm>
            <a:off x="4150453" y="794237"/>
            <a:ext cx="1810151" cy="1515975"/>
          </a:xfrm>
          <a:prstGeom prst="rect">
            <a:avLst/>
          </a:prstGeom>
        </p:spPr>
      </p:pic>
      <p:pic>
        <p:nvPicPr>
          <p:cNvPr id="35" name="Picture 34" descr="A group of yellow and brown circles&#10;&#10;AI-generated content may be incorrect.">
            <a:extLst>
              <a:ext uri="{FF2B5EF4-FFF2-40B4-BE49-F238E27FC236}">
                <a16:creationId xmlns:a16="http://schemas.microsoft.com/office/drawing/2014/main" id="{5C44A7FA-A30F-F2B7-E88F-0D270FB9CD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21" r="22617" b="36600"/>
          <a:stretch>
            <a:fillRect/>
          </a:stretch>
        </p:blipFill>
        <p:spPr>
          <a:xfrm>
            <a:off x="4128831" y="4388319"/>
            <a:ext cx="1853396" cy="1636223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7A1F573-EB2E-CEDC-8F95-CB55E7BE513B}"/>
              </a:ext>
            </a:extLst>
          </p:cNvPr>
          <p:cNvSpPr txBox="1">
            <a:spLocks/>
          </p:cNvSpPr>
          <p:nvPr/>
        </p:nvSpPr>
        <p:spPr bwMode="auto">
          <a:xfrm>
            <a:off x="3696556" y="2247098"/>
            <a:ext cx="2717946" cy="346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DFT DB (RWGS on SAAs)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71C75-3FD3-635E-FBF9-19C37FA02E48}"/>
              </a:ext>
            </a:extLst>
          </p:cNvPr>
          <p:cNvSpPr txBox="1">
            <a:spLocks/>
          </p:cNvSpPr>
          <p:nvPr/>
        </p:nvSpPr>
        <p:spPr bwMode="auto">
          <a:xfrm>
            <a:off x="3696555" y="3583070"/>
            <a:ext cx="2717946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Python function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120F14-D61D-4BA6-121D-B50025625155}"/>
              </a:ext>
            </a:extLst>
          </p:cNvPr>
          <p:cNvSpPr txBox="1">
            <a:spLocks/>
          </p:cNvSpPr>
          <p:nvPr/>
        </p:nvSpPr>
        <p:spPr bwMode="auto">
          <a:xfrm>
            <a:off x="3696555" y="2915084"/>
            <a:ext cx="2717946" cy="346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WWL-GPR graph model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593B0D6-33FF-7414-5DC4-5FC4736282A0}"/>
              </a:ext>
            </a:extLst>
          </p:cNvPr>
          <p:cNvSpPr txBox="1">
            <a:spLocks/>
          </p:cNvSpPr>
          <p:nvPr/>
        </p:nvSpPr>
        <p:spPr bwMode="auto">
          <a:xfrm>
            <a:off x="807462" y="3583070"/>
            <a:ext cx="2470860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Surface composition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5412170-590C-0281-9F30-91F9FB53500B}"/>
              </a:ext>
            </a:extLst>
          </p:cNvPr>
          <p:cNvSpPr txBox="1">
            <a:spLocks/>
          </p:cNvSpPr>
          <p:nvPr/>
        </p:nvSpPr>
        <p:spPr bwMode="auto">
          <a:xfrm>
            <a:off x="6832734" y="3581278"/>
            <a:ext cx="2470860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 energies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199B5E2-FA2C-994E-4FD2-9F0520F857E4}"/>
              </a:ext>
            </a:extLst>
          </p:cNvPr>
          <p:cNvSpPr txBox="1">
            <a:spLocks/>
          </p:cNvSpPr>
          <p:nvPr/>
        </p:nvSpPr>
        <p:spPr bwMode="auto">
          <a:xfrm>
            <a:off x="3696555" y="4251057"/>
            <a:ext cx="2717946" cy="346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 modes DB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6FF865-6969-0DE4-905F-82EDE511325D}"/>
              </a:ext>
            </a:extLst>
          </p:cNvPr>
          <p:cNvCxnSpPr>
            <a:stCxn id="7" idx="3"/>
            <a:endCxn id="4" idx="1"/>
          </p:cNvCxnSpPr>
          <p:nvPr/>
        </p:nvCxnSpPr>
        <p:spPr bwMode="auto">
          <a:xfrm>
            <a:off x="3278323" y="3756104"/>
            <a:ext cx="418233" cy="0"/>
          </a:xfrm>
          <a:prstGeom prst="straightConnector1">
            <a:avLst/>
          </a:prstGeom>
          <a:ln w="28575">
            <a:solidFill>
              <a:srgbClr val="B8CED7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47FDA0-F638-B9E4-A286-9A1535DD748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 bwMode="auto">
          <a:xfrm>
            <a:off x="5055528" y="3261152"/>
            <a:ext cx="0" cy="321918"/>
          </a:xfrm>
          <a:prstGeom prst="straightConnector1">
            <a:avLst/>
          </a:prstGeom>
          <a:ln w="28575">
            <a:solidFill>
              <a:srgbClr val="DCE6EB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CAB19F-AF1E-F547-6C1E-F7C46B365C44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 bwMode="auto">
          <a:xfrm flipH="1">
            <a:off x="5055529" y="2593166"/>
            <a:ext cx="1" cy="321918"/>
          </a:xfrm>
          <a:prstGeom prst="straightConnector1">
            <a:avLst/>
          </a:prstGeom>
          <a:ln w="28575">
            <a:solidFill>
              <a:srgbClr val="DCE6EB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52B991-8923-C9AC-9190-572CE0FF4A06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 bwMode="auto">
          <a:xfrm flipV="1">
            <a:off x="5055528" y="3929139"/>
            <a:ext cx="0" cy="321919"/>
          </a:xfrm>
          <a:prstGeom prst="straightConnector1">
            <a:avLst/>
          </a:prstGeom>
          <a:ln w="28575">
            <a:solidFill>
              <a:srgbClr val="DCE6EB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18F2AD-6925-7959-9E65-00509F18833F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 bwMode="auto">
          <a:xfrm flipV="1">
            <a:off x="6414502" y="3754312"/>
            <a:ext cx="418233" cy="1792"/>
          </a:xfrm>
          <a:prstGeom prst="straightConnector1">
            <a:avLst/>
          </a:prstGeom>
          <a:ln w="28575">
            <a:solidFill>
              <a:srgbClr val="B8CED7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9513204-F937-E324-84D7-8AE7F77A9101}"/>
              </a:ext>
            </a:extLst>
          </p:cNvPr>
          <p:cNvSpPr txBox="1"/>
          <p:nvPr/>
        </p:nvSpPr>
        <p:spPr>
          <a:xfrm>
            <a:off x="5891142" y="1196682"/>
            <a:ext cx="1616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DFT energies (obtained with slab models</a:t>
            </a:r>
            <a:r>
              <a:rPr lang="it-IT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)</a:t>
            </a:r>
            <a:endParaRPr lang="en-US" sz="1600" dirty="0">
              <a:solidFill>
                <a:srgbClr val="22222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BC9FE0-EF45-C13D-A792-4422E4D6D19D}"/>
              </a:ext>
            </a:extLst>
          </p:cNvPr>
          <p:cNvSpPr txBox="1"/>
          <p:nvPr/>
        </p:nvSpPr>
        <p:spPr>
          <a:xfrm>
            <a:off x="5891142" y="4935175"/>
            <a:ext cx="22767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All adsorbate configurations involving site atoms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6D27CF-7F02-3B22-F32D-0F212B6B5517}"/>
              </a:ext>
            </a:extLst>
          </p:cNvPr>
          <p:cNvSpPr txBox="1"/>
          <p:nvPr/>
        </p:nvSpPr>
        <p:spPr>
          <a:xfrm>
            <a:off x="1936412" y="5076759"/>
            <a:ext cx="19462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Brown: site atoms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1C1F72-87BE-1571-B97A-61D36A813EBA}"/>
              </a:ext>
            </a:extLst>
          </p:cNvPr>
          <p:cNvSpPr txBox="1"/>
          <p:nvPr/>
        </p:nvSpPr>
        <p:spPr>
          <a:xfrm>
            <a:off x="1664188" y="5438859"/>
            <a:ext cx="24906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Yellow: neighbor atoms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EA0037-EBB0-1DD5-0A4B-58E26940CBAB}"/>
              </a:ext>
            </a:extLst>
          </p:cNvPr>
          <p:cNvCxnSpPr>
            <a:cxnSpLocks/>
            <a:stCxn id="39" idx="3"/>
          </p:cNvCxnSpPr>
          <p:nvPr/>
        </p:nvCxnSpPr>
        <p:spPr bwMode="auto">
          <a:xfrm>
            <a:off x="3882654" y="5246036"/>
            <a:ext cx="89788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A08C1C2-BDFE-3D1C-640B-1F811CE5E06E}"/>
              </a:ext>
            </a:extLst>
          </p:cNvPr>
          <p:cNvCxnSpPr>
            <a:cxnSpLocks/>
            <a:stCxn id="40" idx="3"/>
          </p:cNvCxnSpPr>
          <p:nvPr/>
        </p:nvCxnSpPr>
        <p:spPr bwMode="auto">
          <a:xfrm>
            <a:off x="4154878" y="5608136"/>
            <a:ext cx="92763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21EECAF-693D-60A2-8D97-12EB40C4AFAB}"/>
              </a:ext>
            </a:extLst>
          </p:cNvPr>
          <p:cNvCxnSpPr>
            <a:cxnSpLocks/>
            <a:stCxn id="9" idx="3"/>
            <a:endCxn id="65" idx="1"/>
          </p:cNvCxnSpPr>
          <p:nvPr/>
        </p:nvCxnSpPr>
        <p:spPr bwMode="auto">
          <a:xfrm>
            <a:off x="9303594" y="3754312"/>
            <a:ext cx="387092" cy="0"/>
          </a:xfrm>
          <a:prstGeom prst="straightConnector1">
            <a:avLst/>
          </a:prstGeom>
          <a:ln w="28575">
            <a:solidFill>
              <a:srgbClr val="B8CED7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72CAC0B7-5302-428C-D34A-A07074A2A2CF}"/>
              </a:ext>
            </a:extLst>
          </p:cNvPr>
          <p:cNvSpPr txBox="1">
            <a:spLocks/>
          </p:cNvSpPr>
          <p:nvPr/>
        </p:nvSpPr>
        <p:spPr bwMode="auto">
          <a:xfrm>
            <a:off x="9690687" y="3581278"/>
            <a:ext cx="1693853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Reaction rate</a:t>
            </a:r>
          </a:p>
        </p:txBody>
      </p:sp>
      <p:pic>
        <p:nvPicPr>
          <p:cNvPr id="78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AF8EAA90-8B06-A233-F73C-B695E2DA9E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463" t="12696" r="25755" b="42065"/>
          <a:stretch>
            <a:fillRect/>
          </a:stretch>
        </p:blipFill>
        <p:spPr>
          <a:xfrm>
            <a:off x="7288289" y="2348984"/>
            <a:ext cx="1559750" cy="1155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FB061F-AD23-F9FC-B349-CE7541BCC969}"/>
              </a:ext>
            </a:extLst>
          </p:cNvPr>
          <p:cNvSpPr txBox="1"/>
          <p:nvPr/>
        </p:nvSpPr>
        <p:spPr>
          <a:xfrm>
            <a:off x="9503058" y="4040907"/>
            <a:ext cx="2077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From rate equation or microkinetic modeling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7A8A4-94F0-855C-453F-F6BC9FB1B0C4}"/>
              </a:ext>
            </a:extLst>
          </p:cNvPr>
          <p:cNvSpPr txBox="1"/>
          <p:nvPr/>
        </p:nvSpPr>
        <p:spPr>
          <a:xfrm>
            <a:off x="884985" y="1437267"/>
            <a:ext cx="23158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Cluster model including site atoms and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148785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E56C1-F103-17F6-43B8-FD350C6BA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220"/>
            <a:ext cx="10515600" cy="1325563"/>
          </a:xfrm>
        </p:spPr>
        <p:txBody>
          <a:bodyPr/>
          <a:lstStyle/>
          <a:p>
            <a:r>
              <a:rPr lang="da-DK" dirty="0"/>
              <a:t>Preliminary </a:t>
            </a:r>
            <a:r>
              <a:rPr lang="da-DK" dirty="0" err="1"/>
              <a:t>results</a:t>
            </a:r>
            <a:r>
              <a:rPr lang="da-DK" dirty="0"/>
              <a:t> – </a:t>
            </a:r>
            <a:br>
              <a:rPr lang="da-DK" dirty="0"/>
            </a:br>
            <a:r>
              <a:rPr lang="da-DK" dirty="0" err="1"/>
              <a:t>Random</a:t>
            </a:r>
            <a:r>
              <a:rPr lang="da-DK" dirty="0"/>
              <a:t> </a:t>
            </a:r>
            <a:r>
              <a:rPr lang="da-DK" dirty="0" err="1"/>
              <a:t>search</a:t>
            </a:r>
            <a:endParaRPr lang="da-DK" dirty="0"/>
          </a:p>
        </p:txBody>
      </p:sp>
      <p:pic>
        <p:nvPicPr>
          <p:cNvPr id="13" name="Pladsholder til indhold 12">
            <a:extLst>
              <a:ext uri="{FF2B5EF4-FFF2-40B4-BE49-F238E27FC236}">
                <a16:creationId xmlns:a16="http://schemas.microsoft.com/office/drawing/2014/main" id="{311FCBEF-3282-14C8-974D-1F515C21B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301" y="2895618"/>
            <a:ext cx="5283175" cy="3962382"/>
          </a:xfrm>
        </p:spPr>
      </p:pic>
      <p:sp>
        <p:nvSpPr>
          <p:cNvPr id="15" name="Afrundet rektangel 14">
            <a:extLst>
              <a:ext uri="{FF2B5EF4-FFF2-40B4-BE49-F238E27FC236}">
                <a16:creationId xmlns:a16="http://schemas.microsoft.com/office/drawing/2014/main" id="{B2B48067-7947-9280-E8AC-D19C6943C617}"/>
              </a:ext>
            </a:extLst>
          </p:cNvPr>
          <p:cNvSpPr/>
          <p:nvPr/>
        </p:nvSpPr>
        <p:spPr>
          <a:xfrm>
            <a:off x="46511" y="1515680"/>
            <a:ext cx="1930541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 dirty="0"/>
          </a:p>
        </p:txBody>
      </p:sp>
      <p:pic>
        <p:nvPicPr>
          <p:cNvPr id="30" name="Billede 29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CFFA74DD-4106-DAF3-E472-5FFFC611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2" y="5428526"/>
            <a:ext cx="1705849" cy="1219825"/>
          </a:xfrm>
          <a:prstGeom prst="rect">
            <a:avLst/>
          </a:prstGeom>
        </p:spPr>
      </p:pic>
      <p:pic>
        <p:nvPicPr>
          <p:cNvPr id="32" name="Billede 31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4B29FDD1-EB1D-972B-BA24-BF3B1C175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2" y="3960073"/>
            <a:ext cx="1732926" cy="1219825"/>
          </a:xfrm>
          <a:prstGeom prst="rect">
            <a:avLst/>
          </a:prstGeom>
        </p:spPr>
      </p:pic>
      <p:pic>
        <p:nvPicPr>
          <p:cNvPr id="34" name="Billede 33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40981D4D-DD21-A918-6EFC-823823488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11" y="2335575"/>
            <a:ext cx="1713564" cy="1219825"/>
          </a:xfrm>
          <a:prstGeom prst="rect">
            <a:avLst/>
          </a:prstGeom>
        </p:spPr>
      </p:pic>
      <p:sp>
        <p:nvSpPr>
          <p:cNvPr id="35" name="Afrundet rektangel 34">
            <a:extLst>
              <a:ext uri="{FF2B5EF4-FFF2-40B4-BE49-F238E27FC236}">
                <a16:creationId xmlns:a16="http://schemas.microsoft.com/office/drawing/2014/main" id="{00E9FA1E-DD4D-FE92-B513-30C1FD0FB669}"/>
              </a:ext>
            </a:extLst>
          </p:cNvPr>
          <p:cNvSpPr/>
          <p:nvPr/>
        </p:nvSpPr>
        <p:spPr>
          <a:xfrm>
            <a:off x="2132643" y="1529971"/>
            <a:ext cx="1930542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37" name="Billede 36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AEC29359-D91F-BD2A-33EC-FB2E847756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0880" y="5443256"/>
            <a:ext cx="1712338" cy="1218953"/>
          </a:xfrm>
          <a:prstGeom prst="rect">
            <a:avLst/>
          </a:prstGeom>
        </p:spPr>
      </p:pic>
      <p:pic>
        <p:nvPicPr>
          <p:cNvPr id="39" name="Billede 3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05E38C60-AB69-BCBF-9D36-6A5310D4E8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6685" y="3960073"/>
            <a:ext cx="1713564" cy="1219825"/>
          </a:xfrm>
          <a:prstGeom prst="rect">
            <a:avLst/>
          </a:prstGeom>
        </p:spPr>
      </p:pic>
      <p:pic>
        <p:nvPicPr>
          <p:cNvPr id="41" name="Billede 40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F92E177E-E0B8-6EC4-D5ED-02AF8C1967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0072" y="2353920"/>
            <a:ext cx="1686789" cy="1219825"/>
          </a:xfrm>
          <a:prstGeom prst="rect">
            <a:avLst/>
          </a:prstGeom>
        </p:spPr>
      </p:pic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3CBB6BF8-24C4-987B-0985-C54DA88E0343}"/>
              </a:ext>
            </a:extLst>
          </p:cNvPr>
          <p:cNvSpPr/>
          <p:nvPr/>
        </p:nvSpPr>
        <p:spPr>
          <a:xfrm>
            <a:off x="4165458" y="1542446"/>
            <a:ext cx="1930542" cy="5196205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44" name="Billede 43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A440CC3D-D928-2EAF-558A-BF30631DC5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9080" y="5452290"/>
            <a:ext cx="1705848" cy="1219825"/>
          </a:xfrm>
          <a:prstGeom prst="rect">
            <a:avLst/>
          </a:prstGeom>
        </p:spPr>
      </p:pic>
      <p:pic>
        <p:nvPicPr>
          <p:cNvPr id="46" name="Billede 45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3259D3CA-2F10-B9FD-38D8-24FA8218B7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2092" y="3983837"/>
            <a:ext cx="1686789" cy="1219825"/>
          </a:xfrm>
          <a:prstGeom prst="rect">
            <a:avLst/>
          </a:prstGeom>
        </p:spPr>
      </p:pic>
      <p:pic>
        <p:nvPicPr>
          <p:cNvPr id="48" name="Billede 47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3E29868C-7C36-A9A9-EAB5-EBECF8582C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9078" y="2359339"/>
            <a:ext cx="1705849" cy="1219825"/>
          </a:xfrm>
          <a:prstGeom prst="rect">
            <a:avLst/>
          </a:prstGeom>
        </p:spPr>
      </p:pic>
      <p:sp>
        <p:nvSpPr>
          <p:cNvPr id="49" name="Tekstfelt 48">
            <a:extLst>
              <a:ext uri="{FF2B5EF4-FFF2-40B4-BE49-F238E27FC236}">
                <a16:creationId xmlns:a16="http://schemas.microsoft.com/office/drawing/2014/main" id="{54E55995-8D13-8723-A6EC-290BC3CED2D3}"/>
              </a:ext>
            </a:extLst>
          </p:cNvPr>
          <p:cNvSpPr txBox="1"/>
          <p:nvPr/>
        </p:nvSpPr>
        <p:spPr>
          <a:xfrm>
            <a:off x="460518" y="1494455"/>
            <a:ext cx="10770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" dirty="0"/>
              <a:t>{</a:t>
            </a:r>
            <a:r>
              <a:rPr lang="da-DK" sz="1500" dirty="0" err="1"/>
              <a:t>Rh,Cu,Pd</a:t>
            </a:r>
            <a:r>
              <a:rPr lang="da-DK" sz="1500" dirty="0"/>
              <a:t>}</a:t>
            </a:r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28F06785-6787-C3F9-F419-396B2E2FF0B2}"/>
              </a:ext>
            </a:extLst>
          </p:cNvPr>
          <p:cNvSpPr txBox="1"/>
          <p:nvPr/>
        </p:nvSpPr>
        <p:spPr>
          <a:xfrm>
            <a:off x="2386840" y="1519647"/>
            <a:ext cx="13572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500" dirty="0"/>
              <a:t>{</a:t>
            </a:r>
            <a:r>
              <a:rPr lang="da-DK" sz="1500" dirty="0" err="1"/>
              <a:t>Rh,Cu,Au,Pd</a:t>
            </a:r>
            <a:r>
              <a:rPr lang="da-DK" sz="1500" dirty="0"/>
              <a:t>}</a:t>
            </a:r>
          </a:p>
        </p:txBody>
      </p:sp>
      <p:sp>
        <p:nvSpPr>
          <p:cNvPr id="51" name="Tekstfelt 50">
            <a:extLst>
              <a:ext uri="{FF2B5EF4-FFF2-40B4-BE49-F238E27FC236}">
                <a16:creationId xmlns:a16="http://schemas.microsoft.com/office/drawing/2014/main" id="{71704660-2C7D-442D-9A58-20932AFBAF9D}"/>
              </a:ext>
            </a:extLst>
          </p:cNvPr>
          <p:cNvSpPr txBox="1"/>
          <p:nvPr/>
        </p:nvSpPr>
        <p:spPr>
          <a:xfrm>
            <a:off x="4554064" y="1559696"/>
            <a:ext cx="12107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500" dirty="0"/>
              <a:t>{</a:t>
            </a:r>
            <a:r>
              <a:rPr lang="da-DK" sz="1500" dirty="0" err="1"/>
              <a:t>Rh,Pd,Au</a:t>
            </a:r>
            <a:r>
              <a:rPr lang="da-DK" sz="15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3942B892-11F3-F105-BB1C-A39E656C100D}"/>
                  </a:ext>
                </a:extLst>
              </p:cNvPr>
              <p:cNvSpPr txBox="1"/>
              <p:nvPr/>
            </p:nvSpPr>
            <p:spPr>
              <a:xfrm>
                <a:off x="208805" y="2031292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34.4</m:t>
                      </m:r>
                      <m:r>
                        <m:rPr>
                          <m:nor/>
                        </m:rPr>
                        <a:rPr lang="da-DK" sz="1500" b="0" i="0" smtClean="0"/>
                        <m:t>2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3942B892-11F3-F105-BB1C-A39E656C1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05" y="2031292"/>
                <a:ext cx="1470759" cy="323165"/>
              </a:xfrm>
              <a:prstGeom prst="rect">
                <a:avLst/>
              </a:prstGeom>
              <a:blipFill>
                <a:blip r:embed="rId1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105A1E21-1139-B49E-F498-8FFA8328E1C1}"/>
                  </a:ext>
                </a:extLst>
              </p:cNvPr>
              <p:cNvSpPr txBox="1"/>
              <p:nvPr/>
            </p:nvSpPr>
            <p:spPr>
              <a:xfrm>
                <a:off x="208805" y="3636908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34.</m:t>
                      </m:r>
                      <m:r>
                        <m:rPr>
                          <m:nor/>
                        </m:rPr>
                        <a:rPr lang="da-DK" sz="1500" b="0" i="0" smtClean="0"/>
                        <m:t>33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105A1E21-1139-B49E-F498-8FFA8328E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05" y="3636908"/>
                <a:ext cx="1470759" cy="323165"/>
              </a:xfrm>
              <a:prstGeom prst="rect">
                <a:avLst/>
              </a:prstGeom>
              <a:blipFill>
                <a:blip r:embed="rId1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5248C40B-D762-578E-9269-01306856D94F}"/>
                  </a:ext>
                </a:extLst>
              </p:cNvPr>
              <p:cNvSpPr txBox="1"/>
              <p:nvPr/>
            </p:nvSpPr>
            <p:spPr>
              <a:xfrm>
                <a:off x="199524" y="5134151"/>
                <a:ext cx="147075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3</m:t>
                      </m:r>
                      <m:r>
                        <m:rPr>
                          <m:nor/>
                        </m:rPr>
                        <a:rPr lang="da-DK" sz="1500" b="0" i="0" smtClean="0"/>
                        <m:t>0</m:t>
                      </m:r>
                      <m:r>
                        <m:rPr>
                          <m:nor/>
                        </m:rPr>
                        <a:rPr lang="da-DK" sz="1500"/>
                        <m:t>.</m:t>
                      </m:r>
                      <m:r>
                        <m:rPr>
                          <m:nor/>
                        </m:rPr>
                        <a:rPr lang="da-DK" sz="1500" b="0" i="0" smtClean="0"/>
                        <m:t>39 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5248C40B-D762-578E-9269-01306856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24" y="5134151"/>
                <a:ext cx="1470759" cy="323165"/>
              </a:xfrm>
              <a:prstGeom prst="rect">
                <a:avLst/>
              </a:prstGeom>
              <a:blipFill>
                <a:blip r:embed="rId15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BED2ECC-497F-CFCA-7BF7-DF9DE96E69FC}"/>
                  </a:ext>
                </a:extLst>
              </p:cNvPr>
              <p:cNvSpPr txBox="1"/>
              <p:nvPr/>
            </p:nvSpPr>
            <p:spPr>
              <a:xfrm>
                <a:off x="2325957" y="2045149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25.5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BED2ECC-497F-CFCA-7BF7-DF9DE96E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957" y="2045149"/>
                <a:ext cx="1431282" cy="323165"/>
              </a:xfrm>
              <a:prstGeom prst="rect">
                <a:avLst/>
              </a:prstGeom>
              <a:blipFill>
                <a:blip r:embed="rId1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C055C2B0-ABEB-6F19-D38B-DF251D25F42B}"/>
                  </a:ext>
                </a:extLst>
              </p:cNvPr>
              <p:cNvSpPr txBox="1"/>
              <p:nvPr/>
            </p:nvSpPr>
            <p:spPr>
              <a:xfrm>
                <a:off x="2325957" y="3636908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23.5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C055C2B0-ABEB-6F19-D38B-DF251D25F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957" y="3636908"/>
                <a:ext cx="1431282" cy="323165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3DEA6D29-7B90-A8DC-042B-B590FC7D25CA}"/>
                  </a:ext>
                </a:extLst>
              </p:cNvPr>
              <p:cNvSpPr txBox="1"/>
              <p:nvPr/>
            </p:nvSpPr>
            <p:spPr>
              <a:xfrm>
                <a:off x="2316676" y="5148008"/>
                <a:ext cx="143128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23.4</m:t>
                      </m:r>
                      <m:r>
                        <m:rPr>
                          <m:nor/>
                        </m:rPr>
                        <a:rPr lang="da-DK" sz="1500" b="0" i="0" smtClean="0"/>
                        <m:t>9[1/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3DEA6D29-7B90-A8DC-042B-B590FC7D2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676" y="5148008"/>
                <a:ext cx="1431282" cy="323165"/>
              </a:xfrm>
              <a:prstGeom prst="rect">
                <a:avLst/>
              </a:prstGeom>
              <a:blipFill>
                <a:blip r:embed="rId18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2611DF67-78F9-D202-5F1B-C0C166D3847D}"/>
                  </a:ext>
                </a:extLst>
              </p:cNvPr>
              <p:cNvSpPr txBox="1"/>
              <p:nvPr/>
            </p:nvSpPr>
            <p:spPr>
              <a:xfrm>
                <a:off x="4425091" y="2031292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1.4</m:t>
                      </m:r>
                      <m:r>
                        <m:rPr>
                          <m:nor/>
                        </m:rPr>
                        <a:rPr lang="da-DK" sz="1500" b="0" i="0" smtClean="0"/>
                        <m:t>1[1/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2611DF67-78F9-D202-5F1B-C0C166D38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091" y="2031292"/>
                <a:ext cx="1326461" cy="323165"/>
              </a:xfrm>
              <a:prstGeom prst="rect">
                <a:avLst/>
              </a:prstGeom>
              <a:blipFill>
                <a:blip r:embed="rId19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BF5A46B2-A671-6B00-F504-3548E11B9B06}"/>
                  </a:ext>
                </a:extLst>
              </p:cNvPr>
              <p:cNvSpPr txBox="1"/>
              <p:nvPr/>
            </p:nvSpPr>
            <p:spPr>
              <a:xfrm>
                <a:off x="4425091" y="3636908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1.38</m:t>
                      </m:r>
                      <m:r>
                        <m:rPr>
                          <m:nor/>
                        </m:rPr>
                        <a:rPr lang="da-DK" sz="1500" b="0" i="0" smtClean="0"/>
                        <m:t>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BF5A46B2-A671-6B00-F504-3548E11B9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091" y="3636908"/>
                <a:ext cx="1326461" cy="323165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4D73CE19-EB82-BD2E-07DB-A3632F3C50E5}"/>
                  </a:ext>
                </a:extLst>
              </p:cNvPr>
              <p:cNvSpPr txBox="1"/>
              <p:nvPr/>
            </p:nvSpPr>
            <p:spPr>
              <a:xfrm>
                <a:off x="4425091" y="5157915"/>
                <a:ext cx="1326461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a-DK" sz="1500"/>
                        <m:t>1.34</m:t>
                      </m:r>
                      <m:r>
                        <m:rPr>
                          <m:nor/>
                        </m:rPr>
                        <a:rPr lang="da-DK" sz="1500" b="0" i="0" smtClean="0"/>
                        <m:t>[1/</m:t>
                      </m:r>
                      <m:r>
                        <m:rPr>
                          <m:nor/>
                        </m:rPr>
                        <a:rPr lang="da-DK" sz="1500" b="0" i="0" smtClean="0"/>
                        <m:t>s</m:t>
                      </m:r>
                      <m:r>
                        <m:rPr>
                          <m:nor/>
                        </m:rPr>
                        <a:rPr lang="da-DK" sz="1500" b="0" i="0" smtClean="0"/>
                        <m:t>]</m:t>
                      </m:r>
                    </m:oMath>
                  </m:oMathPara>
                </a14:m>
                <a:endParaRPr lang="da-DK" sz="1500" dirty="0"/>
              </a:p>
            </p:txBody>
          </p:sp>
        </mc:Choice>
        <mc:Fallback xmlns="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4D73CE19-EB82-BD2E-07DB-A3632F3C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091" y="5157915"/>
                <a:ext cx="1326461" cy="323165"/>
              </a:xfrm>
              <a:prstGeom prst="rect">
                <a:avLst/>
              </a:prstGeom>
              <a:blipFill>
                <a:blip r:embed="rId21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Grafik 62">
            <a:extLst>
              <a:ext uri="{FF2B5EF4-FFF2-40B4-BE49-F238E27FC236}">
                <a16:creationId xmlns:a16="http://schemas.microsoft.com/office/drawing/2014/main" id="{3DE545FD-CB79-5B22-98DB-2EE78610EE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89813" y="-210655"/>
            <a:ext cx="4641669" cy="348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2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75068F10-AC3F-1A57-EC7C-B0B3DDE77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661" y="1690688"/>
            <a:ext cx="5801784" cy="4351338"/>
          </a:xfr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610E5770-0CB9-19FD-43B9-F46EC06A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Preliminary </a:t>
            </a:r>
            <a:r>
              <a:rPr lang="da-DK" dirty="0" err="1"/>
              <a:t>results</a:t>
            </a:r>
            <a:r>
              <a:rPr lang="da-DK" dirty="0"/>
              <a:t> – </a:t>
            </a:r>
            <a:r>
              <a:rPr lang="da-DK" dirty="0" err="1"/>
              <a:t>Bayesian</a:t>
            </a:r>
            <a:r>
              <a:rPr lang="da-DK" dirty="0"/>
              <a:t> vs. </a:t>
            </a:r>
            <a:r>
              <a:rPr lang="da-DK" dirty="0" err="1"/>
              <a:t>Random</a:t>
            </a:r>
            <a:r>
              <a:rPr lang="da-DK" dirty="0"/>
              <a:t> </a:t>
            </a:r>
            <a:r>
              <a:rPr lang="da-DK" dirty="0" err="1"/>
              <a:t>search</a:t>
            </a:r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ED8C9B6-EAF7-6CFE-4B78-E0C559B3C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7445" y="1660526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2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F2A291-D10F-EFD3-2F8A-65D9FF27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What’s</a:t>
            </a:r>
            <a:r>
              <a:rPr lang="da-DK" dirty="0"/>
              <a:t> </a:t>
            </a:r>
            <a:r>
              <a:rPr lang="da-DK" dirty="0" err="1"/>
              <a:t>next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A095FA-E6FE-B513-236B-B1C698992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Try: </a:t>
            </a:r>
            <a:r>
              <a:rPr lang="da-DK" dirty="0" err="1"/>
              <a:t>Bayesian</a:t>
            </a:r>
            <a:r>
              <a:rPr lang="da-DK" dirty="0"/>
              <a:t> </a:t>
            </a:r>
            <a:r>
              <a:rPr lang="da-DK" dirty="0" err="1"/>
              <a:t>optimization</a:t>
            </a:r>
            <a:endParaRPr lang="da-DK" dirty="0"/>
          </a:p>
          <a:p>
            <a:r>
              <a:rPr lang="da-DK" dirty="0"/>
              <a:t>Check </a:t>
            </a:r>
            <a:r>
              <a:rPr lang="da-DK" dirty="0" err="1"/>
              <a:t>if</a:t>
            </a:r>
            <a:r>
              <a:rPr lang="da-DK" dirty="0"/>
              <a:t> rate is </a:t>
            </a:r>
            <a:r>
              <a:rPr lang="da-DK" dirty="0" err="1"/>
              <a:t>mainly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given by </a:t>
            </a:r>
            <a:r>
              <a:rPr lang="da-DK" dirty="0" err="1"/>
              <a:t>active</a:t>
            </a:r>
            <a:r>
              <a:rPr lang="da-DK" dirty="0"/>
              <a:t> site elements</a:t>
            </a:r>
          </a:p>
          <a:p>
            <a:r>
              <a:rPr lang="da-DK" dirty="0" err="1"/>
              <a:t>Implement</a:t>
            </a:r>
            <a:r>
              <a:rPr lang="da-DK" dirty="0"/>
              <a:t> </a:t>
            </a:r>
            <a:r>
              <a:rPr lang="da-DK" dirty="0" err="1"/>
              <a:t>genAI</a:t>
            </a:r>
            <a:r>
              <a:rPr lang="da-DK" dirty="0"/>
              <a:t> </a:t>
            </a:r>
            <a:r>
              <a:rPr lang="da-DK" dirty="0" err="1"/>
              <a:t>tools</a:t>
            </a:r>
            <a:endParaRPr lang="da-DK" dirty="0"/>
          </a:p>
          <a:p>
            <a:r>
              <a:rPr lang="da-DK" dirty="0"/>
              <a:t>Check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well</a:t>
            </a:r>
            <a:r>
              <a:rPr lang="da-DK" dirty="0"/>
              <a:t> RDS </a:t>
            </a:r>
            <a:r>
              <a:rPr lang="da-DK" dirty="0" err="1"/>
              <a:t>approximation</a:t>
            </a:r>
            <a:r>
              <a:rPr lang="da-DK" dirty="0"/>
              <a:t> holds?</a:t>
            </a:r>
          </a:p>
          <a:p>
            <a:r>
              <a:rPr lang="da-DK" dirty="0"/>
              <a:t>Any suggestions?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3A2678E3-95A0-BD68-6422-3273BF674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33060"/>
            <a:ext cx="5878590" cy="2671520"/>
          </a:xfrm>
          <a:prstGeom prst="rect">
            <a:avLst/>
          </a:prstGeom>
        </p:spPr>
      </p:pic>
      <p:cxnSp>
        <p:nvCxnSpPr>
          <p:cNvPr id="9" name="Buet forbindelse 8">
            <a:extLst>
              <a:ext uri="{FF2B5EF4-FFF2-40B4-BE49-F238E27FC236}">
                <a16:creationId xmlns:a16="http://schemas.microsoft.com/office/drawing/2014/main" id="{5E504007-2BD7-A53F-EED2-C46238A52482}"/>
              </a:ext>
            </a:extLst>
          </p:cNvPr>
          <p:cNvCxnSpPr>
            <a:cxnSpLocks/>
          </p:cNvCxnSpPr>
          <p:nvPr/>
        </p:nvCxnSpPr>
        <p:spPr>
          <a:xfrm flipV="1">
            <a:off x="4700789" y="2439434"/>
            <a:ext cx="1558346" cy="1089377"/>
          </a:xfrm>
          <a:prstGeom prst="curvedConnector3">
            <a:avLst>
              <a:gd name="adj1" fmla="val 62397"/>
            </a:avLst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484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3164</TotalTime>
  <Words>803</Words>
  <Application>Microsoft Macintosh PowerPoint</Application>
  <PresentationFormat>Widescreen</PresentationFormat>
  <Paragraphs>128</Paragraphs>
  <Slides>14</Slides>
  <Notes>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Noto Sans</vt:lpstr>
      <vt:lpstr>Wingdings</vt:lpstr>
      <vt:lpstr>Office-tema</vt:lpstr>
      <vt:lpstr>Finding/Designing highly active catalysts with genAI</vt:lpstr>
      <vt:lpstr>Outline</vt:lpstr>
      <vt:lpstr>Problem introduction</vt:lpstr>
      <vt:lpstr>Motivation</vt:lpstr>
      <vt:lpstr>Motivation</vt:lpstr>
      <vt:lpstr>Motivation</vt:lpstr>
      <vt:lpstr>Detailed description</vt:lpstr>
      <vt:lpstr>PowerPoint-præsentation</vt:lpstr>
      <vt:lpstr>Detailed description</vt:lpstr>
      <vt:lpstr>Detailed description</vt:lpstr>
      <vt:lpstr>PowerPoint-præsentation</vt:lpstr>
      <vt:lpstr>Preliminary results –  Random search</vt:lpstr>
      <vt:lpstr>Preliminary results – Bayesian vs. Random search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14</cp:revision>
  <dcterms:created xsi:type="dcterms:W3CDTF">2025-09-30T08:29:08Z</dcterms:created>
  <dcterms:modified xsi:type="dcterms:W3CDTF">2026-02-27T09:13:53Z</dcterms:modified>
</cp:coreProperties>
</file>