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986" r:id="rId4"/>
    <p:sldId id="987" r:id="rId5"/>
    <p:sldId id="1002" r:id="rId6"/>
    <p:sldId id="990" r:id="rId7"/>
    <p:sldId id="989" r:id="rId8"/>
    <p:sldId id="259" r:id="rId9"/>
    <p:sldId id="994" r:id="rId10"/>
    <p:sldId id="993" r:id="rId11"/>
    <p:sldId id="995" r:id="rId12"/>
    <p:sldId id="996" r:id="rId13"/>
    <p:sldId id="997" r:id="rId14"/>
    <p:sldId id="999" r:id="rId15"/>
    <p:sldId id="1000" r:id="rId16"/>
    <p:sldId id="998" r:id="rId17"/>
    <p:sldId id="258" r:id="rId18"/>
    <p:sldId id="1001" r:id="rId19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900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C6DB91-759A-9110-9A8A-2CED22F0E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A6A3EAD-4E79-A0C8-DA1C-8BF718EFC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D8D0509-DB65-DED5-545B-8607D9E7F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B7ED7-426B-449D-9ABA-D90F5EFE8362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4D03BCB-B8F2-8941-3846-5E41E1E13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E352683-284B-E6A5-CC55-3C7AFC5C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9316-4385-4CBE-9829-416B8DEF6B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659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9CA43-1774-5560-3304-7CEAB557B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58D1D9E-1BA6-7EE8-4CA4-35A977A53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DDFFC17-8AD3-0E8C-CFCC-00571A0DE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B7ED7-426B-449D-9ABA-D90F5EFE8362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AFDDE10-84E4-45EF-DB39-9C1206B2B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4F0556D-D616-5F81-6221-CFF0A339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9316-4385-4CBE-9829-416B8DEF6B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05919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123B17-8C8C-78A0-F894-588B25D44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0F9A5772-D745-854C-E3B1-6639723A2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36B6A9DA-3D15-B870-D9F9-C61CFE9A8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B7ED7-426B-449D-9ABA-D90F5EFE8362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4D64DAF-FF16-A101-CC92-E19366513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A2560B0-09CA-23FF-43DF-7D0F12F15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9316-4385-4CBE-9829-416B8DEF6B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358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0C02CD-85CF-5BCE-1BCB-75E3F76AB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61B6734-0259-C8D5-B9A4-EE9693604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9865046-15F1-53C2-C4FC-F386EC688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E49767C-7093-7AAE-49F0-EF31C408F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B7ED7-426B-449D-9ABA-D90F5EFE8362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B7DD2077-ADCE-15B3-2154-DA260BB7E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5994B51-DAD6-3700-018B-FCFFDCCA6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9316-4385-4CBE-9829-416B8DEF6B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8432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E82397-37E1-6F43-1D3E-1876E581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8AFD27D-F380-3D9B-F19A-91540BB13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25F959F9-AD03-72B8-08BB-62CB1B0F3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BF428DCE-DB5E-12C5-F3AE-CD92D79E8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490D69F-E09C-34B4-A4A5-8B6E08973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74CF058-DDD6-ED6F-84FC-E5FE8887F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B7ED7-426B-449D-9ABA-D90F5EFE8362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7E0C192-FE7D-9900-8860-E165C5B8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A22C1E3F-F31F-3882-16B5-594F1C2F7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9316-4385-4CBE-9829-416B8DEF6B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0278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F57BBD-7C45-B236-488C-3ED55D815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D0B3488-A42B-A5FE-1359-CC317ABEE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B7ED7-426B-449D-9ABA-D90F5EFE8362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7D6115D-4D81-2EAA-1DB4-A5815FDA0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33EE19C0-6A02-C1F4-8ED4-672BB015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9316-4385-4CBE-9829-416B8DEF6B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084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D2C5893-AE55-DBB6-9F84-84440AAD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B7ED7-426B-449D-9ABA-D90F5EFE8362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1E7706C1-3498-A98F-010B-AE415FD5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AD76011-0648-31AF-D34F-FD7A6951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9316-4385-4CBE-9829-416B8DEF6B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03858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B80619-7658-139A-D2DC-87618EDC8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11E6F7-F92A-9B5E-B487-1FBE93474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C9240FF-AAA5-92E4-6EC1-B6B93AAA2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E0FE838-9027-ACAA-4D96-BA13416D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B7ED7-426B-449D-9ABA-D90F5EFE8362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9A415C2-9D71-8106-AE04-D2ED8DB2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F9F1256-E864-97A8-1CE2-549BE35A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9316-4385-4CBE-9829-416B8DEF6B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365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7867D4-9303-C76A-1147-391572728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B3017FF-39EA-8269-7160-5EE4FBF42D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60888D09-C5C2-058B-07E5-382F781EF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378F59F-B429-D034-37A4-E6261429E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B7ED7-426B-449D-9ABA-D90F5EFE8362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9235423-DDF7-C193-895B-FA858DD22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84373E5-DB59-7EF3-A4FC-280758E7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9316-4385-4CBE-9829-416B8DEF6B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02682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7B2ACB-D6D3-D03A-B8C4-AA85B7AE1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8EA0F79-C780-6793-E2C4-7C024BC9D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994086F-4823-FD23-8D36-C1893BCB4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B7ED7-426B-449D-9ABA-D90F5EFE8362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94C3563-F5A2-AAA2-7A07-9EB03E4F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1B4CD9D-6782-8BE6-4AEE-CFE215682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9316-4385-4CBE-9829-416B8DEF6B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8108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5C356248-571D-D19A-6F8E-DF80ACEB8F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A9281A39-FF1B-61AE-E78B-641FB4ADD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90F702E-416D-89C6-F2D6-36D799027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B7ED7-426B-449D-9ABA-D90F5EFE8362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6E1352D-BC03-1A6C-6BF8-E98D0D2E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354B83D-472F-2A3D-D62E-64EE058D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99316-4385-4CBE-9829-416B8DEF6B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938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6E7A56D4-A386-B3D0-B781-265A1191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59E2816-88B6-584F-2346-2A32EEC4F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E08749B-A2C9-046D-5BDD-184B612AA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0B7ED7-426B-449D-9ABA-D90F5EFE8362}" type="datetimeFigureOut">
              <a:rPr lang="da-DK" smtClean="0"/>
              <a:t>18-02-2026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53DEE0C-7DE8-36C9-F167-D7DA922890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B98080B-B419-56A2-4B81-8C0DC68B8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099316-4385-4CBE-9829-416B8DEF6B95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2421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2.png"/><Relationship Id="rId7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4" Type="http://schemas.openxmlformats.org/officeDocument/2006/relationships/image" Target="../media/image2.png"/><Relationship Id="rId9" Type="http://schemas.openxmlformats.org/officeDocument/2006/relationships/image" Target="../media/image8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png"/><Relationship Id="rId3" Type="http://schemas.openxmlformats.org/officeDocument/2006/relationships/image" Target="../media/image4.png"/><Relationship Id="rId12" Type="http://schemas.openxmlformats.org/officeDocument/2006/relationships/image" Target="../media/image93.png"/><Relationship Id="rId2" Type="http://schemas.openxmlformats.org/officeDocument/2006/relationships/image" Target="../media/image92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5.png"/><Relationship Id="rId15" Type="http://schemas.openxmlformats.org/officeDocument/2006/relationships/image" Target="../media/image97.png"/><Relationship Id="rId10" Type="http://schemas.openxmlformats.org/officeDocument/2006/relationships/image" Target="../media/image22.png"/><Relationship Id="rId9" Type="http://schemas.openxmlformats.org/officeDocument/2006/relationships/image" Target="../media/image630.png"/><Relationship Id="rId14" Type="http://schemas.openxmlformats.org/officeDocument/2006/relationships/image" Target="../media/image9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4.png"/><Relationship Id="rId12" Type="http://schemas.openxmlformats.org/officeDocument/2006/relationships/image" Target="../media/image25.png"/><Relationship Id="rId2" Type="http://schemas.openxmlformats.org/officeDocument/2006/relationships/image" Target="../media/image23.png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4.png"/><Relationship Id="rId15" Type="http://schemas.openxmlformats.org/officeDocument/2006/relationships/image" Target="../media/image97.png"/><Relationship Id="rId10" Type="http://schemas.openxmlformats.org/officeDocument/2006/relationships/image" Target="../media/image22.png"/><Relationship Id="rId9" Type="http://schemas.openxmlformats.org/officeDocument/2006/relationships/image" Target="../media/image630.png"/><Relationship Id="rId14" Type="http://schemas.openxmlformats.org/officeDocument/2006/relationships/image" Target="../media/image9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F21CE0-F150-D318-9FF9-8FD016F27A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Diffusion models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644709E0-F197-73C8-A319-2465ECEB1D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Part 4</a:t>
            </a:r>
          </a:p>
        </p:txBody>
      </p:sp>
    </p:spTree>
    <p:extLst>
      <p:ext uri="{BB962C8B-B14F-4D97-AF65-F5344CB8AC3E}">
        <p14:creationId xmlns:p14="http://schemas.microsoft.com/office/powerpoint/2010/main" val="2997347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85233D-1166-7A45-6736-EEBA35C5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Outline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0A665B2-40EF-41A2-1193-C18314D35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Summary of </a:t>
            </a:r>
            <a:r>
              <a:rPr lang="da-DK" dirty="0" err="1"/>
              <a:t>where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left</a:t>
            </a:r>
            <a:r>
              <a:rPr lang="da-DK" dirty="0"/>
              <a:t> of last time</a:t>
            </a:r>
          </a:p>
          <a:p>
            <a:r>
              <a:rPr lang="da-DK" dirty="0" err="1"/>
              <a:t>Identifying</a:t>
            </a:r>
            <a:r>
              <a:rPr lang="da-DK" dirty="0"/>
              <a:t> the problem</a:t>
            </a:r>
          </a:p>
          <a:p>
            <a:r>
              <a:rPr lang="da-DK" dirty="0"/>
              <a:t>New </a:t>
            </a:r>
            <a:r>
              <a:rPr lang="da-DK" dirty="0" err="1"/>
              <a:t>findings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29080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146C8E-532B-7F1D-7C12-AC9C5ACAB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Identifying</a:t>
            </a:r>
            <a:r>
              <a:rPr lang="da-DK" dirty="0"/>
              <a:t> the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8D434D2C-6B67-3D81-FA93-3C830D4AF2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9630" y="1347122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Started </a:t>
                </a:r>
                <a:r>
                  <a:rPr lang="da-DK" dirty="0" err="1"/>
                  <a:t>testing</a:t>
                </a:r>
                <a:r>
                  <a:rPr lang="da-DK" dirty="0"/>
                  <a:t> the GNN backbone </a:t>
                </a:r>
                <a:r>
                  <a:rPr lang="da-DK" dirty="0" err="1"/>
                  <a:t>seperately</a:t>
                </a:r>
                <a:endParaRPr lang="da-DK" dirty="0"/>
              </a:p>
              <a:p>
                <a:pPr lvl="1"/>
                <a:r>
                  <a:rPr lang="da-DK" dirty="0" err="1"/>
                  <a:t>Should</a:t>
                </a:r>
                <a:r>
                  <a:rPr lang="da-DK" dirty="0"/>
                  <a:t> </a:t>
                </a:r>
                <a:r>
                  <a:rPr lang="da-DK" dirty="0" err="1"/>
                  <a:t>be</a:t>
                </a:r>
                <a:r>
                  <a:rPr lang="da-DK" dirty="0"/>
                  <a:t> </a:t>
                </a:r>
                <a:r>
                  <a:rPr lang="da-DK" dirty="0" err="1"/>
                  <a:t>able</a:t>
                </a:r>
                <a:r>
                  <a:rPr lang="da-DK" dirty="0"/>
                  <a:t> to </a:t>
                </a:r>
                <a:r>
                  <a:rPr lang="da-DK" dirty="0" err="1"/>
                  <a:t>predict</a:t>
                </a:r>
                <a:r>
                  <a:rPr lang="da-DK" dirty="0"/>
                  <a:t> rates </a:t>
                </a:r>
                <a:r>
                  <a:rPr lang="da-DK" dirty="0" err="1"/>
                  <a:t>if</a:t>
                </a:r>
                <a:r>
                  <a:rPr lang="da-DK" dirty="0"/>
                  <a:t> it </a:t>
                </a:r>
                <a:r>
                  <a:rPr lang="da-DK" dirty="0" err="1"/>
                  <a:t>can</a:t>
                </a:r>
                <a:r>
                  <a:rPr lang="da-DK" dirty="0"/>
                  <a:t> </a:t>
                </a:r>
                <a:r>
                  <a:rPr lang="da-DK" dirty="0" err="1"/>
                  <a:t>distinguish</a:t>
                </a:r>
                <a:endParaRPr lang="da-DK" dirty="0"/>
              </a:p>
              <a:p>
                <a:pPr lvl="1"/>
                <a:r>
                  <a:rPr lang="da-DK" dirty="0"/>
                  <a:t>Pool by </a:t>
                </a:r>
                <a:r>
                  <a:rPr lang="da-DK" dirty="0" err="1"/>
                  <a:t>mean</a:t>
                </a:r>
                <a:r>
                  <a:rPr lang="da-DK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𝑔𝑙𝑜𝑏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8D434D2C-6B67-3D81-FA93-3C830D4AF2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9630" y="1347122"/>
                <a:ext cx="10515600" cy="4351338"/>
              </a:xfrm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llipse 13">
            <a:extLst>
              <a:ext uri="{FF2B5EF4-FFF2-40B4-BE49-F238E27FC236}">
                <a16:creationId xmlns:a16="http://schemas.microsoft.com/office/drawing/2014/main" id="{F236B3AF-187D-6954-466E-FC862BED0C93}"/>
              </a:ext>
            </a:extLst>
          </p:cNvPr>
          <p:cNvSpPr/>
          <p:nvPr/>
        </p:nvSpPr>
        <p:spPr>
          <a:xfrm>
            <a:off x="5284376" y="4476320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858B6FA2-2B49-CAFF-B5B6-9CD777098538}"/>
              </a:ext>
            </a:extLst>
          </p:cNvPr>
          <p:cNvSpPr/>
          <p:nvPr/>
        </p:nvSpPr>
        <p:spPr>
          <a:xfrm rot="18910962">
            <a:off x="6445902" y="3847091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08BD269-9530-2D71-2536-FE4DEDF95411}"/>
              </a:ext>
            </a:extLst>
          </p:cNvPr>
          <p:cNvSpPr/>
          <p:nvPr/>
        </p:nvSpPr>
        <p:spPr>
          <a:xfrm rot="915767">
            <a:off x="6418411" y="4698989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A6B658B-FE7A-C9C9-8A05-220A2C39BA58}"/>
              </a:ext>
            </a:extLst>
          </p:cNvPr>
          <p:cNvSpPr/>
          <p:nvPr/>
        </p:nvSpPr>
        <p:spPr>
          <a:xfrm rot="20911658">
            <a:off x="7332811" y="5181478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13901B3-A068-D750-35AB-0265E6BCB1DA}"/>
              </a:ext>
            </a:extLst>
          </p:cNvPr>
          <p:cNvSpPr/>
          <p:nvPr/>
        </p:nvSpPr>
        <p:spPr>
          <a:xfrm rot="20573567">
            <a:off x="7692746" y="3723181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19" name="Lige forbindelse 18">
            <a:extLst>
              <a:ext uri="{FF2B5EF4-FFF2-40B4-BE49-F238E27FC236}">
                <a16:creationId xmlns:a16="http://schemas.microsoft.com/office/drawing/2014/main" id="{43F302BE-AB10-068E-9D1D-8CFDC9B16ACE}"/>
              </a:ext>
            </a:extLst>
          </p:cNvPr>
          <p:cNvCxnSpPr>
            <a:stCxn id="14" idx="7"/>
            <a:endCxn id="15" idx="2"/>
          </p:cNvCxnSpPr>
          <p:nvPr/>
        </p:nvCxnSpPr>
        <p:spPr>
          <a:xfrm flipV="1">
            <a:off x="5689414" y="4251593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44DFC3E0-6728-8B63-9456-787C7643D0CB}"/>
              </a:ext>
            </a:extLst>
          </p:cNvPr>
          <p:cNvCxnSpPr>
            <a:cxnSpLocks/>
            <a:stCxn id="14" idx="6"/>
            <a:endCxn id="16" idx="2"/>
          </p:cNvCxnSpPr>
          <p:nvPr/>
        </p:nvCxnSpPr>
        <p:spPr>
          <a:xfrm>
            <a:off x="5758907" y="4713586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3A00D787-5858-704B-E033-13BCFC5C1BC8}"/>
              </a:ext>
            </a:extLst>
          </p:cNvPr>
          <p:cNvCxnSpPr>
            <a:cxnSpLocks/>
            <a:stCxn id="15" idx="3"/>
            <a:endCxn id="16" idx="0"/>
          </p:cNvCxnSpPr>
          <p:nvPr/>
        </p:nvCxnSpPr>
        <p:spPr>
          <a:xfrm>
            <a:off x="6682411" y="4321621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ge forbindelse 21">
            <a:extLst>
              <a:ext uri="{FF2B5EF4-FFF2-40B4-BE49-F238E27FC236}">
                <a16:creationId xmlns:a16="http://schemas.microsoft.com/office/drawing/2014/main" id="{970074DE-46E4-43CC-99DC-C863DE98C66C}"/>
              </a:ext>
            </a:extLst>
          </p:cNvPr>
          <p:cNvCxnSpPr>
            <a:cxnSpLocks/>
            <a:stCxn id="18" idx="2"/>
            <a:endCxn id="15" idx="5"/>
          </p:cNvCxnSpPr>
          <p:nvPr/>
        </p:nvCxnSpPr>
        <p:spPr>
          <a:xfrm flipH="1">
            <a:off x="6920432" y="4030241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5BC310E3-0613-FCA6-298F-5EA2B8618CCB}"/>
              </a:ext>
            </a:extLst>
          </p:cNvPr>
          <p:cNvCxnSpPr>
            <a:cxnSpLocks/>
            <a:stCxn id="17" idx="1"/>
            <a:endCxn id="16" idx="6"/>
          </p:cNvCxnSpPr>
          <p:nvPr/>
        </p:nvCxnSpPr>
        <p:spPr>
          <a:xfrm flipH="1" flipV="1">
            <a:off x="6884573" y="4998714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Buet forbindelse 28">
            <a:extLst>
              <a:ext uri="{FF2B5EF4-FFF2-40B4-BE49-F238E27FC236}">
                <a16:creationId xmlns:a16="http://schemas.microsoft.com/office/drawing/2014/main" id="{D5772526-3DA8-095E-1F06-EBA8B68AFE3E}"/>
              </a:ext>
            </a:extLst>
          </p:cNvPr>
          <p:cNvCxnSpPr>
            <a:cxnSpLocks/>
            <a:stCxn id="15" idx="1"/>
            <a:endCxn id="14" idx="0"/>
          </p:cNvCxnSpPr>
          <p:nvPr/>
        </p:nvCxnSpPr>
        <p:spPr>
          <a:xfrm rot="16200000" flipH="1" flipV="1">
            <a:off x="5787413" y="3817829"/>
            <a:ext cx="392720" cy="924261"/>
          </a:xfrm>
          <a:prstGeom prst="curvedConnector3">
            <a:avLst>
              <a:gd name="adj1" fmla="val 82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Buet forbindelse 29">
            <a:extLst>
              <a:ext uri="{FF2B5EF4-FFF2-40B4-BE49-F238E27FC236}">
                <a16:creationId xmlns:a16="http://schemas.microsoft.com/office/drawing/2014/main" id="{F65B4678-FD8D-49F3-92A0-4F5C0C88AA52}"/>
              </a:ext>
            </a:extLst>
          </p:cNvPr>
          <p:cNvCxnSpPr>
            <a:cxnSpLocks/>
            <a:stCxn id="16" idx="4"/>
            <a:endCxn id="14" idx="4"/>
          </p:cNvCxnSpPr>
          <p:nvPr/>
        </p:nvCxnSpPr>
        <p:spPr>
          <a:xfrm rot="5400000" flipH="1">
            <a:off x="5950280" y="4522213"/>
            <a:ext cx="214300" cy="1071576"/>
          </a:xfrm>
          <a:prstGeom prst="curvedConnector3">
            <a:avLst>
              <a:gd name="adj1" fmla="val -1105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1C3BEE2F-2EEA-9C21-7B2A-A5AE8E9E3786}"/>
                  </a:ext>
                </a:extLst>
              </p:cNvPr>
              <p:cNvSpPr txBox="1"/>
              <p:nvPr/>
            </p:nvSpPr>
            <p:spPr>
              <a:xfrm>
                <a:off x="1258103" y="5896739"/>
                <a:ext cx="15553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Input </a:t>
                </a:r>
                <a:r>
                  <a:rPr lang="da-DK" dirty="0" err="1"/>
                  <a:t>graph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1C3BEE2F-2EEA-9C21-7B2A-A5AE8E9E3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103" y="5896739"/>
                <a:ext cx="1555362" cy="369332"/>
              </a:xfrm>
              <a:prstGeom prst="rect">
                <a:avLst/>
              </a:prstGeom>
              <a:blipFill>
                <a:blip r:embed="rId3"/>
                <a:stretch>
                  <a:fillRect l="-2419" t="-6667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Lige pilforbindelse 31">
            <a:extLst>
              <a:ext uri="{FF2B5EF4-FFF2-40B4-BE49-F238E27FC236}">
                <a16:creationId xmlns:a16="http://schemas.microsoft.com/office/drawing/2014/main" id="{A537C60D-282D-2E3B-36CB-E50517423F94}"/>
              </a:ext>
            </a:extLst>
          </p:cNvPr>
          <p:cNvCxnSpPr>
            <a:cxnSpLocks/>
          </p:cNvCxnSpPr>
          <p:nvPr/>
        </p:nvCxnSpPr>
        <p:spPr>
          <a:xfrm>
            <a:off x="4004836" y="4708937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ktangel 32">
            <a:extLst>
              <a:ext uri="{FF2B5EF4-FFF2-40B4-BE49-F238E27FC236}">
                <a16:creationId xmlns:a16="http://schemas.microsoft.com/office/drawing/2014/main" id="{5B3A6E93-7B25-DEA3-E6D4-692A7FFB0E40}"/>
              </a:ext>
            </a:extLst>
          </p:cNvPr>
          <p:cNvSpPr/>
          <p:nvPr/>
        </p:nvSpPr>
        <p:spPr>
          <a:xfrm>
            <a:off x="5182376" y="3688527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34" name="Rektangel 33">
            <a:extLst>
              <a:ext uri="{FF2B5EF4-FFF2-40B4-BE49-F238E27FC236}">
                <a16:creationId xmlns:a16="http://schemas.microsoft.com/office/drawing/2014/main" id="{18F88AD0-06D3-F569-B30D-E00453042761}"/>
              </a:ext>
            </a:extLst>
          </p:cNvPr>
          <p:cNvSpPr/>
          <p:nvPr/>
        </p:nvSpPr>
        <p:spPr>
          <a:xfrm>
            <a:off x="5182376" y="3893151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5" name="Rektangel 34">
            <a:extLst>
              <a:ext uri="{FF2B5EF4-FFF2-40B4-BE49-F238E27FC236}">
                <a16:creationId xmlns:a16="http://schemas.microsoft.com/office/drawing/2014/main" id="{CB5C294B-9FD2-91B8-06AA-577FE23E98A7}"/>
              </a:ext>
            </a:extLst>
          </p:cNvPr>
          <p:cNvSpPr/>
          <p:nvPr/>
        </p:nvSpPr>
        <p:spPr>
          <a:xfrm>
            <a:off x="5181462" y="4096241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6" name="Rektangel 35">
            <a:extLst>
              <a:ext uri="{FF2B5EF4-FFF2-40B4-BE49-F238E27FC236}">
                <a16:creationId xmlns:a16="http://schemas.microsoft.com/office/drawing/2014/main" id="{840C5006-CAE4-6C5D-CC0F-78DC4B16864D}"/>
              </a:ext>
            </a:extLst>
          </p:cNvPr>
          <p:cNvSpPr/>
          <p:nvPr/>
        </p:nvSpPr>
        <p:spPr>
          <a:xfrm>
            <a:off x="6844574" y="3429684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37" name="Rektangel 36">
            <a:extLst>
              <a:ext uri="{FF2B5EF4-FFF2-40B4-BE49-F238E27FC236}">
                <a16:creationId xmlns:a16="http://schemas.microsoft.com/office/drawing/2014/main" id="{B81B56F8-20EE-E34A-BE0E-F693D69F8397}"/>
              </a:ext>
            </a:extLst>
          </p:cNvPr>
          <p:cNvSpPr/>
          <p:nvPr/>
        </p:nvSpPr>
        <p:spPr>
          <a:xfrm>
            <a:off x="6844574" y="3226594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8" name="Rektangel 37">
            <a:extLst>
              <a:ext uri="{FF2B5EF4-FFF2-40B4-BE49-F238E27FC236}">
                <a16:creationId xmlns:a16="http://schemas.microsoft.com/office/drawing/2014/main" id="{27DE0419-B102-7676-B2C6-E08CBEC2F25D}"/>
              </a:ext>
            </a:extLst>
          </p:cNvPr>
          <p:cNvSpPr/>
          <p:nvPr/>
        </p:nvSpPr>
        <p:spPr>
          <a:xfrm>
            <a:off x="6844574" y="3610350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9" name="Lige pilforbindelse 38">
            <a:extLst>
              <a:ext uri="{FF2B5EF4-FFF2-40B4-BE49-F238E27FC236}">
                <a16:creationId xmlns:a16="http://schemas.microsoft.com/office/drawing/2014/main" id="{CDE56A80-3265-93AC-25A9-55A0973052D6}"/>
              </a:ext>
            </a:extLst>
          </p:cNvPr>
          <p:cNvCxnSpPr>
            <a:cxnSpLocks/>
          </p:cNvCxnSpPr>
          <p:nvPr/>
        </p:nvCxnSpPr>
        <p:spPr>
          <a:xfrm>
            <a:off x="8226574" y="4778005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kstfelt 43">
            <a:extLst>
              <a:ext uri="{FF2B5EF4-FFF2-40B4-BE49-F238E27FC236}">
                <a16:creationId xmlns:a16="http://schemas.microsoft.com/office/drawing/2014/main" id="{47CFEE32-13E1-DE77-3CF1-7E1516C8E4C3}"/>
              </a:ext>
            </a:extLst>
          </p:cNvPr>
          <p:cNvSpPr txBox="1"/>
          <p:nvPr/>
        </p:nvSpPr>
        <p:spPr>
          <a:xfrm>
            <a:off x="4620761" y="5846544"/>
            <a:ext cx="4188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Do message </a:t>
            </a:r>
            <a:r>
              <a:rPr lang="da-DK" dirty="0" err="1"/>
              <a:t>passing</a:t>
            </a:r>
            <a:r>
              <a:rPr lang="da-DK" dirty="0"/>
              <a:t> and </a:t>
            </a:r>
            <a:r>
              <a:rPr lang="da-DK" dirty="0" err="1"/>
              <a:t>finally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MLP</a:t>
            </a:r>
            <a:br>
              <a:rPr lang="da-DK" dirty="0"/>
            </a:br>
            <a:r>
              <a:rPr lang="da-DK" dirty="0"/>
              <a:t>to </a:t>
            </a:r>
            <a:r>
              <a:rPr lang="da-DK" dirty="0" err="1"/>
              <a:t>predict</a:t>
            </a:r>
            <a:r>
              <a:rPr lang="da-DK" dirty="0"/>
              <a:t> rate of </a:t>
            </a:r>
            <a:r>
              <a:rPr lang="da-DK" dirty="0" err="1"/>
              <a:t>i’th</a:t>
            </a:r>
            <a:r>
              <a:rPr lang="da-DK" dirty="0"/>
              <a:t> atom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kstfelt 45">
                <a:extLst>
                  <a:ext uri="{FF2B5EF4-FFF2-40B4-BE49-F238E27FC236}">
                    <a16:creationId xmlns:a16="http://schemas.microsoft.com/office/drawing/2014/main" id="{C859F6E4-FAB1-A07E-8113-4F6EF4585A5B}"/>
                  </a:ext>
                </a:extLst>
              </p:cNvPr>
              <p:cNvSpPr txBox="1"/>
              <p:nvPr/>
            </p:nvSpPr>
            <p:spPr>
              <a:xfrm>
                <a:off x="9011513" y="4582054"/>
                <a:ext cx="1843646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𝑔𝑙𝑜𝑏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46" name="Tekstfelt 45">
                <a:extLst>
                  <a:ext uri="{FF2B5EF4-FFF2-40B4-BE49-F238E27FC236}">
                    <a16:creationId xmlns:a16="http://schemas.microsoft.com/office/drawing/2014/main" id="{C859F6E4-FAB1-A07E-8113-4F6EF4585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1513" y="4582054"/>
                <a:ext cx="1843646" cy="39190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kstfelt 47">
            <a:extLst>
              <a:ext uri="{FF2B5EF4-FFF2-40B4-BE49-F238E27FC236}">
                <a16:creationId xmlns:a16="http://schemas.microsoft.com/office/drawing/2014/main" id="{4FB829B3-D8F2-F087-D3A9-877B3C9B6880}"/>
              </a:ext>
            </a:extLst>
          </p:cNvPr>
          <p:cNvSpPr txBox="1"/>
          <p:nvPr/>
        </p:nvSpPr>
        <p:spPr>
          <a:xfrm>
            <a:off x="9286572" y="5846064"/>
            <a:ext cx="23770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Sum the </a:t>
            </a:r>
            <a:r>
              <a:rPr lang="da-DK" dirty="0" err="1"/>
              <a:t>individual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/>
              <a:t>rates to </a:t>
            </a:r>
            <a:r>
              <a:rPr lang="da-DK" dirty="0" err="1"/>
              <a:t>get</a:t>
            </a:r>
            <a:r>
              <a:rPr lang="da-DK" dirty="0"/>
              <a:t> global rate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0986E0DA-F9B3-BD78-D3FA-CF7164F726FE}"/>
              </a:ext>
            </a:extLst>
          </p:cNvPr>
          <p:cNvSpPr/>
          <p:nvPr/>
        </p:nvSpPr>
        <p:spPr>
          <a:xfrm>
            <a:off x="921798" y="444715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800AA300-3ECF-168E-2A0E-4B703B41FFF4}"/>
              </a:ext>
            </a:extLst>
          </p:cNvPr>
          <p:cNvSpPr/>
          <p:nvPr/>
        </p:nvSpPr>
        <p:spPr>
          <a:xfrm rot="18910962">
            <a:off x="2083324" y="3817925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5B78D953-125E-AC87-8B39-2F6C651F6A2F}"/>
              </a:ext>
            </a:extLst>
          </p:cNvPr>
          <p:cNvSpPr/>
          <p:nvPr/>
        </p:nvSpPr>
        <p:spPr>
          <a:xfrm rot="915767">
            <a:off x="2055833" y="4669823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9DB57DE0-5035-4FBD-0D84-71F48F6570E6}"/>
              </a:ext>
            </a:extLst>
          </p:cNvPr>
          <p:cNvSpPr/>
          <p:nvPr/>
        </p:nvSpPr>
        <p:spPr>
          <a:xfrm rot="20911658">
            <a:off x="2970233" y="5152312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FC5E2D39-0701-5407-F745-3822E591FCC1}"/>
              </a:ext>
            </a:extLst>
          </p:cNvPr>
          <p:cNvSpPr/>
          <p:nvPr/>
        </p:nvSpPr>
        <p:spPr>
          <a:xfrm rot="20573567">
            <a:off x="3330168" y="3694015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68" name="Lige forbindelse 67">
            <a:extLst>
              <a:ext uri="{FF2B5EF4-FFF2-40B4-BE49-F238E27FC236}">
                <a16:creationId xmlns:a16="http://schemas.microsoft.com/office/drawing/2014/main" id="{FA84F404-9542-5572-D01E-D02EF9200E50}"/>
              </a:ext>
            </a:extLst>
          </p:cNvPr>
          <p:cNvCxnSpPr>
            <a:stCxn id="63" idx="7"/>
            <a:endCxn id="64" idx="2"/>
          </p:cNvCxnSpPr>
          <p:nvPr/>
        </p:nvCxnSpPr>
        <p:spPr>
          <a:xfrm flipV="1">
            <a:off x="1326836" y="4222427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Lige forbindelse 68">
            <a:extLst>
              <a:ext uri="{FF2B5EF4-FFF2-40B4-BE49-F238E27FC236}">
                <a16:creationId xmlns:a16="http://schemas.microsoft.com/office/drawing/2014/main" id="{0004E0D1-8D75-0ADC-F55A-FBC74D76B6D9}"/>
              </a:ext>
            </a:extLst>
          </p:cNvPr>
          <p:cNvCxnSpPr>
            <a:cxnSpLocks/>
            <a:stCxn id="63" idx="6"/>
            <a:endCxn id="65" idx="2"/>
          </p:cNvCxnSpPr>
          <p:nvPr/>
        </p:nvCxnSpPr>
        <p:spPr>
          <a:xfrm>
            <a:off x="1396329" y="4684420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Lige forbindelse 69">
            <a:extLst>
              <a:ext uri="{FF2B5EF4-FFF2-40B4-BE49-F238E27FC236}">
                <a16:creationId xmlns:a16="http://schemas.microsoft.com/office/drawing/2014/main" id="{B9F492C1-F137-CB7F-B8E3-ACEBA9F265D1}"/>
              </a:ext>
            </a:extLst>
          </p:cNvPr>
          <p:cNvCxnSpPr>
            <a:cxnSpLocks/>
            <a:stCxn id="64" idx="3"/>
            <a:endCxn id="65" idx="0"/>
          </p:cNvCxnSpPr>
          <p:nvPr/>
        </p:nvCxnSpPr>
        <p:spPr>
          <a:xfrm>
            <a:off x="2319833" y="4292455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ige forbindelse 70">
            <a:extLst>
              <a:ext uri="{FF2B5EF4-FFF2-40B4-BE49-F238E27FC236}">
                <a16:creationId xmlns:a16="http://schemas.microsoft.com/office/drawing/2014/main" id="{AC56DF16-EAB9-A042-078D-53B05F7F85D1}"/>
              </a:ext>
            </a:extLst>
          </p:cNvPr>
          <p:cNvCxnSpPr>
            <a:cxnSpLocks/>
            <a:stCxn id="67" idx="2"/>
            <a:endCxn id="64" idx="5"/>
          </p:cNvCxnSpPr>
          <p:nvPr/>
        </p:nvCxnSpPr>
        <p:spPr>
          <a:xfrm flipH="1">
            <a:off x="2557854" y="4001075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Lige forbindelse 71">
            <a:extLst>
              <a:ext uri="{FF2B5EF4-FFF2-40B4-BE49-F238E27FC236}">
                <a16:creationId xmlns:a16="http://schemas.microsoft.com/office/drawing/2014/main" id="{FFA7A2AD-A635-4DAE-3EBF-B31E1E5F7827}"/>
              </a:ext>
            </a:extLst>
          </p:cNvPr>
          <p:cNvCxnSpPr>
            <a:cxnSpLocks/>
            <a:stCxn id="66" idx="1"/>
            <a:endCxn id="65" idx="6"/>
          </p:cNvCxnSpPr>
          <p:nvPr/>
        </p:nvCxnSpPr>
        <p:spPr>
          <a:xfrm flipH="1" flipV="1">
            <a:off x="2521995" y="4969548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kstfelt 72">
                <a:extLst>
                  <a:ext uri="{FF2B5EF4-FFF2-40B4-BE49-F238E27FC236}">
                    <a16:creationId xmlns:a16="http://schemas.microsoft.com/office/drawing/2014/main" id="{B68D1635-9059-6EC6-5CE7-3D1649223B64}"/>
                  </a:ext>
                </a:extLst>
              </p:cNvPr>
              <p:cNvSpPr txBox="1"/>
              <p:nvPr/>
            </p:nvSpPr>
            <p:spPr>
              <a:xfrm>
                <a:off x="1295709" y="3127678"/>
                <a:ext cx="1494383" cy="467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3" name="Tekstfelt 72">
                <a:extLst>
                  <a:ext uri="{FF2B5EF4-FFF2-40B4-BE49-F238E27FC236}">
                    <a16:creationId xmlns:a16="http://schemas.microsoft.com/office/drawing/2014/main" id="{B68D1635-9059-6EC6-5CE7-3D1649223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709" y="3127678"/>
                <a:ext cx="1494383" cy="467500"/>
              </a:xfrm>
              <a:prstGeom prst="rect">
                <a:avLst/>
              </a:prstGeom>
              <a:blipFill>
                <a:blip r:embed="rId6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kstfelt 73">
                <a:extLst>
                  <a:ext uri="{FF2B5EF4-FFF2-40B4-BE49-F238E27FC236}">
                    <a16:creationId xmlns:a16="http://schemas.microsoft.com/office/drawing/2014/main" id="{0E4E7D8D-23BD-1E2B-7605-5153EB6929AB}"/>
                  </a:ext>
                </a:extLst>
              </p:cNvPr>
              <p:cNvSpPr txBox="1"/>
              <p:nvPr/>
            </p:nvSpPr>
            <p:spPr>
              <a:xfrm>
                <a:off x="38652" y="3856634"/>
                <a:ext cx="1494383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4" name="Tekstfelt 73">
                <a:extLst>
                  <a:ext uri="{FF2B5EF4-FFF2-40B4-BE49-F238E27FC236}">
                    <a16:creationId xmlns:a16="http://schemas.microsoft.com/office/drawing/2014/main" id="{0E4E7D8D-23BD-1E2B-7605-5153EB692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2" y="3856634"/>
                <a:ext cx="1494383" cy="467564"/>
              </a:xfrm>
              <a:prstGeom prst="rect">
                <a:avLst/>
              </a:prstGeom>
              <a:blipFill>
                <a:blip r:embed="rId7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kstfelt 74">
                <a:extLst>
                  <a:ext uri="{FF2B5EF4-FFF2-40B4-BE49-F238E27FC236}">
                    <a16:creationId xmlns:a16="http://schemas.microsoft.com/office/drawing/2014/main" id="{AFCBD7B9-EE2C-5427-D399-3CFA810C8358}"/>
                  </a:ext>
                </a:extLst>
              </p:cNvPr>
              <p:cNvSpPr txBox="1"/>
              <p:nvPr/>
            </p:nvSpPr>
            <p:spPr>
              <a:xfrm>
                <a:off x="3163882" y="3066150"/>
                <a:ext cx="1548501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5" name="Tekstfelt 74">
                <a:extLst>
                  <a:ext uri="{FF2B5EF4-FFF2-40B4-BE49-F238E27FC236}">
                    <a16:creationId xmlns:a16="http://schemas.microsoft.com/office/drawing/2014/main" id="{AFCBD7B9-EE2C-5427-D399-3CFA810C8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882" y="3066150"/>
                <a:ext cx="1548501" cy="467564"/>
              </a:xfrm>
              <a:prstGeom prst="rect">
                <a:avLst/>
              </a:prstGeom>
              <a:blipFill>
                <a:blip r:embed="rId8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kstfelt 75">
                <a:extLst>
                  <a:ext uri="{FF2B5EF4-FFF2-40B4-BE49-F238E27FC236}">
                    <a16:creationId xmlns:a16="http://schemas.microsoft.com/office/drawing/2014/main" id="{98319F70-2A58-A344-9903-E2B58B89C98F}"/>
                  </a:ext>
                </a:extLst>
              </p:cNvPr>
              <p:cNvSpPr txBox="1"/>
              <p:nvPr/>
            </p:nvSpPr>
            <p:spPr>
              <a:xfrm>
                <a:off x="840054" y="5139837"/>
                <a:ext cx="1494383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76" name="Tekstfelt 75">
                <a:extLst>
                  <a:ext uri="{FF2B5EF4-FFF2-40B4-BE49-F238E27FC236}">
                    <a16:creationId xmlns:a16="http://schemas.microsoft.com/office/drawing/2014/main" id="{98319F70-2A58-A344-9903-E2B58B89C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54" y="5139837"/>
                <a:ext cx="1494383" cy="467564"/>
              </a:xfrm>
              <a:prstGeom prst="rect">
                <a:avLst/>
              </a:prstGeom>
              <a:blipFill>
                <a:blip r:embed="rId9"/>
                <a:stretch>
                  <a:fillRect t="-789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467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EA1E39-0C31-B72D-DA98-5D22455C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Identifying</a:t>
            </a:r>
            <a:r>
              <a:rPr lang="da-DK" dirty="0"/>
              <a:t> the problem</a:t>
            </a:r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C5496FB7-A201-36C9-A760-1FC921F1CC5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This </a:t>
            </a:r>
            <a:r>
              <a:rPr lang="da-DK" dirty="0" err="1"/>
              <a:t>works</a:t>
            </a:r>
            <a:r>
              <a:rPr lang="da-DK" dirty="0"/>
              <a:t>! (</a:t>
            </a:r>
            <a:r>
              <a:rPr lang="da-DK" dirty="0" err="1"/>
              <a:t>somewhat</a:t>
            </a:r>
            <a:r>
              <a:rPr lang="da-DK" dirty="0"/>
              <a:t>)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da-DK" dirty="0"/>
          </a:p>
        </p:txBody>
      </p:sp>
      <p:pic>
        <p:nvPicPr>
          <p:cNvPr id="12" name="Pladsholder til indhold 11" descr="Et billede, der indeholder tekst, diagram, linje/række, skærmbillede&#10;&#10;AI-genereret indhold kan være ukorrekt.">
            <a:extLst>
              <a:ext uri="{FF2B5EF4-FFF2-40B4-BE49-F238E27FC236}">
                <a16:creationId xmlns:a16="http://schemas.microsoft.com/office/drawing/2014/main" id="{D068A891-DB12-C870-6AB7-26E63ED8F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161" y="2141537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5113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52A1F6-0EC9-19C5-369B-1C0FDEDF6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9F3FCA6-F65D-6C32-47F2-024A00072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66350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0B274-5B8F-E35A-EAC7-A1537DB5D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7CDFA8-71E3-1208-62CD-EFE22903E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95" y="32884"/>
            <a:ext cx="10515600" cy="1325563"/>
          </a:xfrm>
        </p:spPr>
        <p:txBody>
          <a:bodyPr/>
          <a:lstStyle/>
          <a:p>
            <a:r>
              <a:rPr lang="da-DK" dirty="0" err="1"/>
              <a:t>Identifying</a:t>
            </a:r>
            <a:r>
              <a:rPr lang="da-DK" dirty="0"/>
              <a:t> the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3FBBC27-B651-7567-CDBA-71145D57F5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61822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How I </a:t>
                </a:r>
                <a:r>
                  <a:rPr lang="da-DK" dirty="0" err="1"/>
                  <a:t>initially</a:t>
                </a:r>
                <a:r>
                  <a:rPr lang="da-DK" dirty="0"/>
                  <a:t> </a:t>
                </a:r>
                <a:r>
                  <a:rPr lang="da-DK" dirty="0" err="1"/>
                  <a:t>attempted</a:t>
                </a:r>
                <a:r>
                  <a:rPr lang="da-DK" dirty="0"/>
                  <a:t> the </a:t>
                </a:r>
                <a:r>
                  <a:rPr lang="da-DK" dirty="0" err="1"/>
                  <a:t>pooling</a:t>
                </a:r>
                <a:r>
                  <a:rPr lang="da-DK" dirty="0"/>
                  <a:t>.</a:t>
                </a:r>
              </a:p>
              <a:p>
                <a:pPr lvl="1"/>
                <a:r>
                  <a:rPr lang="da-DK" dirty="0"/>
                  <a:t>Do message </a:t>
                </a:r>
                <a:r>
                  <a:rPr lang="da-DK" dirty="0" err="1"/>
                  <a:t>passing</a:t>
                </a:r>
                <a:r>
                  <a:rPr lang="da-DK" dirty="0"/>
                  <a:t> as </a:t>
                </a:r>
                <a:r>
                  <a:rPr lang="da-DK" dirty="0" err="1"/>
                  <a:t>before</a:t>
                </a:r>
                <a:r>
                  <a:rPr lang="da-DK" dirty="0"/>
                  <a:t> for </a:t>
                </a:r>
                <a14:m>
                  <m:oMath xmlns:m="http://schemas.openxmlformats.org/officeDocument/2006/math">
                    <m:r>
                      <a:rPr lang="da-DK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da-DK" dirty="0"/>
                  <a:t> iterations</a:t>
                </a:r>
              </a:p>
              <a:p>
                <a:pPr lvl="1"/>
                <a:endParaRPr lang="da-DK" dirty="0"/>
              </a:p>
              <a:p>
                <a:pPr lvl="1"/>
                <a:endParaRPr lang="da-DK" dirty="0"/>
              </a:p>
              <a:p>
                <a:pPr lvl="1"/>
                <a:r>
                  <a:rPr lang="da-DK" dirty="0"/>
                  <a:t>Pool by </a:t>
                </a:r>
                <a:r>
                  <a:rPr lang="da-DK" dirty="0" err="1"/>
                  <a:t>mean</a:t>
                </a:r>
                <a:r>
                  <a:rPr lang="da-DK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𝑔𝑙𝑜𝑏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da-DK" dirty="0"/>
              </a:p>
              <a:p>
                <a:pPr lvl="1"/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93FBBC27-B651-7567-CDBA-71145D57F5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61822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Billede 3">
            <a:extLst>
              <a:ext uri="{FF2B5EF4-FFF2-40B4-BE49-F238E27FC236}">
                <a16:creationId xmlns:a16="http://schemas.microsoft.com/office/drawing/2014/main" id="{4162CA88-7565-D49A-28A6-AC4A67671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00" y="1758448"/>
            <a:ext cx="4303284" cy="917762"/>
          </a:xfrm>
          <a:prstGeom prst="rect">
            <a:avLst/>
          </a:prstGeom>
        </p:spPr>
      </p:pic>
      <p:sp>
        <p:nvSpPr>
          <p:cNvPr id="42" name="Ellipse 41">
            <a:extLst>
              <a:ext uri="{FF2B5EF4-FFF2-40B4-BE49-F238E27FC236}">
                <a16:creationId xmlns:a16="http://schemas.microsoft.com/office/drawing/2014/main" id="{A00A9304-3594-A035-D52C-96E27D55055F}"/>
              </a:ext>
            </a:extLst>
          </p:cNvPr>
          <p:cNvSpPr/>
          <p:nvPr/>
        </p:nvSpPr>
        <p:spPr>
          <a:xfrm>
            <a:off x="4894708" y="4969583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4280D6C3-782A-2DD4-B961-95F0C6B9292C}"/>
              </a:ext>
            </a:extLst>
          </p:cNvPr>
          <p:cNvSpPr/>
          <p:nvPr/>
        </p:nvSpPr>
        <p:spPr>
          <a:xfrm rot="18910962">
            <a:off x="6056234" y="434035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B71D7E41-B5AA-1DED-3D13-11296CCD5785}"/>
              </a:ext>
            </a:extLst>
          </p:cNvPr>
          <p:cNvSpPr/>
          <p:nvPr/>
        </p:nvSpPr>
        <p:spPr>
          <a:xfrm rot="915767">
            <a:off x="6028743" y="5192252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45A6C6FE-E480-70B6-4965-B3450608BD44}"/>
              </a:ext>
            </a:extLst>
          </p:cNvPr>
          <p:cNvSpPr/>
          <p:nvPr/>
        </p:nvSpPr>
        <p:spPr>
          <a:xfrm rot="20911658">
            <a:off x="6943143" y="5674741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38CD4547-241B-CC62-3822-C9FAD6281483}"/>
              </a:ext>
            </a:extLst>
          </p:cNvPr>
          <p:cNvSpPr/>
          <p:nvPr/>
        </p:nvSpPr>
        <p:spPr>
          <a:xfrm rot="20573567">
            <a:off x="7303078" y="4216444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47" name="Lige forbindelse 46">
            <a:extLst>
              <a:ext uri="{FF2B5EF4-FFF2-40B4-BE49-F238E27FC236}">
                <a16:creationId xmlns:a16="http://schemas.microsoft.com/office/drawing/2014/main" id="{F73AB2B6-A1B2-28EF-237B-202023A06179}"/>
              </a:ext>
            </a:extLst>
          </p:cNvPr>
          <p:cNvCxnSpPr>
            <a:stCxn id="42" idx="7"/>
            <a:endCxn id="43" idx="2"/>
          </p:cNvCxnSpPr>
          <p:nvPr/>
        </p:nvCxnSpPr>
        <p:spPr>
          <a:xfrm flipV="1">
            <a:off x="5299746" y="4744856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ige forbindelse 47">
            <a:extLst>
              <a:ext uri="{FF2B5EF4-FFF2-40B4-BE49-F238E27FC236}">
                <a16:creationId xmlns:a16="http://schemas.microsoft.com/office/drawing/2014/main" id="{7C33638D-B5B5-5F6C-663F-9C99AD44B9A9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5369239" y="5206849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Lige forbindelse 48">
            <a:extLst>
              <a:ext uri="{FF2B5EF4-FFF2-40B4-BE49-F238E27FC236}">
                <a16:creationId xmlns:a16="http://schemas.microsoft.com/office/drawing/2014/main" id="{94905109-16F8-D50E-4CBE-8D8AF00EB2BC}"/>
              </a:ext>
            </a:extLst>
          </p:cNvPr>
          <p:cNvCxnSpPr>
            <a:cxnSpLocks/>
            <a:stCxn id="43" idx="3"/>
            <a:endCxn id="44" idx="0"/>
          </p:cNvCxnSpPr>
          <p:nvPr/>
        </p:nvCxnSpPr>
        <p:spPr>
          <a:xfrm>
            <a:off x="6292743" y="4814884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Lige forbindelse 49">
            <a:extLst>
              <a:ext uri="{FF2B5EF4-FFF2-40B4-BE49-F238E27FC236}">
                <a16:creationId xmlns:a16="http://schemas.microsoft.com/office/drawing/2014/main" id="{99D87772-0851-9112-66DC-870C57D79073}"/>
              </a:ext>
            </a:extLst>
          </p:cNvPr>
          <p:cNvCxnSpPr>
            <a:cxnSpLocks/>
            <a:stCxn id="46" idx="2"/>
            <a:endCxn id="43" idx="5"/>
          </p:cNvCxnSpPr>
          <p:nvPr/>
        </p:nvCxnSpPr>
        <p:spPr>
          <a:xfrm flipH="1">
            <a:off x="6530764" y="4523504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ige forbindelse 50">
            <a:extLst>
              <a:ext uri="{FF2B5EF4-FFF2-40B4-BE49-F238E27FC236}">
                <a16:creationId xmlns:a16="http://schemas.microsoft.com/office/drawing/2014/main" id="{B32E680F-6655-35A4-1F84-3234D1280780}"/>
              </a:ext>
            </a:extLst>
          </p:cNvPr>
          <p:cNvCxnSpPr>
            <a:cxnSpLocks/>
            <a:stCxn id="45" idx="1"/>
            <a:endCxn id="44" idx="6"/>
          </p:cNvCxnSpPr>
          <p:nvPr/>
        </p:nvCxnSpPr>
        <p:spPr>
          <a:xfrm flipH="1" flipV="1">
            <a:off x="6494905" y="5491977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Buet forbindelse 68">
            <a:extLst>
              <a:ext uri="{FF2B5EF4-FFF2-40B4-BE49-F238E27FC236}">
                <a16:creationId xmlns:a16="http://schemas.microsoft.com/office/drawing/2014/main" id="{5C2ECA69-9A27-6115-A40D-7A110539BEE2}"/>
              </a:ext>
            </a:extLst>
          </p:cNvPr>
          <p:cNvCxnSpPr>
            <a:cxnSpLocks/>
            <a:stCxn id="43" idx="1"/>
            <a:endCxn id="42" idx="0"/>
          </p:cNvCxnSpPr>
          <p:nvPr/>
        </p:nvCxnSpPr>
        <p:spPr>
          <a:xfrm rot="16200000" flipH="1" flipV="1">
            <a:off x="5397745" y="4311092"/>
            <a:ext cx="392720" cy="924261"/>
          </a:xfrm>
          <a:prstGeom prst="curvedConnector3">
            <a:avLst>
              <a:gd name="adj1" fmla="val 82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Buet forbindelse 70">
            <a:extLst>
              <a:ext uri="{FF2B5EF4-FFF2-40B4-BE49-F238E27FC236}">
                <a16:creationId xmlns:a16="http://schemas.microsoft.com/office/drawing/2014/main" id="{B99D17EB-8C32-2325-A2D4-57FEC76297F1}"/>
              </a:ext>
            </a:extLst>
          </p:cNvPr>
          <p:cNvCxnSpPr>
            <a:cxnSpLocks/>
            <a:stCxn id="44" idx="4"/>
            <a:endCxn id="42" idx="4"/>
          </p:cNvCxnSpPr>
          <p:nvPr/>
        </p:nvCxnSpPr>
        <p:spPr>
          <a:xfrm rot="5400000" flipH="1">
            <a:off x="5560612" y="5015476"/>
            <a:ext cx="214300" cy="1071576"/>
          </a:xfrm>
          <a:prstGeom prst="curvedConnector3">
            <a:avLst>
              <a:gd name="adj1" fmla="val -1105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EAC0587E-607D-D39B-5BD0-846B8E724770}"/>
                  </a:ext>
                </a:extLst>
              </p:cNvPr>
              <p:cNvSpPr txBox="1"/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Input </a:t>
                </a:r>
                <a:r>
                  <a:rPr lang="da-DK" dirty="0" err="1"/>
                  <a:t>graph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A611659C-6F84-C9F6-7699-4DDCDC264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blipFill>
                <a:blip r:embed="rId9"/>
                <a:stretch>
                  <a:fillRect l="-3101" t="-6667" b="-2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Lige pilforbindelse 80">
            <a:extLst>
              <a:ext uri="{FF2B5EF4-FFF2-40B4-BE49-F238E27FC236}">
                <a16:creationId xmlns:a16="http://schemas.microsoft.com/office/drawing/2014/main" id="{5EF3E40A-985F-3C47-DF00-A1F71385CDCA}"/>
              </a:ext>
            </a:extLst>
          </p:cNvPr>
          <p:cNvCxnSpPr>
            <a:cxnSpLocks/>
          </p:cNvCxnSpPr>
          <p:nvPr/>
        </p:nvCxnSpPr>
        <p:spPr>
          <a:xfrm>
            <a:off x="3615168" y="5202200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795F74CD-C03D-56C8-FB01-DDFCD77969B2}"/>
                  </a:ext>
                </a:extLst>
              </p:cNvPr>
              <p:cNvSpPr txBox="1"/>
              <p:nvPr/>
            </p:nvSpPr>
            <p:spPr>
              <a:xfrm>
                <a:off x="3615168" y="6161845"/>
                <a:ext cx="53165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Do message </a:t>
                </a:r>
                <a:r>
                  <a:rPr lang="da-DK" dirty="0" err="1"/>
                  <a:t>passing</a:t>
                </a:r>
                <a:r>
                  <a:rPr lang="da-DK" dirty="0"/>
                  <a:t> N-times. At the </a:t>
                </a:r>
                <a:r>
                  <a:rPr lang="da-DK" dirty="0" err="1"/>
                  <a:t>very</a:t>
                </a:r>
                <a:r>
                  <a:rPr lang="da-DK" dirty="0"/>
                  <a:t> end </a:t>
                </a:r>
                <a:r>
                  <a:rPr lang="da-DK" dirty="0" err="1"/>
                  <a:t>apply</a:t>
                </a:r>
                <a:r>
                  <a:rPr lang="da-DK" dirty="0"/>
                  <a:t>  </a:t>
                </a:r>
                <a:r>
                  <a:rPr lang="da-DK" dirty="0" err="1"/>
                  <a:t>softmax</a:t>
                </a:r>
                <a:r>
                  <a:rPr lang="da-DK" dirty="0"/>
                  <a:t> , so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get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atom-wisely</a:t>
                </a:r>
              </a:p>
            </p:txBody>
          </p:sp>
        </mc:Choice>
        <mc:Fallback xmlns=""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795F74CD-C03D-56C8-FB01-DDFCD7796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168" y="6161845"/>
                <a:ext cx="5316525" cy="646331"/>
              </a:xfrm>
              <a:prstGeom prst="rect">
                <a:avLst/>
              </a:prstGeom>
              <a:blipFill>
                <a:blip r:embed="rId10"/>
                <a:stretch>
                  <a:fillRect l="-952" t="-5769" b="-1153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ktangel 83">
            <a:extLst>
              <a:ext uri="{FF2B5EF4-FFF2-40B4-BE49-F238E27FC236}">
                <a16:creationId xmlns:a16="http://schemas.microsoft.com/office/drawing/2014/main" id="{02223B39-8CCD-F353-460D-ECDF43A57E2E}"/>
              </a:ext>
            </a:extLst>
          </p:cNvPr>
          <p:cNvSpPr/>
          <p:nvPr/>
        </p:nvSpPr>
        <p:spPr>
          <a:xfrm>
            <a:off x="4792708" y="4181790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85" name="Rektangel 84">
            <a:extLst>
              <a:ext uri="{FF2B5EF4-FFF2-40B4-BE49-F238E27FC236}">
                <a16:creationId xmlns:a16="http://schemas.microsoft.com/office/drawing/2014/main" id="{2F52B3F2-A693-8D41-C2B5-595B32BCEC42}"/>
              </a:ext>
            </a:extLst>
          </p:cNvPr>
          <p:cNvSpPr/>
          <p:nvPr/>
        </p:nvSpPr>
        <p:spPr>
          <a:xfrm>
            <a:off x="4792708" y="4386414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6" name="Rektangel 85">
            <a:extLst>
              <a:ext uri="{FF2B5EF4-FFF2-40B4-BE49-F238E27FC236}">
                <a16:creationId xmlns:a16="http://schemas.microsoft.com/office/drawing/2014/main" id="{96F20D79-EABD-30CF-B572-506D7460AAD4}"/>
              </a:ext>
            </a:extLst>
          </p:cNvPr>
          <p:cNvSpPr/>
          <p:nvPr/>
        </p:nvSpPr>
        <p:spPr>
          <a:xfrm>
            <a:off x="4791794" y="4589504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7" name="Rektangel 86">
            <a:extLst>
              <a:ext uri="{FF2B5EF4-FFF2-40B4-BE49-F238E27FC236}">
                <a16:creationId xmlns:a16="http://schemas.microsoft.com/office/drawing/2014/main" id="{5F8B1052-C49A-31C9-D6E1-E38358254CF5}"/>
              </a:ext>
            </a:extLst>
          </p:cNvPr>
          <p:cNvSpPr/>
          <p:nvPr/>
        </p:nvSpPr>
        <p:spPr>
          <a:xfrm>
            <a:off x="6454906" y="3922947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88" name="Rektangel 87">
            <a:extLst>
              <a:ext uri="{FF2B5EF4-FFF2-40B4-BE49-F238E27FC236}">
                <a16:creationId xmlns:a16="http://schemas.microsoft.com/office/drawing/2014/main" id="{5C648853-C9AB-B761-9682-8B1EADDE17EB}"/>
              </a:ext>
            </a:extLst>
          </p:cNvPr>
          <p:cNvSpPr/>
          <p:nvPr/>
        </p:nvSpPr>
        <p:spPr>
          <a:xfrm>
            <a:off x="6454906" y="3719857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9" name="Rektangel 88">
            <a:extLst>
              <a:ext uri="{FF2B5EF4-FFF2-40B4-BE49-F238E27FC236}">
                <a16:creationId xmlns:a16="http://schemas.microsoft.com/office/drawing/2014/main" id="{B8EB31E2-0867-2A24-C269-85B574B6C75C}"/>
              </a:ext>
            </a:extLst>
          </p:cNvPr>
          <p:cNvSpPr/>
          <p:nvPr/>
        </p:nvSpPr>
        <p:spPr>
          <a:xfrm>
            <a:off x="6454906" y="4103613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90" name="Lige pilforbindelse 89">
            <a:extLst>
              <a:ext uri="{FF2B5EF4-FFF2-40B4-BE49-F238E27FC236}">
                <a16:creationId xmlns:a16="http://schemas.microsoft.com/office/drawing/2014/main" id="{000E80D2-5D21-563B-A05A-939C0DB02F29}"/>
              </a:ext>
            </a:extLst>
          </p:cNvPr>
          <p:cNvCxnSpPr>
            <a:cxnSpLocks/>
          </p:cNvCxnSpPr>
          <p:nvPr/>
        </p:nvCxnSpPr>
        <p:spPr>
          <a:xfrm>
            <a:off x="7836906" y="5271268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8B144FBF-ED32-67AC-33A9-5A68C37E9E93}"/>
                  </a:ext>
                </a:extLst>
              </p:cNvPr>
              <p:cNvSpPr txBox="1"/>
              <p:nvPr/>
            </p:nvSpPr>
            <p:spPr>
              <a:xfrm>
                <a:off x="9183749" y="6137574"/>
                <a:ext cx="4595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</a:t>
                </a:r>
              </a:p>
            </p:txBody>
          </p:sp>
        </mc:Choice>
        <mc:Fallback xmlns=""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9A7736AB-8D40-FC65-48CD-303C77957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3749" y="6137574"/>
                <a:ext cx="4595122" cy="369332"/>
              </a:xfrm>
              <a:prstGeom prst="rect">
                <a:avLst/>
              </a:prstGeom>
              <a:blipFill>
                <a:blip r:embed="rId11"/>
                <a:stretch>
                  <a:fillRect l="-1105" t="-10000" b="-2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Ellipse 95">
            <a:extLst>
              <a:ext uri="{FF2B5EF4-FFF2-40B4-BE49-F238E27FC236}">
                <a16:creationId xmlns:a16="http://schemas.microsoft.com/office/drawing/2014/main" id="{E5F480D9-6504-CC96-6041-D4DD704ECBB1}"/>
              </a:ext>
            </a:extLst>
          </p:cNvPr>
          <p:cNvSpPr/>
          <p:nvPr/>
        </p:nvSpPr>
        <p:spPr>
          <a:xfrm>
            <a:off x="8801209" y="4780406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826B7EEB-0BFA-6F0F-D9B6-E3031997BD46}"/>
              </a:ext>
            </a:extLst>
          </p:cNvPr>
          <p:cNvSpPr/>
          <p:nvPr/>
        </p:nvSpPr>
        <p:spPr>
          <a:xfrm rot="18910962">
            <a:off x="9962735" y="4151177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584502B8-723B-F305-F3CC-BB4B989E0B4D}"/>
              </a:ext>
            </a:extLst>
          </p:cNvPr>
          <p:cNvSpPr/>
          <p:nvPr/>
        </p:nvSpPr>
        <p:spPr>
          <a:xfrm rot="915767">
            <a:off x="9935244" y="5003075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9D36BABF-E74D-80CD-534C-81ABCA72B40D}"/>
              </a:ext>
            </a:extLst>
          </p:cNvPr>
          <p:cNvSpPr/>
          <p:nvPr/>
        </p:nvSpPr>
        <p:spPr>
          <a:xfrm rot="20911658">
            <a:off x="10849644" y="548556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E7AA5502-29D2-7B74-70E4-F327ECFAAF38}"/>
              </a:ext>
            </a:extLst>
          </p:cNvPr>
          <p:cNvSpPr/>
          <p:nvPr/>
        </p:nvSpPr>
        <p:spPr>
          <a:xfrm rot="20573567">
            <a:off x="11209579" y="4027267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101" name="Lige forbindelse 100">
            <a:extLst>
              <a:ext uri="{FF2B5EF4-FFF2-40B4-BE49-F238E27FC236}">
                <a16:creationId xmlns:a16="http://schemas.microsoft.com/office/drawing/2014/main" id="{521EF62A-3473-9CEC-B677-835ABD496591}"/>
              </a:ext>
            </a:extLst>
          </p:cNvPr>
          <p:cNvCxnSpPr>
            <a:stCxn id="96" idx="7"/>
            <a:endCxn id="97" idx="2"/>
          </p:cNvCxnSpPr>
          <p:nvPr/>
        </p:nvCxnSpPr>
        <p:spPr>
          <a:xfrm flipV="1">
            <a:off x="9206247" y="4555679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Lige forbindelse 101">
            <a:extLst>
              <a:ext uri="{FF2B5EF4-FFF2-40B4-BE49-F238E27FC236}">
                <a16:creationId xmlns:a16="http://schemas.microsoft.com/office/drawing/2014/main" id="{56862C89-0414-E5B7-F6D2-FC9E3C6B04A6}"/>
              </a:ext>
            </a:extLst>
          </p:cNvPr>
          <p:cNvCxnSpPr>
            <a:cxnSpLocks/>
            <a:stCxn id="96" idx="6"/>
            <a:endCxn id="98" idx="2"/>
          </p:cNvCxnSpPr>
          <p:nvPr/>
        </p:nvCxnSpPr>
        <p:spPr>
          <a:xfrm>
            <a:off x="9275740" y="5017672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Lige forbindelse 102">
            <a:extLst>
              <a:ext uri="{FF2B5EF4-FFF2-40B4-BE49-F238E27FC236}">
                <a16:creationId xmlns:a16="http://schemas.microsoft.com/office/drawing/2014/main" id="{13B01077-9AEA-99F9-393E-1AAB991CC82E}"/>
              </a:ext>
            </a:extLst>
          </p:cNvPr>
          <p:cNvCxnSpPr>
            <a:cxnSpLocks/>
            <a:stCxn id="97" idx="3"/>
            <a:endCxn id="98" idx="0"/>
          </p:cNvCxnSpPr>
          <p:nvPr/>
        </p:nvCxnSpPr>
        <p:spPr>
          <a:xfrm>
            <a:off x="10199244" y="4625707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Lige forbindelse 103">
            <a:extLst>
              <a:ext uri="{FF2B5EF4-FFF2-40B4-BE49-F238E27FC236}">
                <a16:creationId xmlns:a16="http://schemas.microsoft.com/office/drawing/2014/main" id="{54DD2327-D1F2-F14D-C43A-0B79F18118EC}"/>
              </a:ext>
            </a:extLst>
          </p:cNvPr>
          <p:cNvCxnSpPr>
            <a:cxnSpLocks/>
            <a:stCxn id="100" idx="2"/>
            <a:endCxn id="97" idx="5"/>
          </p:cNvCxnSpPr>
          <p:nvPr/>
        </p:nvCxnSpPr>
        <p:spPr>
          <a:xfrm flipH="1">
            <a:off x="10437265" y="4334327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Lige forbindelse 104">
            <a:extLst>
              <a:ext uri="{FF2B5EF4-FFF2-40B4-BE49-F238E27FC236}">
                <a16:creationId xmlns:a16="http://schemas.microsoft.com/office/drawing/2014/main" id="{329DE0EB-2BB6-41B4-C16A-D9EDB73E7664}"/>
              </a:ext>
            </a:extLst>
          </p:cNvPr>
          <p:cNvCxnSpPr>
            <a:cxnSpLocks/>
            <a:stCxn id="99" idx="1"/>
            <a:endCxn id="98" idx="6"/>
          </p:cNvCxnSpPr>
          <p:nvPr/>
        </p:nvCxnSpPr>
        <p:spPr>
          <a:xfrm flipH="1" flipV="1">
            <a:off x="10401406" y="5302800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602FDF62-A41C-7923-1957-070D543B5641}"/>
                  </a:ext>
                </a:extLst>
              </p:cNvPr>
              <p:cNvSpPr txBox="1"/>
              <p:nvPr/>
            </p:nvSpPr>
            <p:spPr>
              <a:xfrm>
                <a:off x="8397869" y="2996933"/>
                <a:ext cx="3048975" cy="553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sepChr m:val="∣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𝑀𝐿𝑃</m:t>
                      </m:r>
                      <m:d>
                        <m:dPr>
                          <m:begChr m:val="["/>
                          <m:endChr m:val="]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𝑔𝑙𝑜𝑏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602FDF62-A41C-7923-1957-070D543B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869" y="2996933"/>
                <a:ext cx="3048975" cy="553549"/>
              </a:xfrm>
              <a:prstGeom prst="rect">
                <a:avLst/>
              </a:prstGeom>
              <a:blipFill>
                <a:blip r:embed="rId12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284F1654-1554-871A-BED9-433792E9861B}"/>
              </a:ext>
            </a:extLst>
          </p:cNvPr>
          <p:cNvCxnSpPr>
            <a:cxnSpLocks/>
          </p:cNvCxnSpPr>
          <p:nvPr/>
        </p:nvCxnSpPr>
        <p:spPr>
          <a:xfrm>
            <a:off x="9367520" y="3481893"/>
            <a:ext cx="574925" cy="6998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5189293E-20E1-CB5C-7084-E4DB5E5E288F}"/>
              </a:ext>
            </a:extLst>
          </p:cNvPr>
          <p:cNvSpPr/>
          <p:nvPr/>
        </p:nvSpPr>
        <p:spPr>
          <a:xfrm>
            <a:off x="880103" y="4909295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F8B73B6-75E2-D958-B831-4DB8CA370495}"/>
              </a:ext>
            </a:extLst>
          </p:cNvPr>
          <p:cNvSpPr/>
          <p:nvPr/>
        </p:nvSpPr>
        <p:spPr>
          <a:xfrm rot="18910962">
            <a:off x="2041629" y="4280066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CE353AD-2108-D939-0485-E07E72932201}"/>
              </a:ext>
            </a:extLst>
          </p:cNvPr>
          <p:cNvSpPr/>
          <p:nvPr/>
        </p:nvSpPr>
        <p:spPr>
          <a:xfrm rot="915767">
            <a:off x="2014138" y="5131964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5809B3CF-E9EA-9022-5AE2-02B5B80C754C}"/>
              </a:ext>
            </a:extLst>
          </p:cNvPr>
          <p:cNvSpPr/>
          <p:nvPr/>
        </p:nvSpPr>
        <p:spPr>
          <a:xfrm rot="20911658">
            <a:off x="2928538" y="5614453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A2DA141C-0CED-EBDF-5986-5B83CF055775}"/>
              </a:ext>
            </a:extLst>
          </p:cNvPr>
          <p:cNvSpPr/>
          <p:nvPr/>
        </p:nvSpPr>
        <p:spPr>
          <a:xfrm rot="20573567">
            <a:off x="3288473" y="4156156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E5137F1B-5EC5-10F3-E1C2-0169C2B012DF}"/>
              </a:ext>
            </a:extLst>
          </p:cNvPr>
          <p:cNvCxnSpPr>
            <a:stCxn id="17" idx="7"/>
            <a:endCxn id="19" idx="2"/>
          </p:cNvCxnSpPr>
          <p:nvPr/>
        </p:nvCxnSpPr>
        <p:spPr>
          <a:xfrm flipV="1">
            <a:off x="1285141" y="4684568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ge forbindelse 25">
            <a:extLst>
              <a:ext uri="{FF2B5EF4-FFF2-40B4-BE49-F238E27FC236}">
                <a16:creationId xmlns:a16="http://schemas.microsoft.com/office/drawing/2014/main" id="{64AC5B68-BD78-8BDB-1EDB-81A5795166DF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354634" y="5146561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ge forbindelse 26">
            <a:extLst>
              <a:ext uri="{FF2B5EF4-FFF2-40B4-BE49-F238E27FC236}">
                <a16:creationId xmlns:a16="http://schemas.microsoft.com/office/drawing/2014/main" id="{9799BAC7-07E4-8022-8C36-A4D20F8A59AC}"/>
              </a:ext>
            </a:extLst>
          </p:cNvPr>
          <p:cNvCxnSpPr>
            <a:cxnSpLocks/>
            <a:stCxn id="19" idx="3"/>
            <a:endCxn id="20" idx="0"/>
          </p:cNvCxnSpPr>
          <p:nvPr/>
        </p:nvCxnSpPr>
        <p:spPr>
          <a:xfrm>
            <a:off x="2278138" y="4754596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ge forbindelse 27">
            <a:extLst>
              <a:ext uri="{FF2B5EF4-FFF2-40B4-BE49-F238E27FC236}">
                <a16:creationId xmlns:a16="http://schemas.microsoft.com/office/drawing/2014/main" id="{25D57D81-4F5F-372E-5A7F-86A01A6844AE}"/>
              </a:ext>
            </a:extLst>
          </p:cNvPr>
          <p:cNvCxnSpPr>
            <a:cxnSpLocks/>
            <a:stCxn id="23" idx="2"/>
            <a:endCxn id="19" idx="5"/>
          </p:cNvCxnSpPr>
          <p:nvPr/>
        </p:nvCxnSpPr>
        <p:spPr>
          <a:xfrm flipH="1">
            <a:off x="2516159" y="4463216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ge forbindelse 28">
            <a:extLst>
              <a:ext uri="{FF2B5EF4-FFF2-40B4-BE49-F238E27FC236}">
                <a16:creationId xmlns:a16="http://schemas.microsoft.com/office/drawing/2014/main" id="{3AC001A0-92FB-A3B5-0173-03AD967125C7}"/>
              </a:ext>
            </a:extLst>
          </p:cNvPr>
          <p:cNvCxnSpPr>
            <a:cxnSpLocks/>
            <a:stCxn id="22" idx="1"/>
            <a:endCxn id="20" idx="6"/>
          </p:cNvCxnSpPr>
          <p:nvPr/>
        </p:nvCxnSpPr>
        <p:spPr>
          <a:xfrm flipH="1" flipV="1">
            <a:off x="2480300" y="5431689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A02DEB72-C3AF-B54F-6DE1-7700A6DD23F8}"/>
                  </a:ext>
                </a:extLst>
              </p:cNvPr>
              <p:cNvSpPr txBox="1"/>
              <p:nvPr/>
            </p:nvSpPr>
            <p:spPr>
              <a:xfrm>
                <a:off x="1254014" y="3589819"/>
                <a:ext cx="1745671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𝑛𝑜𝑛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A02DEB72-C3AF-B54F-6DE1-7700A6DD2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014" y="3589819"/>
                <a:ext cx="1745671" cy="467564"/>
              </a:xfrm>
              <a:prstGeom prst="rect">
                <a:avLst/>
              </a:prstGeom>
              <a:blipFill>
                <a:blip r:embed="rId13"/>
                <a:stretch>
                  <a:fillRect t="-7895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FCAA6B91-75A7-3FD0-E628-BF428691F3AD}"/>
                  </a:ext>
                </a:extLst>
              </p:cNvPr>
              <p:cNvSpPr txBox="1"/>
              <p:nvPr/>
            </p:nvSpPr>
            <p:spPr>
              <a:xfrm>
                <a:off x="-3043" y="4318775"/>
                <a:ext cx="1494383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FCAA6B91-75A7-3FD0-E628-BF428691F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43" y="4318775"/>
                <a:ext cx="1494383" cy="467564"/>
              </a:xfrm>
              <a:prstGeom prst="rect">
                <a:avLst/>
              </a:prstGeom>
              <a:blipFill>
                <a:blip r:embed="rId14"/>
                <a:stretch>
                  <a:fillRect t="-7895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0E07C026-63AB-0CCC-EAFB-03D30FE92148}"/>
                  </a:ext>
                </a:extLst>
              </p:cNvPr>
              <p:cNvSpPr txBox="1"/>
              <p:nvPr/>
            </p:nvSpPr>
            <p:spPr>
              <a:xfrm>
                <a:off x="3122187" y="3528291"/>
                <a:ext cx="1745671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𝑛𝑜𝑛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0E07C026-63AB-0CCC-EAFB-03D30FE92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187" y="3528291"/>
                <a:ext cx="1745671" cy="467564"/>
              </a:xfrm>
              <a:prstGeom prst="rect">
                <a:avLst/>
              </a:prstGeom>
              <a:blipFill>
                <a:blip r:embed="rId15"/>
                <a:stretch>
                  <a:fillRect t="-7895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kstfelt 32">
                <a:extLst>
                  <a:ext uri="{FF2B5EF4-FFF2-40B4-BE49-F238E27FC236}">
                    <a16:creationId xmlns:a16="http://schemas.microsoft.com/office/drawing/2014/main" id="{39C85EF7-25F0-6EE9-CFFC-2936C4B2E75B}"/>
                  </a:ext>
                </a:extLst>
              </p:cNvPr>
              <p:cNvSpPr txBox="1"/>
              <p:nvPr/>
            </p:nvSpPr>
            <p:spPr>
              <a:xfrm>
                <a:off x="798359" y="5601978"/>
                <a:ext cx="1494383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3" name="Tekstfelt 32">
                <a:extLst>
                  <a:ext uri="{FF2B5EF4-FFF2-40B4-BE49-F238E27FC236}">
                    <a16:creationId xmlns:a16="http://schemas.microsoft.com/office/drawing/2014/main" id="{39C85EF7-25F0-6EE9-CFFC-2936C4B2E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359" y="5601978"/>
                <a:ext cx="1494383" cy="467564"/>
              </a:xfrm>
              <a:prstGeom prst="rect">
                <a:avLst/>
              </a:prstGeom>
              <a:blipFill>
                <a:blip r:embed="rId16"/>
                <a:stretch>
                  <a:fillRect t="-10526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4286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D3E60A-BC2E-F581-59A8-994084766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Did it </a:t>
            </a:r>
            <a:r>
              <a:rPr lang="da-DK" dirty="0" err="1"/>
              <a:t>help</a:t>
            </a:r>
            <a:r>
              <a:rPr lang="da-DK" dirty="0"/>
              <a:t>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A9BABD0-2B3D-63FF-8398-7F295A4AE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5" y="1410509"/>
            <a:ext cx="10515600" cy="4351338"/>
          </a:xfrm>
        </p:spPr>
        <p:txBody>
          <a:bodyPr/>
          <a:lstStyle/>
          <a:p>
            <a:r>
              <a:rPr lang="da-DK" dirty="0"/>
              <a:t>Yes! – </a:t>
            </a:r>
            <a:r>
              <a:rPr lang="da-DK" dirty="0" err="1"/>
              <a:t>Somewhat</a:t>
            </a:r>
            <a:endParaRPr lang="da-DK" dirty="0"/>
          </a:p>
          <a:p>
            <a:pPr lvl="1"/>
            <a:r>
              <a:rPr lang="da-DK" dirty="0"/>
              <a:t>Distributions </a:t>
            </a:r>
            <a:r>
              <a:rPr lang="da-DK" dirty="0" err="1"/>
              <a:t>are</a:t>
            </a:r>
            <a:r>
              <a:rPr lang="da-DK" dirty="0"/>
              <a:t> still </a:t>
            </a:r>
            <a:r>
              <a:rPr lang="da-DK" dirty="0" err="1"/>
              <a:t>slightly</a:t>
            </a:r>
            <a:r>
              <a:rPr lang="da-DK" dirty="0"/>
              <a:t> </a:t>
            </a:r>
            <a:r>
              <a:rPr lang="da-DK" dirty="0" err="1"/>
              <a:t>shifted</a:t>
            </a:r>
            <a:r>
              <a:rPr lang="da-DK" dirty="0"/>
              <a:t>?</a:t>
            </a:r>
          </a:p>
          <a:p>
            <a:pPr lvl="1"/>
            <a:r>
              <a:rPr lang="da-DK" dirty="0" err="1"/>
              <a:t>Maybe</a:t>
            </a:r>
            <a:r>
              <a:rPr lang="da-DK" dirty="0"/>
              <a:t> ”Attention is all I </a:t>
            </a:r>
            <a:r>
              <a:rPr lang="da-DK" dirty="0" err="1"/>
              <a:t>need</a:t>
            </a:r>
            <a:r>
              <a:rPr lang="da-DK" dirty="0"/>
              <a:t>”</a:t>
            </a:r>
          </a:p>
          <a:p>
            <a:pPr lvl="1"/>
            <a:r>
              <a:rPr lang="da-DK" dirty="0" err="1"/>
              <a:t>Almost</a:t>
            </a:r>
            <a:r>
              <a:rPr lang="da-DK" dirty="0"/>
              <a:t> spot on with % of elements in</a:t>
            </a:r>
            <a:br>
              <a:rPr lang="da-DK" dirty="0"/>
            </a:br>
            <a:r>
              <a:rPr lang="da-DK" dirty="0" err="1"/>
              <a:t>structures</a:t>
            </a:r>
            <a:endParaRPr lang="da-DK" dirty="0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2946B9D8-A981-5E02-6E34-70702D15E591}"/>
              </a:ext>
            </a:extLst>
          </p:cNvPr>
          <p:cNvSpPr txBox="1"/>
          <p:nvPr/>
        </p:nvSpPr>
        <p:spPr>
          <a:xfrm>
            <a:off x="7699988" y="3495881"/>
            <a:ext cx="3694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Mean </a:t>
            </a:r>
            <a:r>
              <a:rPr lang="da-DK" dirty="0" err="1"/>
              <a:t>pooling</a:t>
            </a:r>
            <a:endParaRPr lang="da-DK" dirty="0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F544FA06-5202-7D53-0022-D67939F7548F}"/>
              </a:ext>
            </a:extLst>
          </p:cNvPr>
          <p:cNvSpPr txBox="1"/>
          <p:nvPr/>
        </p:nvSpPr>
        <p:spPr>
          <a:xfrm>
            <a:off x="7487970" y="98640"/>
            <a:ext cx="390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No </a:t>
            </a:r>
            <a:r>
              <a:rPr lang="da-DK" dirty="0" err="1"/>
              <a:t>pooling</a:t>
            </a:r>
            <a:r>
              <a:rPr lang="da-DK" dirty="0"/>
              <a:t>, as </a:t>
            </a:r>
            <a:r>
              <a:rPr lang="da-DK" dirty="0" err="1"/>
              <a:t>initially</a:t>
            </a:r>
            <a:r>
              <a:rPr lang="da-DK" dirty="0"/>
              <a:t> </a:t>
            </a:r>
            <a:r>
              <a:rPr lang="da-DK" dirty="0" err="1"/>
              <a:t>implemented</a:t>
            </a:r>
            <a:endParaRPr lang="da-DK" dirty="0"/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956AA289-8A15-DED4-1CC7-C02B0108D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876" y="405252"/>
            <a:ext cx="5336702" cy="2866571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AA5D4E47-8E5F-DAB5-F071-CDB08D48B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461" y="3867163"/>
            <a:ext cx="5473531" cy="2940068"/>
          </a:xfrm>
          <a:prstGeom prst="rect">
            <a:avLst/>
          </a:prstGeom>
        </p:spPr>
      </p:pic>
      <p:pic>
        <p:nvPicPr>
          <p:cNvPr id="4" name="Billede 3">
            <a:extLst>
              <a:ext uri="{FF2B5EF4-FFF2-40B4-BE49-F238E27FC236}">
                <a16:creationId xmlns:a16="http://schemas.microsoft.com/office/drawing/2014/main" id="{1CFD0029-5848-C381-392D-C60F5311A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998" y="3376705"/>
            <a:ext cx="3694412" cy="3430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7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BC8939-B24C-78C6-9A84-C47656F64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Identifying</a:t>
            </a:r>
            <a:r>
              <a:rPr lang="da-DK" dirty="0"/>
              <a:t> the problem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CFA1A2C-D206-4F8C-A032-14A405F2A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90688"/>
            <a:ext cx="10515600" cy="4351338"/>
          </a:xfrm>
        </p:spPr>
        <p:txBody>
          <a:bodyPr/>
          <a:lstStyle/>
          <a:p>
            <a:r>
              <a:rPr lang="da-DK" dirty="0" err="1"/>
              <a:t>Maybe</a:t>
            </a:r>
            <a:r>
              <a:rPr lang="da-DK" dirty="0"/>
              <a:t> </a:t>
            </a:r>
            <a:r>
              <a:rPr lang="da-DK" dirty="0" err="1"/>
              <a:t>try</a:t>
            </a:r>
            <a:r>
              <a:rPr lang="da-DK" dirty="0"/>
              <a:t> a ”transformer-</a:t>
            </a:r>
            <a:r>
              <a:rPr lang="da-DK" dirty="0" err="1"/>
              <a:t>based</a:t>
            </a:r>
            <a:r>
              <a:rPr lang="da-DK" dirty="0"/>
              <a:t>” </a:t>
            </a:r>
            <a:r>
              <a:rPr lang="da-DK" dirty="0" err="1"/>
              <a:t>pooling</a:t>
            </a:r>
            <a:r>
              <a:rPr lang="da-DK" dirty="0"/>
              <a:t> </a:t>
            </a:r>
          </a:p>
        </p:txBody>
      </p:sp>
      <p:pic>
        <p:nvPicPr>
          <p:cNvPr id="5" name="Billede 4" descr="Et billede, der indeholder tekst, diagram, skærmbillede, Plan&#10;&#10;AI-genereret indhold kan være ukorrekt.">
            <a:extLst>
              <a:ext uri="{FF2B5EF4-FFF2-40B4-BE49-F238E27FC236}">
                <a16:creationId xmlns:a16="http://schemas.microsoft.com/office/drawing/2014/main" id="{0DD8DB43-E604-5A5E-E63B-2024B81D7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394" y="1537650"/>
            <a:ext cx="4919206" cy="5206241"/>
          </a:xfrm>
          <a:prstGeom prst="rect">
            <a:avLst/>
          </a:prstGeom>
        </p:spPr>
      </p:pic>
      <p:pic>
        <p:nvPicPr>
          <p:cNvPr id="7" name="Billede 6" descr="Et billede, der indeholder tekst, skærmbillede, Font/skrifttype, dokument&#10;&#10;AI-genereret indhold kan være ukorrekt.">
            <a:extLst>
              <a:ext uri="{FF2B5EF4-FFF2-40B4-BE49-F238E27FC236}">
                <a16:creationId xmlns:a16="http://schemas.microsoft.com/office/drawing/2014/main" id="{E18365AD-8F7C-E37D-1A21-1D7990C12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62" y="2333909"/>
            <a:ext cx="5259909" cy="396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120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093268-48D0-F1CB-33AE-669475289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Added</a:t>
            </a:r>
            <a:r>
              <a:rPr lang="da-DK" dirty="0"/>
              <a:t> a </a:t>
            </a:r>
            <a:r>
              <a:rPr lang="da-DK" dirty="0" err="1"/>
              <a:t>little</a:t>
            </a:r>
            <a:r>
              <a:rPr lang="da-DK" dirty="0"/>
              <a:t> </a:t>
            </a:r>
            <a:r>
              <a:rPr lang="da-DK" dirty="0" err="1"/>
              <a:t>modification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B2D9820-49C1-9B57-E381-510D69E26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Added</a:t>
            </a:r>
            <a:r>
              <a:rPr lang="da-DK" dirty="0"/>
              <a:t> distance bias</a:t>
            </a:r>
          </a:p>
        </p:txBody>
      </p:sp>
      <p:pic>
        <p:nvPicPr>
          <p:cNvPr id="4" name="Billede 3" descr="Et billede, der indeholder tekst, diagram, skærmbillede, Plan&#10;&#10;AI-genereret indhold kan være ukorrekt.">
            <a:extLst>
              <a:ext uri="{FF2B5EF4-FFF2-40B4-BE49-F238E27FC236}">
                <a16:creationId xmlns:a16="http://schemas.microsoft.com/office/drawing/2014/main" id="{CC0126E7-6F39-C10E-BC55-E4C5D2D6B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70" y="2164543"/>
            <a:ext cx="4434693" cy="4693457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44CF3025-EF3B-8A36-61D5-A076DA3C8D44}"/>
              </a:ext>
            </a:extLst>
          </p:cNvPr>
          <p:cNvSpPr/>
          <p:nvPr/>
        </p:nvSpPr>
        <p:spPr>
          <a:xfrm rot="19757655">
            <a:off x="7896366" y="1128266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FFDB665-BD64-0B2B-1EA0-09EF7039D0FA}"/>
              </a:ext>
            </a:extLst>
          </p:cNvPr>
          <p:cNvSpPr/>
          <p:nvPr/>
        </p:nvSpPr>
        <p:spPr>
          <a:xfrm rot="19680594">
            <a:off x="8426133" y="1934288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6E23259B-A20B-E4E1-3B1E-E6619B430D27}"/>
              </a:ext>
            </a:extLst>
          </p:cNvPr>
          <p:cNvSpPr/>
          <p:nvPr/>
        </p:nvSpPr>
        <p:spPr>
          <a:xfrm rot="19236169">
            <a:off x="7001386" y="1706959"/>
            <a:ext cx="474531" cy="47453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B16BD91B-3B98-33BE-604D-0D1FC588A441}"/>
              </a:ext>
            </a:extLst>
          </p:cNvPr>
          <p:cNvSpPr/>
          <p:nvPr/>
        </p:nvSpPr>
        <p:spPr>
          <a:xfrm rot="17294410">
            <a:off x="8783513" y="629995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cxnSp>
        <p:nvCxnSpPr>
          <p:cNvPr id="12" name="Lige forbindelse 11">
            <a:extLst>
              <a:ext uri="{FF2B5EF4-FFF2-40B4-BE49-F238E27FC236}">
                <a16:creationId xmlns:a16="http://schemas.microsoft.com/office/drawing/2014/main" id="{E7164E48-1DCD-14AE-3D3C-7D449CAE7D56}"/>
              </a:ext>
            </a:extLst>
          </p:cNvPr>
          <p:cNvCxnSpPr>
            <a:stCxn id="6" idx="6"/>
            <a:endCxn id="10" idx="1"/>
          </p:cNvCxnSpPr>
          <p:nvPr/>
        </p:nvCxnSpPr>
        <p:spPr>
          <a:xfrm flipV="1">
            <a:off x="8337633" y="974090"/>
            <a:ext cx="471290" cy="2702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ige forbindelse 15">
            <a:extLst>
              <a:ext uri="{FF2B5EF4-FFF2-40B4-BE49-F238E27FC236}">
                <a16:creationId xmlns:a16="http://schemas.microsoft.com/office/drawing/2014/main" id="{EFFBC6B3-24E5-CC47-A093-CFA609C748ED}"/>
              </a:ext>
            </a:extLst>
          </p:cNvPr>
          <p:cNvCxnSpPr>
            <a:stCxn id="6" idx="4"/>
            <a:endCxn id="8" idx="0"/>
          </p:cNvCxnSpPr>
          <p:nvPr/>
        </p:nvCxnSpPr>
        <p:spPr>
          <a:xfrm>
            <a:off x="8254787" y="1569532"/>
            <a:ext cx="282915" cy="4007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ge forbindelse 20">
            <a:extLst>
              <a:ext uri="{FF2B5EF4-FFF2-40B4-BE49-F238E27FC236}">
                <a16:creationId xmlns:a16="http://schemas.microsoft.com/office/drawing/2014/main" id="{F45FD579-B6F5-D509-089B-306602F389C3}"/>
              </a:ext>
            </a:extLst>
          </p:cNvPr>
          <p:cNvCxnSpPr>
            <a:cxnSpLocks/>
            <a:stCxn id="6" idx="2"/>
            <a:endCxn id="9" idx="6"/>
          </p:cNvCxnSpPr>
          <p:nvPr/>
        </p:nvCxnSpPr>
        <p:spPr>
          <a:xfrm flipH="1">
            <a:off x="7422002" y="1486687"/>
            <a:ext cx="507629" cy="3069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kstfelt 25">
                <a:extLst>
                  <a:ext uri="{FF2B5EF4-FFF2-40B4-BE49-F238E27FC236}">
                    <a16:creationId xmlns:a16="http://schemas.microsoft.com/office/drawing/2014/main" id="{E8B76076-213D-5F84-4F45-AB4346C5E0A6}"/>
                  </a:ext>
                </a:extLst>
              </p:cNvPr>
              <p:cNvSpPr txBox="1"/>
              <p:nvPr/>
            </p:nvSpPr>
            <p:spPr>
              <a:xfrm>
                <a:off x="8923385" y="379592"/>
                <a:ext cx="84479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26" name="Tekstfelt 25">
                <a:extLst>
                  <a:ext uri="{FF2B5EF4-FFF2-40B4-BE49-F238E27FC236}">
                    <a16:creationId xmlns:a16="http://schemas.microsoft.com/office/drawing/2014/main" id="{E8B76076-213D-5F84-4F45-AB4346C5E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3385" y="379592"/>
                <a:ext cx="84479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Lige pilforbindelse 27">
            <a:extLst>
              <a:ext uri="{FF2B5EF4-FFF2-40B4-BE49-F238E27FC236}">
                <a16:creationId xmlns:a16="http://schemas.microsoft.com/office/drawing/2014/main" id="{0D8AAF37-66DC-D1FB-1FD8-90A8F40F1927}"/>
              </a:ext>
            </a:extLst>
          </p:cNvPr>
          <p:cNvCxnSpPr>
            <a:cxnSpLocks/>
          </p:cNvCxnSpPr>
          <p:nvPr/>
        </p:nvCxnSpPr>
        <p:spPr>
          <a:xfrm flipH="1">
            <a:off x="7532142" y="1123117"/>
            <a:ext cx="1386921" cy="81954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ge pilforbindelse 28">
            <a:extLst>
              <a:ext uri="{FF2B5EF4-FFF2-40B4-BE49-F238E27FC236}">
                <a16:creationId xmlns:a16="http://schemas.microsoft.com/office/drawing/2014/main" id="{83BF8BA0-8CAB-3A59-4899-B4AA32E15159}"/>
              </a:ext>
            </a:extLst>
          </p:cNvPr>
          <p:cNvCxnSpPr>
            <a:cxnSpLocks/>
          </p:cNvCxnSpPr>
          <p:nvPr/>
        </p:nvCxnSpPr>
        <p:spPr>
          <a:xfrm flipH="1">
            <a:off x="8010626" y="720327"/>
            <a:ext cx="704901" cy="41673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ge pilforbindelse 30">
            <a:extLst>
              <a:ext uri="{FF2B5EF4-FFF2-40B4-BE49-F238E27FC236}">
                <a16:creationId xmlns:a16="http://schemas.microsoft.com/office/drawing/2014/main" id="{D0B6A54B-FA1B-DFC9-007D-BD7223886BCA}"/>
              </a:ext>
            </a:extLst>
          </p:cNvPr>
          <p:cNvCxnSpPr>
            <a:cxnSpLocks/>
          </p:cNvCxnSpPr>
          <p:nvPr/>
        </p:nvCxnSpPr>
        <p:spPr>
          <a:xfrm flipH="1">
            <a:off x="8808961" y="1149381"/>
            <a:ext cx="191782" cy="79095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kstfelt 34">
                <a:extLst>
                  <a:ext uri="{FF2B5EF4-FFF2-40B4-BE49-F238E27FC236}">
                    <a16:creationId xmlns:a16="http://schemas.microsoft.com/office/drawing/2014/main" id="{B6CBEE5D-DD31-2DB6-96AF-58CAB6D8F899}"/>
                  </a:ext>
                </a:extLst>
              </p:cNvPr>
              <p:cNvSpPr txBox="1"/>
              <p:nvPr/>
            </p:nvSpPr>
            <p:spPr>
              <a:xfrm>
                <a:off x="8694670" y="1383618"/>
                <a:ext cx="844792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35" name="Tekstfelt 34">
                <a:extLst>
                  <a:ext uri="{FF2B5EF4-FFF2-40B4-BE49-F238E27FC236}">
                    <a16:creationId xmlns:a16="http://schemas.microsoft.com/office/drawing/2014/main" id="{B6CBEE5D-DD31-2DB6-96AF-58CAB6D8F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4670" y="1383618"/>
                <a:ext cx="844792" cy="391646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kstfelt 36">
                <a:extLst>
                  <a:ext uri="{FF2B5EF4-FFF2-40B4-BE49-F238E27FC236}">
                    <a16:creationId xmlns:a16="http://schemas.microsoft.com/office/drawing/2014/main" id="{E3F9A303-1144-4B82-E7FC-75C5D6DFDAC0}"/>
                  </a:ext>
                </a:extLst>
              </p:cNvPr>
              <p:cNvSpPr txBox="1"/>
              <p:nvPr/>
            </p:nvSpPr>
            <p:spPr>
              <a:xfrm>
                <a:off x="7617375" y="1627958"/>
                <a:ext cx="844792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37" name="Tekstfelt 36">
                <a:extLst>
                  <a:ext uri="{FF2B5EF4-FFF2-40B4-BE49-F238E27FC236}">
                    <a16:creationId xmlns:a16="http://schemas.microsoft.com/office/drawing/2014/main" id="{E3F9A303-1144-4B82-E7FC-75C5D6DFD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7375" y="1627958"/>
                <a:ext cx="844792" cy="391646"/>
              </a:xfrm>
              <a:prstGeom prst="rect">
                <a:avLst/>
              </a:prstGeom>
              <a:blipFill>
                <a:blip r:embed="rId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kstfelt 37">
                <a:extLst>
                  <a:ext uri="{FF2B5EF4-FFF2-40B4-BE49-F238E27FC236}">
                    <a16:creationId xmlns:a16="http://schemas.microsoft.com/office/drawing/2014/main" id="{6E77E4A3-E2ED-DCB8-C4FA-40C62FE76937}"/>
                  </a:ext>
                </a:extLst>
              </p:cNvPr>
              <p:cNvSpPr txBox="1"/>
              <p:nvPr/>
            </p:nvSpPr>
            <p:spPr>
              <a:xfrm>
                <a:off x="7854698" y="504288"/>
                <a:ext cx="844792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38" name="Tekstfelt 37">
                <a:extLst>
                  <a:ext uri="{FF2B5EF4-FFF2-40B4-BE49-F238E27FC236}">
                    <a16:creationId xmlns:a16="http://schemas.microsoft.com/office/drawing/2014/main" id="{6E77E4A3-E2ED-DCB8-C4FA-40C62FE76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698" y="504288"/>
                <a:ext cx="844792" cy="391646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kstfelt 38">
                <a:extLst>
                  <a:ext uri="{FF2B5EF4-FFF2-40B4-BE49-F238E27FC236}">
                    <a16:creationId xmlns:a16="http://schemas.microsoft.com/office/drawing/2014/main" id="{DCF701F5-D927-C43B-5A25-1DF9DDC94367}"/>
                  </a:ext>
                </a:extLst>
              </p:cNvPr>
              <p:cNvSpPr txBox="1"/>
              <p:nvPr/>
            </p:nvSpPr>
            <p:spPr>
              <a:xfrm>
                <a:off x="9539462" y="844484"/>
                <a:ext cx="2703272" cy="1222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 err="1"/>
                  <a:t>Calculate</a:t>
                </a:r>
                <a:r>
                  <a:rPr lang="da-DK" dirty="0"/>
                  <a:t> all </a:t>
                </a:r>
                <a:r>
                  <a:rPr lang="da-DK" dirty="0" err="1"/>
                  <a:t>interatomic</a:t>
                </a:r>
                <a:br>
                  <a:rPr lang="da-DK" dirty="0"/>
                </a:br>
                <a:r>
                  <a:rPr lang="da-DK" dirty="0"/>
                  <a:t>distances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da-DK" dirty="0"/>
                  <a:t> regardless of </a:t>
                </a:r>
                <a:r>
                  <a:rPr lang="da-DK" dirty="0" err="1"/>
                  <a:t>connection</a:t>
                </a:r>
                <a:br>
                  <a:rPr lang="da-DK" dirty="0"/>
                </a:br>
                <a:endParaRPr lang="da-DK" dirty="0"/>
              </a:p>
            </p:txBody>
          </p:sp>
        </mc:Choice>
        <mc:Fallback>
          <p:sp>
            <p:nvSpPr>
              <p:cNvPr id="39" name="Tekstfelt 38">
                <a:extLst>
                  <a:ext uri="{FF2B5EF4-FFF2-40B4-BE49-F238E27FC236}">
                    <a16:creationId xmlns:a16="http://schemas.microsoft.com/office/drawing/2014/main" id="{DCF701F5-D927-C43B-5A25-1DF9DDC94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9462" y="844484"/>
                <a:ext cx="2703272" cy="1222642"/>
              </a:xfrm>
              <a:prstGeom prst="rect">
                <a:avLst/>
              </a:prstGeom>
              <a:blipFill>
                <a:blip r:embed="rId7"/>
                <a:stretch>
                  <a:fillRect l="-2032" t="-25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Lige pilforbindelse 40">
            <a:extLst>
              <a:ext uri="{FF2B5EF4-FFF2-40B4-BE49-F238E27FC236}">
                <a16:creationId xmlns:a16="http://schemas.microsoft.com/office/drawing/2014/main" id="{FB501A9C-507E-CC1C-D9A2-4581790412E2}"/>
              </a:ext>
            </a:extLst>
          </p:cNvPr>
          <p:cNvCxnSpPr/>
          <p:nvPr/>
        </p:nvCxnSpPr>
        <p:spPr>
          <a:xfrm>
            <a:off x="8253652" y="2434477"/>
            <a:ext cx="0" cy="683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ktangel 41">
                <a:extLst>
                  <a:ext uri="{FF2B5EF4-FFF2-40B4-BE49-F238E27FC236}">
                    <a16:creationId xmlns:a16="http://schemas.microsoft.com/office/drawing/2014/main" id="{C466A088-7A97-C6A2-CBFC-AE3DA7CE4E93}"/>
                  </a:ext>
                </a:extLst>
              </p:cNvPr>
              <p:cNvSpPr/>
              <p:nvPr/>
            </p:nvSpPr>
            <p:spPr>
              <a:xfrm>
                <a:off x="6701547" y="3184396"/>
                <a:ext cx="3029048" cy="9212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a-DK" dirty="0"/>
                  <a:t>Embed distances </a:t>
                </a:r>
                <a:r>
                  <a:rPr lang="da-DK" dirty="0" err="1"/>
                  <a:t>using</a:t>
                </a:r>
                <a:r>
                  <a:rPr lang="da-DK" dirty="0"/>
                  <a:t> RBF</a:t>
                </a:r>
                <a:br>
                  <a:rPr lang="da-DK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𝑖𝑗𝑘</m:t>
                              </m:r>
                            </m:sub>
                          </m:s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da-DK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da-DK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42" name="Rektangel 41">
                <a:extLst>
                  <a:ext uri="{FF2B5EF4-FFF2-40B4-BE49-F238E27FC236}">
                    <a16:creationId xmlns:a16="http://schemas.microsoft.com/office/drawing/2014/main" id="{C466A088-7A97-C6A2-CBFC-AE3DA7CE4E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1547" y="3184396"/>
                <a:ext cx="3029048" cy="921260"/>
              </a:xfrm>
              <a:prstGeom prst="rect">
                <a:avLst/>
              </a:prstGeom>
              <a:blipFill>
                <a:blip r:embed="rId8"/>
                <a:stretch>
                  <a:fillRect t="-64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Lige pilforbindelse 43">
            <a:extLst>
              <a:ext uri="{FF2B5EF4-FFF2-40B4-BE49-F238E27FC236}">
                <a16:creationId xmlns:a16="http://schemas.microsoft.com/office/drawing/2014/main" id="{5BDDB6BD-A0DA-BAF2-12A0-E93467CB5441}"/>
              </a:ext>
            </a:extLst>
          </p:cNvPr>
          <p:cNvCxnSpPr/>
          <p:nvPr/>
        </p:nvCxnSpPr>
        <p:spPr>
          <a:xfrm>
            <a:off x="8238080" y="4205365"/>
            <a:ext cx="0" cy="683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ktangel 44">
                <a:extLst>
                  <a:ext uri="{FF2B5EF4-FFF2-40B4-BE49-F238E27FC236}">
                    <a16:creationId xmlns:a16="http://schemas.microsoft.com/office/drawing/2014/main" id="{8143E4C7-8A7E-5225-7564-24E7B131CC1B}"/>
                  </a:ext>
                </a:extLst>
              </p:cNvPr>
              <p:cNvSpPr/>
              <p:nvPr/>
            </p:nvSpPr>
            <p:spPr>
              <a:xfrm>
                <a:off x="6739128" y="4920982"/>
                <a:ext cx="3029048" cy="109253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a-DK" dirty="0"/>
                  <a:t>Pass distance </a:t>
                </a:r>
                <a:r>
                  <a:rPr lang="da-DK" dirty="0" err="1"/>
                  <a:t>embedding</a:t>
                </a:r>
                <a:r>
                  <a:rPr lang="da-DK" dirty="0"/>
                  <a:t> </a:t>
                </a:r>
                <a:r>
                  <a:rPr lang="da-DK" dirty="0" err="1"/>
                  <a:t>through</a:t>
                </a:r>
                <a:r>
                  <a:rPr lang="da-DK" dirty="0"/>
                  <a:t> MLP</a:t>
                </a:r>
                <a:br>
                  <a:rPr lang="da-DK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45" name="Rektangel 44">
                <a:extLst>
                  <a:ext uri="{FF2B5EF4-FFF2-40B4-BE49-F238E27FC236}">
                    <a16:creationId xmlns:a16="http://schemas.microsoft.com/office/drawing/2014/main" id="{8143E4C7-8A7E-5225-7564-24E7B131CC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128" y="4920982"/>
                <a:ext cx="3029048" cy="109253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ktangel 52">
            <a:extLst>
              <a:ext uri="{FF2B5EF4-FFF2-40B4-BE49-F238E27FC236}">
                <a16:creationId xmlns:a16="http://schemas.microsoft.com/office/drawing/2014/main" id="{4B9F89C0-F000-AF6E-0FD4-E568F25A3FD7}"/>
              </a:ext>
            </a:extLst>
          </p:cNvPr>
          <p:cNvSpPr/>
          <p:nvPr/>
        </p:nvSpPr>
        <p:spPr>
          <a:xfrm>
            <a:off x="3602736" y="5266944"/>
            <a:ext cx="1568526" cy="1289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47" name="Forbindelse: vinklet 46">
            <a:extLst>
              <a:ext uri="{FF2B5EF4-FFF2-40B4-BE49-F238E27FC236}">
                <a16:creationId xmlns:a16="http://schemas.microsoft.com/office/drawing/2014/main" id="{8D589066-3D0B-F30B-6DF0-1E2FA09EF953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70048" y="5194630"/>
            <a:ext cx="4069080" cy="3557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F2F0D7E4-E3F6-8E73-E797-844ACBA300BC}"/>
                  </a:ext>
                </a:extLst>
              </p:cNvPr>
              <p:cNvSpPr txBox="1"/>
              <p:nvPr/>
            </p:nvSpPr>
            <p:spPr>
              <a:xfrm>
                <a:off x="3988664" y="4232991"/>
                <a:ext cx="2568457" cy="945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 err="1"/>
                  <a:t>Add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da-DK" dirty="0"/>
                  <a:t> to output from </a:t>
                </a:r>
                <a:r>
                  <a:rPr lang="da-DK" dirty="0" err="1"/>
                  <a:t>dot</a:t>
                </a:r>
                <a:r>
                  <a:rPr lang="da-DK" dirty="0"/>
                  <a:t>-product</a:t>
                </a:r>
                <a:br>
                  <a:rPr lang="da-DK" dirty="0"/>
                </a:br>
                <a:r>
                  <a:rPr lang="da-DK" dirty="0" err="1"/>
                  <a:t>before</a:t>
                </a:r>
                <a:r>
                  <a:rPr lang="da-DK" dirty="0"/>
                  <a:t> </a:t>
                </a:r>
                <a:r>
                  <a:rPr lang="da-DK" dirty="0" err="1"/>
                  <a:t>softmax</a:t>
                </a:r>
                <a:endParaRPr lang="da-DK" dirty="0"/>
              </a:p>
            </p:txBody>
          </p:sp>
        </mc:Choice>
        <mc:Fallback>
          <p:sp>
            <p:nvSpPr>
              <p:cNvPr id="52" name="Tekstfelt 51">
                <a:extLst>
                  <a:ext uri="{FF2B5EF4-FFF2-40B4-BE49-F238E27FC236}">
                    <a16:creationId xmlns:a16="http://schemas.microsoft.com/office/drawing/2014/main" id="{F2F0D7E4-E3F6-8E73-E797-844ACBA300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664" y="4232991"/>
                <a:ext cx="2568457" cy="945643"/>
              </a:xfrm>
              <a:prstGeom prst="rect">
                <a:avLst/>
              </a:prstGeom>
              <a:blipFill>
                <a:blip r:embed="rId10"/>
                <a:stretch>
                  <a:fillRect l="-1896" t="-1923" b="-897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Lige forbindelse 54">
            <a:extLst>
              <a:ext uri="{FF2B5EF4-FFF2-40B4-BE49-F238E27FC236}">
                <a16:creationId xmlns:a16="http://schemas.microsoft.com/office/drawing/2014/main" id="{3BADCF63-3286-50B6-C1CE-895842EB8E5B}"/>
              </a:ext>
            </a:extLst>
          </p:cNvPr>
          <p:cNvCxnSpPr/>
          <p:nvPr/>
        </p:nvCxnSpPr>
        <p:spPr>
          <a:xfrm>
            <a:off x="9919040" y="3681026"/>
            <a:ext cx="19476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Lige forbindelse 55">
            <a:extLst>
              <a:ext uri="{FF2B5EF4-FFF2-40B4-BE49-F238E27FC236}">
                <a16:creationId xmlns:a16="http://schemas.microsoft.com/office/drawing/2014/main" id="{CD82F198-5E14-F472-3D68-8AAEB60CC2AE}"/>
              </a:ext>
            </a:extLst>
          </p:cNvPr>
          <p:cNvCxnSpPr>
            <a:cxnSpLocks/>
          </p:cNvCxnSpPr>
          <p:nvPr/>
        </p:nvCxnSpPr>
        <p:spPr>
          <a:xfrm flipV="1">
            <a:off x="9922088" y="3583755"/>
            <a:ext cx="0" cy="1945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Lige forbindelse 58">
            <a:extLst>
              <a:ext uri="{FF2B5EF4-FFF2-40B4-BE49-F238E27FC236}">
                <a16:creationId xmlns:a16="http://schemas.microsoft.com/office/drawing/2014/main" id="{317850E9-0090-61E7-1543-737A3ABA8A3A}"/>
              </a:ext>
            </a:extLst>
          </p:cNvPr>
          <p:cNvCxnSpPr>
            <a:cxnSpLocks/>
          </p:cNvCxnSpPr>
          <p:nvPr/>
        </p:nvCxnSpPr>
        <p:spPr>
          <a:xfrm flipV="1">
            <a:off x="11866712" y="3567868"/>
            <a:ext cx="0" cy="1945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kstfelt 59">
                <a:extLst>
                  <a:ext uri="{FF2B5EF4-FFF2-40B4-BE49-F238E27FC236}">
                    <a16:creationId xmlns:a16="http://schemas.microsoft.com/office/drawing/2014/main" id="{A4328143-71AC-F419-1572-9D4795CEF3A6}"/>
                  </a:ext>
                </a:extLst>
              </p:cNvPr>
              <p:cNvSpPr txBox="1"/>
              <p:nvPr/>
            </p:nvSpPr>
            <p:spPr>
              <a:xfrm>
                <a:off x="9842686" y="3828657"/>
                <a:ext cx="1747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60" name="Tekstfelt 59">
                <a:extLst>
                  <a:ext uri="{FF2B5EF4-FFF2-40B4-BE49-F238E27FC236}">
                    <a16:creationId xmlns:a16="http://schemas.microsoft.com/office/drawing/2014/main" id="{A4328143-71AC-F419-1572-9D4795CEF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2686" y="3828657"/>
                <a:ext cx="174727" cy="276999"/>
              </a:xfrm>
              <a:prstGeom prst="rect">
                <a:avLst/>
              </a:prstGeom>
              <a:blipFill>
                <a:blip r:embed="rId11"/>
                <a:stretch>
                  <a:fillRect l="-35714" r="-35714" b="-652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kstfelt 61">
                <a:extLst>
                  <a:ext uri="{FF2B5EF4-FFF2-40B4-BE49-F238E27FC236}">
                    <a16:creationId xmlns:a16="http://schemas.microsoft.com/office/drawing/2014/main" id="{0D1C1680-0275-5CB3-A87B-82EFDEF41975}"/>
                  </a:ext>
                </a:extLst>
              </p:cNvPr>
              <p:cNvSpPr txBox="1"/>
              <p:nvPr/>
            </p:nvSpPr>
            <p:spPr>
              <a:xfrm>
                <a:off x="11619978" y="3800015"/>
                <a:ext cx="4934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62" name="Tekstfelt 61">
                <a:extLst>
                  <a:ext uri="{FF2B5EF4-FFF2-40B4-BE49-F238E27FC236}">
                    <a16:creationId xmlns:a16="http://schemas.microsoft.com/office/drawing/2014/main" id="{0D1C1680-0275-5CB3-A87B-82EFDEF41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9978" y="3800015"/>
                <a:ext cx="493468" cy="276999"/>
              </a:xfrm>
              <a:prstGeom prst="rect">
                <a:avLst/>
              </a:prstGeom>
              <a:blipFill>
                <a:blip r:embed="rId12"/>
                <a:stretch>
                  <a:fillRect l="-7407" b="-869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Lige forbindelse 63">
            <a:extLst>
              <a:ext uri="{FF2B5EF4-FFF2-40B4-BE49-F238E27FC236}">
                <a16:creationId xmlns:a16="http://schemas.microsoft.com/office/drawing/2014/main" id="{4312389C-7670-425F-23AB-3CD67F74ADAC}"/>
              </a:ext>
            </a:extLst>
          </p:cNvPr>
          <p:cNvCxnSpPr>
            <a:cxnSpLocks/>
          </p:cNvCxnSpPr>
          <p:nvPr/>
        </p:nvCxnSpPr>
        <p:spPr>
          <a:xfrm>
            <a:off x="10154605" y="3632391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Lige forbindelse 68">
            <a:extLst>
              <a:ext uri="{FF2B5EF4-FFF2-40B4-BE49-F238E27FC236}">
                <a16:creationId xmlns:a16="http://schemas.microsoft.com/office/drawing/2014/main" id="{A01F9D93-1BC6-1ACD-384E-24BF13F6878B}"/>
              </a:ext>
            </a:extLst>
          </p:cNvPr>
          <p:cNvCxnSpPr>
            <a:cxnSpLocks/>
          </p:cNvCxnSpPr>
          <p:nvPr/>
        </p:nvCxnSpPr>
        <p:spPr>
          <a:xfrm>
            <a:off x="10375435" y="3635723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Lige forbindelse 69">
            <a:extLst>
              <a:ext uri="{FF2B5EF4-FFF2-40B4-BE49-F238E27FC236}">
                <a16:creationId xmlns:a16="http://schemas.microsoft.com/office/drawing/2014/main" id="{ECD43144-5A14-0FBE-5A4C-328C9FDB49A9}"/>
              </a:ext>
            </a:extLst>
          </p:cNvPr>
          <p:cNvCxnSpPr>
            <a:cxnSpLocks/>
          </p:cNvCxnSpPr>
          <p:nvPr/>
        </p:nvCxnSpPr>
        <p:spPr>
          <a:xfrm>
            <a:off x="10572657" y="3632391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Lige forbindelse 70">
            <a:extLst>
              <a:ext uri="{FF2B5EF4-FFF2-40B4-BE49-F238E27FC236}">
                <a16:creationId xmlns:a16="http://schemas.microsoft.com/office/drawing/2014/main" id="{0B0F2793-50B7-390A-ACFD-2DB1750B8CD1}"/>
              </a:ext>
            </a:extLst>
          </p:cNvPr>
          <p:cNvCxnSpPr>
            <a:cxnSpLocks/>
          </p:cNvCxnSpPr>
          <p:nvPr/>
        </p:nvCxnSpPr>
        <p:spPr>
          <a:xfrm>
            <a:off x="10767795" y="3629266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Lige forbindelse 71">
            <a:extLst>
              <a:ext uri="{FF2B5EF4-FFF2-40B4-BE49-F238E27FC236}">
                <a16:creationId xmlns:a16="http://schemas.microsoft.com/office/drawing/2014/main" id="{48F4A43E-7035-1878-09C6-9873FE715C2C}"/>
              </a:ext>
            </a:extLst>
          </p:cNvPr>
          <p:cNvCxnSpPr>
            <a:cxnSpLocks/>
          </p:cNvCxnSpPr>
          <p:nvPr/>
        </p:nvCxnSpPr>
        <p:spPr>
          <a:xfrm>
            <a:off x="10963235" y="3632391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Lige forbindelse 72">
            <a:extLst>
              <a:ext uri="{FF2B5EF4-FFF2-40B4-BE49-F238E27FC236}">
                <a16:creationId xmlns:a16="http://schemas.microsoft.com/office/drawing/2014/main" id="{85BF9659-317F-4463-AE7E-C180730E4969}"/>
              </a:ext>
            </a:extLst>
          </p:cNvPr>
          <p:cNvCxnSpPr>
            <a:cxnSpLocks/>
          </p:cNvCxnSpPr>
          <p:nvPr/>
        </p:nvCxnSpPr>
        <p:spPr>
          <a:xfrm>
            <a:off x="11144012" y="3632391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Lige forbindelse 73">
            <a:extLst>
              <a:ext uri="{FF2B5EF4-FFF2-40B4-BE49-F238E27FC236}">
                <a16:creationId xmlns:a16="http://schemas.microsoft.com/office/drawing/2014/main" id="{4AF04765-81FE-3EF5-2098-D000E38BA688}"/>
              </a:ext>
            </a:extLst>
          </p:cNvPr>
          <p:cNvCxnSpPr>
            <a:cxnSpLocks/>
          </p:cNvCxnSpPr>
          <p:nvPr/>
        </p:nvCxnSpPr>
        <p:spPr>
          <a:xfrm>
            <a:off x="11294758" y="3629266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Lige forbindelse 74">
            <a:extLst>
              <a:ext uri="{FF2B5EF4-FFF2-40B4-BE49-F238E27FC236}">
                <a16:creationId xmlns:a16="http://schemas.microsoft.com/office/drawing/2014/main" id="{0BE60216-D4F0-05F1-F794-8B49E21ACD63}"/>
              </a:ext>
            </a:extLst>
          </p:cNvPr>
          <p:cNvCxnSpPr>
            <a:cxnSpLocks/>
          </p:cNvCxnSpPr>
          <p:nvPr/>
        </p:nvCxnSpPr>
        <p:spPr>
          <a:xfrm>
            <a:off x="11472245" y="3629266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Lige forbindelse 75">
            <a:extLst>
              <a:ext uri="{FF2B5EF4-FFF2-40B4-BE49-F238E27FC236}">
                <a16:creationId xmlns:a16="http://schemas.microsoft.com/office/drawing/2014/main" id="{76A387B6-0F0D-0B2D-3110-E8A81C99F055}"/>
              </a:ext>
            </a:extLst>
          </p:cNvPr>
          <p:cNvCxnSpPr>
            <a:cxnSpLocks/>
          </p:cNvCxnSpPr>
          <p:nvPr/>
        </p:nvCxnSpPr>
        <p:spPr>
          <a:xfrm>
            <a:off x="11660805" y="3629266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Lige forbindelse 76">
            <a:extLst>
              <a:ext uri="{FF2B5EF4-FFF2-40B4-BE49-F238E27FC236}">
                <a16:creationId xmlns:a16="http://schemas.microsoft.com/office/drawing/2014/main" id="{1171027C-A07D-71D7-722A-6E1471E658FA}"/>
              </a:ext>
            </a:extLst>
          </p:cNvPr>
          <p:cNvCxnSpPr>
            <a:cxnSpLocks/>
          </p:cNvCxnSpPr>
          <p:nvPr/>
        </p:nvCxnSpPr>
        <p:spPr>
          <a:xfrm>
            <a:off x="11869401" y="3629266"/>
            <a:ext cx="0" cy="972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kstfelt 79">
                <a:extLst>
                  <a:ext uri="{FF2B5EF4-FFF2-40B4-BE49-F238E27FC236}">
                    <a16:creationId xmlns:a16="http://schemas.microsoft.com/office/drawing/2014/main" id="{BE87B0E9-2F85-FC15-5475-726CDA7BED41}"/>
                  </a:ext>
                </a:extLst>
              </p:cNvPr>
              <p:cNvSpPr txBox="1"/>
              <p:nvPr/>
            </p:nvSpPr>
            <p:spPr>
              <a:xfrm>
                <a:off x="10638765" y="3794185"/>
                <a:ext cx="2637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80" name="Tekstfelt 79">
                <a:extLst>
                  <a:ext uri="{FF2B5EF4-FFF2-40B4-BE49-F238E27FC236}">
                    <a16:creationId xmlns:a16="http://schemas.microsoft.com/office/drawing/2014/main" id="{BE87B0E9-2F85-FC15-5475-726CDA7BE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765" y="3794185"/>
                <a:ext cx="263727" cy="276999"/>
              </a:xfrm>
              <a:prstGeom prst="rect">
                <a:avLst/>
              </a:prstGeom>
              <a:blipFill>
                <a:blip r:embed="rId13"/>
                <a:stretch>
                  <a:fillRect l="-13953" r="-6977" b="-1521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2" name="Billede 81" descr="Et billede, der indeholder linje/række&#10;&#10;AI-genereret indhold kan være ukorrekt.">
            <a:extLst>
              <a:ext uri="{FF2B5EF4-FFF2-40B4-BE49-F238E27FC236}">
                <a16:creationId xmlns:a16="http://schemas.microsoft.com/office/drawing/2014/main" id="{6CA9BD67-3CAE-FED2-9284-1B22E19390E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47991" y="3229712"/>
            <a:ext cx="435371" cy="380027"/>
          </a:xfrm>
          <a:prstGeom prst="rect">
            <a:avLst/>
          </a:prstGeom>
        </p:spPr>
      </p:pic>
      <p:sp>
        <p:nvSpPr>
          <p:cNvPr id="84" name="Tekstfelt 83">
            <a:extLst>
              <a:ext uri="{FF2B5EF4-FFF2-40B4-BE49-F238E27FC236}">
                <a16:creationId xmlns:a16="http://schemas.microsoft.com/office/drawing/2014/main" id="{735229BA-8C52-E819-2FFB-203EABED1FB0}"/>
              </a:ext>
            </a:extLst>
          </p:cNvPr>
          <p:cNvSpPr txBox="1"/>
          <p:nvPr/>
        </p:nvSpPr>
        <p:spPr>
          <a:xfrm>
            <a:off x="5664758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a-DK" dirty="0"/>
          </a:p>
        </p:txBody>
      </p:sp>
      <p:sp>
        <p:nvSpPr>
          <p:cNvPr id="85" name="Rektangel 84">
            <a:extLst>
              <a:ext uri="{FF2B5EF4-FFF2-40B4-BE49-F238E27FC236}">
                <a16:creationId xmlns:a16="http://schemas.microsoft.com/office/drawing/2014/main" id="{42BE1EBA-1A87-D467-E77B-1DCCB8463202}"/>
              </a:ext>
            </a:extLst>
          </p:cNvPr>
          <p:cNvSpPr/>
          <p:nvPr/>
        </p:nvSpPr>
        <p:spPr>
          <a:xfrm>
            <a:off x="9822462" y="4218109"/>
            <a:ext cx="177635" cy="18809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6" name="Rektangel 85">
            <a:extLst>
              <a:ext uri="{FF2B5EF4-FFF2-40B4-BE49-F238E27FC236}">
                <a16:creationId xmlns:a16="http://schemas.microsoft.com/office/drawing/2014/main" id="{71D7C6C8-19B1-DF19-4402-5585D0980829}"/>
              </a:ext>
            </a:extLst>
          </p:cNvPr>
          <p:cNvSpPr/>
          <p:nvPr/>
        </p:nvSpPr>
        <p:spPr>
          <a:xfrm>
            <a:off x="10000097" y="4218107"/>
            <a:ext cx="177635" cy="18809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7" name="Rektangel 86">
            <a:extLst>
              <a:ext uri="{FF2B5EF4-FFF2-40B4-BE49-F238E27FC236}">
                <a16:creationId xmlns:a16="http://schemas.microsoft.com/office/drawing/2014/main" id="{3465A673-D8E9-209A-46B1-21E9665D7D19}"/>
              </a:ext>
            </a:extLst>
          </p:cNvPr>
          <p:cNvSpPr/>
          <p:nvPr/>
        </p:nvSpPr>
        <p:spPr>
          <a:xfrm>
            <a:off x="10177732" y="4218107"/>
            <a:ext cx="177635" cy="18809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8" name="Rektangel 87">
            <a:extLst>
              <a:ext uri="{FF2B5EF4-FFF2-40B4-BE49-F238E27FC236}">
                <a16:creationId xmlns:a16="http://schemas.microsoft.com/office/drawing/2014/main" id="{46896AE3-32CC-4EB8-F40B-539D910416E8}"/>
              </a:ext>
            </a:extLst>
          </p:cNvPr>
          <p:cNvSpPr/>
          <p:nvPr/>
        </p:nvSpPr>
        <p:spPr>
          <a:xfrm>
            <a:off x="10355367" y="4218107"/>
            <a:ext cx="177635" cy="18809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9" name="Rektangel 88">
            <a:extLst>
              <a:ext uri="{FF2B5EF4-FFF2-40B4-BE49-F238E27FC236}">
                <a16:creationId xmlns:a16="http://schemas.microsoft.com/office/drawing/2014/main" id="{C2CCC4A9-3C3B-3EC3-B3D5-AEA398B6A691}"/>
              </a:ext>
            </a:extLst>
          </p:cNvPr>
          <p:cNvSpPr/>
          <p:nvPr/>
        </p:nvSpPr>
        <p:spPr>
          <a:xfrm>
            <a:off x="10533002" y="4218109"/>
            <a:ext cx="177635" cy="18809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0" name="Rektangel 89">
            <a:extLst>
              <a:ext uri="{FF2B5EF4-FFF2-40B4-BE49-F238E27FC236}">
                <a16:creationId xmlns:a16="http://schemas.microsoft.com/office/drawing/2014/main" id="{A5350C4E-9767-2B67-4896-F4B4D20267EA}"/>
              </a:ext>
            </a:extLst>
          </p:cNvPr>
          <p:cNvSpPr/>
          <p:nvPr/>
        </p:nvSpPr>
        <p:spPr>
          <a:xfrm>
            <a:off x="10710637" y="4218107"/>
            <a:ext cx="177635" cy="18809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1" name="Rektangel 90">
            <a:extLst>
              <a:ext uri="{FF2B5EF4-FFF2-40B4-BE49-F238E27FC236}">
                <a16:creationId xmlns:a16="http://schemas.microsoft.com/office/drawing/2014/main" id="{375E7F19-FC62-7CF0-89F9-0E8DA603ACC7}"/>
              </a:ext>
            </a:extLst>
          </p:cNvPr>
          <p:cNvSpPr/>
          <p:nvPr/>
        </p:nvSpPr>
        <p:spPr>
          <a:xfrm>
            <a:off x="10888272" y="4218107"/>
            <a:ext cx="177635" cy="18809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2" name="Rektangel 91">
            <a:extLst>
              <a:ext uri="{FF2B5EF4-FFF2-40B4-BE49-F238E27FC236}">
                <a16:creationId xmlns:a16="http://schemas.microsoft.com/office/drawing/2014/main" id="{59F21A36-BB22-C978-3EB0-2685DC2B5EA4}"/>
              </a:ext>
            </a:extLst>
          </p:cNvPr>
          <p:cNvSpPr/>
          <p:nvPr/>
        </p:nvSpPr>
        <p:spPr>
          <a:xfrm>
            <a:off x="11065907" y="4218107"/>
            <a:ext cx="177635" cy="188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3" name="Rektangel 92">
            <a:extLst>
              <a:ext uri="{FF2B5EF4-FFF2-40B4-BE49-F238E27FC236}">
                <a16:creationId xmlns:a16="http://schemas.microsoft.com/office/drawing/2014/main" id="{9FDB3C6C-0045-087E-7CB4-3B867A67EBA1}"/>
              </a:ext>
            </a:extLst>
          </p:cNvPr>
          <p:cNvSpPr/>
          <p:nvPr/>
        </p:nvSpPr>
        <p:spPr>
          <a:xfrm>
            <a:off x="11243542" y="4218107"/>
            <a:ext cx="177635" cy="188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4" name="Rektangel 93">
            <a:extLst>
              <a:ext uri="{FF2B5EF4-FFF2-40B4-BE49-F238E27FC236}">
                <a16:creationId xmlns:a16="http://schemas.microsoft.com/office/drawing/2014/main" id="{D0138AA4-2609-ABD9-86CC-9C19BA1BAF14}"/>
              </a:ext>
            </a:extLst>
          </p:cNvPr>
          <p:cNvSpPr/>
          <p:nvPr/>
        </p:nvSpPr>
        <p:spPr>
          <a:xfrm>
            <a:off x="11421177" y="4218105"/>
            <a:ext cx="177635" cy="188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5" name="Rektangel 94">
            <a:extLst>
              <a:ext uri="{FF2B5EF4-FFF2-40B4-BE49-F238E27FC236}">
                <a16:creationId xmlns:a16="http://schemas.microsoft.com/office/drawing/2014/main" id="{4652EEDB-6337-0625-A06A-78A703EB4834}"/>
              </a:ext>
            </a:extLst>
          </p:cNvPr>
          <p:cNvSpPr/>
          <p:nvPr/>
        </p:nvSpPr>
        <p:spPr>
          <a:xfrm>
            <a:off x="11598812" y="4218105"/>
            <a:ext cx="177635" cy="188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6" name="Rektangel 95">
            <a:extLst>
              <a:ext uri="{FF2B5EF4-FFF2-40B4-BE49-F238E27FC236}">
                <a16:creationId xmlns:a16="http://schemas.microsoft.com/office/drawing/2014/main" id="{954FCA1E-9B2B-8FCA-7C59-FB12263EF9E3}"/>
              </a:ext>
            </a:extLst>
          </p:cNvPr>
          <p:cNvSpPr/>
          <p:nvPr/>
        </p:nvSpPr>
        <p:spPr>
          <a:xfrm>
            <a:off x="11776447" y="4218105"/>
            <a:ext cx="177635" cy="188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88183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2AC52-232A-4E93-9B6C-973126B0B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A4E38C-A66F-476F-17DE-173430A7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95" y="32884"/>
            <a:ext cx="10515600" cy="1325563"/>
          </a:xfrm>
        </p:spPr>
        <p:txBody>
          <a:bodyPr/>
          <a:lstStyle/>
          <a:p>
            <a:r>
              <a:rPr lang="da-DK" dirty="0"/>
              <a:t>New </a:t>
            </a:r>
            <a:r>
              <a:rPr lang="da-DK" dirty="0" err="1"/>
              <a:t>pooling</a:t>
            </a:r>
            <a:r>
              <a:rPr lang="da-DK" dirty="0"/>
              <a:t> </a:t>
            </a:r>
            <a:r>
              <a:rPr lang="da-DK" dirty="0" err="1"/>
              <a:t>strategy</a:t>
            </a:r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8C4185B-7150-8378-8759-C6F27A2FE3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961822"/>
                <a:ext cx="10937986" cy="4351338"/>
              </a:xfrm>
            </p:spPr>
            <p:txBody>
              <a:bodyPr/>
              <a:lstStyle/>
              <a:p>
                <a:pPr lvl="1"/>
                <a:r>
                  <a:rPr lang="da-DK" dirty="0"/>
                  <a:t>Do message </a:t>
                </a:r>
                <a:r>
                  <a:rPr lang="da-DK" dirty="0" err="1"/>
                  <a:t>passing</a:t>
                </a:r>
                <a:r>
                  <a:rPr lang="da-DK" dirty="0"/>
                  <a:t> as </a:t>
                </a:r>
                <a:r>
                  <a:rPr lang="da-DK" dirty="0" err="1"/>
                  <a:t>usual</a:t>
                </a:r>
                <a:r>
                  <a:rPr lang="da-DK" dirty="0"/>
                  <a:t> to </a:t>
                </a:r>
                <a:r>
                  <a:rPr lang="da-DK" dirty="0" err="1"/>
                  <a:t>get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After</a:t>
                </a:r>
                <a:r>
                  <a:rPr lang="da-DK" dirty="0"/>
                  <a:t> message </a:t>
                </a:r>
                <a:r>
                  <a:rPr lang="da-DK" dirty="0" err="1"/>
                  <a:t>passing</a:t>
                </a:r>
                <a:r>
                  <a:rPr lang="da-DK" dirty="0"/>
                  <a:t> </a:t>
                </a:r>
                <a:r>
                  <a:rPr lang="da-DK" dirty="0" err="1"/>
                  <a:t>apply</a:t>
                </a:r>
                <a:r>
                  <a:rPr lang="da-DK" dirty="0"/>
                  <a:t> attention </a:t>
                </a:r>
                <a:r>
                  <a:rPr lang="da-DK" dirty="0" err="1"/>
                  <a:t>based</a:t>
                </a:r>
                <a:r>
                  <a:rPr lang="da-DK" dirty="0"/>
                  <a:t> </a:t>
                </a:r>
                <a:r>
                  <a:rPr lang="da-DK" dirty="0" err="1"/>
                  <a:t>pooling</a:t>
                </a:r>
                <a:r>
                  <a:rPr lang="da-DK" dirty="0"/>
                  <a:t> as </a:t>
                </a:r>
                <a:r>
                  <a:rPr lang="da-DK" dirty="0" err="1"/>
                  <a:t>outlined</a:t>
                </a:r>
                <a:r>
                  <a:rPr lang="da-DK" dirty="0"/>
                  <a:t> to </a:t>
                </a:r>
                <a:r>
                  <a:rPr lang="da-DK" dirty="0" err="1"/>
                  <a:t>get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𝑎𝑡𝑡</m:t>
                        </m:r>
                      </m:sup>
                    </m:sSubSup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Also</a:t>
                </a:r>
                <a:r>
                  <a:rPr lang="da-DK" dirty="0"/>
                  <a:t> </a:t>
                </a:r>
                <a:r>
                  <a:rPr lang="da-DK" dirty="0" err="1"/>
                  <a:t>add</a:t>
                </a:r>
                <a:r>
                  <a:rPr lang="da-DK" dirty="0"/>
                  <a:t> </a:t>
                </a:r>
                <a:r>
                  <a:rPr lang="da-DK" dirty="0" err="1"/>
                  <a:t>condition</a:t>
                </a:r>
                <a:r>
                  <a:rPr lang="da-DK" dirty="0"/>
                  <a:t> </a:t>
                </a:r>
                <a:r>
                  <a:rPr lang="da-DK" dirty="0" err="1"/>
                  <a:t>if</a:t>
                </a:r>
                <a:r>
                  <a:rPr lang="da-DK" dirty="0"/>
                  <a:t> </a:t>
                </a:r>
                <a:r>
                  <a:rPr lang="da-DK" dirty="0" err="1"/>
                  <a:t>conditional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da-DK" dirty="0"/>
              </a:p>
              <a:p>
                <a:pPr marL="457200" lvl="1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8C4185B-7150-8378-8759-C6F27A2FE3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61822"/>
                <a:ext cx="10937986" cy="4351338"/>
              </a:xfrm>
              <a:blipFill>
                <a:blip r:embed="rId2"/>
                <a:stretch>
                  <a:fillRect t="-182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Ellipse 41">
            <a:extLst>
              <a:ext uri="{FF2B5EF4-FFF2-40B4-BE49-F238E27FC236}">
                <a16:creationId xmlns:a16="http://schemas.microsoft.com/office/drawing/2014/main" id="{1B895A7A-0DB8-CF13-B5C9-4F346B1D78FB}"/>
              </a:ext>
            </a:extLst>
          </p:cNvPr>
          <p:cNvSpPr/>
          <p:nvPr/>
        </p:nvSpPr>
        <p:spPr>
          <a:xfrm>
            <a:off x="4894708" y="4969583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A54B5A90-6E38-74C1-A958-C336FD57DFFE}"/>
              </a:ext>
            </a:extLst>
          </p:cNvPr>
          <p:cNvSpPr/>
          <p:nvPr/>
        </p:nvSpPr>
        <p:spPr>
          <a:xfrm rot="18910962">
            <a:off x="6056234" y="434035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0953A64B-0BA3-06D0-268C-EEC4681F4D0F}"/>
              </a:ext>
            </a:extLst>
          </p:cNvPr>
          <p:cNvSpPr/>
          <p:nvPr/>
        </p:nvSpPr>
        <p:spPr>
          <a:xfrm rot="915767">
            <a:off x="6028743" y="5192252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9122B61F-D968-7FDD-EFB9-6A389C6038E5}"/>
              </a:ext>
            </a:extLst>
          </p:cNvPr>
          <p:cNvSpPr/>
          <p:nvPr/>
        </p:nvSpPr>
        <p:spPr>
          <a:xfrm rot="20911658">
            <a:off x="6943143" y="5674741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28EBC7D6-1A6D-49A6-A4BD-6F3C83286EA3}"/>
              </a:ext>
            </a:extLst>
          </p:cNvPr>
          <p:cNvSpPr/>
          <p:nvPr/>
        </p:nvSpPr>
        <p:spPr>
          <a:xfrm rot="20573567">
            <a:off x="7303078" y="4216444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47" name="Lige forbindelse 46">
            <a:extLst>
              <a:ext uri="{FF2B5EF4-FFF2-40B4-BE49-F238E27FC236}">
                <a16:creationId xmlns:a16="http://schemas.microsoft.com/office/drawing/2014/main" id="{4B7F71B2-97D1-AB54-4571-CC54212247E0}"/>
              </a:ext>
            </a:extLst>
          </p:cNvPr>
          <p:cNvCxnSpPr>
            <a:stCxn id="42" idx="7"/>
            <a:endCxn id="43" idx="2"/>
          </p:cNvCxnSpPr>
          <p:nvPr/>
        </p:nvCxnSpPr>
        <p:spPr>
          <a:xfrm flipV="1">
            <a:off x="5299746" y="4744856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Lige forbindelse 47">
            <a:extLst>
              <a:ext uri="{FF2B5EF4-FFF2-40B4-BE49-F238E27FC236}">
                <a16:creationId xmlns:a16="http://schemas.microsoft.com/office/drawing/2014/main" id="{2DE51AEC-4F6D-4BB7-CFBC-FCECBC905BBA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5369239" y="5206849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Lige forbindelse 48">
            <a:extLst>
              <a:ext uri="{FF2B5EF4-FFF2-40B4-BE49-F238E27FC236}">
                <a16:creationId xmlns:a16="http://schemas.microsoft.com/office/drawing/2014/main" id="{725EC20F-FC2D-1652-C6E0-AB9CC3D82572}"/>
              </a:ext>
            </a:extLst>
          </p:cNvPr>
          <p:cNvCxnSpPr>
            <a:cxnSpLocks/>
            <a:stCxn id="43" idx="3"/>
            <a:endCxn id="44" idx="0"/>
          </p:cNvCxnSpPr>
          <p:nvPr/>
        </p:nvCxnSpPr>
        <p:spPr>
          <a:xfrm>
            <a:off x="6292743" y="4814884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Lige forbindelse 49">
            <a:extLst>
              <a:ext uri="{FF2B5EF4-FFF2-40B4-BE49-F238E27FC236}">
                <a16:creationId xmlns:a16="http://schemas.microsoft.com/office/drawing/2014/main" id="{B853E9A8-8740-D525-85F1-03A05D29E224}"/>
              </a:ext>
            </a:extLst>
          </p:cNvPr>
          <p:cNvCxnSpPr>
            <a:cxnSpLocks/>
            <a:stCxn id="46" idx="2"/>
            <a:endCxn id="43" idx="5"/>
          </p:cNvCxnSpPr>
          <p:nvPr/>
        </p:nvCxnSpPr>
        <p:spPr>
          <a:xfrm flipH="1">
            <a:off x="6530764" y="4523504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Lige forbindelse 50">
            <a:extLst>
              <a:ext uri="{FF2B5EF4-FFF2-40B4-BE49-F238E27FC236}">
                <a16:creationId xmlns:a16="http://schemas.microsoft.com/office/drawing/2014/main" id="{AFC47BDE-EE61-268B-F554-F9C09E9CB6AD}"/>
              </a:ext>
            </a:extLst>
          </p:cNvPr>
          <p:cNvCxnSpPr>
            <a:cxnSpLocks/>
            <a:stCxn id="45" idx="1"/>
            <a:endCxn id="44" idx="6"/>
          </p:cNvCxnSpPr>
          <p:nvPr/>
        </p:nvCxnSpPr>
        <p:spPr>
          <a:xfrm flipH="1" flipV="1">
            <a:off x="6494905" y="5491977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Buet forbindelse 68">
            <a:extLst>
              <a:ext uri="{FF2B5EF4-FFF2-40B4-BE49-F238E27FC236}">
                <a16:creationId xmlns:a16="http://schemas.microsoft.com/office/drawing/2014/main" id="{D7027312-5E4B-2AA9-24BF-1497DFEFCA69}"/>
              </a:ext>
            </a:extLst>
          </p:cNvPr>
          <p:cNvCxnSpPr>
            <a:cxnSpLocks/>
            <a:stCxn id="43" idx="1"/>
            <a:endCxn id="42" idx="0"/>
          </p:cNvCxnSpPr>
          <p:nvPr/>
        </p:nvCxnSpPr>
        <p:spPr>
          <a:xfrm rot="16200000" flipH="1" flipV="1">
            <a:off x="5397745" y="4311092"/>
            <a:ext cx="392720" cy="924261"/>
          </a:xfrm>
          <a:prstGeom prst="curvedConnector3">
            <a:avLst>
              <a:gd name="adj1" fmla="val 825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Buet forbindelse 70">
            <a:extLst>
              <a:ext uri="{FF2B5EF4-FFF2-40B4-BE49-F238E27FC236}">
                <a16:creationId xmlns:a16="http://schemas.microsoft.com/office/drawing/2014/main" id="{E636AB3F-0D3B-C33D-2415-C0DEA1393068}"/>
              </a:ext>
            </a:extLst>
          </p:cNvPr>
          <p:cNvCxnSpPr>
            <a:cxnSpLocks/>
            <a:stCxn id="44" idx="4"/>
            <a:endCxn id="42" idx="4"/>
          </p:cNvCxnSpPr>
          <p:nvPr/>
        </p:nvCxnSpPr>
        <p:spPr>
          <a:xfrm rot="5400000" flipH="1">
            <a:off x="5560612" y="5015476"/>
            <a:ext cx="214300" cy="1071576"/>
          </a:xfrm>
          <a:prstGeom prst="curvedConnector3">
            <a:avLst>
              <a:gd name="adj1" fmla="val -110578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BB62826C-F241-4629-63DD-F67490754BD4}"/>
                  </a:ext>
                </a:extLst>
              </p:cNvPr>
              <p:cNvSpPr txBox="1"/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a-DK" dirty="0"/>
                  <a:t>Input </a:t>
                </a:r>
                <a:r>
                  <a:rPr lang="da-DK" dirty="0" err="1"/>
                  <a:t>graph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78" name="Tekstfelt 77">
                <a:extLst>
                  <a:ext uri="{FF2B5EF4-FFF2-40B4-BE49-F238E27FC236}">
                    <a16:creationId xmlns:a16="http://schemas.microsoft.com/office/drawing/2014/main" id="{A611659C-6F84-C9F6-7699-4DDCDC264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435" y="6390002"/>
                <a:ext cx="1633909" cy="369332"/>
              </a:xfrm>
              <a:prstGeom prst="rect">
                <a:avLst/>
              </a:prstGeom>
              <a:blipFill>
                <a:blip r:embed="rId9"/>
                <a:stretch>
                  <a:fillRect l="-3101" t="-6667" b="-23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Lige pilforbindelse 80">
            <a:extLst>
              <a:ext uri="{FF2B5EF4-FFF2-40B4-BE49-F238E27FC236}">
                <a16:creationId xmlns:a16="http://schemas.microsoft.com/office/drawing/2014/main" id="{50845E94-6DA4-C84F-F05A-AACE2C5F7E11}"/>
              </a:ext>
            </a:extLst>
          </p:cNvPr>
          <p:cNvCxnSpPr>
            <a:cxnSpLocks/>
          </p:cNvCxnSpPr>
          <p:nvPr/>
        </p:nvCxnSpPr>
        <p:spPr>
          <a:xfrm>
            <a:off x="3615168" y="5202200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685AA3CC-EDF7-5828-474E-E985B6EC2A37}"/>
                  </a:ext>
                </a:extLst>
              </p:cNvPr>
              <p:cNvSpPr txBox="1"/>
              <p:nvPr/>
            </p:nvSpPr>
            <p:spPr>
              <a:xfrm>
                <a:off x="3615168" y="6161845"/>
                <a:ext cx="53165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Do message </a:t>
                </a:r>
                <a:r>
                  <a:rPr lang="da-DK" dirty="0" err="1"/>
                  <a:t>passing</a:t>
                </a:r>
                <a:r>
                  <a:rPr lang="da-DK" dirty="0"/>
                  <a:t> N-times. At the </a:t>
                </a:r>
                <a:r>
                  <a:rPr lang="da-DK" dirty="0" err="1"/>
                  <a:t>very</a:t>
                </a:r>
                <a:r>
                  <a:rPr lang="da-DK" dirty="0"/>
                  <a:t> end </a:t>
                </a:r>
                <a:r>
                  <a:rPr lang="da-DK" dirty="0" err="1"/>
                  <a:t>apply</a:t>
                </a:r>
                <a:r>
                  <a:rPr lang="da-DK" dirty="0"/>
                  <a:t>  </a:t>
                </a:r>
                <a:r>
                  <a:rPr lang="da-DK" dirty="0" err="1"/>
                  <a:t>softmax</a:t>
                </a:r>
                <a:r>
                  <a:rPr lang="da-DK" dirty="0"/>
                  <a:t> , so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get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atom-wisely</a:t>
                </a:r>
              </a:p>
            </p:txBody>
          </p:sp>
        </mc:Choice>
        <mc:Fallback xmlns="">
          <p:sp>
            <p:nvSpPr>
              <p:cNvPr id="83" name="Tekstfelt 82">
                <a:extLst>
                  <a:ext uri="{FF2B5EF4-FFF2-40B4-BE49-F238E27FC236}">
                    <a16:creationId xmlns:a16="http://schemas.microsoft.com/office/drawing/2014/main" id="{795F74CD-C03D-56C8-FB01-DDFCD7796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168" y="6161845"/>
                <a:ext cx="5316525" cy="646331"/>
              </a:xfrm>
              <a:prstGeom prst="rect">
                <a:avLst/>
              </a:prstGeom>
              <a:blipFill>
                <a:blip r:embed="rId10"/>
                <a:stretch>
                  <a:fillRect l="-952" t="-5769" b="-1153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ktangel 83">
            <a:extLst>
              <a:ext uri="{FF2B5EF4-FFF2-40B4-BE49-F238E27FC236}">
                <a16:creationId xmlns:a16="http://schemas.microsoft.com/office/drawing/2014/main" id="{1DEF13B2-F96A-B04F-BD91-0011A8AA47A8}"/>
              </a:ext>
            </a:extLst>
          </p:cNvPr>
          <p:cNvSpPr/>
          <p:nvPr/>
        </p:nvSpPr>
        <p:spPr>
          <a:xfrm>
            <a:off x="4792708" y="4181790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85" name="Rektangel 84">
            <a:extLst>
              <a:ext uri="{FF2B5EF4-FFF2-40B4-BE49-F238E27FC236}">
                <a16:creationId xmlns:a16="http://schemas.microsoft.com/office/drawing/2014/main" id="{01DA3056-F5E1-51C4-4CB9-584BEB67B7ED}"/>
              </a:ext>
            </a:extLst>
          </p:cNvPr>
          <p:cNvSpPr/>
          <p:nvPr/>
        </p:nvSpPr>
        <p:spPr>
          <a:xfrm>
            <a:off x="4792708" y="4386414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6" name="Rektangel 85">
            <a:extLst>
              <a:ext uri="{FF2B5EF4-FFF2-40B4-BE49-F238E27FC236}">
                <a16:creationId xmlns:a16="http://schemas.microsoft.com/office/drawing/2014/main" id="{BF1AFE3F-0513-E1FC-99D6-DBCA3D80D2D6}"/>
              </a:ext>
            </a:extLst>
          </p:cNvPr>
          <p:cNvSpPr/>
          <p:nvPr/>
        </p:nvSpPr>
        <p:spPr>
          <a:xfrm>
            <a:off x="4791794" y="4589504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7" name="Rektangel 86">
            <a:extLst>
              <a:ext uri="{FF2B5EF4-FFF2-40B4-BE49-F238E27FC236}">
                <a16:creationId xmlns:a16="http://schemas.microsoft.com/office/drawing/2014/main" id="{1367FAF2-DCA4-111B-DE46-DEDA3369627B}"/>
              </a:ext>
            </a:extLst>
          </p:cNvPr>
          <p:cNvSpPr/>
          <p:nvPr/>
        </p:nvSpPr>
        <p:spPr>
          <a:xfrm>
            <a:off x="6454906" y="3922947"/>
            <a:ext cx="203090" cy="20309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88" name="Rektangel 87">
            <a:extLst>
              <a:ext uri="{FF2B5EF4-FFF2-40B4-BE49-F238E27FC236}">
                <a16:creationId xmlns:a16="http://schemas.microsoft.com/office/drawing/2014/main" id="{6D53848E-4720-FEE9-9117-F546467CB30B}"/>
              </a:ext>
            </a:extLst>
          </p:cNvPr>
          <p:cNvSpPr/>
          <p:nvPr/>
        </p:nvSpPr>
        <p:spPr>
          <a:xfrm>
            <a:off x="6454906" y="3719857"/>
            <a:ext cx="203090" cy="20309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9" name="Rektangel 88">
            <a:extLst>
              <a:ext uri="{FF2B5EF4-FFF2-40B4-BE49-F238E27FC236}">
                <a16:creationId xmlns:a16="http://schemas.microsoft.com/office/drawing/2014/main" id="{8EB0320C-C105-1791-AADE-5911F0CCB473}"/>
              </a:ext>
            </a:extLst>
          </p:cNvPr>
          <p:cNvSpPr/>
          <p:nvPr/>
        </p:nvSpPr>
        <p:spPr>
          <a:xfrm>
            <a:off x="6454906" y="4103613"/>
            <a:ext cx="203090" cy="2030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90" name="Lige pilforbindelse 89">
            <a:extLst>
              <a:ext uri="{FF2B5EF4-FFF2-40B4-BE49-F238E27FC236}">
                <a16:creationId xmlns:a16="http://schemas.microsoft.com/office/drawing/2014/main" id="{7322922E-1DBD-7FC8-463B-5A3A48D71190}"/>
              </a:ext>
            </a:extLst>
          </p:cNvPr>
          <p:cNvCxnSpPr>
            <a:cxnSpLocks/>
          </p:cNvCxnSpPr>
          <p:nvPr/>
        </p:nvCxnSpPr>
        <p:spPr>
          <a:xfrm>
            <a:off x="7836906" y="5271268"/>
            <a:ext cx="7651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1BB3E163-B4E3-9463-212E-59D8F6A0D0BA}"/>
                  </a:ext>
                </a:extLst>
              </p:cNvPr>
              <p:cNvSpPr txBox="1"/>
              <p:nvPr/>
            </p:nvSpPr>
            <p:spPr>
              <a:xfrm>
                <a:off x="9069065" y="6136047"/>
                <a:ext cx="45951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a-DK" dirty="0"/>
                  <a:t>Generate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a-DK" dirty="0"/>
                  <a:t> </a:t>
                </a:r>
              </a:p>
            </p:txBody>
          </p:sp>
        </mc:Choice>
        <mc:Fallback>
          <p:sp>
            <p:nvSpPr>
              <p:cNvPr id="95" name="Tekstfelt 94">
                <a:extLst>
                  <a:ext uri="{FF2B5EF4-FFF2-40B4-BE49-F238E27FC236}">
                    <a16:creationId xmlns:a16="http://schemas.microsoft.com/office/drawing/2014/main" id="{1BB3E163-B4E3-9463-212E-59D8F6A0D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065" y="6136047"/>
                <a:ext cx="4595122" cy="369332"/>
              </a:xfrm>
              <a:prstGeom prst="rect">
                <a:avLst/>
              </a:prstGeom>
              <a:blipFill>
                <a:blip r:embed="rId11"/>
                <a:stretch>
                  <a:fillRect l="-1194" t="-8333" b="-2833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Ellipse 95">
            <a:extLst>
              <a:ext uri="{FF2B5EF4-FFF2-40B4-BE49-F238E27FC236}">
                <a16:creationId xmlns:a16="http://schemas.microsoft.com/office/drawing/2014/main" id="{D48A9269-1D5E-C3B5-9F0D-E28DD31333A0}"/>
              </a:ext>
            </a:extLst>
          </p:cNvPr>
          <p:cNvSpPr/>
          <p:nvPr/>
        </p:nvSpPr>
        <p:spPr>
          <a:xfrm>
            <a:off x="8801209" y="4780406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97" name="Ellipse 96">
            <a:extLst>
              <a:ext uri="{FF2B5EF4-FFF2-40B4-BE49-F238E27FC236}">
                <a16:creationId xmlns:a16="http://schemas.microsoft.com/office/drawing/2014/main" id="{C9639328-2F47-0094-0D5E-1A9F7A52E2AF}"/>
              </a:ext>
            </a:extLst>
          </p:cNvPr>
          <p:cNvSpPr/>
          <p:nvPr/>
        </p:nvSpPr>
        <p:spPr>
          <a:xfrm rot="18910962">
            <a:off x="9962735" y="4151177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8" name="Ellipse 97">
            <a:extLst>
              <a:ext uri="{FF2B5EF4-FFF2-40B4-BE49-F238E27FC236}">
                <a16:creationId xmlns:a16="http://schemas.microsoft.com/office/drawing/2014/main" id="{24A46980-BAED-D8D3-EA42-BA9B5412A168}"/>
              </a:ext>
            </a:extLst>
          </p:cNvPr>
          <p:cNvSpPr/>
          <p:nvPr/>
        </p:nvSpPr>
        <p:spPr>
          <a:xfrm rot="915767">
            <a:off x="9935244" y="5003075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99" name="Ellipse 98">
            <a:extLst>
              <a:ext uri="{FF2B5EF4-FFF2-40B4-BE49-F238E27FC236}">
                <a16:creationId xmlns:a16="http://schemas.microsoft.com/office/drawing/2014/main" id="{7EEAA07F-2205-9299-B61D-FCDE38010A3E}"/>
              </a:ext>
            </a:extLst>
          </p:cNvPr>
          <p:cNvSpPr/>
          <p:nvPr/>
        </p:nvSpPr>
        <p:spPr>
          <a:xfrm rot="20911658">
            <a:off x="10849644" y="5485564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00" name="Ellipse 99">
            <a:extLst>
              <a:ext uri="{FF2B5EF4-FFF2-40B4-BE49-F238E27FC236}">
                <a16:creationId xmlns:a16="http://schemas.microsoft.com/office/drawing/2014/main" id="{E9AB7CE2-379E-CD17-4577-8F890CA20087}"/>
              </a:ext>
            </a:extLst>
          </p:cNvPr>
          <p:cNvSpPr/>
          <p:nvPr/>
        </p:nvSpPr>
        <p:spPr>
          <a:xfrm rot="20573567">
            <a:off x="11209579" y="4027267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101" name="Lige forbindelse 100">
            <a:extLst>
              <a:ext uri="{FF2B5EF4-FFF2-40B4-BE49-F238E27FC236}">
                <a16:creationId xmlns:a16="http://schemas.microsoft.com/office/drawing/2014/main" id="{615BE392-E2EF-476C-76EE-9A96C306F8A7}"/>
              </a:ext>
            </a:extLst>
          </p:cNvPr>
          <p:cNvCxnSpPr>
            <a:stCxn id="96" idx="7"/>
            <a:endCxn id="97" idx="2"/>
          </p:cNvCxnSpPr>
          <p:nvPr/>
        </p:nvCxnSpPr>
        <p:spPr>
          <a:xfrm flipV="1">
            <a:off x="9206247" y="4555679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Lige forbindelse 101">
            <a:extLst>
              <a:ext uri="{FF2B5EF4-FFF2-40B4-BE49-F238E27FC236}">
                <a16:creationId xmlns:a16="http://schemas.microsoft.com/office/drawing/2014/main" id="{F02F78CE-A0F9-E85D-7DA4-814E3F75152D}"/>
              </a:ext>
            </a:extLst>
          </p:cNvPr>
          <p:cNvCxnSpPr>
            <a:cxnSpLocks/>
            <a:stCxn id="96" idx="6"/>
            <a:endCxn id="98" idx="2"/>
          </p:cNvCxnSpPr>
          <p:nvPr/>
        </p:nvCxnSpPr>
        <p:spPr>
          <a:xfrm>
            <a:off x="9275740" y="5017672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Lige forbindelse 102">
            <a:extLst>
              <a:ext uri="{FF2B5EF4-FFF2-40B4-BE49-F238E27FC236}">
                <a16:creationId xmlns:a16="http://schemas.microsoft.com/office/drawing/2014/main" id="{131BF98B-DFE2-53FA-956C-C6B9C94F152F}"/>
              </a:ext>
            </a:extLst>
          </p:cNvPr>
          <p:cNvCxnSpPr>
            <a:cxnSpLocks/>
            <a:stCxn id="97" idx="3"/>
            <a:endCxn id="98" idx="0"/>
          </p:cNvCxnSpPr>
          <p:nvPr/>
        </p:nvCxnSpPr>
        <p:spPr>
          <a:xfrm>
            <a:off x="10199244" y="4625707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Lige forbindelse 103">
            <a:extLst>
              <a:ext uri="{FF2B5EF4-FFF2-40B4-BE49-F238E27FC236}">
                <a16:creationId xmlns:a16="http://schemas.microsoft.com/office/drawing/2014/main" id="{34A1FC20-B7CA-1934-6558-C0EF4A292ED7}"/>
              </a:ext>
            </a:extLst>
          </p:cNvPr>
          <p:cNvCxnSpPr>
            <a:cxnSpLocks/>
            <a:stCxn id="100" idx="2"/>
            <a:endCxn id="97" idx="5"/>
          </p:cNvCxnSpPr>
          <p:nvPr/>
        </p:nvCxnSpPr>
        <p:spPr>
          <a:xfrm flipH="1">
            <a:off x="10437265" y="4334327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Lige forbindelse 104">
            <a:extLst>
              <a:ext uri="{FF2B5EF4-FFF2-40B4-BE49-F238E27FC236}">
                <a16:creationId xmlns:a16="http://schemas.microsoft.com/office/drawing/2014/main" id="{10C2BA78-716B-DE55-2C1F-6A53BD4DB117}"/>
              </a:ext>
            </a:extLst>
          </p:cNvPr>
          <p:cNvCxnSpPr>
            <a:cxnSpLocks/>
            <a:stCxn id="99" idx="1"/>
            <a:endCxn id="98" idx="6"/>
          </p:cNvCxnSpPr>
          <p:nvPr/>
        </p:nvCxnSpPr>
        <p:spPr>
          <a:xfrm flipH="1" flipV="1">
            <a:off x="10401406" y="5302800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370CA4AC-8811-4549-3FFE-13A970FDB6CB}"/>
                  </a:ext>
                </a:extLst>
              </p:cNvPr>
              <p:cNvSpPr txBox="1"/>
              <p:nvPr/>
            </p:nvSpPr>
            <p:spPr>
              <a:xfrm>
                <a:off x="8397869" y="2996933"/>
                <a:ext cx="2972224" cy="828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sepChr m:val="∣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𝑀𝐿𝑃</m:t>
                      </m:r>
                      <m:d>
                        <m:dPr>
                          <m:begChr m:val="["/>
                          <m:endChr m:val="]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𝑎𝑡𝑡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370CA4AC-8811-4549-3FFE-13A970FDB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7869" y="2996933"/>
                <a:ext cx="2972224" cy="8281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Lige pilforbindelse 13">
            <a:extLst>
              <a:ext uri="{FF2B5EF4-FFF2-40B4-BE49-F238E27FC236}">
                <a16:creationId xmlns:a16="http://schemas.microsoft.com/office/drawing/2014/main" id="{BA2130D1-387D-5862-FFFE-93E7243D4A9F}"/>
              </a:ext>
            </a:extLst>
          </p:cNvPr>
          <p:cNvCxnSpPr>
            <a:cxnSpLocks/>
          </p:cNvCxnSpPr>
          <p:nvPr/>
        </p:nvCxnSpPr>
        <p:spPr>
          <a:xfrm>
            <a:off x="9462015" y="3684983"/>
            <a:ext cx="480430" cy="4968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Ellipse 16">
            <a:extLst>
              <a:ext uri="{FF2B5EF4-FFF2-40B4-BE49-F238E27FC236}">
                <a16:creationId xmlns:a16="http://schemas.microsoft.com/office/drawing/2014/main" id="{344100DD-0EAC-3C04-369A-0D3A95F0EC1F}"/>
              </a:ext>
            </a:extLst>
          </p:cNvPr>
          <p:cNvSpPr/>
          <p:nvPr/>
        </p:nvSpPr>
        <p:spPr>
          <a:xfrm>
            <a:off x="880103" y="4909295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86C80B2-688B-43BB-33F7-5A280B31F2F0}"/>
              </a:ext>
            </a:extLst>
          </p:cNvPr>
          <p:cNvSpPr/>
          <p:nvPr/>
        </p:nvSpPr>
        <p:spPr>
          <a:xfrm rot="18910962">
            <a:off x="2041629" y="4280066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076195FD-21F8-0DEE-A819-1A2C589B508E}"/>
              </a:ext>
            </a:extLst>
          </p:cNvPr>
          <p:cNvSpPr/>
          <p:nvPr/>
        </p:nvSpPr>
        <p:spPr>
          <a:xfrm rot="915767">
            <a:off x="2014138" y="5131964"/>
            <a:ext cx="474531" cy="47453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418C5986-3A27-B6D8-D754-3D03DB4879BD}"/>
              </a:ext>
            </a:extLst>
          </p:cNvPr>
          <p:cNvSpPr/>
          <p:nvPr/>
        </p:nvSpPr>
        <p:spPr>
          <a:xfrm rot="20911658">
            <a:off x="2928538" y="5614453"/>
            <a:ext cx="474531" cy="474531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E8B043D-14BF-2B75-5734-64D96685E038}"/>
              </a:ext>
            </a:extLst>
          </p:cNvPr>
          <p:cNvSpPr/>
          <p:nvPr/>
        </p:nvSpPr>
        <p:spPr>
          <a:xfrm rot="20573567">
            <a:off x="3288473" y="4156156"/>
            <a:ext cx="474531" cy="474531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>
              <a:solidFill>
                <a:srgbClr val="FFC000"/>
              </a:solidFill>
            </a:endParaRPr>
          </a:p>
        </p:txBody>
      </p:sp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B0A024B7-914F-A4FB-6391-2A0E3CF188F2}"/>
              </a:ext>
            </a:extLst>
          </p:cNvPr>
          <p:cNvCxnSpPr>
            <a:stCxn id="17" idx="7"/>
            <a:endCxn id="19" idx="2"/>
          </p:cNvCxnSpPr>
          <p:nvPr/>
        </p:nvCxnSpPr>
        <p:spPr>
          <a:xfrm flipV="1">
            <a:off x="1285141" y="4684568"/>
            <a:ext cx="825448" cy="294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ige forbindelse 25">
            <a:extLst>
              <a:ext uri="{FF2B5EF4-FFF2-40B4-BE49-F238E27FC236}">
                <a16:creationId xmlns:a16="http://schemas.microsoft.com/office/drawing/2014/main" id="{2A70575B-C603-9F5E-DFC4-36363424C024}"/>
              </a:ext>
            </a:extLst>
          </p:cNvPr>
          <p:cNvCxnSpPr>
            <a:cxnSpLocks/>
            <a:stCxn id="17" idx="6"/>
            <a:endCxn id="20" idx="2"/>
          </p:cNvCxnSpPr>
          <p:nvPr/>
        </p:nvCxnSpPr>
        <p:spPr>
          <a:xfrm>
            <a:off x="1354634" y="5146561"/>
            <a:ext cx="667873" cy="16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ige forbindelse 26">
            <a:extLst>
              <a:ext uri="{FF2B5EF4-FFF2-40B4-BE49-F238E27FC236}">
                <a16:creationId xmlns:a16="http://schemas.microsoft.com/office/drawing/2014/main" id="{1120EC18-38A5-0A7D-AEDD-6069EED1AC97}"/>
              </a:ext>
            </a:extLst>
          </p:cNvPr>
          <p:cNvCxnSpPr>
            <a:cxnSpLocks/>
            <a:stCxn id="19" idx="3"/>
            <a:endCxn id="20" idx="0"/>
          </p:cNvCxnSpPr>
          <p:nvPr/>
        </p:nvCxnSpPr>
        <p:spPr>
          <a:xfrm>
            <a:off x="2278138" y="4754596"/>
            <a:ext cx="35725" cy="3857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ge forbindelse 27">
            <a:extLst>
              <a:ext uri="{FF2B5EF4-FFF2-40B4-BE49-F238E27FC236}">
                <a16:creationId xmlns:a16="http://schemas.microsoft.com/office/drawing/2014/main" id="{AF4DB8D8-38EB-1552-6BFC-67B6726DFC04}"/>
              </a:ext>
            </a:extLst>
          </p:cNvPr>
          <p:cNvCxnSpPr>
            <a:cxnSpLocks/>
            <a:stCxn id="23" idx="2"/>
            <a:endCxn id="19" idx="5"/>
          </p:cNvCxnSpPr>
          <p:nvPr/>
        </p:nvCxnSpPr>
        <p:spPr>
          <a:xfrm flipH="1">
            <a:off x="2516159" y="4463216"/>
            <a:ext cx="782812" cy="54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ge forbindelse 28">
            <a:extLst>
              <a:ext uri="{FF2B5EF4-FFF2-40B4-BE49-F238E27FC236}">
                <a16:creationId xmlns:a16="http://schemas.microsoft.com/office/drawing/2014/main" id="{700D343E-33C7-44D7-1986-FFA69FEDCC4A}"/>
              </a:ext>
            </a:extLst>
          </p:cNvPr>
          <p:cNvCxnSpPr>
            <a:cxnSpLocks/>
            <a:stCxn id="22" idx="1"/>
            <a:endCxn id="20" idx="6"/>
          </p:cNvCxnSpPr>
          <p:nvPr/>
        </p:nvCxnSpPr>
        <p:spPr>
          <a:xfrm flipH="1" flipV="1">
            <a:off x="2480300" y="5431689"/>
            <a:ext cx="487714" cy="2889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F0EC1857-A3A7-7A93-08A8-7CC9C35987D7}"/>
                  </a:ext>
                </a:extLst>
              </p:cNvPr>
              <p:cNvSpPr txBox="1"/>
              <p:nvPr/>
            </p:nvSpPr>
            <p:spPr>
              <a:xfrm>
                <a:off x="1254014" y="3589819"/>
                <a:ext cx="1745671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𝑛𝑜𝑛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0" name="Tekstfelt 29">
                <a:extLst>
                  <a:ext uri="{FF2B5EF4-FFF2-40B4-BE49-F238E27FC236}">
                    <a16:creationId xmlns:a16="http://schemas.microsoft.com/office/drawing/2014/main" id="{A02DEB72-C3AF-B54F-6DE1-7700A6DD2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014" y="3589819"/>
                <a:ext cx="1745671" cy="467564"/>
              </a:xfrm>
              <a:prstGeom prst="rect">
                <a:avLst/>
              </a:prstGeom>
              <a:blipFill>
                <a:blip r:embed="rId13"/>
                <a:stretch>
                  <a:fillRect t="-7895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7B83E0C7-7A81-BDEA-BC7A-453F715321F1}"/>
                  </a:ext>
                </a:extLst>
              </p:cNvPr>
              <p:cNvSpPr txBox="1"/>
              <p:nvPr/>
            </p:nvSpPr>
            <p:spPr>
              <a:xfrm>
                <a:off x="-3043" y="4318775"/>
                <a:ext cx="1494383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1" name="Tekstfelt 30">
                <a:extLst>
                  <a:ext uri="{FF2B5EF4-FFF2-40B4-BE49-F238E27FC236}">
                    <a16:creationId xmlns:a16="http://schemas.microsoft.com/office/drawing/2014/main" id="{FCAA6B91-75A7-3FD0-E628-BF428691F3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43" y="4318775"/>
                <a:ext cx="1494383" cy="467564"/>
              </a:xfrm>
              <a:prstGeom prst="rect">
                <a:avLst/>
              </a:prstGeom>
              <a:blipFill>
                <a:blip r:embed="rId14"/>
                <a:stretch>
                  <a:fillRect t="-7895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9714E9C6-C56A-DEB8-97A1-EE71B217A0AA}"/>
                  </a:ext>
                </a:extLst>
              </p:cNvPr>
              <p:cNvSpPr txBox="1"/>
              <p:nvPr/>
            </p:nvSpPr>
            <p:spPr>
              <a:xfrm>
                <a:off x="3122187" y="3528291"/>
                <a:ext cx="1745671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𝑛𝑜𝑛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2" name="Tekstfelt 31">
                <a:extLst>
                  <a:ext uri="{FF2B5EF4-FFF2-40B4-BE49-F238E27FC236}">
                    <a16:creationId xmlns:a16="http://schemas.microsoft.com/office/drawing/2014/main" id="{0E07C026-63AB-0CCC-EAFB-03D30FE92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187" y="3528291"/>
                <a:ext cx="1745671" cy="467564"/>
              </a:xfrm>
              <a:prstGeom prst="rect">
                <a:avLst/>
              </a:prstGeom>
              <a:blipFill>
                <a:blip r:embed="rId15"/>
                <a:stretch>
                  <a:fillRect t="-7895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kstfelt 32">
                <a:extLst>
                  <a:ext uri="{FF2B5EF4-FFF2-40B4-BE49-F238E27FC236}">
                    <a16:creationId xmlns:a16="http://schemas.microsoft.com/office/drawing/2014/main" id="{11420102-FB1A-12F2-0B89-9E59D7CC6C11}"/>
                  </a:ext>
                </a:extLst>
              </p:cNvPr>
              <p:cNvSpPr txBox="1"/>
              <p:nvPr/>
            </p:nvSpPr>
            <p:spPr>
              <a:xfrm>
                <a:off x="798359" y="5601978"/>
                <a:ext cx="1494383" cy="4675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𝑡𝑜𝑚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𝑒𝑚𝑏𝑒𝑑</m:t>
                                </m:r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𝑎𝑐𝑡𝑖𝑣𝑒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𝑠𝑖𝑡𝑒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3" name="Tekstfelt 32">
                <a:extLst>
                  <a:ext uri="{FF2B5EF4-FFF2-40B4-BE49-F238E27FC236}">
                    <a16:creationId xmlns:a16="http://schemas.microsoft.com/office/drawing/2014/main" id="{39C85EF7-25F0-6EE9-CFFC-2936C4B2E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359" y="5601978"/>
                <a:ext cx="1494383" cy="467564"/>
              </a:xfrm>
              <a:prstGeom prst="rect">
                <a:avLst/>
              </a:prstGeom>
              <a:blipFill>
                <a:blip r:embed="rId16"/>
                <a:stretch>
                  <a:fillRect t="-10526" b="-3421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8452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EDC12-2E32-8BB9-71A6-795BFE08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Did it </a:t>
            </a:r>
            <a:r>
              <a:rPr lang="da-DK" dirty="0" err="1"/>
              <a:t>help</a:t>
            </a:r>
            <a:r>
              <a:rPr lang="da-DK" dirty="0"/>
              <a:t>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E56EE36-9F4C-DE01-BECE-CD6707641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Yes, </a:t>
            </a:r>
            <a:r>
              <a:rPr lang="da-DK" dirty="0" err="1"/>
              <a:t>again</a:t>
            </a:r>
            <a:r>
              <a:rPr lang="da-DK" dirty="0"/>
              <a:t> </a:t>
            </a:r>
            <a:r>
              <a:rPr lang="da-DK" dirty="0" err="1"/>
              <a:t>somewhat</a:t>
            </a:r>
            <a:r>
              <a:rPr lang="da-DK" dirty="0"/>
              <a:t>.</a:t>
            </a:r>
          </a:p>
          <a:p>
            <a:r>
              <a:rPr lang="da-DK" dirty="0" err="1"/>
              <a:t>Temperature</a:t>
            </a:r>
            <a:r>
              <a:rPr lang="da-DK" dirty="0"/>
              <a:t> trick </a:t>
            </a:r>
            <a:r>
              <a:rPr lang="da-DK" dirty="0" err="1"/>
              <a:t>seemed</a:t>
            </a:r>
            <a:r>
              <a:rPr lang="da-DK" dirty="0"/>
              <a:t> to </a:t>
            </a:r>
            <a:r>
              <a:rPr lang="da-DK" dirty="0" err="1"/>
              <a:t>help</a:t>
            </a:r>
            <a:endParaRPr lang="da-DK" dirty="0"/>
          </a:p>
          <a:p>
            <a:r>
              <a:rPr lang="da-DK" dirty="0"/>
              <a:t>Shift </a:t>
            </a:r>
            <a:r>
              <a:rPr lang="da-DK" dirty="0" err="1"/>
              <a:t>could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due to </a:t>
            </a:r>
            <a:br>
              <a:rPr lang="da-DK" dirty="0"/>
            </a:br>
            <a:r>
              <a:rPr lang="da-DK" dirty="0"/>
              <a:t>non-</a:t>
            </a:r>
            <a:r>
              <a:rPr lang="da-DK" dirty="0" err="1"/>
              <a:t>conditioning</a:t>
            </a:r>
            <a:r>
              <a:rPr lang="da-DK" dirty="0"/>
              <a:t>?</a:t>
            </a:r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Billede 4" descr="Et billede, der indeholder tekst, skærmbillede, diagram, Kurve&#10;&#10;AI-genereret indhold kan være ukorrekt.">
            <a:extLst>
              <a:ext uri="{FF2B5EF4-FFF2-40B4-BE49-F238E27FC236}">
                <a16:creationId xmlns:a16="http://schemas.microsoft.com/office/drawing/2014/main" id="{AD3A9CC8-E45A-BF98-7EED-D6AFE0781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893" y="126331"/>
            <a:ext cx="4954003" cy="660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37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C2D3B4-F2F1-7927-7E3F-B86D7DF6B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36" y="0"/>
            <a:ext cx="10515600" cy="1325563"/>
          </a:xfrm>
        </p:spPr>
        <p:txBody>
          <a:bodyPr/>
          <a:lstStyle/>
          <a:p>
            <a:r>
              <a:rPr lang="da-DK" dirty="0" err="1"/>
              <a:t>Divided</a:t>
            </a:r>
            <a:r>
              <a:rPr lang="da-DK" dirty="0"/>
              <a:t> distribution</a:t>
            </a:r>
          </a:p>
        </p:txBody>
      </p:sp>
      <p:pic>
        <p:nvPicPr>
          <p:cNvPr id="5" name="Pladsholder til indhold 4" descr="Et billede, der indeholder tekst, skærmbillede, diagram, Kurve&#10;&#10;AI-genereret indhold kan være ukorrekt.">
            <a:extLst>
              <a:ext uri="{FF2B5EF4-FFF2-40B4-BE49-F238E27FC236}">
                <a16:creationId xmlns:a16="http://schemas.microsoft.com/office/drawing/2014/main" id="{8DD71E41-9F54-9C45-368A-788AE350B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779" y="1009943"/>
            <a:ext cx="4386042" cy="5848057"/>
          </a:xfrm>
        </p:spPr>
      </p:pic>
      <p:pic>
        <p:nvPicPr>
          <p:cNvPr id="7" name="Billede 6" descr="Et billede, der indeholder tekst, skærmbillede, diagram, Kurve&#10;&#10;AI-genereret indhold kan være ukorrekt.">
            <a:extLst>
              <a:ext uri="{FF2B5EF4-FFF2-40B4-BE49-F238E27FC236}">
                <a16:creationId xmlns:a16="http://schemas.microsoft.com/office/drawing/2014/main" id="{9065C17A-F2CF-6B68-7A3E-ED782CECF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179" y="1009943"/>
            <a:ext cx="4386042" cy="584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98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5EFAA9-ABB9-3B31-50CE-064DE7503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Plotted</a:t>
            </a:r>
            <a:r>
              <a:rPr lang="da-DK" dirty="0"/>
              <a:t> </a:t>
            </a:r>
            <a:r>
              <a:rPr lang="da-DK" dirty="0" err="1"/>
              <a:t>together</a:t>
            </a:r>
            <a:endParaRPr lang="da-DK" dirty="0"/>
          </a:p>
        </p:txBody>
      </p:sp>
      <p:pic>
        <p:nvPicPr>
          <p:cNvPr id="5" name="Pladsholder til indhold 4" descr="Et billede, der indeholder tekst, skærmbillede, diagram, Kurve&#10;&#10;AI-genereret indhold kan være ukorrekt.">
            <a:extLst>
              <a:ext uri="{FF2B5EF4-FFF2-40B4-BE49-F238E27FC236}">
                <a16:creationId xmlns:a16="http://schemas.microsoft.com/office/drawing/2014/main" id="{BD0C0301-FE59-D580-EA3F-3BA61CE98E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16" y="1991477"/>
            <a:ext cx="5801784" cy="4351338"/>
          </a:xfrm>
        </p:spPr>
      </p:pic>
      <p:pic>
        <p:nvPicPr>
          <p:cNvPr id="7" name="Billede 6" descr="Et billede, der indeholder tekst, skærmbillede, diagram, Kurve&#10;&#10;AI-genereret indhold kan være ukorrekt.">
            <a:extLst>
              <a:ext uri="{FF2B5EF4-FFF2-40B4-BE49-F238E27FC236}">
                <a16:creationId xmlns:a16="http://schemas.microsoft.com/office/drawing/2014/main" id="{5DFD81C5-C1A0-D29E-40B2-B29FD4B50B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53686"/>
            <a:ext cx="5852172" cy="4389129"/>
          </a:xfrm>
          <a:prstGeom prst="rect">
            <a:avLst/>
          </a:prstGeom>
        </p:spPr>
      </p:pic>
      <p:sp>
        <p:nvSpPr>
          <p:cNvPr id="8" name="Tekstfelt 7">
            <a:extLst>
              <a:ext uri="{FF2B5EF4-FFF2-40B4-BE49-F238E27FC236}">
                <a16:creationId xmlns:a16="http://schemas.microsoft.com/office/drawing/2014/main" id="{9DF1B615-9607-EA05-EF70-750B33A433C2}"/>
              </a:ext>
            </a:extLst>
          </p:cNvPr>
          <p:cNvSpPr txBox="1"/>
          <p:nvPr/>
        </p:nvSpPr>
        <p:spPr>
          <a:xfrm>
            <a:off x="1780779" y="1769398"/>
            <a:ext cx="2828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Transformer </a:t>
            </a:r>
            <a:r>
              <a:rPr lang="da-DK" dirty="0" err="1"/>
              <a:t>based</a:t>
            </a:r>
            <a:r>
              <a:rPr lang="da-DK" dirty="0"/>
              <a:t> </a:t>
            </a:r>
            <a:r>
              <a:rPr lang="da-DK" dirty="0" err="1"/>
              <a:t>pooling</a:t>
            </a:r>
            <a:endParaRPr lang="da-DK" dirty="0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C3D44A08-085C-1D8C-B6B6-59BB36E6B0EA}"/>
              </a:ext>
            </a:extLst>
          </p:cNvPr>
          <p:cNvSpPr txBox="1"/>
          <p:nvPr/>
        </p:nvSpPr>
        <p:spPr>
          <a:xfrm>
            <a:off x="8261301" y="1769020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Mean </a:t>
            </a:r>
            <a:r>
              <a:rPr lang="da-DK" dirty="0" err="1"/>
              <a:t>pooling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4645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0AB9A3-2558-F7C5-7ECD-41984F18D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Why</a:t>
            </a:r>
            <a:r>
              <a:rPr lang="da-DK" dirty="0"/>
              <a:t> did </a:t>
            </a:r>
            <a:r>
              <a:rPr lang="da-DK" dirty="0" err="1"/>
              <a:t>this</a:t>
            </a:r>
            <a:r>
              <a:rPr lang="da-DK" dirty="0"/>
              <a:t> ”fix” </a:t>
            </a:r>
            <a:r>
              <a:rPr lang="da-DK" dirty="0" err="1"/>
              <a:t>my</a:t>
            </a:r>
            <a:r>
              <a:rPr lang="da-DK" dirty="0"/>
              <a:t> problem?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4A38BB6-E807-BB00-5BFA-900A757F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944"/>
            <a:ext cx="10515600" cy="5501608"/>
          </a:xfrm>
        </p:spPr>
        <p:txBody>
          <a:bodyPr>
            <a:normAutofit lnSpcReduction="10000"/>
          </a:bodyPr>
          <a:lstStyle/>
          <a:p>
            <a:r>
              <a:rPr lang="da-DK" dirty="0"/>
              <a:t>Rate is </a:t>
            </a:r>
            <a:r>
              <a:rPr lang="da-DK" dirty="0" err="1"/>
              <a:t>determined</a:t>
            </a:r>
            <a:r>
              <a:rPr lang="da-DK" dirty="0"/>
              <a:t> by relative position + element </a:t>
            </a:r>
            <a:r>
              <a:rPr lang="da-DK" dirty="0" err="1"/>
              <a:t>composition</a:t>
            </a:r>
            <a:endParaRPr lang="da-DK" dirty="0"/>
          </a:p>
          <a:p>
            <a:r>
              <a:rPr lang="da-DK" dirty="0" err="1"/>
              <a:t>Discrete</a:t>
            </a:r>
            <a:r>
              <a:rPr lang="da-DK" dirty="0"/>
              <a:t> </a:t>
            </a:r>
            <a:r>
              <a:rPr lang="da-DK" dirty="0" err="1"/>
              <a:t>space</a:t>
            </a:r>
            <a:r>
              <a:rPr lang="da-DK" dirty="0"/>
              <a:t> diffusion models do not </a:t>
            </a:r>
            <a:r>
              <a:rPr lang="da-DK" dirty="0" err="1"/>
              <a:t>incentivise</a:t>
            </a:r>
            <a:r>
              <a:rPr lang="da-DK" dirty="0"/>
              <a:t> </a:t>
            </a:r>
            <a:r>
              <a:rPr lang="da-DK" dirty="0" err="1"/>
              <a:t>getting</a:t>
            </a:r>
            <a:r>
              <a:rPr lang="da-DK" dirty="0"/>
              <a:t> </a:t>
            </a:r>
            <a:r>
              <a:rPr lang="da-DK" dirty="0" err="1"/>
              <a:t>correct</a:t>
            </a:r>
            <a:r>
              <a:rPr lang="da-DK" dirty="0"/>
              <a:t> </a:t>
            </a:r>
            <a:r>
              <a:rPr lang="da-DK" dirty="0" err="1"/>
              <a:t>motifs</a:t>
            </a:r>
            <a:endParaRPr lang="da-DK" dirty="0"/>
          </a:p>
          <a:p>
            <a:pPr lvl="1"/>
            <a:r>
              <a:rPr lang="da-DK" dirty="0" err="1"/>
              <a:t>Loss</a:t>
            </a:r>
            <a:r>
              <a:rPr lang="da-DK" dirty="0"/>
              <a:t> </a:t>
            </a:r>
            <a:r>
              <a:rPr lang="da-DK" dirty="0" err="1"/>
              <a:t>factorizes</a:t>
            </a:r>
            <a:r>
              <a:rPr lang="da-DK" dirty="0"/>
              <a:t> per </a:t>
            </a:r>
            <a:r>
              <a:rPr lang="da-DK" dirty="0" err="1"/>
              <a:t>token</a:t>
            </a:r>
            <a:r>
              <a:rPr lang="da-DK" dirty="0"/>
              <a:t>/atom </a:t>
            </a:r>
            <a:r>
              <a:rPr lang="da-DK" dirty="0">
                <a:sym typeface="Wingdings" panose="05000000000000000000" pitchFamily="2" charset="2"/>
              </a:rPr>
              <a:t> NN </a:t>
            </a:r>
            <a:r>
              <a:rPr lang="da-DK" dirty="0" err="1">
                <a:sym typeface="Wingdings" panose="05000000000000000000" pitchFamily="2" charset="2"/>
              </a:rPr>
              <a:t>therefore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needs</a:t>
            </a:r>
            <a:r>
              <a:rPr lang="da-DK" dirty="0">
                <a:sym typeface="Wingdings" panose="05000000000000000000" pitchFamily="2" charset="2"/>
              </a:rPr>
              <a:t> to </a:t>
            </a:r>
            <a:r>
              <a:rPr lang="da-DK" dirty="0" err="1">
                <a:sym typeface="Wingdings" panose="05000000000000000000" pitchFamily="2" charset="2"/>
              </a:rPr>
              <a:t>capture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semantics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strongly</a:t>
            </a:r>
            <a:endParaRPr lang="da-DK" dirty="0">
              <a:sym typeface="Wingdings" panose="05000000000000000000" pitchFamily="2" charset="2"/>
            </a:endParaRPr>
          </a:p>
          <a:p>
            <a:pPr lvl="1"/>
            <a:r>
              <a:rPr lang="da-DK" dirty="0">
                <a:sym typeface="Wingdings" panose="05000000000000000000" pitchFamily="2" charset="2"/>
              </a:rPr>
              <a:t>With </a:t>
            </a:r>
            <a:r>
              <a:rPr lang="da-DK" dirty="0" err="1">
                <a:sym typeface="Wingdings" panose="05000000000000000000" pitchFamily="2" charset="2"/>
              </a:rPr>
              <a:t>only</a:t>
            </a:r>
            <a:r>
              <a:rPr lang="da-DK" dirty="0">
                <a:sym typeface="Wingdings" panose="05000000000000000000" pitchFamily="2" charset="2"/>
              </a:rPr>
              <a:t> message </a:t>
            </a:r>
            <a:r>
              <a:rPr lang="da-DK" dirty="0" err="1">
                <a:sym typeface="Wingdings" panose="05000000000000000000" pitchFamily="2" charset="2"/>
              </a:rPr>
              <a:t>passing</a:t>
            </a:r>
            <a:r>
              <a:rPr lang="da-DK" dirty="0">
                <a:sym typeface="Wingdings" panose="05000000000000000000" pitchFamily="2" charset="2"/>
              </a:rPr>
              <a:t>  </a:t>
            </a:r>
            <a:r>
              <a:rPr lang="da-DK" dirty="0" err="1">
                <a:sym typeface="Wingdings" panose="05000000000000000000" pitchFamily="2" charset="2"/>
              </a:rPr>
              <a:t>Each</a:t>
            </a:r>
            <a:r>
              <a:rPr lang="da-DK" dirty="0">
                <a:sym typeface="Wingdings" panose="05000000000000000000" pitchFamily="2" charset="2"/>
              </a:rPr>
              <a:t> node </a:t>
            </a:r>
            <a:r>
              <a:rPr lang="da-DK" dirty="0" err="1">
                <a:sym typeface="Wingdings" panose="05000000000000000000" pitchFamily="2" charset="2"/>
              </a:rPr>
              <a:t>almost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predicts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its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own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probabilities</a:t>
            </a:r>
            <a:endParaRPr lang="da-DK" dirty="0">
              <a:sym typeface="Wingdings" panose="05000000000000000000" pitchFamily="2" charset="2"/>
            </a:endParaRPr>
          </a:p>
          <a:p>
            <a:pPr lvl="1"/>
            <a:endParaRPr lang="da-DK" dirty="0">
              <a:sym typeface="Wingdings" panose="05000000000000000000" pitchFamily="2" charset="2"/>
            </a:endParaRPr>
          </a:p>
          <a:p>
            <a:pPr lvl="1"/>
            <a:endParaRPr lang="da-DK" dirty="0">
              <a:sym typeface="Wingdings" panose="05000000000000000000" pitchFamily="2" charset="2"/>
            </a:endParaRPr>
          </a:p>
          <a:p>
            <a:pPr lvl="1"/>
            <a:r>
              <a:rPr lang="da-DK" dirty="0" err="1">
                <a:sym typeface="Wingdings" panose="05000000000000000000" pitchFamily="2" charset="2"/>
              </a:rPr>
              <a:t>We</a:t>
            </a:r>
            <a:r>
              <a:rPr lang="da-DK" dirty="0">
                <a:sym typeface="Wingdings" panose="05000000000000000000" pitchFamily="2" charset="2"/>
              </a:rPr>
              <a:t> force model to </a:t>
            </a:r>
            <a:r>
              <a:rPr lang="da-DK" dirty="0" err="1">
                <a:sym typeface="Wingdings" panose="05000000000000000000" pitchFamily="2" charset="2"/>
              </a:rPr>
              <a:t>consider</a:t>
            </a:r>
            <a:r>
              <a:rPr lang="da-DK" dirty="0">
                <a:sym typeface="Wingdings" panose="05000000000000000000" pitchFamily="2" charset="2"/>
              </a:rPr>
              <a:t> all </a:t>
            </a:r>
            <a:r>
              <a:rPr lang="da-DK" dirty="0" err="1">
                <a:sym typeface="Wingdings" panose="05000000000000000000" pitchFamily="2" charset="2"/>
              </a:rPr>
              <a:t>other</a:t>
            </a:r>
            <a:r>
              <a:rPr lang="da-DK" dirty="0">
                <a:sym typeface="Wingdings" panose="05000000000000000000" pitchFamily="2" charset="2"/>
              </a:rPr>
              <a:t> nodes in the </a:t>
            </a:r>
            <a:r>
              <a:rPr lang="da-DK" dirty="0" err="1">
                <a:sym typeface="Wingdings" panose="05000000000000000000" pitchFamily="2" charset="2"/>
              </a:rPr>
              <a:t>graph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before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making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prediction</a:t>
            </a:r>
            <a:endParaRPr lang="da-DK" dirty="0">
              <a:sym typeface="Wingdings" panose="05000000000000000000" pitchFamily="2" charset="2"/>
            </a:endParaRPr>
          </a:p>
          <a:p>
            <a:pPr marL="914400" lvl="2" indent="0">
              <a:buNone/>
            </a:pPr>
            <a:r>
              <a:rPr lang="da-DK" dirty="0" err="1">
                <a:sym typeface="Wingdings" panose="05000000000000000000" pitchFamily="2" charset="2"/>
              </a:rPr>
              <a:t>Want</a:t>
            </a:r>
            <a:r>
              <a:rPr lang="da-DK" dirty="0">
                <a:sym typeface="Wingdings" panose="05000000000000000000" pitchFamily="2" charset="2"/>
              </a:rPr>
              <a:t> to </a:t>
            </a:r>
            <a:r>
              <a:rPr lang="da-DK" dirty="0" err="1">
                <a:sym typeface="Wingdings" panose="05000000000000000000" pitchFamily="2" charset="2"/>
              </a:rPr>
              <a:t>predict</a:t>
            </a:r>
            <a:r>
              <a:rPr lang="da-DK" dirty="0">
                <a:sym typeface="Wingdings" panose="05000000000000000000" pitchFamily="2" charset="2"/>
              </a:rPr>
              <a:t>: [Hi, </a:t>
            </a:r>
            <a:r>
              <a:rPr lang="da-DK" dirty="0" err="1">
                <a:sym typeface="Wingdings" panose="05000000000000000000" pitchFamily="2" charset="2"/>
              </a:rPr>
              <a:t>my</a:t>
            </a:r>
            <a:r>
              <a:rPr lang="da-DK" dirty="0">
                <a:sym typeface="Wingdings" panose="05000000000000000000" pitchFamily="2" charset="2"/>
              </a:rPr>
              <a:t>, </a:t>
            </a:r>
            <a:r>
              <a:rPr lang="da-DK" dirty="0" err="1">
                <a:sym typeface="Wingdings" panose="05000000000000000000" pitchFamily="2" charset="2"/>
              </a:rPr>
              <a:t>name</a:t>
            </a:r>
            <a:r>
              <a:rPr lang="da-DK" dirty="0">
                <a:sym typeface="Wingdings" panose="05000000000000000000" pitchFamily="2" charset="2"/>
              </a:rPr>
              <a:t>, is, </a:t>
            </a:r>
            <a:r>
              <a:rPr lang="da-DK" dirty="0" err="1">
                <a:sym typeface="Wingdings" panose="05000000000000000000" pitchFamily="2" charset="2"/>
              </a:rPr>
              <a:t>karsten</a:t>
            </a:r>
            <a:r>
              <a:rPr lang="da-DK" dirty="0">
                <a:sym typeface="Wingdings" panose="05000000000000000000" pitchFamily="2" charset="2"/>
              </a:rPr>
              <a:t>, and, …, the, end] </a:t>
            </a:r>
          </a:p>
          <a:p>
            <a:pPr marL="914400" lvl="2" indent="0">
              <a:buNone/>
            </a:pPr>
            <a:r>
              <a:rPr lang="da-DK" dirty="0">
                <a:sym typeface="Wingdings" panose="05000000000000000000" pitchFamily="2" charset="2"/>
              </a:rPr>
              <a:t>Diffusion start from: [MASK, MASK, </a:t>
            </a:r>
            <a:r>
              <a:rPr lang="da-DK" dirty="0" err="1">
                <a:sym typeface="Wingdings" panose="05000000000000000000" pitchFamily="2" charset="2"/>
              </a:rPr>
              <a:t>name</a:t>
            </a:r>
            <a:r>
              <a:rPr lang="da-DK" dirty="0">
                <a:sym typeface="Wingdings" panose="05000000000000000000" pitchFamily="2" charset="2"/>
              </a:rPr>
              <a:t>, MASK, </a:t>
            </a:r>
            <a:r>
              <a:rPr lang="da-DK" dirty="0" err="1">
                <a:sym typeface="Wingdings" panose="05000000000000000000" pitchFamily="2" charset="2"/>
              </a:rPr>
              <a:t>karsten</a:t>
            </a:r>
            <a:r>
              <a:rPr lang="da-DK" dirty="0">
                <a:sym typeface="Wingdings" panose="05000000000000000000" pitchFamily="2" charset="2"/>
              </a:rPr>
              <a:t>, and, …, MASK, MASK]</a:t>
            </a:r>
          </a:p>
          <a:p>
            <a:pPr marL="914400" lvl="2" indent="0">
              <a:buNone/>
            </a:pPr>
            <a:r>
              <a:rPr lang="da-DK" dirty="0">
                <a:sym typeface="Wingdings" panose="05000000000000000000" pitchFamily="2" charset="2"/>
              </a:rPr>
              <a:t>If I have no </a:t>
            </a:r>
            <a:r>
              <a:rPr lang="da-DK" dirty="0" err="1">
                <a:sym typeface="Wingdings" panose="05000000000000000000" pitchFamily="2" charset="2"/>
              </a:rPr>
              <a:t>way</a:t>
            </a:r>
            <a:r>
              <a:rPr lang="da-DK" dirty="0">
                <a:sym typeface="Wingdings" panose="05000000000000000000" pitchFamily="2" charset="2"/>
              </a:rPr>
              <a:t> of </a:t>
            </a:r>
            <a:r>
              <a:rPr lang="da-DK" dirty="0" err="1">
                <a:sym typeface="Wingdings" panose="05000000000000000000" pitchFamily="2" charset="2"/>
              </a:rPr>
              <a:t>measuring</a:t>
            </a:r>
            <a:r>
              <a:rPr lang="da-DK" dirty="0">
                <a:sym typeface="Wingdings" panose="05000000000000000000" pitchFamily="2" charset="2"/>
              </a:rPr>
              <a:t> distance or placement </a:t>
            </a:r>
            <a:r>
              <a:rPr lang="da-DK" dirty="0" err="1">
                <a:sym typeface="Wingdings" panose="05000000000000000000" pitchFamily="2" charset="2"/>
              </a:rPr>
              <a:t>between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words</a:t>
            </a:r>
            <a:r>
              <a:rPr lang="da-DK" dirty="0">
                <a:sym typeface="Wingdings" panose="05000000000000000000" pitchFamily="2" charset="2"/>
              </a:rPr>
              <a:t>, it </a:t>
            </a:r>
            <a:r>
              <a:rPr lang="da-DK" dirty="0" err="1">
                <a:sym typeface="Wingdings" panose="05000000000000000000" pitchFamily="2" charset="2"/>
              </a:rPr>
              <a:t>becomes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very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hard</a:t>
            </a:r>
            <a:r>
              <a:rPr lang="da-DK" dirty="0">
                <a:sym typeface="Wingdings" panose="05000000000000000000" pitchFamily="2" charset="2"/>
              </a:rPr>
              <a:t> </a:t>
            </a:r>
            <a:r>
              <a:rPr lang="da-DK" dirty="0" err="1">
                <a:sym typeface="Wingdings" panose="05000000000000000000" pitchFamily="2" charset="2"/>
              </a:rPr>
              <a:t>if</a:t>
            </a:r>
            <a:r>
              <a:rPr lang="da-DK" dirty="0">
                <a:sym typeface="Wingdings" panose="05000000000000000000" pitchFamily="2" charset="2"/>
              </a:rPr>
              <a:t> not </a:t>
            </a:r>
            <a:r>
              <a:rPr lang="da-DK" dirty="0" err="1">
                <a:sym typeface="Wingdings" panose="05000000000000000000" pitchFamily="2" charset="2"/>
              </a:rPr>
              <a:t>impossible</a:t>
            </a:r>
            <a:endParaRPr lang="da-DK" dirty="0"/>
          </a:p>
          <a:p>
            <a:pPr marL="914400" lvl="2" indent="0">
              <a:buNone/>
            </a:pPr>
            <a:endParaRPr lang="da-D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E1E82AE1-7D5D-E956-4B68-B95738616FFC}"/>
                  </a:ext>
                </a:extLst>
              </p:cNvPr>
              <p:cNvSpPr txBox="1"/>
              <p:nvPr/>
            </p:nvSpPr>
            <p:spPr>
              <a:xfrm>
                <a:off x="4042437" y="3946532"/>
                <a:ext cx="2972224" cy="8281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sepChr m:val="∣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𝑀𝐿𝑃</m:t>
                      </m:r>
                      <m:d>
                        <m:dPr>
                          <m:begChr m:val="["/>
                          <m:endChr m:val="]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𝑎𝑡𝑡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4" name="Tekstfelt 3">
                <a:extLst>
                  <a:ext uri="{FF2B5EF4-FFF2-40B4-BE49-F238E27FC236}">
                    <a16:creationId xmlns:a16="http://schemas.microsoft.com/office/drawing/2014/main" id="{E1E82AE1-7D5D-E956-4B68-B95738616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2437" y="3946532"/>
                <a:ext cx="2972224" cy="8281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8303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11AE14-8E5D-8C23-D5B4-E453A0A2F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now</a:t>
            </a:r>
            <a:r>
              <a:rPr lang="da-DK" dirty="0"/>
              <a:t>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C33CD15-79A0-8296-90C5-F24CE4F4C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Went</a:t>
            </a:r>
            <a:r>
              <a:rPr lang="da-DK" dirty="0"/>
              <a:t> to </a:t>
            </a:r>
            <a:r>
              <a:rPr lang="da-DK" dirty="0" err="1"/>
              <a:t>conditioning</a:t>
            </a:r>
            <a:endParaRPr lang="da-DK" dirty="0"/>
          </a:p>
          <a:p>
            <a:r>
              <a:rPr lang="da-DK" dirty="0"/>
              <a:t>It </a:t>
            </a:r>
            <a:r>
              <a:rPr lang="da-DK" dirty="0" err="1"/>
              <a:t>works</a:t>
            </a:r>
            <a:r>
              <a:rPr lang="da-DK" dirty="0"/>
              <a:t>!</a:t>
            </a:r>
          </a:p>
          <a:p>
            <a:pPr lvl="1"/>
            <a:r>
              <a:rPr lang="da-DK" dirty="0" err="1"/>
              <a:t>Tried</a:t>
            </a:r>
            <a:r>
              <a:rPr lang="da-DK" dirty="0"/>
              <a:t> </a:t>
            </a:r>
            <a:r>
              <a:rPr lang="da-DK" dirty="0" err="1"/>
              <a:t>many</a:t>
            </a:r>
            <a:r>
              <a:rPr lang="da-DK" dirty="0"/>
              <a:t> </a:t>
            </a:r>
            <a:r>
              <a:rPr lang="da-DK" dirty="0" err="1"/>
              <a:t>things</a:t>
            </a:r>
            <a:endParaRPr lang="da-DK" dirty="0"/>
          </a:p>
          <a:p>
            <a:pPr lvl="2"/>
            <a:r>
              <a:rPr lang="da-DK" dirty="0"/>
              <a:t>Not sure </a:t>
            </a: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really</a:t>
            </a:r>
            <a:r>
              <a:rPr lang="da-DK" dirty="0"/>
              <a:t> made it </a:t>
            </a:r>
            <a:br>
              <a:rPr lang="da-DK" dirty="0"/>
            </a:br>
            <a:r>
              <a:rPr lang="da-DK" dirty="0" err="1"/>
              <a:t>work</a:t>
            </a:r>
            <a:endParaRPr lang="da-DK" dirty="0"/>
          </a:p>
          <a:p>
            <a:pPr lvl="2"/>
            <a:r>
              <a:rPr lang="da-DK" dirty="0" err="1"/>
              <a:t>Think</a:t>
            </a:r>
            <a:r>
              <a:rPr lang="da-DK" dirty="0"/>
              <a:t> it is the </a:t>
            </a:r>
            <a:r>
              <a:rPr lang="da-DK" dirty="0" err="1"/>
              <a:t>pooling</a:t>
            </a:r>
            <a:endParaRPr lang="da-DK" dirty="0"/>
          </a:p>
          <a:p>
            <a:r>
              <a:rPr lang="da-DK" dirty="0" err="1"/>
              <a:t>Temperature</a:t>
            </a:r>
            <a:r>
              <a:rPr lang="da-DK" dirty="0"/>
              <a:t>: 1.0</a:t>
            </a:r>
          </a:p>
        </p:txBody>
      </p:sp>
      <p:pic>
        <p:nvPicPr>
          <p:cNvPr id="5" name="Billede 4" descr="Et billede, der indeholder tekst, diagram, skærmbillede&#10;&#10;AI-genereret indhold kan være ukorrekt.">
            <a:extLst>
              <a:ext uri="{FF2B5EF4-FFF2-40B4-BE49-F238E27FC236}">
                <a16:creationId xmlns:a16="http://schemas.microsoft.com/office/drawing/2014/main" id="{04748D8D-C523-D5A6-E3DF-9D962D4FE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853" y="56148"/>
            <a:ext cx="6745704" cy="674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22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91CA53-1DCD-2FF6-1546-F90D2F5F6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now</a:t>
            </a:r>
            <a:r>
              <a:rPr lang="da-DK" dirty="0"/>
              <a:t>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3AF0BD9-FE52-EE08-7F7E-ED1C18E34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Temperature</a:t>
            </a:r>
            <a:r>
              <a:rPr lang="da-DK" dirty="0"/>
              <a:t>: 0.5</a:t>
            </a:r>
          </a:p>
        </p:txBody>
      </p:sp>
      <p:pic>
        <p:nvPicPr>
          <p:cNvPr id="7" name="Billede 6" descr="Et billede, der indeholder tekst, diagram, skærmbillede&#10;&#10;AI-genereret indhold kan være ukorrekt.">
            <a:extLst>
              <a:ext uri="{FF2B5EF4-FFF2-40B4-BE49-F238E27FC236}">
                <a16:creationId xmlns:a16="http://schemas.microsoft.com/office/drawing/2014/main" id="{F8BF3328-A4DA-808B-1E93-A191D8575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285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896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0B27C-2A06-D1D0-14DF-71511F0E7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Summarized</a:t>
            </a:r>
            <a:r>
              <a:rPr lang="da-DK" dirty="0"/>
              <a:t> </a:t>
            </a:r>
            <a:r>
              <a:rPr lang="da-DK" dirty="0" err="1"/>
              <a:t>results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8030315-274A-57A1-FDFC-379229565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9" name="Billede 8" descr="Et billede, der indeholder tekst, diagram, skærmbillede, linje/række&#10;&#10;AI-genereret indhold kan være ukorrekt.">
            <a:extLst>
              <a:ext uri="{FF2B5EF4-FFF2-40B4-BE49-F238E27FC236}">
                <a16:creationId xmlns:a16="http://schemas.microsoft.com/office/drawing/2014/main" id="{41B8D8C4-C0B9-BD40-24B2-6B63797ED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61" y="1998909"/>
            <a:ext cx="5550789" cy="4493966"/>
          </a:xfrm>
          <a:prstGeom prst="rect">
            <a:avLst/>
          </a:prstGeom>
        </p:spPr>
      </p:pic>
      <p:pic>
        <p:nvPicPr>
          <p:cNvPr id="11" name="Billede 10" descr="Et billede, der indeholder tekst, diagram, linje/række, Kurve&#10;&#10;AI-genereret indhold kan være ukorrekt.">
            <a:extLst>
              <a:ext uri="{FF2B5EF4-FFF2-40B4-BE49-F238E27FC236}">
                <a16:creationId xmlns:a16="http://schemas.microsoft.com/office/drawing/2014/main" id="{A678A028-8AF0-4A3B-3C39-4B840C61F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2" y="1927663"/>
            <a:ext cx="5550789" cy="449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682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7889E3-BBF1-B2D7-ED6A-BB082B01C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now</a:t>
            </a:r>
            <a:r>
              <a:rPr lang="da-DK" dirty="0"/>
              <a:t>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CB0B557-6BE0-6F4B-AC4E-6666113CC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Distributions </a:t>
            </a:r>
            <a:r>
              <a:rPr lang="da-DK" dirty="0" err="1"/>
              <a:t>are</a:t>
            </a:r>
            <a:r>
              <a:rPr lang="da-DK" dirty="0"/>
              <a:t> still </a:t>
            </a:r>
            <a:r>
              <a:rPr lang="da-DK" dirty="0" err="1"/>
              <a:t>quite</a:t>
            </a:r>
            <a:r>
              <a:rPr lang="da-DK" dirty="0"/>
              <a:t> </a:t>
            </a:r>
            <a:r>
              <a:rPr lang="da-DK" dirty="0" err="1"/>
              <a:t>broad</a:t>
            </a:r>
            <a:r>
              <a:rPr lang="da-DK" dirty="0"/>
              <a:t>?</a:t>
            </a:r>
          </a:p>
          <a:p>
            <a:pPr lvl="1"/>
            <a:r>
              <a:rPr lang="da-DK" dirty="0" err="1"/>
              <a:t>Maybe</a:t>
            </a:r>
            <a:r>
              <a:rPr lang="da-DK" dirty="0"/>
              <a:t> not bad </a:t>
            </a:r>
            <a:r>
              <a:rPr lang="da-DK" dirty="0" err="1"/>
              <a:t>actually</a:t>
            </a:r>
            <a:r>
              <a:rPr lang="da-DK" dirty="0"/>
              <a:t>?</a:t>
            </a:r>
          </a:p>
          <a:p>
            <a:r>
              <a:rPr lang="da-DK" dirty="0"/>
              <a:t>Still </a:t>
            </a:r>
            <a:r>
              <a:rPr lang="da-DK" dirty="0" err="1"/>
              <a:t>seems</a:t>
            </a:r>
            <a:r>
              <a:rPr lang="da-DK" dirty="0"/>
              <a:t> to </a:t>
            </a:r>
            <a:r>
              <a:rPr lang="da-DK" dirty="0" err="1"/>
              <a:t>struggle</a:t>
            </a:r>
            <a:r>
              <a:rPr lang="da-DK" dirty="0"/>
              <a:t> </a:t>
            </a:r>
            <a:r>
              <a:rPr lang="da-DK" dirty="0" err="1"/>
              <a:t>towards</a:t>
            </a:r>
            <a:r>
              <a:rPr lang="da-DK" dirty="0"/>
              <a:t> high rates</a:t>
            </a:r>
          </a:p>
          <a:p>
            <a:pPr lvl="1"/>
            <a:r>
              <a:rPr lang="da-DK" dirty="0"/>
              <a:t>PCA of all </a:t>
            </a:r>
            <a:r>
              <a:rPr lang="da-DK" dirty="0" err="1"/>
              <a:t>unique</a:t>
            </a:r>
            <a:r>
              <a:rPr lang="da-DK" dirty="0"/>
              <a:t> high rate </a:t>
            </a:r>
            <a:r>
              <a:rPr lang="da-DK" dirty="0" err="1"/>
              <a:t>structures</a:t>
            </a:r>
            <a:endParaRPr lang="da-DK" dirty="0"/>
          </a:p>
          <a:p>
            <a:pPr lvl="1"/>
            <a:r>
              <a:rPr lang="da-DK" dirty="0"/>
              <a:t>Can </a:t>
            </a:r>
            <a:r>
              <a:rPr lang="da-DK" dirty="0" err="1"/>
              <a:t>confuse</a:t>
            </a:r>
            <a:r>
              <a:rPr lang="da-DK" dirty="0"/>
              <a:t> model </a:t>
            </a:r>
            <a:r>
              <a:rPr lang="da-DK" dirty="0" err="1"/>
              <a:t>if</a:t>
            </a:r>
            <a:r>
              <a:rPr lang="da-DK" dirty="0"/>
              <a:t> rate is </a:t>
            </a:r>
            <a:r>
              <a:rPr lang="da-DK" dirty="0" err="1"/>
              <a:t>only</a:t>
            </a:r>
            <a:r>
              <a:rPr lang="da-DK" dirty="0"/>
              <a:t> </a:t>
            </a:r>
            <a:r>
              <a:rPr lang="da-DK" dirty="0" err="1"/>
              <a:t>condition</a:t>
            </a:r>
            <a:br>
              <a:rPr lang="da-DK" dirty="0"/>
            </a:br>
            <a:r>
              <a:rPr lang="da-DK" dirty="0" err="1"/>
              <a:t>available</a:t>
            </a:r>
            <a:endParaRPr lang="da-DK" dirty="0"/>
          </a:p>
          <a:p>
            <a:r>
              <a:rPr lang="da-DK" dirty="0" err="1"/>
              <a:t>Need</a:t>
            </a:r>
            <a:r>
              <a:rPr lang="da-DK" dirty="0"/>
              <a:t> to find </a:t>
            </a:r>
            <a:r>
              <a:rPr lang="da-DK" dirty="0" err="1"/>
              <a:t>some</a:t>
            </a:r>
            <a:r>
              <a:rPr lang="da-DK" dirty="0"/>
              <a:t> kind of new feature</a:t>
            </a:r>
          </a:p>
          <a:p>
            <a:r>
              <a:rPr lang="da-DK" dirty="0"/>
              <a:t>Or </a:t>
            </a:r>
            <a:r>
              <a:rPr lang="da-DK" dirty="0" err="1"/>
              <a:t>additional</a:t>
            </a:r>
            <a:r>
              <a:rPr lang="da-DK" dirty="0"/>
              <a:t> </a:t>
            </a:r>
            <a:r>
              <a:rPr lang="da-DK" dirty="0" err="1"/>
              <a:t>conditioning</a:t>
            </a:r>
            <a:r>
              <a:rPr lang="da-DK" dirty="0"/>
              <a:t> </a:t>
            </a:r>
            <a:r>
              <a:rPr lang="da-DK" dirty="0" err="1"/>
              <a:t>paramete</a:t>
            </a:r>
            <a:endParaRPr lang="da-DK" dirty="0"/>
          </a:p>
          <a:p>
            <a:pPr lvl="1"/>
            <a:r>
              <a:rPr lang="da-DK" dirty="0" err="1"/>
              <a:t>Stability</a:t>
            </a:r>
            <a:r>
              <a:rPr lang="da-DK" dirty="0"/>
              <a:t>?</a:t>
            </a:r>
          </a:p>
        </p:txBody>
      </p:sp>
      <p:pic>
        <p:nvPicPr>
          <p:cNvPr id="5" name="Billede 4" descr="Et billede, der indeholder tekst, skærmbillede, diagram, Farverigt&#10;&#10;AI-genereret indhold kan være ukorrekt.">
            <a:extLst>
              <a:ext uri="{FF2B5EF4-FFF2-40B4-BE49-F238E27FC236}">
                <a16:creationId xmlns:a16="http://schemas.microsoft.com/office/drawing/2014/main" id="{966875ED-00F9-D424-A211-D33FF3056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370" y="2326188"/>
            <a:ext cx="8609007" cy="4351338"/>
          </a:xfrm>
          <a:prstGeom prst="rect">
            <a:avLst/>
          </a:prstGeom>
        </p:spPr>
      </p:pic>
      <p:sp>
        <p:nvSpPr>
          <p:cNvPr id="6" name="Rektangel 5">
            <a:extLst>
              <a:ext uri="{FF2B5EF4-FFF2-40B4-BE49-F238E27FC236}">
                <a16:creationId xmlns:a16="http://schemas.microsoft.com/office/drawing/2014/main" id="{431F6115-E7C6-D377-40E9-72FE6087E0E5}"/>
              </a:ext>
            </a:extLst>
          </p:cNvPr>
          <p:cNvSpPr/>
          <p:nvPr/>
        </p:nvSpPr>
        <p:spPr>
          <a:xfrm>
            <a:off x="12075694" y="1528011"/>
            <a:ext cx="4118811" cy="5329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0611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595</Words>
  <Application>Microsoft Office PowerPoint</Application>
  <PresentationFormat>Widescreen</PresentationFormat>
  <Paragraphs>109</Paragraphs>
  <Slides>18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Wingdings</vt:lpstr>
      <vt:lpstr>Office-tema</vt:lpstr>
      <vt:lpstr>Diffusion models</vt:lpstr>
      <vt:lpstr>Outline</vt:lpstr>
      <vt:lpstr>Identifying the problem</vt:lpstr>
      <vt:lpstr>Identifying the problem</vt:lpstr>
      <vt:lpstr>PowerPoint-præsentation</vt:lpstr>
      <vt:lpstr>Identifying the problem</vt:lpstr>
      <vt:lpstr>Did it help?</vt:lpstr>
      <vt:lpstr>Identifying the problem</vt:lpstr>
      <vt:lpstr>Added a little modification</vt:lpstr>
      <vt:lpstr>New pooling strategy</vt:lpstr>
      <vt:lpstr>Did it help?</vt:lpstr>
      <vt:lpstr>Divided distribution</vt:lpstr>
      <vt:lpstr>Plotted together</vt:lpstr>
      <vt:lpstr>Why did this ”fix” my problem?</vt:lpstr>
      <vt:lpstr>What now?</vt:lpstr>
      <vt:lpstr>What now?</vt:lpstr>
      <vt:lpstr>Summarized results</vt:lpstr>
      <vt:lpstr>What now?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Karsten Walz Jensen</dc:creator>
  <cp:lastModifiedBy>Karsten Walz Jensen</cp:lastModifiedBy>
  <cp:revision>11</cp:revision>
  <dcterms:created xsi:type="dcterms:W3CDTF">2026-02-18T14:44:02Z</dcterms:created>
  <dcterms:modified xsi:type="dcterms:W3CDTF">2026-02-19T00:57:30Z</dcterms:modified>
</cp:coreProperties>
</file>