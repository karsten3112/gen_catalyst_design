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949" r:id="rId3"/>
    <p:sldId id="966" r:id="rId4"/>
    <p:sldId id="964" r:id="rId5"/>
    <p:sldId id="952" r:id="rId6"/>
    <p:sldId id="941" r:id="rId7"/>
    <p:sldId id="957" r:id="rId8"/>
    <p:sldId id="959" r:id="rId9"/>
    <p:sldId id="960" r:id="rId10"/>
    <p:sldId id="965" r:id="rId11"/>
    <p:sldId id="961" r:id="rId12"/>
    <p:sldId id="962" r:id="rId13"/>
    <p:sldId id="946" r:id="rId14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12"/>
    <p:restoredTop sz="94643"/>
  </p:normalViewPr>
  <p:slideViewPr>
    <p:cSldViewPr snapToGrid="0">
      <p:cViewPr varScale="1">
        <p:scale>
          <a:sx n="112" d="100"/>
          <a:sy n="112" d="100"/>
        </p:scale>
        <p:origin x="2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9D0F6-4F36-8D45-9E1B-2C5BAC0B412F}" type="datetimeFigureOut">
              <a:rPr lang="da-DK" smtClean="0"/>
              <a:t>18.12.2025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DA02F-4D75-CB47-B30A-B3C14EB814B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14053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24895-C82B-201C-287C-D9640AE27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CF1DAC0-F5E9-BA50-38A5-63DD934C9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52C7357-7BE0-8453-4DE4-9A6939F41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 we use another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CO to not confuse it with the carboxyl path?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 made </a:t>
            </a:r>
            <a:r>
              <a:rPr lang="en-GB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dark blue</a:t>
            </a:r>
            <a:endParaRPr lang="en-GB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B33CD35-0197-EAEE-D175-58F351CF8A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CB9E19B-BFA2-87EA-CD54-676FD8A34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546D05-D909-41EF-B0C2-7821E802C0FF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63366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DA02F-4D75-CB47-B30A-B3C14EB814B6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61744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A2B39-6D8E-9C66-A8A2-5CDBBB4CC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59AFA563-D44F-AE75-373D-83243FC40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B62AE72E-C2FE-8993-BDAA-43675E59E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73B8B99-7921-E12B-0E78-DFEF76B5D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DA02F-4D75-CB47-B30A-B3C14EB814B6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8193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2F2EE-1D1F-CC87-96A6-8633DC029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F83B22F-5B72-B549-AF26-78FD3D0CAA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D8F4CBC-4B14-EBA2-9C27-6499B29137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 we use another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CO to not confuse it with the carboxyl path?</a:t>
            </a: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 made it dark blue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4815894-9AC4-2DC4-97B5-E0B0F2445D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F78B750-306E-1E00-F380-7FDF5044CF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546D05-D909-41EF-B0C2-7821E802C0FF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6200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C83A2E-9F6F-386C-C455-2671B6AA9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5368F454-796D-4E79-033B-D64D00891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C402B8B-464B-086B-E6A5-52621E5CD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3A35-1168-1D4A-BAC3-C21C1AFA9A30}" type="datetimeFigureOut">
              <a:rPr lang="da-DK" smtClean="0"/>
              <a:t>18.12.2025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DFF9349A-3E57-CEB5-F4C6-F3C5769D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E2264AD-70F2-346A-3079-0745EEDB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0BFB6-5CE9-BF4E-B8A2-10FB5647834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60391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798CA7-5B86-2CE3-038F-C91273618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D0E47E9-4B65-DD45-B37D-9D626249C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3B44687-26E9-1EDA-E8E2-B1F3317AD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3A35-1168-1D4A-BAC3-C21C1AFA9A30}" type="datetimeFigureOut">
              <a:rPr lang="da-DK" smtClean="0"/>
              <a:t>18.12.2025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99237DF-B633-B559-5667-106A08A5A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BC91CA8-612F-728B-47CF-46421820A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0BFB6-5CE9-BF4E-B8A2-10FB5647834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6719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32144B-01F7-A7C2-4C33-5A0E908FB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10FA9D0C-A134-9011-8D16-CE0F46682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A9DC60C-BA94-2F41-2162-488CACBDE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3A35-1168-1D4A-BAC3-C21C1AFA9A30}" type="datetimeFigureOut">
              <a:rPr lang="da-DK" smtClean="0"/>
              <a:t>18.12.2025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825BF0F6-E623-FD0F-74B2-DAE9F49C0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22A26039-8A6C-3CA6-7FC9-A7F3A8F35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0BFB6-5CE9-BF4E-B8A2-10FB5647834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5999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375678-88AD-C019-8729-862036A9E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5FEC7CB-08E0-8B44-7868-4FE9274CE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A4EA0D3-9528-6255-B4C5-99560D606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C4D6FEC0-8B0F-E851-E6B5-5AF9FF9BF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3A35-1168-1D4A-BAC3-C21C1AFA9A30}" type="datetimeFigureOut">
              <a:rPr lang="da-DK" smtClean="0"/>
              <a:t>18.12.2025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F9007E23-4DDE-17FD-F0DF-C7D239FE6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853DE90B-DFF9-1739-6405-E5D83422E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0BFB6-5CE9-BF4E-B8A2-10FB5647834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8116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04D5F6-9A2A-5D7B-F91F-091566473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5A74F9A3-92E9-89E9-1E90-C63EB0C9D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559A1101-28C6-03AA-E221-520550E9C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A6706D6C-85F9-7430-02BB-D0A4C75D68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AEDC2583-1A99-CF01-178E-BC71E5BFE2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0B823D43-9B90-5D48-6675-921D140B4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3A35-1168-1D4A-BAC3-C21C1AFA9A30}" type="datetimeFigureOut">
              <a:rPr lang="da-DK" smtClean="0"/>
              <a:t>18.12.2025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FE715C51-AE0D-9DBA-39F9-80649C8B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4394FE39-F1EE-D97B-D526-861081ACD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0BFB6-5CE9-BF4E-B8A2-10FB5647834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80069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A2F63F-3E57-7C62-C75B-7B0A1D306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3708272C-7E4B-7F60-E191-1EB4E425C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3A35-1168-1D4A-BAC3-C21C1AFA9A30}" type="datetimeFigureOut">
              <a:rPr lang="da-DK" smtClean="0"/>
              <a:t>18.12.2025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18541800-40D0-2565-847F-85CE88DAD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166ADC0D-B1FB-2D22-779A-81BBF2293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0BFB6-5CE9-BF4E-B8A2-10FB5647834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36937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836E906F-57BA-3104-5148-DB0898E02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3A35-1168-1D4A-BAC3-C21C1AFA9A30}" type="datetimeFigureOut">
              <a:rPr lang="da-DK" smtClean="0"/>
              <a:t>18.12.2025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1AC3669E-E454-2896-07A6-79C468721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5F5A385-E1EA-CFF1-51B8-A1FFD932F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0BFB6-5CE9-BF4E-B8A2-10FB5647834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76626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BC06F9-EEF0-7CBA-3046-A1C45568A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5AA5A54-86C3-83C2-8472-63EEDCB08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F067BAE5-C536-32A4-FB25-0BBFF37E0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DCDBE30-5203-91CF-88F3-EB4622D0D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3A35-1168-1D4A-BAC3-C21C1AFA9A30}" type="datetimeFigureOut">
              <a:rPr lang="da-DK" smtClean="0"/>
              <a:t>18.12.2025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99B3904A-BF50-32F7-0F3D-53C1996A6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C9FFF267-109A-28CF-B772-88F312227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0BFB6-5CE9-BF4E-B8A2-10FB5647834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0208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33BD30-168F-7EDF-FBA5-9303B7213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9B475922-D0B8-6323-068E-351E9DF1C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245EC3DF-E951-69B8-53D1-43294951A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F9E9E747-DCE0-FAF0-9215-C0C3071F0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3A35-1168-1D4A-BAC3-C21C1AFA9A30}" type="datetimeFigureOut">
              <a:rPr lang="da-DK" smtClean="0"/>
              <a:t>18.12.2025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597B422C-85E9-AEC8-56D2-8CDAD35CB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490117FA-6853-AD69-99D0-795DD37A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0BFB6-5CE9-BF4E-B8A2-10FB5647834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73365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A43935-8D67-FA1B-1FC6-B27604C3A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EAE8015A-055C-3B63-28FE-D2BB2D258E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5872EE0-A6CD-BE6D-8164-E89BA691A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3A35-1168-1D4A-BAC3-C21C1AFA9A30}" type="datetimeFigureOut">
              <a:rPr lang="da-DK" smtClean="0"/>
              <a:t>18.12.2025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9A7D763E-8178-4159-DC13-9974A7C4D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A687C7CB-DE53-666F-96E7-441F2A1A7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0BFB6-5CE9-BF4E-B8A2-10FB5647834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33605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46C6A9A5-4B0C-FD9A-F745-A86BBD6D14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D5E4159E-6978-9BEE-90F6-605C3029D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61D140C0-8B7B-5C39-181F-9E3D846D1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73A35-1168-1D4A-BAC3-C21C1AFA9A30}" type="datetimeFigureOut">
              <a:rPr lang="da-DK" smtClean="0"/>
              <a:t>18.12.2025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07841E1B-9333-630C-7050-933B8E23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13BA700-EBE1-EA18-8F29-6560956B7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0BFB6-5CE9-BF4E-B8A2-10FB5647834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66192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9153879C-6AAE-107F-6659-A5C360B8C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94773873-85A8-A4DC-79D1-D3B70395C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DBF7515-8EDA-E77B-A8C3-106649FA6A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273A35-1168-1D4A-BAC3-C21C1AFA9A30}" type="datetimeFigureOut">
              <a:rPr lang="da-DK" smtClean="0"/>
              <a:t>18.12.2025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4A63C7E-42EA-01E8-1A76-3D77DDE8A1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1A7050A-5D6F-8807-439D-B6EB1A35B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A0BFB6-5CE9-BF4E-B8A2-10FB5647834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7378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gif"/><Relationship Id="rId5" Type="http://schemas.openxmlformats.org/officeDocument/2006/relationships/image" Target="../media/image20.gif"/><Relationship Id="rId4" Type="http://schemas.openxmlformats.org/officeDocument/2006/relationships/image" Target="../media/image19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D46BEF-E365-C21B-5C75-298D2E222C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Finding</a:t>
            </a:r>
            <a:r>
              <a:rPr lang="da-DK" dirty="0"/>
              <a:t> </a:t>
            </a:r>
            <a:r>
              <a:rPr lang="da-DK" dirty="0" err="1"/>
              <a:t>highly</a:t>
            </a:r>
            <a:r>
              <a:rPr lang="da-DK" dirty="0"/>
              <a:t> </a:t>
            </a:r>
            <a:r>
              <a:rPr lang="da-DK" dirty="0" err="1"/>
              <a:t>active</a:t>
            </a:r>
            <a:r>
              <a:rPr lang="da-DK" dirty="0"/>
              <a:t> </a:t>
            </a:r>
            <a:r>
              <a:rPr lang="da-DK" dirty="0" err="1"/>
              <a:t>catalysts</a:t>
            </a:r>
            <a:r>
              <a:rPr lang="da-DK" dirty="0"/>
              <a:t> with </a:t>
            </a:r>
            <a:r>
              <a:rPr lang="da-DK" dirty="0" err="1"/>
              <a:t>genAI</a:t>
            </a:r>
            <a:endParaRPr lang="da-DK" dirty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C7454771-7111-B55D-C5D6-79E0FADF19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858579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6CB681-DF09-18C0-7A09-1AB3B16E4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776" y="368071"/>
            <a:ext cx="11062447" cy="1325563"/>
          </a:xfrm>
        </p:spPr>
        <p:txBody>
          <a:bodyPr/>
          <a:lstStyle/>
          <a:p>
            <a:r>
              <a:rPr lang="da-DK" dirty="0"/>
              <a:t>The problem: Find </a:t>
            </a:r>
            <a:r>
              <a:rPr lang="da-DK" dirty="0" err="1"/>
              <a:t>highly</a:t>
            </a:r>
            <a:r>
              <a:rPr lang="da-DK" dirty="0"/>
              <a:t> </a:t>
            </a:r>
            <a:r>
              <a:rPr lang="da-DK" dirty="0" err="1"/>
              <a:t>active</a:t>
            </a:r>
            <a:r>
              <a:rPr lang="da-DK" dirty="0"/>
              <a:t> </a:t>
            </a:r>
            <a:r>
              <a:rPr lang="da-DK" dirty="0" err="1"/>
              <a:t>catalysts</a:t>
            </a:r>
            <a:r>
              <a:rPr lang="da-DK" dirty="0"/>
              <a:t> at </a:t>
            </a:r>
            <a:r>
              <a:rPr lang="da-DK" dirty="0" err="1"/>
              <a:t>different</a:t>
            </a:r>
            <a:r>
              <a:rPr lang="da-DK" dirty="0"/>
              <a:t> </a:t>
            </a:r>
            <a:r>
              <a:rPr lang="da-DK" dirty="0" err="1"/>
              <a:t>surfaces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32372B4-CF8D-E581-D1E1-6D27F7751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Reaction</a:t>
            </a:r>
            <a:r>
              <a:rPr lang="da-DK" dirty="0"/>
              <a:t> under </a:t>
            </a:r>
            <a:r>
              <a:rPr lang="da-DK" dirty="0" err="1"/>
              <a:t>investigation</a:t>
            </a:r>
            <a:r>
              <a:rPr lang="da-DK" dirty="0"/>
              <a:t>: CO</a:t>
            </a:r>
            <a:r>
              <a:rPr lang="da-DK" baseline="-25000" dirty="0"/>
              <a:t>2</a:t>
            </a:r>
            <a:r>
              <a:rPr lang="da-DK" dirty="0"/>
              <a:t> + H</a:t>
            </a:r>
            <a:r>
              <a:rPr lang="da-DK" baseline="-25000" dirty="0"/>
              <a:t>2 </a:t>
            </a:r>
            <a:r>
              <a:rPr lang="da-DK" dirty="0"/>
              <a:t>⇌ CO + H</a:t>
            </a:r>
            <a:r>
              <a:rPr lang="da-DK" baseline="-25000" dirty="0"/>
              <a:t>2</a:t>
            </a:r>
            <a:r>
              <a:rPr lang="da-DK" dirty="0"/>
              <a:t>O (RWGS)</a:t>
            </a:r>
          </a:p>
          <a:p>
            <a:r>
              <a:rPr lang="da-DK" dirty="0"/>
              <a:t>Main </a:t>
            </a:r>
            <a:r>
              <a:rPr lang="da-DK" dirty="0" err="1"/>
              <a:t>idea</a:t>
            </a:r>
            <a:r>
              <a:rPr lang="da-DK" dirty="0"/>
              <a:t>: Change </a:t>
            </a:r>
            <a:r>
              <a:rPr lang="da-DK" dirty="0" err="1"/>
              <a:t>composition</a:t>
            </a:r>
            <a:r>
              <a:rPr lang="da-DK" dirty="0"/>
              <a:t> of </a:t>
            </a:r>
            <a:r>
              <a:rPr lang="da-DK" dirty="0" err="1"/>
              <a:t>surface</a:t>
            </a:r>
            <a:r>
              <a:rPr lang="da-DK" dirty="0"/>
              <a:t>, and find </a:t>
            </a:r>
            <a:r>
              <a:rPr lang="da-DK" dirty="0" err="1"/>
              <a:t>reactivity</a:t>
            </a:r>
            <a:endParaRPr lang="da-DK" dirty="0"/>
          </a:p>
          <a:p>
            <a:pPr lvl="1"/>
            <a:r>
              <a:rPr lang="da-DK" dirty="0"/>
              <a:t>Element pool of 3 </a:t>
            </a:r>
            <a:r>
              <a:rPr lang="da-DK" dirty="0" err="1"/>
              <a:t>yields</a:t>
            </a:r>
            <a:r>
              <a:rPr lang="da-DK" dirty="0"/>
              <a:t> 3.5billion </a:t>
            </a:r>
            <a:r>
              <a:rPr lang="da-DK" dirty="0" err="1"/>
              <a:t>conf</a:t>
            </a:r>
            <a:r>
              <a:rPr lang="da-DK" dirty="0"/>
              <a:t>.</a:t>
            </a:r>
          </a:p>
          <a:p>
            <a:pPr lvl="1"/>
            <a:r>
              <a:rPr lang="da-DK" dirty="0" err="1"/>
              <a:t>Very</a:t>
            </a:r>
            <a:r>
              <a:rPr lang="da-DK" dirty="0"/>
              <a:t> large </a:t>
            </a:r>
            <a:r>
              <a:rPr lang="da-DK" dirty="0" err="1"/>
              <a:t>search</a:t>
            </a:r>
            <a:r>
              <a:rPr lang="da-DK" dirty="0"/>
              <a:t> </a:t>
            </a:r>
            <a:r>
              <a:rPr lang="da-DK" dirty="0" err="1"/>
              <a:t>space</a:t>
            </a:r>
            <a:r>
              <a:rPr lang="da-DK" dirty="0"/>
              <a:t> </a:t>
            </a:r>
            <a:r>
              <a:rPr lang="da-DK" dirty="0">
                <a:sym typeface="Wingdings" pitchFamily="2" charset="2"/>
              </a:rPr>
              <a:t> </a:t>
            </a:r>
            <a:r>
              <a:rPr lang="da-DK" dirty="0" err="1">
                <a:sym typeface="Wingdings" pitchFamily="2" charset="2"/>
              </a:rPr>
              <a:t>genAI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tools</a:t>
            </a:r>
            <a:r>
              <a:rPr lang="da-DK" dirty="0">
                <a:sym typeface="Wingdings" pitchFamily="2" charset="2"/>
              </a:rPr>
              <a:t> and </a:t>
            </a:r>
            <a:r>
              <a:rPr lang="da-DK" dirty="0" err="1">
                <a:sym typeface="Wingdings" pitchFamily="2" charset="2"/>
              </a:rPr>
              <a:t>other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search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algorithms</a:t>
            </a:r>
            <a:endParaRPr lang="da-DK" dirty="0">
              <a:sym typeface="Wingdings" pitchFamily="2" charset="2"/>
            </a:endParaRPr>
          </a:p>
          <a:p>
            <a:pPr lvl="1"/>
            <a:r>
              <a:rPr lang="da-DK" dirty="0">
                <a:sym typeface="Wingdings" pitchFamily="2" charset="2"/>
              </a:rPr>
              <a:t>Keep simple no </a:t>
            </a:r>
            <a:r>
              <a:rPr lang="da-DK" dirty="0" err="1">
                <a:sym typeface="Wingdings" pitchFamily="2" charset="2"/>
              </a:rPr>
              <a:t>strain</a:t>
            </a:r>
            <a:r>
              <a:rPr lang="da-DK" dirty="0">
                <a:sym typeface="Wingdings" pitchFamily="2" charset="2"/>
              </a:rPr>
              <a:t> </a:t>
            </a:r>
            <a:r>
              <a:rPr lang="da-DK" dirty="0" err="1">
                <a:sym typeface="Wingdings" pitchFamily="2" charset="2"/>
              </a:rPr>
              <a:t>effects</a:t>
            </a:r>
            <a:r>
              <a:rPr lang="da-DK" dirty="0">
                <a:sym typeface="Wingdings" pitchFamily="2" charset="2"/>
              </a:rPr>
              <a:t>, and </a:t>
            </a:r>
            <a:r>
              <a:rPr lang="da-DK" dirty="0" err="1">
                <a:sym typeface="Wingdings" pitchFamily="2" charset="2"/>
              </a:rPr>
              <a:t>stability</a:t>
            </a:r>
            <a:r>
              <a:rPr lang="da-DK" dirty="0">
                <a:sym typeface="Wingdings" pitchFamily="2" charset="2"/>
              </a:rPr>
              <a:t>.</a:t>
            </a:r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E68A8ED0-8838-7062-3EF0-6EA17DE20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407" y="4524469"/>
            <a:ext cx="2597897" cy="2597897"/>
          </a:xfrm>
          <a:prstGeom prst="rect">
            <a:avLst/>
          </a:prstGeom>
        </p:spPr>
      </p:pic>
      <p:sp>
        <p:nvSpPr>
          <p:cNvPr id="6" name="Tekstfelt 5">
            <a:extLst>
              <a:ext uri="{FF2B5EF4-FFF2-40B4-BE49-F238E27FC236}">
                <a16:creationId xmlns:a16="http://schemas.microsoft.com/office/drawing/2014/main" id="{09C26C6C-3483-5758-C765-8CE8D954CC8B}"/>
              </a:ext>
            </a:extLst>
          </p:cNvPr>
          <p:cNvSpPr txBox="1"/>
          <p:nvPr/>
        </p:nvSpPr>
        <p:spPr>
          <a:xfrm>
            <a:off x="2509840" y="4544265"/>
            <a:ext cx="1243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(100 facet)</a:t>
            </a:r>
          </a:p>
        </p:txBody>
      </p:sp>
      <p:sp>
        <p:nvSpPr>
          <p:cNvPr id="9" name="Tekstfelt 8">
            <a:extLst>
              <a:ext uri="{FF2B5EF4-FFF2-40B4-BE49-F238E27FC236}">
                <a16:creationId xmlns:a16="http://schemas.microsoft.com/office/drawing/2014/main" id="{5AB7BA5C-1BC3-7A9D-F2E9-261398AC72B4}"/>
              </a:ext>
            </a:extLst>
          </p:cNvPr>
          <p:cNvSpPr txBox="1"/>
          <p:nvPr/>
        </p:nvSpPr>
        <p:spPr>
          <a:xfrm>
            <a:off x="363070" y="4647557"/>
            <a:ext cx="1392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 err="1"/>
              <a:t>active</a:t>
            </a:r>
            <a:r>
              <a:rPr lang="da-DK" dirty="0"/>
              <a:t> sites</a:t>
            </a:r>
          </a:p>
        </p:txBody>
      </p: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27F664D2-10E3-9C8C-CCA9-20456B336330}"/>
              </a:ext>
            </a:extLst>
          </p:cNvPr>
          <p:cNvCxnSpPr>
            <a:cxnSpLocks/>
          </p:cNvCxnSpPr>
          <p:nvPr/>
        </p:nvCxnSpPr>
        <p:spPr>
          <a:xfrm>
            <a:off x="1565763" y="4991110"/>
            <a:ext cx="1145561" cy="7467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ige pilforbindelse 17">
            <a:extLst>
              <a:ext uri="{FF2B5EF4-FFF2-40B4-BE49-F238E27FC236}">
                <a16:creationId xmlns:a16="http://schemas.microsoft.com/office/drawing/2014/main" id="{01292428-70B0-5A44-E1C1-9993B89EF85B}"/>
              </a:ext>
            </a:extLst>
          </p:cNvPr>
          <p:cNvCxnSpPr>
            <a:cxnSpLocks/>
          </p:cNvCxnSpPr>
          <p:nvPr/>
        </p:nvCxnSpPr>
        <p:spPr>
          <a:xfrm>
            <a:off x="1554526" y="4979113"/>
            <a:ext cx="1156798" cy="3889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Billede 24">
            <a:extLst>
              <a:ext uri="{FF2B5EF4-FFF2-40B4-BE49-F238E27FC236}">
                <a16:creationId xmlns:a16="http://schemas.microsoft.com/office/drawing/2014/main" id="{C85C1E52-F6DC-7077-03A5-9E8B02681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6421" y="4438904"/>
            <a:ext cx="2597897" cy="2597897"/>
          </a:xfrm>
          <a:prstGeom prst="rect">
            <a:avLst/>
          </a:prstGeom>
        </p:spPr>
      </p:pic>
      <p:cxnSp>
        <p:nvCxnSpPr>
          <p:cNvPr id="26" name="Lige pilforbindelse 25">
            <a:extLst>
              <a:ext uri="{FF2B5EF4-FFF2-40B4-BE49-F238E27FC236}">
                <a16:creationId xmlns:a16="http://schemas.microsoft.com/office/drawing/2014/main" id="{3AD54175-9AA1-3363-6315-F8DDBBA0D88D}"/>
              </a:ext>
            </a:extLst>
          </p:cNvPr>
          <p:cNvCxnSpPr>
            <a:cxnSpLocks/>
          </p:cNvCxnSpPr>
          <p:nvPr/>
        </p:nvCxnSpPr>
        <p:spPr>
          <a:xfrm flipV="1">
            <a:off x="4324685" y="5619933"/>
            <a:ext cx="1411736" cy="14998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kstfelt 28">
            <a:extLst>
              <a:ext uri="{FF2B5EF4-FFF2-40B4-BE49-F238E27FC236}">
                <a16:creationId xmlns:a16="http://schemas.microsoft.com/office/drawing/2014/main" id="{69F2F142-19C8-FA7E-9AD9-3AD3D3376C8F}"/>
              </a:ext>
            </a:extLst>
          </p:cNvPr>
          <p:cNvSpPr txBox="1"/>
          <p:nvPr/>
        </p:nvSpPr>
        <p:spPr>
          <a:xfrm>
            <a:off x="4285874" y="4846718"/>
            <a:ext cx="2004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Change </a:t>
            </a:r>
            <a:r>
              <a:rPr lang="da-DK" dirty="0" err="1"/>
              <a:t>composition</a:t>
            </a:r>
            <a:endParaRPr lang="da-DK" dirty="0"/>
          </a:p>
        </p:txBody>
      </p:sp>
      <p:cxnSp>
        <p:nvCxnSpPr>
          <p:cNvPr id="33" name="Lige pilforbindelse 32">
            <a:extLst>
              <a:ext uri="{FF2B5EF4-FFF2-40B4-BE49-F238E27FC236}">
                <a16:creationId xmlns:a16="http://schemas.microsoft.com/office/drawing/2014/main" id="{01162CAA-8BD3-A665-BC50-1C456C9F9781}"/>
              </a:ext>
            </a:extLst>
          </p:cNvPr>
          <p:cNvCxnSpPr>
            <a:cxnSpLocks/>
          </p:cNvCxnSpPr>
          <p:nvPr/>
        </p:nvCxnSpPr>
        <p:spPr>
          <a:xfrm>
            <a:off x="8228699" y="5619933"/>
            <a:ext cx="736756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kstfelt 33">
            <a:extLst>
              <a:ext uri="{FF2B5EF4-FFF2-40B4-BE49-F238E27FC236}">
                <a16:creationId xmlns:a16="http://schemas.microsoft.com/office/drawing/2014/main" id="{8ED71105-A881-F8DB-A9B7-2C496AA4F173}"/>
              </a:ext>
            </a:extLst>
          </p:cNvPr>
          <p:cNvSpPr txBox="1"/>
          <p:nvPr/>
        </p:nvSpPr>
        <p:spPr>
          <a:xfrm>
            <a:off x="9163371" y="5263731"/>
            <a:ext cx="2190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Find </a:t>
            </a:r>
            <a:r>
              <a:rPr lang="da-DK" dirty="0" err="1"/>
              <a:t>reaction</a:t>
            </a:r>
            <a:r>
              <a:rPr lang="da-DK" dirty="0"/>
              <a:t> rate for given </a:t>
            </a:r>
            <a:r>
              <a:rPr lang="da-DK" dirty="0" err="1"/>
              <a:t>surface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8064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358997-C315-72CC-D12D-BEF50681F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647" y="11017"/>
            <a:ext cx="10515600" cy="1325563"/>
          </a:xfrm>
        </p:spPr>
        <p:txBody>
          <a:bodyPr/>
          <a:lstStyle/>
          <a:p>
            <a:r>
              <a:rPr lang="da-DK" dirty="0" err="1"/>
              <a:t>Outline</a:t>
            </a:r>
            <a:r>
              <a:rPr lang="da-DK" dirty="0"/>
              <a:t> for </a:t>
            </a:r>
            <a:r>
              <a:rPr lang="da-DK" dirty="0" err="1"/>
              <a:t>next</a:t>
            </a:r>
            <a:r>
              <a:rPr lang="da-DK" dirty="0"/>
              <a:t> slides</a:t>
            </a:r>
          </a:p>
        </p:txBody>
      </p:sp>
      <p:cxnSp>
        <p:nvCxnSpPr>
          <p:cNvPr id="19" name="Lige pilforbindelse 18">
            <a:extLst>
              <a:ext uri="{FF2B5EF4-FFF2-40B4-BE49-F238E27FC236}">
                <a16:creationId xmlns:a16="http://schemas.microsoft.com/office/drawing/2014/main" id="{21919FA4-0278-0301-F652-CADD6A22728D}"/>
              </a:ext>
            </a:extLst>
          </p:cNvPr>
          <p:cNvCxnSpPr>
            <a:cxnSpLocks/>
          </p:cNvCxnSpPr>
          <p:nvPr/>
        </p:nvCxnSpPr>
        <p:spPr>
          <a:xfrm>
            <a:off x="2402541" y="3583641"/>
            <a:ext cx="972513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ge pilforbindelse 20">
            <a:extLst>
              <a:ext uri="{FF2B5EF4-FFF2-40B4-BE49-F238E27FC236}">
                <a16:creationId xmlns:a16="http://schemas.microsoft.com/office/drawing/2014/main" id="{A5967FA9-A013-3B4C-906A-6F3F65CFB1DF}"/>
              </a:ext>
            </a:extLst>
          </p:cNvPr>
          <p:cNvCxnSpPr/>
          <p:nvPr/>
        </p:nvCxnSpPr>
        <p:spPr>
          <a:xfrm>
            <a:off x="5494252" y="3583641"/>
            <a:ext cx="972513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Lige pilforbindelse 21">
            <a:extLst>
              <a:ext uri="{FF2B5EF4-FFF2-40B4-BE49-F238E27FC236}">
                <a16:creationId xmlns:a16="http://schemas.microsoft.com/office/drawing/2014/main" id="{B168079A-DBEA-080B-DAA5-553E076DA39E}"/>
              </a:ext>
            </a:extLst>
          </p:cNvPr>
          <p:cNvCxnSpPr/>
          <p:nvPr/>
        </p:nvCxnSpPr>
        <p:spPr>
          <a:xfrm>
            <a:off x="8585963" y="3567953"/>
            <a:ext cx="972513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Afrundet rektangel 22">
                <a:extLst>
                  <a:ext uri="{FF2B5EF4-FFF2-40B4-BE49-F238E27FC236}">
                    <a16:creationId xmlns:a16="http://schemas.microsoft.com/office/drawing/2014/main" id="{FFB4BFFC-5DA7-F36F-0397-5C954E6A67EA}"/>
                  </a:ext>
                </a:extLst>
              </p:cNvPr>
              <p:cNvSpPr/>
              <p:nvPr/>
            </p:nvSpPr>
            <p:spPr>
              <a:xfrm>
                <a:off x="6466766" y="3294529"/>
                <a:ext cx="2119197" cy="60511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dirty="0"/>
                  <a:t>Finding Gibbs </a:t>
                </a:r>
                <a:r>
                  <a:rPr lang="da-DK" dirty="0" err="1"/>
                  <a:t>Free</a:t>
                </a:r>
                <a:r>
                  <a:rPr lang="da-DK" dirty="0"/>
                  <a:t> </a:t>
                </a:r>
                <a:r>
                  <a:rPr lang="da-DK" dirty="0" err="1"/>
                  <a:t>energies</a:t>
                </a:r>
                <a:r>
                  <a:rPr lang="da-DK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23" name="Afrundet rektangel 22">
                <a:extLst>
                  <a:ext uri="{FF2B5EF4-FFF2-40B4-BE49-F238E27FC236}">
                    <a16:creationId xmlns:a16="http://schemas.microsoft.com/office/drawing/2014/main" id="{FFB4BFFC-5DA7-F36F-0397-5C954E6A67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6766" y="3294529"/>
                <a:ext cx="2119197" cy="605118"/>
              </a:xfrm>
              <a:prstGeom prst="roundRect">
                <a:avLst/>
              </a:prstGeom>
              <a:blipFill>
                <a:blip r:embed="rId2"/>
                <a:stretch>
                  <a:fillRect t="-5882" b="-1372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frundet rektangel 23">
            <a:extLst>
              <a:ext uri="{FF2B5EF4-FFF2-40B4-BE49-F238E27FC236}">
                <a16:creationId xmlns:a16="http://schemas.microsoft.com/office/drawing/2014/main" id="{1B9CE2A4-ED66-0A2A-A274-A823388D7536}"/>
              </a:ext>
            </a:extLst>
          </p:cNvPr>
          <p:cNvSpPr/>
          <p:nvPr/>
        </p:nvSpPr>
        <p:spPr>
          <a:xfrm>
            <a:off x="283343" y="3281082"/>
            <a:ext cx="2119197" cy="6051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How is the rate </a:t>
            </a:r>
            <a:r>
              <a:rPr lang="da-DK" dirty="0" err="1"/>
              <a:t>determined</a:t>
            </a:r>
            <a:r>
              <a:rPr lang="da-DK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Afrundet rektangel 24">
                <a:extLst>
                  <a:ext uri="{FF2B5EF4-FFF2-40B4-BE49-F238E27FC236}">
                    <a16:creationId xmlns:a16="http://schemas.microsoft.com/office/drawing/2014/main" id="{5708FEE4-E9CB-4EE8-97B8-CA23C7BAEC73}"/>
                  </a:ext>
                </a:extLst>
              </p:cNvPr>
              <p:cNvSpPr/>
              <p:nvPr/>
            </p:nvSpPr>
            <p:spPr>
              <a:xfrm>
                <a:off x="3375054" y="3265394"/>
                <a:ext cx="2119197" cy="60511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dirty="0"/>
                  <a:t>Determining rate </a:t>
                </a:r>
                <a:r>
                  <a:rPr lang="da-DK" dirty="0" err="1"/>
                  <a:t>constants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lang="da-DK" dirty="0"/>
                  <a:t>,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25" name="Afrundet rektangel 24">
                <a:extLst>
                  <a:ext uri="{FF2B5EF4-FFF2-40B4-BE49-F238E27FC236}">
                    <a16:creationId xmlns:a16="http://schemas.microsoft.com/office/drawing/2014/main" id="{5708FEE4-E9CB-4EE8-97B8-CA23C7BAEC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054" y="3265394"/>
                <a:ext cx="2119197" cy="605118"/>
              </a:xfrm>
              <a:prstGeom prst="roundRect">
                <a:avLst/>
              </a:prstGeom>
              <a:blipFill>
                <a:blip r:embed="rId3"/>
                <a:stretch>
                  <a:fillRect t="-8000" b="-20000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Afrundet rektangel 25">
                <a:extLst>
                  <a:ext uri="{FF2B5EF4-FFF2-40B4-BE49-F238E27FC236}">
                    <a16:creationId xmlns:a16="http://schemas.microsoft.com/office/drawing/2014/main" id="{9BD89A55-FAA8-71FA-F849-C44E537ED598}"/>
                  </a:ext>
                </a:extLst>
              </p:cNvPr>
              <p:cNvSpPr/>
              <p:nvPr/>
            </p:nvSpPr>
            <p:spPr>
              <a:xfrm>
                <a:off x="9558476" y="3265394"/>
                <a:ext cx="2355648" cy="605118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a-DK" dirty="0"/>
                  <a:t>Finding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𝑓𝑜𝑟𝑚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dirty="0"/>
                  <a:t> &amp;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𝑎𝑐𝑡</m:t>
                        </m:r>
                      </m:sub>
                    </m:sSub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26" name="Afrundet rektangel 25">
                <a:extLst>
                  <a:ext uri="{FF2B5EF4-FFF2-40B4-BE49-F238E27FC236}">
                    <a16:creationId xmlns:a16="http://schemas.microsoft.com/office/drawing/2014/main" id="{9BD89A55-FAA8-71FA-F849-C44E537ED5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8476" y="3265394"/>
                <a:ext cx="2355648" cy="605118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021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A5E05-A9D8-69F6-198A-BD0B42877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7C87A9FE-2B5A-C9B3-CA69-233CC5342729}"/>
              </a:ext>
            </a:extLst>
          </p:cNvPr>
          <p:cNvSpPr txBox="1">
            <a:spLocks/>
          </p:cNvSpPr>
          <p:nvPr/>
        </p:nvSpPr>
        <p:spPr>
          <a:xfrm>
            <a:off x="0" y="-2007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 err="1"/>
              <a:t>Breaking</a:t>
            </a:r>
            <a:r>
              <a:rPr lang="da-DK" dirty="0"/>
              <a:t> </a:t>
            </a:r>
            <a:r>
              <a:rPr lang="da-DK" dirty="0" err="1"/>
              <a:t>down</a:t>
            </a:r>
            <a:r>
              <a:rPr lang="da-DK" dirty="0"/>
              <a:t> the problem – 1. step: find rate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Pladsholder til indhold 2">
                <a:extLst>
                  <a:ext uri="{FF2B5EF4-FFF2-40B4-BE49-F238E27FC236}">
                    <a16:creationId xmlns:a16="http://schemas.microsoft.com/office/drawing/2014/main" id="{40D7C34D-DC45-DA0D-61D6-C843A06589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674370"/>
                <a:ext cx="10515600" cy="565919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da-DK" dirty="0"/>
                  <a:t>General kinetics: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["/>
                        <m:endChr m:val="]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["/>
                        <m:endChr m:val="]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m:rPr>
                        <m:nor/>
                      </m:rPr>
                      <a:rPr lang="da-DK" dirty="0"/>
                      <m:t>⇌</m:t>
                    </m:r>
                    <m:r>
                      <a:rPr lang="da-DK" b="0" i="1" dirty="0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["/>
                        <m:endChr m:val="]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da-DK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["/>
                        <m:endChr m:val="]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endParaRPr lang="da-DK" dirty="0"/>
              </a:p>
              <a:p>
                <a:pPr marL="457200" lvl="1" indent="0">
                  <a:buNone/>
                </a:pPr>
                <a:r>
                  <a:rPr lang="da-DK" b="0" dirty="0"/>
                  <a:t>Power </a:t>
                </a:r>
                <a:r>
                  <a:rPr lang="da-DK" b="0" dirty="0" err="1"/>
                  <a:t>law</a:t>
                </a:r>
                <a:r>
                  <a:rPr lang="da-DK" b="0" dirty="0"/>
                  <a:t>: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da-DK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⃖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sSup>
                      <m:sSup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d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sSup>
                      <m:sSup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da-DK" i="1" dirty="0">
                  <a:latin typeface="Cambria Math" panose="02040503050406030204" pitchFamily="18" charset="0"/>
                </a:endParaRP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da-DK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da-DK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da-DK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da-DK" dirty="0"/>
              </a:p>
              <a:p>
                <a:r>
                  <a:rPr lang="da-DK" dirty="0" err="1"/>
                  <a:t>Heterogeneous</a:t>
                </a:r>
                <a:r>
                  <a:rPr lang="da-DK" dirty="0"/>
                  <a:t> </a:t>
                </a:r>
                <a:r>
                  <a:rPr lang="da-DK" dirty="0" err="1"/>
                  <a:t>catalysis</a:t>
                </a:r>
                <a:r>
                  <a:rPr lang="da-DK" dirty="0"/>
                  <a:t> (</a:t>
                </a:r>
                <a:r>
                  <a:rPr lang="da-DK" dirty="0" err="1"/>
                  <a:t>surface</a:t>
                </a:r>
                <a:r>
                  <a:rPr lang="da-DK" dirty="0"/>
                  <a:t> </a:t>
                </a:r>
                <a:r>
                  <a:rPr lang="da-DK" dirty="0" err="1"/>
                  <a:t>reaction</a:t>
                </a:r>
                <a:r>
                  <a:rPr lang="da-DK" dirty="0"/>
                  <a:t>)</a:t>
                </a:r>
                <a:br>
                  <a:rPr lang="da-DK" dirty="0"/>
                </a:br>
                <a:r>
                  <a:rPr lang="da-DK" dirty="0">
                    <a:sym typeface="Wingdings" pitchFamily="2" charset="2"/>
                  </a:rPr>
                  <a:t> </a:t>
                </a:r>
                <a:r>
                  <a:rPr lang="da-DK" dirty="0" err="1">
                    <a:sym typeface="Wingdings" pitchFamily="2" charset="2"/>
                  </a:rPr>
                  <a:t>Langmuir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Hinshelwood</a:t>
                </a:r>
                <a:endParaRPr lang="da-DK" dirty="0">
                  <a:sym typeface="Wingdings" pitchFamily="2" charset="2"/>
                </a:endParaRPr>
              </a:p>
              <a:p>
                <a:pPr lvl="1"/>
                <a:r>
                  <a:rPr lang="da-DK" dirty="0">
                    <a:sym typeface="Wingdings" pitchFamily="2" charset="2"/>
                  </a:rPr>
                  <a:t>Swap </a:t>
                </a:r>
                <a:r>
                  <a:rPr lang="da-DK" dirty="0" err="1">
                    <a:sym typeface="Wingdings" pitchFamily="2" charset="2"/>
                  </a:rPr>
                  <a:t>adsorbed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concentrations</a:t>
                </a:r>
                <a:r>
                  <a:rPr lang="da-DK" dirty="0">
                    <a:sym typeface="Wingdings" pitchFamily="2" charset="2"/>
                  </a:rPr>
                  <a:t> with: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i="1">
                            <a:latin typeface="Cambria Math" panose="02040503050406030204" pitchFamily="18" charset="0"/>
                          </a:rPr>
                          <m:t>[</m:t>
                        </m:r>
                        <m:sSup>
                          <m:sSupPr>
                            <m:ctrlPr>
                              <a:rPr lang="da-DK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da-DK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a-DK" b="0" i="0" smtClean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</m:den>
                    </m:f>
                  </m:oMath>
                </a14:m>
                <a:endParaRPr lang="da-DK" dirty="0">
                  <a:sym typeface="Wingdings" pitchFamily="2" charset="2"/>
                </a:endParaRPr>
              </a:p>
              <a:p>
                <a:pPr lvl="1"/>
                <a:r>
                  <a:rPr lang="da-DK" dirty="0" err="1">
                    <a:sym typeface="Wingdings" pitchFamily="2" charset="2"/>
                  </a:rPr>
                  <a:t>Include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empty</a:t>
                </a:r>
                <a:r>
                  <a:rPr lang="da-DK" dirty="0">
                    <a:sym typeface="Wingdings" pitchFamily="2" charset="2"/>
                  </a:rPr>
                  <a:t> site as species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da-DK" dirty="0">
                  <a:sym typeface="Wingdings" pitchFamily="2" charset="2"/>
                </a:endParaRPr>
              </a:p>
              <a:p>
                <a:pPr lvl="1"/>
                <a:r>
                  <a:rPr lang="da-DK" dirty="0" err="1">
                    <a:sym typeface="Wingdings" pitchFamily="2" charset="2"/>
                  </a:rPr>
                  <a:t>Study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dynamics</a:t>
                </a:r>
                <a:r>
                  <a:rPr lang="da-DK" dirty="0">
                    <a:sym typeface="Wingdings" pitchFamily="2" charset="2"/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da-DK" dirty="0">
                    <a:sym typeface="Wingdings" pitchFamily="2" charset="2"/>
                  </a:rPr>
                  <a:t> instead</a:t>
                </a:r>
              </a:p>
            </p:txBody>
          </p:sp>
        </mc:Choice>
        <mc:Fallback>
          <p:sp>
            <p:nvSpPr>
              <p:cNvPr id="5" name="Pladsholder til indhold 2">
                <a:extLst>
                  <a:ext uri="{FF2B5EF4-FFF2-40B4-BE49-F238E27FC236}">
                    <a16:creationId xmlns:a16="http://schemas.microsoft.com/office/drawing/2014/main" id="{40D7C34D-DC45-DA0D-61D6-C843A0658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74370"/>
                <a:ext cx="10515600" cy="5659195"/>
              </a:xfrm>
              <a:prstGeom prst="rect">
                <a:avLst/>
              </a:prstGeom>
              <a:blipFill>
                <a:blip r:embed="rId2"/>
                <a:stretch>
                  <a:fillRect l="-1327" t="-179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28">
            <a:extLst>
              <a:ext uri="{FF2B5EF4-FFF2-40B4-BE49-F238E27FC236}">
                <a16:creationId xmlns:a16="http://schemas.microsoft.com/office/drawing/2014/main" id="{765D052E-0C0A-5B17-2FA1-34AE9C81DD23}"/>
              </a:ext>
            </a:extLst>
          </p:cNvPr>
          <p:cNvSpPr/>
          <p:nvPr/>
        </p:nvSpPr>
        <p:spPr bwMode="auto">
          <a:xfrm>
            <a:off x="8219493" y="1904268"/>
            <a:ext cx="3259955" cy="2250604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rtl="0" eaLnBrk="1" fontAlgn="ctr" latinLnBrk="0" hangingPunct="1">
              <a:lnSpc>
                <a:spcPct val="100000"/>
              </a:lnSpc>
              <a:spcAft>
                <a:spcPts val="300"/>
              </a:spcAft>
              <a:tabLst>
                <a:tab pos="449263" algn="l"/>
              </a:tabLst>
            </a:pP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Adsorptions</a:t>
            </a: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(1)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+ 2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H* + H*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(2)	CO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CO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(3)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(4)	CO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CO*</a:t>
            </a:r>
            <a:endParaRPr lang="en-US" sz="1400" kern="100" dirty="0">
              <a:solidFill>
                <a:srgbClr val="000000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  <a:p>
            <a:pPr rtl="0" eaLnBrk="1" fontAlgn="ctr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tabLst>
                <a:tab pos="449263" algn="l"/>
              </a:tabLst>
            </a:pP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CO-O path and H</a:t>
            </a:r>
            <a:r>
              <a:rPr lang="en-US" sz="1400" b="1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 formation</a:t>
            </a:r>
          </a:p>
          <a:p>
            <a:pPr algn="just" rtl="0" eaLnBrk="1" fontAlgn="ctr" latinLnBrk="0" hangingPunct="1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(5)	CO</a:t>
            </a:r>
            <a:r>
              <a:rPr lang="en-US" sz="1400" b="0" i="0" u="none" strike="noStrike" kern="100" baseline="-250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* + * ↔ CO* + O* (RDS)</a:t>
            </a:r>
            <a:endParaRPr lang="en-US" sz="14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(6)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O*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OH* + H*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(7)	OH*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O* + H*</a:t>
            </a:r>
          </a:p>
        </p:txBody>
      </p:sp>
      <p:sp>
        <p:nvSpPr>
          <p:cNvPr id="9" name="Rectangle: Rounded Corners 28">
            <a:extLst>
              <a:ext uri="{FF2B5EF4-FFF2-40B4-BE49-F238E27FC236}">
                <a16:creationId xmlns:a16="http://schemas.microsoft.com/office/drawing/2014/main" id="{84EF1A21-1C8C-2A1D-02F9-9EAD682DFDB0}"/>
              </a:ext>
            </a:extLst>
          </p:cNvPr>
          <p:cNvSpPr/>
          <p:nvPr/>
        </p:nvSpPr>
        <p:spPr bwMode="auto">
          <a:xfrm>
            <a:off x="8294291" y="776754"/>
            <a:ext cx="3110360" cy="309465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  <a:effectLst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a-DK" dirty="0"/>
              <a:t>CO</a:t>
            </a:r>
            <a:r>
              <a:rPr lang="da-DK" baseline="-25000" dirty="0"/>
              <a:t>2</a:t>
            </a:r>
            <a:r>
              <a:rPr lang="da-DK" dirty="0"/>
              <a:t> + H</a:t>
            </a:r>
            <a:r>
              <a:rPr lang="da-DK" baseline="-25000" dirty="0"/>
              <a:t>2 </a:t>
            </a:r>
            <a:r>
              <a:rPr lang="da-DK" dirty="0"/>
              <a:t>⇌ CO + H</a:t>
            </a:r>
            <a:r>
              <a:rPr lang="da-DK" baseline="-25000" dirty="0"/>
              <a:t>2</a:t>
            </a:r>
            <a:r>
              <a:rPr lang="da-DK" dirty="0"/>
              <a:t>O </a:t>
            </a:r>
          </a:p>
        </p:txBody>
      </p:sp>
      <p:cxnSp>
        <p:nvCxnSpPr>
          <p:cNvPr id="11" name="Lige pilforbindelse 10">
            <a:extLst>
              <a:ext uri="{FF2B5EF4-FFF2-40B4-BE49-F238E27FC236}">
                <a16:creationId xmlns:a16="http://schemas.microsoft.com/office/drawing/2014/main" id="{6DBD064B-3AA9-4718-CF29-073AA3BC5656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849471" y="1086219"/>
            <a:ext cx="0" cy="818051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kstfelt 12">
            <a:extLst>
              <a:ext uri="{FF2B5EF4-FFF2-40B4-BE49-F238E27FC236}">
                <a16:creationId xmlns:a16="http://schemas.microsoft.com/office/drawing/2014/main" id="{D31925A6-2018-1F1A-74D6-A8CF437A39E4}"/>
              </a:ext>
            </a:extLst>
          </p:cNvPr>
          <p:cNvSpPr txBox="1"/>
          <p:nvPr/>
        </p:nvSpPr>
        <p:spPr>
          <a:xfrm>
            <a:off x="9849471" y="1161901"/>
            <a:ext cx="2224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Turn</a:t>
            </a:r>
            <a:r>
              <a:rPr lang="da-DK" dirty="0"/>
              <a:t> </a:t>
            </a:r>
            <a:r>
              <a:rPr lang="da-DK" dirty="0" err="1"/>
              <a:t>into</a:t>
            </a:r>
            <a:r>
              <a:rPr lang="da-DK" dirty="0"/>
              <a:t> </a:t>
            </a:r>
            <a:r>
              <a:rPr lang="da-DK" dirty="0" err="1"/>
              <a:t>elementary</a:t>
            </a:r>
            <a:br>
              <a:rPr lang="da-DK" dirty="0"/>
            </a:br>
            <a:r>
              <a:rPr lang="da-DK" dirty="0"/>
              <a:t>steps</a:t>
            </a:r>
          </a:p>
        </p:txBody>
      </p:sp>
      <p:sp>
        <p:nvSpPr>
          <p:cNvPr id="18" name="Tekstfelt 17">
            <a:extLst>
              <a:ext uri="{FF2B5EF4-FFF2-40B4-BE49-F238E27FC236}">
                <a16:creationId xmlns:a16="http://schemas.microsoft.com/office/drawing/2014/main" id="{68BD8EE3-385B-BC01-7344-F59F3AC9E64D}"/>
              </a:ext>
            </a:extLst>
          </p:cNvPr>
          <p:cNvSpPr txBox="1"/>
          <p:nvPr/>
        </p:nvSpPr>
        <p:spPr>
          <a:xfrm>
            <a:off x="9922843" y="4161163"/>
            <a:ext cx="2422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Find rate </a:t>
            </a:r>
            <a:r>
              <a:rPr lang="da-DK" dirty="0" err="1"/>
              <a:t>using</a:t>
            </a:r>
            <a:br>
              <a:rPr lang="da-DK" dirty="0"/>
            </a:br>
            <a:r>
              <a:rPr lang="da-DK" dirty="0" err="1"/>
              <a:t>Langmuir-Hinselwood</a:t>
            </a:r>
            <a:r>
              <a:rPr lang="da-DK" dirty="0"/>
              <a:t> </a:t>
            </a:r>
          </a:p>
        </p:txBody>
      </p:sp>
      <p:cxnSp>
        <p:nvCxnSpPr>
          <p:cNvPr id="20" name="Lige pilforbindelse 19">
            <a:extLst>
              <a:ext uri="{FF2B5EF4-FFF2-40B4-BE49-F238E27FC236}">
                <a16:creationId xmlns:a16="http://schemas.microsoft.com/office/drawing/2014/main" id="{0460F92A-50AD-78A6-AC21-AE2DB60B895C}"/>
              </a:ext>
            </a:extLst>
          </p:cNvPr>
          <p:cNvCxnSpPr>
            <a:cxnSpLocks/>
          </p:cNvCxnSpPr>
          <p:nvPr/>
        </p:nvCxnSpPr>
        <p:spPr>
          <a:xfrm>
            <a:off x="9804453" y="4154872"/>
            <a:ext cx="0" cy="733055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: Rounded Corners 28">
            <a:extLst>
              <a:ext uri="{FF2B5EF4-FFF2-40B4-BE49-F238E27FC236}">
                <a16:creationId xmlns:a16="http://schemas.microsoft.com/office/drawing/2014/main" id="{897786FD-1C86-CBF1-A3FC-157593CE7FA7}"/>
              </a:ext>
            </a:extLst>
          </p:cNvPr>
          <p:cNvSpPr/>
          <p:nvPr/>
        </p:nvSpPr>
        <p:spPr bwMode="auto">
          <a:xfrm>
            <a:off x="8369088" y="4891395"/>
            <a:ext cx="3110360" cy="309465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  <a:effectLst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a-DK" dirty="0" err="1"/>
              <a:t>Reaction</a:t>
            </a:r>
            <a:r>
              <a:rPr lang="da-DK" dirty="0"/>
              <a:t> rate R</a:t>
            </a:r>
          </a:p>
        </p:txBody>
      </p:sp>
    </p:spTree>
    <p:extLst>
      <p:ext uri="{BB962C8B-B14F-4D97-AF65-F5344CB8AC3E}">
        <p14:creationId xmlns:p14="http://schemas.microsoft.com/office/powerpoint/2010/main" val="951398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91E4C617-3CA8-2112-9A7B-764352762CFA}"/>
              </a:ext>
            </a:extLst>
          </p:cNvPr>
          <p:cNvSpPr txBox="1">
            <a:spLocks/>
          </p:cNvSpPr>
          <p:nvPr/>
        </p:nvSpPr>
        <p:spPr>
          <a:xfrm>
            <a:off x="0" y="-2007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 err="1"/>
              <a:t>Breaking</a:t>
            </a:r>
            <a:r>
              <a:rPr lang="da-DK" dirty="0"/>
              <a:t> </a:t>
            </a:r>
            <a:r>
              <a:rPr lang="da-DK" dirty="0" err="1"/>
              <a:t>down</a:t>
            </a:r>
            <a:r>
              <a:rPr lang="da-DK" dirty="0"/>
              <a:t> the problem – 1. step: find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ladsholder til indhold 2">
                <a:extLst>
                  <a:ext uri="{FF2B5EF4-FFF2-40B4-BE49-F238E27FC236}">
                    <a16:creationId xmlns:a16="http://schemas.microsoft.com/office/drawing/2014/main" id="{994C531A-6C13-494C-B6CB-23EA6D5F1C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776754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a-DK" dirty="0">
                    <a:sym typeface="Wingdings" pitchFamily="2" charset="2"/>
                  </a:rPr>
                  <a:t>Turn global </a:t>
                </a:r>
                <a:r>
                  <a:rPr lang="da-DK" dirty="0" err="1">
                    <a:sym typeface="Wingdings" pitchFamily="2" charset="2"/>
                  </a:rPr>
                  <a:t>reaction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into</a:t>
                </a:r>
                <a:r>
                  <a:rPr lang="da-DK" dirty="0">
                    <a:sym typeface="Wingdings" pitchFamily="2" charset="2"/>
                  </a:rPr>
                  <a:t> </a:t>
                </a:r>
                <a:r>
                  <a:rPr lang="da-DK" dirty="0" err="1">
                    <a:sym typeface="Wingdings" pitchFamily="2" charset="2"/>
                  </a:rPr>
                  <a:t>elementary</a:t>
                </a:r>
                <a:r>
                  <a:rPr lang="da-DK" dirty="0">
                    <a:sym typeface="Wingdings" pitchFamily="2" charset="2"/>
                  </a:rPr>
                  <a:t> steps</a:t>
                </a:r>
              </a:p>
              <a:p>
                <a:pPr lvl="1"/>
                <a:r>
                  <a:rPr lang="da-DK" dirty="0" err="1"/>
                  <a:t>Example</a:t>
                </a:r>
                <a:r>
                  <a:rPr lang="da-DK" dirty="0"/>
                  <a:t>: (1):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sSub>
                      <m:sSub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da-D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sSubSup>
                      <m:sSubSup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da-DK" b="0" i="1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⃖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sSubSup>
                      <m:sSubSup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sub>
                      <m:sup>
                        <m:r>
                          <a:rPr lang="da-DK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da-DK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</m:oMath>
                </a14:m>
                <a:r>
                  <a:rPr lang="da-DK" dirty="0"/>
                  <a:t> is </a:t>
                </a:r>
                <a:r>
                  <a:rPr lang="da-DK" dirty="0" err="1"/>
                  <a:t>partial</a:t>
                </a:r>
                <a:r>
                  <a:rPr lang="da-DK" dirty="0"/>
                  <a:t> </a:t>
                </a:r>
                <a:r>
                  <a:rPr lang="da-DK" dirty="0" err="1"/>
                  <a:t>pressure</a:t>
                </a:r>
                <a:r>
                  <a:rPr lang="da-DK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da-DK" dirty="0"/>
              </a:p>
              <a:p>
                <a:pPr lvl="1"/>
                <a:r>
                  <a:rPr lang="da-DK" dirty="0"/>
                  <a:t>Rate </a:t>
                </a:r>
                <a:r>
                  <a:rPr lang="da-DK" dirty="0" err="1"/>
                  <a:t>eq</a:t>
                </a:r>
                <a:r>
                  <a:rPr lang="da-DK" dirty="0"/>
                  <a:t>.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da-DK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b>
                        </m:sSub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a-DK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endParaRPr lang="da-DK" dirty="0"/>
              </a:p>
              <a:p>
                <a:pPr lvl="1"/>
                <a:r>
                  <a:rPr lang="da-DK" dirty="0" err="1"/>
                  <a:t>Assume</a:t>
                </a:r>
                <a:r>
                  <a:rPr lang="da-DK" dirty="0"/>
                  <a:t> </a:t>
                </a:r>
                <a:r>
                  <a:rPr lang="da-DK" dirty="0" err="1"/>
                  <a:t>we</a:t>
                </a:r>
                <a:r>
                  <a:rPr lang="da-DK" dirty="0"/>
                  <a:t> have RDS,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𝑅𝐷𝑆</m:t>
                    </m:r>
                  </m:oMath>
                </a14:m>
                <a:endParaRPr lang="da-DK" b="0" dirty="0">
                  <a:ea typeface="Cambria Math" panose="02040503050406030204" pitchFamily="18" charset="0"/>
                </a:endParaRPr>
              </a:p>
              <a:p>
                <a:pPr lvl="2"/>
                <a:r>
                  <a:rPr lang="da-DK" dirty="0">
                    <a:sym typeface="Wingdings" pitchFamily="2" charset="2"/>
                  </a:rPr>
                  <a:t>All </a:t>
                </a:r>
                <a:r>
                  <a:rPr lang="da-DK" dirty="0" err="1">
                    <a:sym typeface="Wingdings" pitchFamily="2" charset="2"/>
                  </a:rPr>
                  <a:t>elementary</a:t>
                </a:r>
                <a:r>
                  <a:rPr lang="da-DK" dirty="0">
                    <a:sym typeface="Wingdings" pitchFamily="2" charset="2"/>
                  </a:rPr>
                  <a:t> steps have </a:t>
                </a:r>
                <a:r>
                  <a:rPr lang="da-DK" dirty="0" err="1">
                    <a:sym typeface="Wingdings" pitchFamily="2" charset="2"/>
                  </a:rPr>
                  <a:t>equillibrated</a:t>
                </a:r>
                <a:r>
                  <a:rPr lang="da-DK" dirty="0">
                    <a:sym typeface="Wingdings" pitchFamily="2" charset="2"/>
                  </a:rPr>
                  <a:t>.</a:t>
                </a:r>
                <a:endParaRPr lang="da-DK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da-DK" b="0" dirty="0">
                    <a:ea typeface="Cambria Math" panose="02040503050406030204" pitchFamily="18" charset="0"/>
                  </a:rPr>
                  <a:t>RDS:</a:t>
                </a:r>
                <a:r>
                  <a:rPr lang="da-DK" dirty="0">
                    <a:ea typeface="Cambria Math" panose="02040503050406030204" pitchFamily="18" charset="0"/>
                  </a:rPr>
                  <a:t>(5) </a:t>
                </a:r>
                <a:r>
                  <a:rPr lang="da-DK" dirty="0">
                    <a:ea typeface="Cambria Math" panose="02040503050406030204" pitchFamily="18" charset="0"/>
                    <a:sym typeface="Wingdings" pitchFamily="2" charset="2"/>
                  </a:rPr>
                  <a:t> Global rate: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acc>
                    <m:sSub>
                      <m:sSub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sSub>
                          <m:sSubPr>
                            <m:ctrlPr>
                              <a:rPr lang="da-D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𝐶𝑂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⃖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e>
                    </m:acc>
                    <m:sSub>
                      <m:sSub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𝐶𝑂</m:t>
                        </m:r>
                      </m:sub>
                    </m:sSub>
                    <m:sSub>
                      <m:sSub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</m:oMath>
                </a14:m>
                <a:endParaRPr lang="da-DK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Pladsholder til indhold 2">
                <a:extLst>
                  <a:ext uri="{FF2B5EF4-FFF2-40B4-BE49-F238E27FC236}">
                    <a16:creationId xmlns:a16="http://schemas.microsoft.com/office/drawing/2014/main" id="{994C531A-6C13-494C-B6CB-23EA6D5F1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76754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28">
            <a:extLst>
              <a:ext uri="{FF2B5EF4-FFF2-40B4-BE49-F238E27FC236}">
                <a16:creationId xmlns:a16="http://schemas.microsoft.com/office/drawing/2014/main" id="{AAB20269-3FFF-2439-DC4D-721CF54749A6}"/>
              </a:ext>
            </a:extLst>
          </p:cNvPr>
          <p:cNvSpPr/>
          <p:nvPr/>
        </p:nvSpPr>
        <p:spPr bwMode="auto">
          <a:xfrm>
            <a:off x="8205205" y="2252304"/>
            <a:ext cx="3259955" cy="2250604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rtl="0" eaLnBrk="1" fontAlgn="ctr" latinLnBrk="0" hangingPunct="1">
              <a:lnSpc>
                <a:spcPct val="100000"/>
              </a:lnSpc>
              <a:spcAft>
                <a:spcPts val="300"/>
              </a:spcAft>
              <a:tabLst>
                <a:tab pos="449263" algn="l"/>
              </a:tabLst>
            </a:pP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Adsorptions</a:t>
            </a: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(1)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+ 2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H* + H*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(2)	CO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CO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(3)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(4)	CO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CO*</a:t>
            </a:r>
            <a:endParaRPr lang="en-US" sz="1400" kern="100" dirty="0">
              <a:solidFill>
                <a:srgbClr val="000000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  <a:p>
            <a:pPr rtl="0" eaLnBrk="1" fontAlgn="ctr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tabLst>
                <a:tab pos="449263" algn="l"/>
              </a:tabLst>
            </a:pP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CO-O path and H</a:t>
            </a:r>
            <a:r>
              <a:rPr lang="en-US" sz="1400" b="1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 formation</a:t>
            </a:r>
          </a:p>
          <a:p>
            <a:pPr algn="just" rtl="0" eaLnBrk="1" fontAlgn="ctr" latinLnBrk="0" hangingPunct="1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(5)	CO</a:t>
            </a:r>
            <a:r>
              <a:rPr lang="en-US" sz="1400" b="0" i="0" u="none" strike="noStrike" kern="100" baseline="-250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* + * ↔ CO* + O* (RDS)</a:t>
            </a:r>
            <a:endParaRPr lang="en-US" sz="14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(6)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O*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OH* + H*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(7)	OH*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O* + H*</a:t>
            </a:r>
          </a:p>
        </p:txBody>
      </p:sp>
      <p:sp>
        <p:nvSpPr>
          <p:cNvPr id="9" name="Rectangle: Rounded Corners 28">
            <a:extLst>
              <a:ext uri="{FF2B5EF4-FFF2-40B4-BE49-F238E27FC236}">
                <a16:creationId xmlns:a16="http://schemas.microsoft.com/office/drawing/2014/main" id="{E992F64D-E8D7-E16B-3DB0-BA49DB961DEB}"/>
              </a:ext>
            </a:extLst>
          </p:cNvPr>
          <p:cNvSpPr/>
          <p:nvPr/>
        </p:nvSpPr>
        <p:spPr bwMode="auto">
          <a:xfrm>
            <a:off x="8280003" y="1124790"/>
            <a:ext cx="3110360" cy="309465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  <a:effectLst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a-DK" dirty="0"/>
              <a:t>CO</a:t>
            </a:r>
            <a:r>
              <a:rPr lang="da-DK" baseline="-25000" dirty="0"/>
              <a:t>2</a:t>
            </a:r>
            <a:r>
              <a:rPr lang="da-DK" dirty="0"/>
              <a:t> + H</a:t>
            </a:r>
            <a:r>
              <a:rPr lang="da-DK" baseline="-25000" dirty="0"/>
              <a:t>2 </a:t>
            </a:r>
            <a:r>
              <a:rPr lang="da-DK" dirty="0"/>
              <a:t>⇌ CO + H</a:t>
            </a:r>
            <a:r>
              <a:rPr lang="da-DK" baseline="-25000" dirty="0"/>
              <a:t>2</a:t>
            </a:r>
            <a:r>
              <a:rPr lang="da-DK" dirty="0"/>
              <a:t>O </a:t>
            </a:r>
          </a:p>
        </p:txBody>
      </p:sp>
      <p:cxnSp>
        <p:nvCxnSpPr>
          <p:cNvPr id="11" name="Lige pilforbindelse 10">
            <a:extLst>
              <a:ext uri="{FF2B5EF4-FFF2-40B4-BE49-F238E27FC236}">
                <a16:creationId xmlns:a16="http://schemas.microsoft.com/office/drawing/2014/main" id="{E95CDDEC-0B2B-8FD4-1CB2-5F704DDDC021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835183" y="1434255"/>
            <a:ext cx="0" cy="818051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kstfelt 12">
            <a:extLst>
              <a:ext uri="{FF2B5EF4-FFF2-40B4-BE49-F238E27FC236}">
                <a16:creationId xmlns:a16="http://schemas.microsoft.com/office/drawing/2014/main" id="{F22D60D5-A736-F648-2C55-7AD81C19A700}"/>
              </a:ext>
            </a:extLst>
          </p:cNvPr>
          <p:cNvSpPr txBox="1"/>
          <p:nvPr/>
        </p:nvSpPr>
        <p:spPr>
          <a:xfrm>
            <a:off x="9835183" y="1509937"/>
            <a:ext cx="2224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Turn</a:t>
            </a:r>
            <a:r>
              <a:rPr lang="da-DK" dirty="0"/>
              <a:t> </a:t>
            </a:r>
            <a:r>
              <a:rPr lang="da-DK" dirty="0" err="1"/>
              <a:t>into</a:t>
            </a:r>
            <a:r>
              <a:rPr lang="da-DK" dirty="0"/>
              <a:t> </a:t>
            </a:r>
            <a:r>
              <a:rPr lang="da-DK" dirty="0" err="1"/>
              <a:t>elementary</a:t>
            </a:r>
            <a:br>
              <a:rPr lang="da-DK" dirty="0"/>
            </a:br>
            <a:r>
              <a:rPr lang="da-DK" dirty="0"/>
              <a:t>steps</a:t>
            </a:r>
          </a:p>
        </p:txBody>
      </p:sp>
      <p:sp>
        <p:nvSpPr>
          <p:cNvPr id="18" name="Tekstfelt 17">
            <a:extLst>
              <a:ext uri="{FF2B5EF4-FFF2-40B4-BE49-F238E27FC236}">
                <a16:creationId xmlns:a16="http://schemas.microsoft.com/office/drawing/2014/main" id="{308AE225-6E1C-0A1C-E502-DFB5A09D242B}"/>
              </a:ext>
            </a:extLst>
          </p:cNvPr>
          <p:cNvSpPr txBox="1"/>
          <p:nvPr/>
        </p:nvSpPr>
        <p:spPr>
          <a:xfrm>
            <a:off x="9908555" y="4509199"/>
            <a:ext cx="2422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Find rate </a:t>
            </a:r>
            <a:r>
              <a:rPr lang="da-DK" dirty="0" err="1"/>
              <a:t>using</a:t>
            </a:r>
            <a:br>
              <a:rPr lang="da-DK" dirty="0"/>
            </a:br>
            <a:r>
              <a:rPr lang="da-DK" dirty="0" err="1"/>
              <a:t>Langmuir-Hinselwood</a:t>
            </a:r>
            <a:r>
              <a:rPr lang="da-DK" dirty="0"/>
              <a:t> </a:t>
            </a:r>
          </a:p>
        </p:txBody>
      </p:sp>
      <p:cxnSp>
        <p:nvCxnSpPr>
          <p:cNvPr id="20" name="Lige pilforbindelse 19">
            <a:extLst>
              <a:ext uri="{FF2B5EF4-FFF2-40B4-BE49-F238E27FC236}">
                <a16:creationId xmlns:a16="http://schemas.microsoft.com/office/drawing/2014/main" id="{1C86A999-FBA7-2048-7FA5-333D1C2F1057}"/>
              </a:ext>
            </a:extLst>
          </p:cNvPr>
          <p:cNvCxnSpPr>
            <a:cxnSpLocks/>
          </p:cNvCxnSpPr>
          <p:nvPr/>
        </p:nvCxnSpPr>
        <p:spPr>
          <a:xfrm>
            <a:off x="9790165" y="4502908"/>
            <a:ext cx="0" cy="733055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: Rounded Corners 28">
            <a:extLst>
              <a:ext uri="{FF2B5EF4-FFF2-40B4-BE49-F238E27FC236}">
                <a16:creationId xmlns:a16="http://schemas.microsoft.com/office/drawing/2014/main" id="{13BB822C-9F79-860A-4B8C-B2D665E059C1}"/>
              </a:ext>
            </a:extLst>
          </p:cNvPr>
          <p:cNvSpPr/>
          <p:nvPr/>
        </p:nvSpPr>
        <p:spPr bwMode="auto">
          <a:xfrm>
            <a:off x="8354800" y="5239431"/>
            <a:ext cx="3110360" cy="309465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  <a:effectLst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a-DK" dirty="0" err="1"/>
              <a:t>Reaction</a:t>
            </a:r>
            <a:r>
              <a:rPr lang="da-DK" dirty="0"/>
              <a:t> rate R</a:t>
            </a:r>
          </a:p>
        </p:txBody>
      </p:sp>
      <p:pic>
        <p:nvPicPr>
          <p:cNvPr id="1026" name="Picture 2" descr="Steady-State Approximation – Foundations of Chemical and Biological  Engineering I">
            <a:extLst>
              <a:ext uri="{FF2B5EF4-FFF2-40B4-BE49-F238E27FC236}">
                <a16:creationId xmlns:a16="http://schemas.microsoft.com/office/drawing/2014/main" id="{A42347C1-C1FC-0E43-5334-4B4E84075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213" y="4027852"/>
            <a:ext cx="2363604" cy="2496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653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F4226-9607-EB0E-CD89-A3AF7FB5D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618CC46-9D11-A6BD-6769-E5FA430F4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580" y="6581497"/>
            <a:ext cx="252000" cy="135422"/>
          </a:xfrm>
        </p:spPr>
        <p:txBody>
          <a:bodyPr/>
          <a:lstStyle/>
          <a:p>
            <a:fld id="{7834947A-1B05-2B43-AD85-E646CE852B9E}" type="slidenum">
              <a:rPr lang="it-IT" smtClean="0">
                <a:latin typeface="+mj-lt"/>
              </a:rPr>
              <a:t>6</a:t>
            </a:fld>
            <a:endParaRPr lang="it-IT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5375B5-9A27-4FE2-0DC6-FBB6EAAEADDD}"/>
              </a:ext>
            </a:extLst>
          </p:cNvPr>
          <p:cNvSpPr txBox="1"/>
          <p:nvPr/>
        </p:nvSpPr>
        <p:spPr>
          <a:xfrm>
            <a:off x="144602" y="124935"/>
            <a:ext cx="112236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kern="0" dirty="0">
                <a:latin typeface="+mj-lt"/>
              </a:rPr>
              <a:t>RWGS on metals and single-atom alloys – Why elementary step 5?</a:t>
            </a:r>
            <a:endParaRPr lang="en-US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A80027-E677-8447-C083-1709D9B8D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23" y="1134455"/>
            <a:ext cx="5570771" cy="4940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406B89-6850-79C9-0CCE-B05405DE3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107" y="1134455"/>
            <a:ext cx="5570772" cy="4940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6CCC6C-03CD-BDF9-4E0E-3276AA7D638D}"/>
              </a:ext>
            </a:extLst>
          </p:cNvPr>
          <p:cNvSpPr txBox="1"/>
          <p:nvPr/>
        </p:nvSpPr>
        <p:spPr>
          <a:xfrm>
            <a:off x="823720" y="904104"/>
            <a:ext cx="47595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CO</a:t>
            </a:r>
            <a:r>
              <a:rPr lang="en-US" sz="1200" baseline="-250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2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* dissociation RDS for most materials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CB976B-F91E-9DF8-99BC-15B3E2F85447}"/>
              </a:ext>
            </a:extLst>
          </p:cNvPr>
          <p:cNvSpPr txBox="1"/>
          <p:nvPr/>
        </p:nvSpPr>
        <p:spPr>
          <a:xfrm>
            <a:off x="6608709" y="904104"/>
            <a:ext cx="47595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2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Most abundant reaction intermediates: CO*, O*, H*</a:t>
            </a:r>
          </a:p>
        </p:txBody>
      </p:sp>
    </p:spTree>
    <p:extLst>
      <p:ext uri="{BB962C8B-B14F-4D97-AF65-F5344CB8AC3E}">
        <p14:creationId xmlns:p14="http://schemas.microsoft.com/office/powerpoint/2010/main" val="2707968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F6812-9BA2-9F88-EB07-9B22B8604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A20674ED-7A76-9326-8CF7-4A6C31F801B4}"/>
              </a:ext>
            </a:extLst>
          </p:cNvPr>
          <p:cNvSpPr txBox="1">
            <a:spLocks/>
          </p:cNvSpPr>
          <p:nvPr/>
        </p:nvSpPr>
        <p:spPr>
          <a:xfrm>
            <a:off x="0" y="-2007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 err="1"/>
              <a:t>Breaking</a:t>
            </a:r>
            <a:r>
              <a:rPr lang="da-DK" dirty="0"/>
              <a:t> </a:t>
            </a:r>
            <a:r>
              <a:rPr lang="da-DK" dirty="0" err="1"/>
              <a:t>down</a:t>
            </a:r>
            <a:r>
              <a:rPr lang="da-DK" dirty="0"/>
              <a:t> the problem – 1. step: find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ladsholder til indhold 2">
                <a:extLst>
                  <a:ext uri="{FF2B5EF4-FFF2-40B4-BE49-F238E27FC236}">
                    <a16:creationId xmlns:a16="http://schemas.microsoft.com/office/drawing/2014/main" id="{F78BED35-D4DC-5BFF-C0BB-0392BE2ADE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776754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a-DK" dirty="0"/>
                  <a:t>1.step: How do </a:t>
                </a:r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determine</a:t>
                </a:r>
                <a:r>
                  <a:rPr lang="da-DK" dirty="0"/>
                  <a:t> </a:t>
                </a:r>
                <a:br>
                  <a:rPr lang="da-DK" dirty="0"/>
                </a:br>
                <a:r>
                  <a:rPr lang="da-DK" dirty="0"/>
                  <a:t>the </a:t>
                </a:r>
                <a:r>
                  <a:rPr lang="da-DK" dirty="0" err="1"/>
                  <a:t>reaction</a:t>
                </a:r>
                <a:r>
                  <a:rPr lang="da-DK" dirty="0"/>
                  <a:t> rate?</a:t>
                </a:r>
              </a:p>
              <a:p>
                <a:r>
                  <a:rPr lang="da-DK" dirty="0"/>
                  <a:t>Now </a:t>
                </a:r>
                <a:r>
                  <a:rPr lang="da-DK" dirty="0" err="1"/>
                  <a:t>solve</a:t>
                </a:r>
                <a:r>
                  <a:rPr lang="da-DK" dirty="0"/>
                  <a:t> for R </a:t>
                </a:r>
                <a:r>
                  <a:rPr lang="da-DK" dirty="0" err="1"/>
                  <a:t>using</a:t>
                </a:r>
                <a:r>
                  <a:rPr lang="da-DK" dirty="0"/>
                  <a:t> site </a:t>
                </a:r>
                <a:r>
                  <a:rPr lang="da-DK" dirty="0" err="1"/>
                  <a:t>conservation</a:t>
                </a:r>
                <a:r>
                  <a:rPr lang="da-DK" dirty="0"/>
                  <a:t> </a:t>
                </a:r>
                <a:br>
                  <a:rPr lang="da-DK" dirty="0"/>
                </a:br>
                <a:r>
                  <a:rPr lang="da-DK" dirty="0"/>
                  <a:t>&amp; </a:t>
                </a:r>
                <a:r>
                  <a:rPr lang="da-DK" dirty="0" err="1"/>
                  <a:t>equillibrated</a:t>
                </a:r>
                <a:r>
                  <a:rPr lang="da-DK" dirty="0"/>
                  <a:t> rates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1=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sSub>
                          <m:sSubPr>
                            <m:ctrlPr>
                              <a:rPr lang="da-D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𝐶𝑂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da-DK" dirty="0"/>
              </a:p>
              <a:p>
                <a:pPr lvl="1"/>
                <a:r>
                  <a:rPr lang="da-DK" dirty="0"/>
                  <a:t>(1):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⃗"/>
                                <m:ctrlPr>
                                  <a:rPr lang="da-DK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da-DK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</m:num>
                          <m:den>
                            <m:acc>
                              <m:accPr>
                                <m:chr m:val="⃖"/>
                                <m:ctrlPr>
                                  <a:rPr lang="da-DK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acc>
                          </m:den>
                        </m:f>
                        <m:sSub>
                          <m:sSubPr>
                            <m:ctrlPr>
                              <a:rPr lang="da-DK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da-DK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</m:rad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sSup>
                          <m:sSup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p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rad>
                      <m:radPr>
                        <m:degHide m:val="on"/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da-DK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da-DK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</m:rad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da-DK" dirty="0"/>
              </a:p>
              <a:p>
                <a:pPr lvl="1"/>
                <a:r>
                  <a:rPr lang="da-DK" dirty="0"/>
                  <a:t>(2): … </a:t>
                </a:r>
              </a:p>
              <a:p>
                <a:pPr lvl="1"/>
                <a:r>
                  <a:rPr lang="da-DK" dirty="0"/>
                  <a:t>Rate: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  <a:ea typeface="Noto Sans" panose="020B0502040504020204" pitchFamily="34"/>
                        <a:cs typeface="Noto Sans" panose="020B0502040504020204" pitchFamily="34"/>
                      </a:rPr>
                      <m:t>𝑅</m:t>
                    </m:r>
                    <m:r>
                      <a:rPr lang="en-US" i="1" dirty="0">
                        <a:latin typeface="Cambria Math" panose="02040503050406030204" pitchFamily="18" charset="0"/>
                        <a:ea typeface="Noto Sans" panose="020B0502040504020204" pitchFamily="34"/>
                        <a:cs typeface="Noto Sans" panose="020B0502040504020204" pitchFamily="34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  <a:ea typeface="Noto Sans" panose="020B0502040504020204" pitchFamily="34"/>
                            <a:cs typeface="Noto Sans" panose="020B0502040504020204" pitchFamily="34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Noto Sans" panose="020B0502040504020204" pitchFamily="34"/>
                                <a:cs typeface="Noto Sans" panose="020B0502040504020204" pitchFamily="34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  <a:ea typeface="Noto Sans" panose="020B0502040504020204" pitchFamily="34"/>
                                    <a:cs typeface="Noto Sans" panose="020B0502040504020204" pitchFamily="34"/>
                                  </a:rPr>
                                </m:ctrlPr>
                              </m:acc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Noto Sans" panose="020B0502040504020204" pitchFamily="34"/>
                                    <a:cs typeface="Noto Sans" panose="020B0502040504020204" pitchFamily="34"/>
                                  </a:rPr>
                                  <m:t>𝑘</m:t>
                                </m:r>
                              </m:e>
                            </m:acc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  <a:ea typeface="Noto Sans" panose="020B0502040504020204" pitchFamily="34"/>
                                <a:cs typeface="Noto Sans" panose="020B0502040504020204" pitchFamily="34"/>
                              </a:rPr>
                              <m:t>5</m:t>
                            </m:r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Noto Sans" panose="020B0502040504020204" pitchFamily="34"/>
                                <a:cs typeface="Noto Sans" panose="020B0502040504020204" pitchFamily="34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ea typeface="Noto Sans" panose="020B0502040504020204" pitchFamily="34"/>
                                <a:cs typeface="Noto Sans" panose="020B0502040504020204" pitchFamily="34"/>
                              </a:rPr>
                              <m:t>𝐾</m:t>
                            </m:r>
                          </m:e>
                          <m:sub>
                            <m:sSubSup>
                              <m:sSubSupPr>
                                <m:ctrlPr>
                                  <a:rPr lang="it-IT" i="1" dirty="0">
                                    <a:latin typeface="Cambria Math" panose="02040503050406030204" pitchFamily="18" charset="0"/>
                                    <a:ea typeface="Noto Sans" panose="020B0502040504020204" pitchFamily="34"/>
                                    <a:cs typeface="Noto Sans" panose="020B0502040504020204" pitchFamily="34"/>
                                  </a:rPr>
                                </m:ctrlPr>
                              </m:sSub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Noto Sans" panose="020B0502040504020204" pitchFamily="34"/>
                                    <a:cs typeface="Noto Sans" panose="020B0502040504020204" pitchFamily="34"/>
                                  </a:rPr>
                                  <m:t>𝐶𝑂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Noto Sans" panose="020B0502040504020204" pitchFamily="34"/>
                                    <a:cs typeface="Noto Sans" panose="020B0502040504020204" pitchFamily="34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it-IT" i="1" dirty="0">
                                    <a:latin typeface="Cambria Math" panose="02040503050406030204" pitchFamily="18" charset="0"/>
                                    <a:ea typeface="Noto Sans" panose="020B0502040504020204" pitchFamily="34"/>
                                    <a:cs typeface="Noto Sans" panose="020B0502040504020204" pitchFamily="34"/>
                                  </a:rPr>
                                  <m:t>∗</m:t>
                                </m:r>
                              </m:sup>
                            </m:sSubSup>
                          </m:sub>
                        </m:sSub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Noto Sans" panose="020B0502040504020204" pitchFamily="34"/>
                                <a:cs typeface="Noto Sans" panose="020B0502040504020204" pitchFamily="34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ea typeface="Noto Sans" panose="020B0502040504020204" pitchFamily="34"/>
                                <a:cs typeface="Noto Sans" panose="020B0502040504020204" pitchFamily="34"/>
                              </a:rPr>
                              <m:t>𝑃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  <a:ea typeface="Noto Sans" panose="020B0502040504020204" pitchFamily="34"/>
                                    <a:cs typeface="Noto Sans" panose="020B0502040504020204" pitchFamily="34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Noto Sans" panose="020B0502040504020204" pitchFamily="34"/>
                                    <a:cs typeface="Noto Sans" panose="020B0502040504020204" pitchFamily="34"/>
                                  </a:rPr>
                                  <m:t>𝐶𝑂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Noto Sans" panose="020B0502040504020204" pitchFamily="34"/>
                                    <a:cs typeface="Noto Sans" panose="020B0502040504020204" pitchFamily="34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num>
                      <m:den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  <a:ea typeface="Noto Sans" panose="020B0502040504020204" pitchFamily="34"/>
                                <a:cs typeface="Noto Sans" panose="020B0502040504020204" pitchFamily="34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  <a:ea typeface="Noto Sans" panose="020B0502040504020204" pitchFamily="34"/>
                                    <a:cs typeface="Noto Sans" panose="020B0502040504020204" pitchFamily="34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Noto Sans" panose="020B0502040504020204" pitchFamily="34"/>
                                    <a:cs typeface="Noto Sans" panose="020B0502040504020204" pitchFamily="34"/>
                                  </a:rPr>
                                  <m:t>1</m:t>
                                </m:r>
                                <m:r>
                                  <a:rPr lang="da-DK" b="0" i="1" dirty="0" smtClean="0">
                                    <a:latin typeface="Cambria Math" panose="02040503050406030204" pitchFamily="18" charset="0"/>
                                    <a:ea typeface="Noto Sans" panose="020B0502040504020204" pitchFamily="34"/>
                                    <a:cs typeface="Noto Sans" panose="020B0502040504020204" pitchFamily="34"/>
                                  </a:rPr>
                                  <m:t>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Noto Sans" panose="020B0502040504020204" pitchFamily="34"/>
                                    <a:cs typeface="Noto Sans" panose="020B0502040504020204" pitchFamily="34"/>
                                  </a:rPr>
                                  <m:t>+</m:t>
                                </m:r>
                                <m:r>
                                  <a:rPr lang="da-DK" b="0" i="1" dirty="0" smtClean="0">
                                    <a:latin typeface="Cambria Math" panose="02040503050406030204" pitchFamily="18" charset="0"/>
                                    <a:ea typeface="Noto Sans" panose="020B0502040504020204" pitchFamily="34"/>
                                    <a:cs typeface="Noto Sans" panose="020B0502040504020204" pitchFamily="34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Noto Sans" panose="020B0502040504020204" pitchFamily="34"/>
                                        <a:cs typeface="Noto Sans" panose="020B0502040504020204" pitchFamily="3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Noto Sans" panose="020B0502040504020204" pitchFamily="34"/>
                                        <a:cs typeface="Noto Sans" panose="020B0502040504020204" pitchFamily="34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it-IT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Noto Sans" panose="020B0502040504020204" pitchFamily="34"/>
                                        <a:cs typeface="Noto Sans" panose="020B0502040504020204" pitchFamily="34"/>
                                      </a:rPr>
                                      <m:t>𝐶</m:t>
                                    </m:r>
                                    <m:sSubSup>
                                      <m:sSubSupPr>
                                        <m:ctrlPr>
                                          <a:rPr lang="da-DK" b="0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it-IT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  <m:t>𝑂</m:t>
                                        </m:r>
                                      </m:e>
                                      <m:sub>
                                        <m:r>
                                          <a:rPr lang="da-DK" b="0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  <m:t>2</m:t>
                                        </m:r>
                                      </m:sub>
                                      <m:sup>
                                        <m:r>
                                          <a:rPr lang="it-IT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Noto Sans" panose="020B0502040504020204" pitchFamily="34"/>
                                        <a:cs typeface="Noto Sans" panose="020B0502040504020204" pitchFamily="3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Noto Sans" panose="020B0502040504020204" pitchFamily="34"/>
                                        <a:cs typeface="Noto Sans" panose="020B0502040504020204" pitchFamily="34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da-DK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Noto Sans" panose="020B0502040504020204" pitchFamily="34"/>
                                        <a:cs typeface="Noto Sans" panose="020B0502040504020204" pitchFamily="34"/>
                                      </a:rPr>
                                      <m:t>𝐶</m:t>
                                    </m:r>
                                    <m:sSub>
                                      <m:sSubPr>
                                        <m:ctrlPr>
                                          <a:rPr lang="da-DK" b="0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b="0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  <m:t>𝑂</m:t>
                                        </m:r>
                                      </m:e>
                                      <m:sub>
                                        <m:r>
                                          <a:rPr lang="da-DK" b="0" i="1" dirty="0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da-DK" b="0" i="1" dirty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Noto Sans" panose="020B0502040504020204" pitchFamily="34"/>
                                        <a:cs typeface="Noto Sans" panose="020B0502040504020204" pitchFamily="34"/>
                                      </a:rPr>
                                      <m:t> </m:t>
                                    </m:r>
                                  </m:sub>
                                </m:sSub>
                                <m:r>
                                  <a:rPr lang="da-DK" b="0" i="1" dirty="0" smtClean="0">
                                    <a:latin typeface="Cambria Math" panose="02040503050406030204" pitchFamily="18" charset="0"/>
                                    <a:ea typeface="Noto Sans" panose="020B0502040504020204" pitchFamily="34"/>
                                    <a:cs typeface="Noto Sans" panose="020B0502040504020204" pitchFamily="34"/>
                                  </a:rPr>
                                  <m:t>+ 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  <a:ea typeface="Noto Sans" panose="020B0502040504020204" pitchFamily="34"/>
                                        <a:cs typeface="Noto Sans" panose="020B0502040504020204" pitchFamily="3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  <a:ea typeface="Noto Sans" panose="020B0502040504020204" pitchFamily="34"/>
                                        <a:cs typeface="Noto Sans" panose="020B0502040504020204" pitchFamily="34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it-IT" i="1" dirty="0">
                                        <a:latin typeface="Cambria Math" panose="02040503050406030204" pitchFamily="18" charset="0"/>
                                        <a:ea typeface="Noto Sans" panose="020B0502040504020204" pitchFamily="34"/>
                                        <a:cs typeface="Noto Sans" panose="020B0502040504020204" pitchFamily="34"/>
                                      </a:rPr>
                                      <m:t>𝐶</m:t>
                                    </m:r>
                                    <m:sSup>
                                      <m:sSupPr>
                                        <m:ctrlPr>
                                          <a:rPr lang="it-IT" i="1" dirty="0"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it-IT" i="1" dirty="0"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  <m:t>𝑂</m:t>
                                        </m:r>
                                      </m:e>
                                      <m:sup>
                                        <m:r>
                                          <a:rPr lang="it-IT" i="1" dirty="0"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  <a:ea typeface="Noto Sans" panose="020B0502040504020204" pitchFamily="34"/>
                                        <a:cs typeface="Noto Sans" panose="020B0502040504020204" pitchFamily="3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  <a:ea typeface="Noto Sans" panose="020B0502040504020204" pitchFamily="34"/>
                                        <a:cs typeface="Noto Sans" panose="020B0502040504020204" pitchFamily="34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  <a:ea typeface="Noto Sans" panose="020B0502040504020204" pitchFamily="34"/>
                                        <a:cs typeface="Noto Sans" panose="020B0502040504020204" pitchFamily="34"/>
                                      </a:rPr>
                                      <m:t>𝐶𝑂</m:t>
                                    </m:r>
                                  </m:sub>
                                </m:sSub>
                                <m:r>
                                  <a:rPr lang="da-DK" b="0" i="1" dirty="0" smtClean="0">
                                    <a:latin typeface="Cambria Math" panose="02040503050406030204" pitchFamily="18" charset="0"/>
                                    <a:ea typeface="Noto Sans" panose="020B0502040504020204" pitchFamily="34"/>
                                    <a:cs typeface="Noto Sans" panose="020B0502040504020204" pitchFamily="34"/>
                                  </a:rPr>
                                  <m:t> 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Noto Sans" panose="020B0502040504020204" pitchFamily="34"/>
                                    <a:cs typeface="Noto Sans" panose="020B0502040504020204" pitchFamily="34"/>
                                  </a:rPr>
                                  <m:t>+</m:t>
                                </m:r>
                                <m:r>
                                  <a:rPr lang="da-DK" b="0" i="1" dirty="0" smtClean="0">
                                    <a:latin typeface="Cambria Math" panose="02040503050406030204" pitchFamily="18" charset="0"/>
                                    <a:ea typeface="Noto Sans" panose="020B0502040504020204" pitchFamily="34"/>
                                    <a:cs typeface="Noto Sans" panose="020B0502040504020204" pitchFamily="34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  <a:ea typeface="Noto Sans" panose="020B0502040504020204" pitchFamily="34"/>
                                        <a:cs typeface="Noto Sans" panose="020B0502040504020204" pitchFamily="3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  <a:ea typeface="Noto Sans" panose="020B0502040504020204" pitchFamily="34"/>
                                        <a:cs typeface="Noto Sans" panose="020B0502040504020204" pitchFamily="34"/>
                                      </a:rPr>
                                      <m:t>𝐾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it-IT" i="1" dirty="0"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it-IT" i="1" dirty="0"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  <m:t>𝐻</m:t>
                                        </m:r>
                                      </m:e>
                                      <m:sup>
                                        <m:r>
                                          <a:rPr lang="it-IT" i="1" dirty="0"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  <a:ea typeface="Noto Sans" panose="020B0502040504020204" pitchFamily="34"/>
                                        <a:cs typeface="Noto Sans" panose="020B0502040504020204" pitchFamily="34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Noto Sans" panose="020B0502040504020204" pitchFamily="34"/>
                                                <a:cs typeface="Noto Sans" panose="020B0502040504020204" pitchFamily="34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Noto Sans" panose="020B0502040504020204" pitchFamily="34"/>
                                                <a:cs typeface="Noto Sans" panose="020B0502040504020204" pitchFamily="34"/>
                                              </a:rPr>
                                              <m:t>𝐻</m:t>
                                            </m:r>
                                          </m:e>
                                          <m:sub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Noto Sans" panose="020B0502040504020204" pitchFamily="34"/>
                                                <a:cs typeface="Noto Sans" panose="020B0502040504020204" pitchFamily="34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da-DK" b="0" i="1" dirty="0" smtClean="0">
                                        <a:latin typeface="Cambria Math" panose="02040503050406030204" pitchFamily="18" charset="0"/>
                                        <a:ea typeface="Noto Sans" panose="020B0502040504020204" pitchFamily="34"/>
                                        <a:cs typeface="Noto Sans" panose="020B0502040504020204" pitchFamily="34"/>
                                      </a:rPr>
                                      <m:t> </m:t>
                                    </m:r>
                                  </m:e>
                                </m:rad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Noto Sans" panose="020B0502040504020204" pitchFamily="34"/>
                                    <a:cs typeface="Noto Sans" panose="020B0502040504020204" pitchFamily="34"/>
                                  </a:rPr>
                                  <m:t>+</m:t>
                                </m:r>
                                <m:r>
                                  <a:rPr lang="da-DK" b="0" i="1" dirty="0" smtClean="0">
                                    <a:latin typeface="Cambria Math" panose="02040503050406030204" pitchFamily="18" charset="0"/>
                                    <a:ea typeface="Noto Sans" panose="020B0502040504020204" pitchFamily="34"/>
                                    <a:cs typeface="Noto Sans" panose="020B0502040504020204" pitchFamily="34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  <a:ea typeface="Noto Sans" panose="020B0502040504020204" pitchFamily="34"/>
                                        <a:cs typeface="Noto Sans" panose="020B0502040504020204" pitchFamily="34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  <a:ea typeface="Noto Sans" panose="020B0502040504020204" pitchFamily="34"/>
                                        <a:cs typeface="Noto Sans" panose="020B0502040504020204" pitchFamily="34"/>
                                      </a:rPr>
                                      <m:t>𝐾</m:t>
                                    </m:r>
                                  </m:e>
                                  <m:sub>
                                    <m:sSup>
                                      <m:sSupPr>
                                        <m:ctrlPr>
                                          <a:rPr lang="it-IT" i="1" dirty="0"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  <m:t>𝑂</m:t>
                                        </m:r>
                                      </m:e>
                                      <m:sup>
                                        <m:r>
                                          <a:rPr lang="it-IT" i="1" dirty="0"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  <m:t>∗</m:t>
                                        </m:r>
                                      </m:sup>
                                    </m:sSup>
                                  </m:sub>
                                </m:sSub>
                                <m:f>
                                  <m:f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  <a:ea typeface="Noto Sans" panose="020B0502040504020204" pitchFamily="34"/>
                                        <a:cs typeface="Noto Sans" panose="020B0502040504020204" pitchFamily="34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Noto Sans" panose="020B0502040504020204" pitchFamily="34"/>
                                                <a:cs typeface="Noto Sans" panose="020B0502040504020204" pitchFamily="34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Noto Sans" panose="020B0502040504020204" pitchFamily="34"/>
                                                <a:cs typeface="Noto Sans" panose="020B0502040504020204" pitchFamily="34"/>
                                              </a:rPr>
                                              <m:t>𝐻</m:t>
                                            </m:r>
                                          </m:e>
                                          <m:sub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Noto Sans" panose="020B0502040504020204" pitchFamily="34"/>
                                                <a:cs typeface="Noto Sans" panose="020B0502040504020204" pitchFamily="34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da-DK" b="0" i="1" dirty="0" smtClean="0"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  <m:t>𝑂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  <a:ea typeface="Noto Sans" panose="020B0502040504020204" pitchFamily="34"/>
                                            <a:cs typeface="Noto Sans" panose="020B0502040504020204" pitchFamily="34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Noto Sans" panose="020B0502040504020204" pitchFamily="34"/>
                                                <a:cs typeface="Noto Sans" panose="020B0502040504020204" pitchFamily="34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Noto Sans" panose="020B0502040504020204" pitchFamily="34"/>
                                                <a:cs typeface="Noto Sans" panose="020B0502040504020204" pitchFamily="34"/>
                                              </a:rPr>
                                              <m:t>𝐻</m:t>
                                            </m:r>
                                          </m:e>
                                          <m:sub>
                                            <m:r>
                                              <a:rPr lang="en-US" i="1" dirty="0">
                                                <a:latin typeface="Cambria Math" panose="02040503050406030204" pitchFamily="18" charset="0"/>
                                                <a:ea typeface="Noto Sans" panose="020B0502040504020204" pitchFamily="34"/>
                                                <a:cs typeface="Noto Sans" panose="020B0502040504020204" pitchFamily="34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  <a:ea typeface="Noto Sans" panose="020B0502040504020204" pitchFamily="34"/>
                                <a:cs typeface="Noto Sans" panose="020B0502040504020204" pitchFamily="34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da-DK" dirty="0"/>
              </a:p>
              <a:p>
                <a:pPr lvl="1"/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5" name="Pladsholder til indhold 2">
                <a:extLst>
                  <a:ext uri="{FF2B5EF4-FFF2-40B4-BE49-F238E27FC236}">
                    <a16:creationId xmlns:a16="http://schemas.microsoft.com/office/drawing/2014/main" id="{F78BED35-D4DC-5BFF-C0BB-0392BE2AD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76754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086" t="-2326" b="-58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28">
            <a:extLst>
              <a:ext uri="{FF2B5EF4-FFF2-40B4-BE49-F238E27FC236}">
                <a16:creationId xmlns:a16="http://schemas.microsoft.com/office/drawing/2014/main" id="{E0E28AE2-EDC6-0EBA-CE08-7C2C9F1E38D1}"/>
              </a:ext>
            </a:extLst>
          </p:cNvPr>
          <p:cNvSpPr/>
          <p:nvPr/>
        </p:nvSpPr>
        <p:spPr bwMode="auto">
          <a:xfrm>
            <a:off x="7817278" y="2252304"/>
            <a:ext cx="3259955" cy="2250604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rtl="0" eaLnBrk="1" fontAlgn="ctr" latinLnBrk="0" hangingPunct="1">
              <a:lnSpc>
                <a:spcPct val="100000"/>
              </a:lnSpc>
              <a:spcAft>
                <a:spcPts val="300"/>
              </a:spcAft>
              <a:tabLst>
                <a:tab pos="449263" algn="l"/>
              </a:tabLst>
            </a:pP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Adsorptions</a:t>
            </a: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(1)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+ 2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H* + H*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(2)	CO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CO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(3)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(4)	CO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CO*</a:t>
            </a:r>
            <a:endParaRPr lang="en-US" sz="1400" kern="100" dirty="0">
              <a:solidFill>
                <a:srgbClr val="000000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  <a:p>
            <a:pPr rtl="0" eaLnBrk="1" fontAlgn="ctr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tabLst>
                <a:tab pos="449263" algn="l"/>
              </a:tabLst>
            </a:pP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CO-O path and H</a:t>
            </a:r>
            <a:r>
              <a:rPr lang="en-US" sz="1400" b="1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 formation</a:t>
            </a:r>
          </a:p>
          <a:p>
            <a:pPr algn="just" rtl="0" eaLnBrk="1" fontAlgn="ctr" latinLnBrk="0" hangingPunct="1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(5)	CO</a:t>
            </a:r>
            <a:r>
              <a:rPr lang="en-US" sz="1400" b="0" i="0" u="none" strike="noStrike" kern="100" baseline="-250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* + * ↔ CO* + O* (RDS)</a:t>
            </a:r>
            <a:endParaRPr lang="en-US" sz="14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(6)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O*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OH* + H*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(7)	OH*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O* + H*</a:t>
            </a:r>
          </a:p>
        </p:txBody>
      </p:sp>
      <p:sp>
        <p:nvSpPr>
          <p:cNvPr id="9" name="Rectangle: Rounded Corners 28">
            <a:extLst>
              <a:ext uri="{FF2B5EF4-FFF2-40B4-BE49-F238E27FC236}">
                <a16:creationId xmlns:a16="http://schemas.microsoft.com/office/drawing/2014/main" id="{18998B95-1A1E-8177-911B-5ABC167A4942}"/>
              </a:ext>
            </a:extLst>
          </p:cNvPr>
          <p:cNvSpPr/>
          <p:nvPr/>
        </p:nvSpPr>
        <p:spPr bwMode="auto">
          <a:xfrm>
            <a:off x="7892076" y="1124790"/>
            <a:ext cx="3110360" cy="309465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  <a:effectLst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a-DK" dirty="0"/>
              <a:t>CO</a:t>
            </a:r>
            <a:r>
              <a:rPr lang="da-DK" baseline="-25000" dirty="0"/>
              <a:t>2</a:t>
            </a:r>
            <a:r>
              <a:rPr lang="da-DK" dirty="0"/>
              <a:t> + H</a:t>
            </a:r>
            <a:r>
              <a:rPr lang="da-DK" baseline="-25000" dirty="0"/>
              <a:t>2 </a:t>
            </a:r>
            <a:r>
              <a:rPr lang="da-DK" dirty="0"/>
              <a:t>⇌ CO + H</a:t>
            </a:r>
            <a:r>
              <a:rPr lang="da-DK" baseline="-25000" dirty="0"/>
              <a:t>2</a:t>
            </a:r>
            <a:r>
              <a:rPr lang="da-DK" dirty="0"/>
              <a:t>O </a:t>
            </a:r>
          </a:p>
        </p:txBody>
      </p:sp>
      <p:cxnSp>
        <p:nvCxnSpPr>
          <p:cNvPr id="11" name="Lige pilforbindelse 10">
            <a:extLst>
              <a:ext uri="{FF2B5EF4-FFF2-40B4-BE49-F238E27FC236}">
                <a16:creationId xmlns:a16="http://schemas.microsoft.com/office/drawing/2014/main" id="{964FBD1B-7303-426D-72FB-5274A3FA395F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447256" y="1434255"/>
            <a:ext cx="0" cy="818051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kstfelt 12">
            <a:extLst>
              <a:ext uri="{FF2B5EF4-FFF2-40B4-BE49-F238E27FC236}">
                <a16:creationId xmlns:a16="http://schemas.microsoft.com/office/drawing/2014/main" id="{2EDDF528-913B-E2A1-24FA-04F1F0FA29E2}"/>
              </a:ext>
            </a:extLst>
          </p:cNvPr>
          <p:cNvSpPr txBox="1"/>
          <p:nvPr/>
        </p:nvSpPr>
        <p:spPr>
          <a:xfrm>
            <a:off x="9520629" y="1520114"/>
            <a:ext cx="2224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Turn</a:t>
            </a:r>
            <a:r>
              <a:rPr lang="da-DK" dirty="0"/>
              <a:t> </a:t>
            </a:r>
            <a:r>
              <a:rPr lang="da-DK" dirty="0" err="1"/>
              <a:t>into</a:t>
            </a:r>
            <a:r>
              <a:rPr lang="da-DK" dirty="0"/>
              <a:t> </a:t>
            </a:r>
            <a:r>
              <a:rPr lang="da-DK" dirty="0" err="1"/>
              <a:t>elementary</a:t>
            </a:r>
            <a:br>
              <a:rPr lang="da-DK" dirty="0"/>
            </a:br>
            <a:r>
              <a:rPr lang="da-DK" dirty="0"/>
              <a:t>steps</a:t>
            </a:r>
          </a:p>
        </p:txBody>
      </p:sp>
      <p:sp>
        <p:nvSpPr>
          <p:cNvPr id="18" name="Tekstfelt 17">
            <a:extLst>
              <a:ext uri="{FF2B5EF4-FFF2-40B4-BE49-F238E27FC236}">
                <a16:creationId xmlns:a16="http://schemas.microsoft.com/office/drawing/2014/main" id="{5E70553E-A5CD-C38C-926D-CD3B3A21AA75}"/>
              </a:ext>
            </a:extLst>
          </p:cNvPr>
          <p:cNvSpPr txBox="1"/>
          <p:nvPr/>
        </p:nvSpPr>
        <p:spPr>
          <a:xfrm>
            <a:off x="9520628" y="4509199"/>
            <a:ext cx="2422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Find rate </a:t>
            </a:r>
            <a:r>
              <a:rPr lang="da-DK" dirty="0" err="1"/>
              <a:t>using</a:t>
            </a:r>
            <a:br>
              <a:rPr lang="da-DK" dirty="0"/>
            </a:br>
            <a:r>
              <a:rPr lang="da-DK" dirty="0" err="1"/>
              <a:t>Langmuir-Hinselwood</a:t>
            </a:r>
            <a:r>
              <a:rPr lang="da-DK" dirty="0"/>
              <a:t> </a:t>
            </a:r>
          </a:p>
        </p:txBody>
      </p:sp>
      <p:cxnSp>
        <p:nvCxnSpPr>
          <p:cNvPr id="20" name="Lige pilforbindelse 19">
            <a:extLst>
              <a:ext uri="{FF2B5EF4-FFF2-40B4-BE49-F238E27FC236}">
                <a16:creationId xmlns:a16="http://schemas.microsoft.com/office/drawing/2014/main" id="{D03CCB8B-2DA7-1551-9C4A-A3F6116C9288}"/>
              </a:ext>
            </a:extLst>
          </p:cNvPr>
          <p:cNvCxnSpPr>
            <a:cxnSpLocks/>
          </p:cNvCxnSpPr>
          <p:nvPr/>
        </p:nvCxnSpPr>
        <p:spPr>
          <a:xfrm>
            <a:off x="9402238" y="4502908"/>
            <a:ext cx="0" cy="733055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: Rounded Corners 28">
            <a:extLst>
              <a:ext uri="{FF2B5EF4-FFF2-40B4-BE49-F238E27FC236}">
                <a16:creationId xmlns:a16="http://schemas.microsoft.com/office/drawing/2014/main" id="{8640B268-1499-BDA9-C1BC-5E8665586B2F}"/>
              </a:ext>
            </a:extLst>
          </p:cNvPr>
          <p:cNvSpPr/>
          <p:nvPr/>
        </p:nvSpPr>
        <p:spPr bwMode="auto">
          <a:xfrm>
            <a:off x="7966873" y="5239431"/>
            <a:ext cx="3110360" cy="309465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  <a:effectLst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a-DK" dirty="0" err="1"/>
              <a:t>Reaction</a:t>
            </a:r>
            <a:r>
              <a:rPr lang="da-DK" dirty="0"/>
              <a:t> rate R</a:t>
            </a:r>
          </a:p>
        </p:txBody>
      </p:sp>
    </p:spTree>
    <p:extLst>
      <p:ext uri="{BB962C8B-B14F-4D97-AF65-F5344CB8AC3E}">
        <p14:creationId xmlns:p14="http://schemas.microsoft.com/office/powerpoint/2010/main" val="3736654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BA568-1E81-794B-52BD-19E3C91FF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73E8B5C-7DFC-5C27-87F5-4E2157C7DB8A}"/>
              </a:ext>
            </a:extLst>
          </p:cNvPr>
          <p:cNvSpPr txBox="1">
            <a:spLocks/>
          </p:cNvSpPr>
          <p:nvPr/>
        </p:nvSpPr>
        <p:spPr>
          <a:xfrm>
            <a:off x="0" y="-200773"/>
            <a:ext cx="1140310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 err="1"/>
              <a:t>Breaking</a:t>
            </a:r>
            <a:r>
              <a:rPr lang="da-DK" dirty="0"/>
              <a:t> </a:t>
            </a:r>
            <a:r>
              <a:rPr lang="da-DK" dirty="0" err="1"/>
              <a:t>down</a:t>
            </a:r>
            <a:r>
              <a:rPr lang="da-DK" dirty="0"/>
              <a:t> the problem – 2. step: rate </a:t>
            </a:r>
            <a:r>
              <a:rPr lang="da-DK" dirty="0" err="1"/>
              <a:t>const</a:t>
            </a:r>
            <a:r>
              <a:rPr lang="da-DK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Pladsholder til indhold 2">
                <a:extLst>
                  <a:ext uri="{FF2B5EF4-FFF2-40B4-BE49-F238E27FC236}">
                    <a16:creationId xmlns:a16="http://schemas.microsoft.com/office/drawing/2014/main" id="{D31F96C9-96AC-B228-9096-8CD4A8B944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776754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a-DK" dirty="0"/>
              </a:p>
              <a:p>
                <a:r>
                  <a:rPr lang="da-DK" dirty="0" err="1"/>
                  <a:t>Use</a:t>
                </a:r>
                <a:r>
                  <a:rPr lang="da-DK" dirty="0"/>
                  <a:t>: Rate </a:t>
                </a:r>
                <a:r>
                  <a:rPr lang="da-DK" dirty="0" err="1"/>
                  <a:t>const</a:t>
                </a:r>
                <a:r>
                  <a:rPr lang="da-DK" dirty="0"/>
                  <a:t>. </a:t>
                </a:r>
                <a:r>
                  <a:rPr lang="da-DK" dirty="0" err="1"/>
                  <a:t>surface</a:t>
                </a:r>
                <a:r>
                  <a:rPr lang="da-DK" dirty="0"/>
                  <a:t> </a:t>
                </a:r>
                <a:r>
                  <a:rPr lang="da-DK" dirty="0" err="1"/>
                  <a:t>reac</a:t>
                </a:r>
                <a:r>
                  <a:rPr lang="da-DK" dirty="0"/>
                  <a:t>.: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da-DK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da-DK" i="1">
                            <a:latin typeface="Cambria Math" panose="02040503050406030204" pitchFamily="18" charset="0"/>
                          </a:rPr>
                          <m:t>h</m:t>
                        </m:r>
                      </m:den>
                    </m:f>
                    <m:sSup>
                      <m:sSup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a-DK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  <m:sSubSup>
                              <m:sSubSup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da-D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da-D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𝑎𝑐𝑡</m:t>
                                </m:r>
                              </m:sub>
                              <m:sup>
                                <m:r>
                                  <a:rPr lang="da-D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da-DK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da-DK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sup>
                    </m:sSup>
                  </m:oMath>
                </a14:m>
                <a:endParaRPr lang="da-DK" dirty="0"/>
              </a:p>
              <a:p>
                <a:r>
                  <a:rPr lang="da-DK" dirty="0" err="1"/>
                  <a:t>Use</a:t>
                </a:r>
                <a:r>
                  <a:rPr lang="da-DK" dirty="0"/>
                  <a:t>: </a:t>
                </a:r>
                <a:r>
                  <a:rPr lang="da-DK" dirty="0" err="1"/>
                  <a:t>Equillibrium</a:t>
                </a:r>
                <a:r>
                  <a:rPr lang="da-DK" dirty="0"/>
                  <a:t> rate </a:t>
                </a:r>
                <a:r>
                  <a:rPr lang="da-DK" dirty="0" err="1"/>
                  <a:t>const</a:t>
                </a:r>
                <a:r>
                  <a:rPr lang="da-DK" dirty="0"/>
                  <a:t>.: </a:t>
                </a:r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da-DK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  <m:sSup>
                              <m:sSupPr>
                                <m:ctrlPr>
                                  <a:rPr lang="el-GR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a-D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p>
                                <m:r>
                                  <a:rPr lang="da-D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</m:sSup>
                          </m:num>
                          <m:den>
                            <m:sSub>
                              <m:sSubPr>
                                <m:ctrlPr>
                                  <a:rPr lang="da-D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da-D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sup>
                    </m:sSup>
                  </m:oMath>
                </a14:m>
                <a:endParaRPr lang="da-DK" dirty="0"/>
              </a:p>
              <a:p>
                <a:endParaRPr lang="da-DK" dirty="0"/>
              </a:p>
              <a:p>
                <a:r>
                  <a:rPr lang="da-DK" dirty="0" err="1"/>
                  <a:t>Why</a:t>
                </a:r>
                <a:r>
                  <a:rPr lang="da-DK" dirty="0"/>
                  <a:t> </a:t>
                </a:r>
                <a:r>
                  <a:rPr lang="da-DK" dirty="0" err="1"/>
                  <a:t>they</a:t>
                </a:r>
                <a:r>
                  <a:rPr lang="da-DK" dirty="0"/>
                  <a:t> look like </a:t>
                </a:r>
                <a:r>
                  <a:rPr lang="da-DK" dirty="0" err="1"/>
                  <a:t>this</a:t>
                </a:r>
                <a:r>
                  <a:rPr lang="da-DK" dirty="0"/>
                  <a:t> not so </a:t>
                </a:r>
                <a:r>
                  <a:rPr lang="da-DK" dirty="0" err="1"/>
                  <a:t>certain</a:t>
                </a:r>
                <a:r>
                  <a:rPr lang="da-DK" dirty="0"/>
                  <a:t> </a:t>
                </a:r>
                <a:r>
                  <a:rPr lang="da-DK" dirty="0" err="1"/>
                  <a:t>about</a:t>
                </a:r>
                <a:r>
                  <a:rPr lang="da-DK" dirty="0"/>
                  <a:t>.</a:t>
                </a:r>
              </a:p>
            </p:txBody>
          </p:sp>
        </mc:Choice>
        <mc:Fallback xmlns="">
          <p:sp>
            <p:nvSpPr>
              <p:cNvPr id="5" name="Pladsholder til indhold 2">
                <a:extLst>
                  <a:ext uri="{FF2B5EF4-FFF2-40B4-BE49-F238E27FC236}">
                    <a16:creationId xmlns:a16="http://schemas.microsoft.com/office/drawing/2014/main" id="{D31F96C9-96AC-B228-9096-8CD4A8B94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76754"/>
                <a:ext cx="10515600" cy="4351338"/>
              </a:xfrm>
              <a:prstGeom prst="rect">
                <a:avLst/>
              </a:prstGeom>
              <a:blipFill>
                <a:blip r:embed="rId2"/>
                <a:stretch>
                  <a:fillRect l="-108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28">
            <a:extLst>
              <a:ext uri="{FF2B5EF4-FFF2-40B4-BE49-F238E27FC236}">
                <a16:creationId xmlns:a16="http://schemas.microsoft.com/office/drawing/2014/main" id="{B4D6B16F-42A0-0410-D3C4-26355B4FA532}"/>
              </a:ext>
            </a:extLst>
          </p:cNvPr>
          <p:cNvSpPr/>
          <p:nvPr/>
        </p:nvSpPr>
        <p:spPr bwMode="auto">
          <a:xfrm>
            <a:off x="7804422" y="2252304"/>
            <a:ext cx="3259955" cy="2250604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rtl="0" eaLnBrk="1" fontAlgn="ctr" latinLnBrk="0" hangingPunct="1">
              <a:lnSpc>
                <a:spcPct val="100000"/>
              </a:lnSpc>
              <a:spcAft>
                <a:spcPts val="300"/>
              </a:spcAft>
              <a:tabLst>
                <a:tab pos="449263" algn="l"/>
              </a:tabLst>
            </a:pP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Adsorptions</a:t>
            </a: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(1)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+ 2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H* + H*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(2)	CO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CO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(3)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(4)	CO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CO*</a:t>
            </a:r>
            <a:endParaRPr lang="en-US" sz="1400" kern="100" dirty="0">
              <a:solidFill>
                <a:srgbClr val="000000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  <a:p>
            <a:pPr rtl="0" eaLnBrk="1" fontAlgn="ctr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tabLst>
                <a:tab pos="449263" algn="l"/>
              </a:tabLst>
            </a:pP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CO-O path and H</a:t>
            </a:r>
            <a:r>
              <a:rPr lang="en-US" sz="1400" b="1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 formation</a:t>
            </a:r>
          </a:p>
          <a:p>
            <a:pPr algn="just" rtl="0" eaLnBrk="1" fontAlgn="ctr" latinLnBrk="0" hangingPunct="1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(5)	CO</a:t>
            </a:r>
            <a:r>
              <a:rPr lang="en-US" sz="1400" b="0" i="0" u="none" strike="noStrike" kern="100" baseline="-250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* + * ↔ CO* + O* (RDS)</a:t>
            </a:r>
            <a:endParaRPr lang="en-US" sz="14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(6)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O*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OH* + H*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(7)	OH*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O* + H*</a:t>
            </a:r>
          </a:p>
        </p:txBody>
      </p:sp>
      <p:sp>
        <p:nvSpPr>
          <p:cNvPr id="9" name="Rectangle: Rounded Corners 28">
            <a:extLst>
              <a:ext uri="{FF2B5EF4-FFF2-40B4-BE49-F238E27FC236}">
                <a16:creationId xmlns:a16="http://schemas.microsoft.com/office/drawing/2014/main" id="{C2EB4E8C-32F8-9A40-9F25-2C2DC4E623EE}"/>
              </a:ext>
            </a:extLst>
          </p:cNvPr>
          <p:cNvSpPr/>
          <p:nvPr/>
        </p:nvSpPr>
        <p:spPr bwMode="auto">
          <a:xfrm>
            <a:off x="7879220" y="1124790"/>
            <a:ext cx="3110360" cy="309465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  <a:effectLst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a-DK" dirty="0"/>
              <a:t>CO</a:t>
            </a:r>
            <a:r>
              <a:rPr lang="da-DK" baseline="-25000" dirty="0"/>
              <a:t>2</a:t>
            </a:r>
            <a:r>
              <a:rPr lang="da-DK" dirty="0"/>
              <a:t> + H</a:t>
            </a:r>
            <a:r>
              <a:rPr lang="da-DK" baseline="-25000" dirty="0"/>
              <a:t>2 </a:t>
            </a:r>
            <a:r>
              <a:rPr lang="da-DK" dirty="0"/>
              <a:t>⇌ CO + H</a:t>
            </a:r>
            <a:r>
              <a:rPr lang="da-DK" baseline="-25000" dirty="0"/>
              <a:t>2</a:t>
            </a:r>
            <a:r>
              <a:rPr lang="da-DK" dirty="0"/>
              <a:t>O </a:t>
            </a:r>
          </a:p>
        </p:txBody>
      </p:sp>
      <p:cxnSp>
        <p:nvCxnSpPr>
          <p:cNvPr id="11" name="Lige pilforbindelse 10">
            <a:extLst>
              <a:ext uri="{FF2B5EF4-FFF2-40B4-BE49-F238E27FC236}">
                <a16:creationId xmlns:a16="http://schemas.microsoft.com/office/drawing/2014/main" id="{43D89EBB-DB62-BD15-1F40-B6077D61D09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434400" y="1434255"/>
            <a:ext cx="0" cy="818051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kstfelt 12">
            <a:extLst>
              <a:ext uri="{FF2B5EF4-FFF2-40B4-BE49-F238E27FC236}">
                <a16:creationId xmlns:a16="http://schemas.microsoft.com/office/drawing/2014/main" id="{41DD6E46-2BDB-0E87-82AC-28F263292F7D}"/>
              </a:ext>
            </a:extLst>
          </p:cNvPr>
          <p:cNvSpPr txBox="1"/>
          <p:nvPr/>
        </p:nvSpPr>
        <p:spPr>
          <a:xfrm>
            <a:off x="9507773" y="1520114"/>
            <a:ext cx="2224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Turn</a:t>
            </a:r>
            <a:r>
              <a:rPr lang="da-DK" dirty="0"/>
              <a:t> </a:t>
            </a:r>
            <a:r>
              <a:rPr lang="da-DK" dirty="0" err="1"/>
              <a:t>into</a:t>
            </a:r>
            <a:r>
              <a:rPr lang="da-DK" dirty="0"/>
              <a:t> </a:t>
            </a:r>
            <a:r>
              <a:rPr lang="da-DK" dirty="0" err="1"/>
              <a:t>elementary</a:t>
            </a:r>
            <a:br>
              <a:rPr lang="da-DK" dirty="0"/>
            </a:br>
            <a:r>
              <a:rPr lang="da-DK" dirty="0"/>
              <a:t>steps</a:t>
            </a:r>
          </a:p>
        </p:txBody>
      </p:sp>
      <p:sp>
        <p:nvSpPr>
          <p:cNvPr id="18" name="Tekstfelt 17">
            <a:extLst>
              <a:ext uri="{FF2B5EF4-FFF2-40B4-BE49-F238E27FC236}">
                <a16:creationId xmlns:a16="http://schemas.microsoft.com/office/drawing/2014/main" id="{08E12C4C-F7D5-1E17-B4F5-260550D29AE5}"/>
              </a:ext>
            </a:extLst>
          </p:cNvPr>
          <p:cNvSpPr txBox="1"/>
          <p:nvPr/>
        </p:nvSpPr>
        <p:spPr>
          <a:xfrm>
            <a:off x="9507772" y="4509199"/>
            <a:ext cx="2422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Find rate </a:t>
            </a:r>
            <a:r>
              <a:rPr lang="da-DK" dirty="0" err="1"/>
              <a:t>using</a:t>
            </a:r>
            <a:br>
              <a:rPr lang="da-DK" dirty="0"/>
            </a:br>
            <a:r>
              <a:rPr lang="da-DK" dirty="0" err="1"/>
              <a:t>Langmuir-Hinselwood</a:t>
            </a:r>
            <a:r>
              <a:rPr lang="da-DK" dirty="0"/>
              <a:t> </a:t>
            </a:r>
          </a:p>
        </p:txBody>
      </p:sp>
      <p:cxnSp>
        <p:nvCxnSpPr>
          <p:cNvPr id="20" name="Lige pilforbindelse 19">
            <a:extLst>
              <a:ext uri="{FF2B5EF4-FFF2-40B4-BE49-F238E27FC236}">
                <a16:creationId xmlns:a16="http://schemas.microsoft.com/office/drawing/2014/main" id="{FA91D13D-CDAE-4778-808F-CB1404084DD2}"/>
              </a:ext>
            </a:extLst>
          </p:cNvPr>
          <p:cNvCxnSpPr>
            <a:cxnSpLocks/>
          </p:cNvCxnSpPr>
          <p:nvPr/>
        </p:nvCxnSpPr>
        <p:spPr>
          <a:xfrm>
            <a:off x="9389382" y="4502908"/>
            <a:ext cx="0" cy="733055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: Rounded Corners 28">
            <a:extLst>
              <a:ext uri="{FF2B5EF4-FFF2-40B4-BE49-F238E27FC236}">
                <a16:creationId xmlns:a16="http://schemas.microsoft.com/office/drawing/2014/main" id="{E32599E6-56E4-1E8E-3D41-0AD5889D879A}"/>
              </a:ext>
            </a:extLst>
          </p:cNvPr>
          <p:cNvSpPr/>
          <p:nvPr/>
        </p:nvSpPr>
        <p:spPr bwMode="auto">
          <a:xfrm>
            <a:off x="7954017" y="5239431"/>
            <a:ext cx="3110360" cy="309465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  <a:effectLst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a-DK" dirty="0" err="1"/>
              <a:t>Reaction</a:t>
            </a:r>
            <a:r>
              <a:rPr lang="da-DK" dirty="0"/>
              <a:t> rate R</a:t>
            </a:r>
          </a:p>
        </p:txBody>
      </p:sp>
    </p:spTree>
    <p:extLst>
      <p:ext uri="{BB962C8B-B14F-4D97-AF65-F5344CB8AC3E}">
        <p14:creationId xmlns:p14="http://schemas.microsoft.com/office/powerpoint/2010/main" val="2654533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79A22-6749-470B-DB5F-875015044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EA4015FC-2E2D-5E4C-4832-30D422E5A0A4}"/>
              </a:ext>
            </a:extLst>
          </p:cNvPr>
          <p:cNvSpPr txBox="1">
            <a:spLocks/>
          </p:cNvSpPr>
          <p:nvPr/>
        </p:nvSpPr>
        <p:spPr>
          <a:xfrm>
            <a:off x="0" y="-200773"/>
            <a:ext cx="118065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 err="1"/>
              <a:t>Breaking</a:t>
            </a:r>
            <a:r>
              <a:rPr lang="da-DK" dirty="0"/>
              <a:t> </a:t>
            </a:r>
            <a:r>
              <a:rPr lang="da-DK" dirty="0" err="1"/>
              <a:t>down</a:t>
            </a:r>
            <a:r>
              <a:rPr lang="da-DK" dirty="0"/>
              <a:t> the problem – 3. step: Gibbs </a:t>
            </a:r>
            <a:r>
              <a:rPr lang="da-DK" dirty="0" err="1"/>
              <a:t>energy</a:t>
            </a:r>
            <a:endParaRPr lang="da-DK" dirty="0"/>
          </a:p>
        </p:txBody>
      </p:sp>
      <p:sp>
        <p:nvSpPr>
          <p:cNvPr id="6" name="Rectangle: Rounded Corners 28">
            <a:extLst>
              <a:ext uri="{FF2B5EF4-FFF2-40B4-BE49-F238E27FC236}">
                <a16:creationId xmlns:a16="http://schemas.microsoft.com/office/drawing/2014/main" id="{85CFBDAB-6D9A-3FD8-D50F-F66AE3B65704}"/>
              </a:ext>
            </a:extLst>
          </p:cNvPr>
          <p:cNvSpPr/>
          <p:nvPr/>
        </p:nvSpPr>
        <p:spPr bwMode="auto">
          <a:xfrm>
            <a:off x="8065679" y="2252304"/>
            <a:ext cx="3259955" cy="2250604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rtl="0" eaLnBrk="1" fontAlgn="ctr" latinLnBrk="0" hangingPunct="1">
              <a:lnSpc>
                <a:spcPct val="100000"/>
              </a:lnSpc>
              <a:spcAft>
                <a:spcPts val="300"/>
              </a:spcAft>
              <a:tabLst>
                <a:tab pos="449263" algn="l"/>
              </a:tabLst>
            </a:pP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Adsorptions</a:t>
            </a: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(1)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+ 2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H* + H*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(2)	CO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CO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(3)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(4)	CO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CO*</a:t>
            </a:r>
            <a:endParaRPr lang="en-US" sz="1400" kern="100" dirty="0">
              <a:solidFill>
                <a:srgbClr val="000000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  <a:p>
            <a:pPr rtl="0" eaLnBrk="1" fontAlgn="ctr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tabLst>
                <a:tab pos="449263" algn="l"/>
              </a:tabLst>
            </a:pP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CO-O path and H</a:t>
            </a:r>
            <a:r>
              <a:rPr lang="en-US" sz="1400" b="1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 formation</a:t>
            </a:r>
          </a:p>
          <a:p>
            <a:pPr algn="just" rtl="0" eaLnBrk="1" fontAlgn="ctr" latinLnBrk="0" hangingPunct="1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(5)	CO</a:t>
            </a:r>
            <a:r>
              <a:rPr lang="en-US" sz="1400" b="0" i="0" u="none" strike="noStrike" kern="100" baseline="-250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* + * ↔ CO* + O* (RDS)</a:t>
            </a:r>
            <a:endParaRPr lang="en-US" sz="14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(6)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O*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OH* + H*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(7)	OH*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O* + H*</a:t>
            </a:r>
          </a:p>
        </p:txBody>
      </p:sp>
      <p:sp>
        <p:nvSpPr>
          <p:cNvPr id="9" name="Rectangle: Rounded Corners 28">
            <a:extLst>
              <a:ext uri="{FF2B5EF4-FFF2-40B4-BE49-F238E27FC236}">
                <a16:creationId xmlns:a16="http://schemas.microsoft.com/office/drawing/2014/main" id="{E92F41FE-B6C9-EE0B-673F-77FE267E3FC7}"/>
              </a:ext>
            </a:extLst>
          </p:cNvPr>
          <p:cNvSpPr/>
          <p:nvPr/>
        </p:nvSpPr>
        <p:spPr bwMode="auto">
          <a:xfrm>
            <a:off x="8140477" y="1124790"/>
            <a:ext cx="3110360" cy="309465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  <a:effectLst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a-DK" dirty="0"/>
              <a:t>CO</a:t>
            </a:r>
            <a:r>
              <a:rPr lang="da-DK" baseline="-25000" dirty="0"/>
              <a:t>2</a:t>
            </a:r>
            <a:r>
              <a:rPr lang="da-DK" dirty="0"/>
              <a:t> + H</a:t>
            </a:r>
            <a:r>
              <a:rPr lang="da-DK" baseline="-25000" dirty="0"/>
              <a:t>2 </a:t>
            </a:r>
            <a:r>
              <a:rPr lang="da-DK" dirty="0"/>
              <a:t>⇌ CO + H</a:t>
            </a:r>
            <a:r>
              <a:rPr lang="da-DK" baseline="-25000" dirty="0"/>
              <a:t>2</a:t>
            </a:r>
            <a:r>
              <a:rPr lang="da-DK" dirty="0"/>
              <a:t>O </a:t>
            </a:r>
          </a:p>
        </p:txBody>
      </p:sp>
      <p:cxnSp>
        <p:nvCxnSpPr>
          <p:cNvPr id="11" name="Lige pilforbindelse 10">
            <a:extLst>
              <a:ext uri="{FF2B5EF4-FFF2-40B4-BE49-F238E27FC236}">
                <a16:creationId xmlns:a16="http://schemas.microsoft.com/office/drawing/2014/main" id="{1DAA52F2-1B57-1DFC-752C-17D3764B154B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695657" y="1434255"/>
            <a:ext cx="0" cy="818051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kstfelt 12">
            <a:extLst>
              <a:ext uri="{FF2B5EF4-FFF2-40B4-BE49-F238E27FC236}">
                <a16:creationId xmlns:a16="http://schemas.microsoft.com/office/drawing/2014/main" id="{F409A37F-E520-CE0F-BCBC-56CFB7B813FE}"/>
              </a:ext>
            </a:extLst>
          </p:cNvPr>
          <p:cNvSpPr txBox="1"/>
          <p:nvPr/>
        </p:nvSpPr>
        <p:spPr>
          <a:xfrm>
            <a:off x="9769030" y="1520114"/>
            <a:ext cx="2224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Turn</a:t>
            </a:r>
            <a:r>
              <a:rPr lang="da-DK" dirty="0"/>
              <a:t> </a:t>
            </a:r>
            <a:r>
              <a:rPr lang="da-DK" dirty="0" err="1"/>
              <a:t>into</a:t>
            </a:r>
            <a:r>
              <a:rPr lang="da-DK" dirty="0"/>
              <a:t> </a:t>
            </a:r>
            <a:r>
              <a:rPr lang="da-DK" dirty="0" err="1"/>
              <a:t>elementary</a:t>
            </a:r>
            <a:br>
              <a:rPr lang="da-DK" dirty="0"/>
            </a:br>
            <a:r>
              <a:rPr lang="da-DK" dirty="0"/>
              <a:t>steps</a:t>
            </a:r>
          </a:p>
        </p:txBody>
      </p:sp>
      <p:sp>
        <p:nvSpPr>
          <p:cNvPr id="18" name="Tekstfelt 17">
            <a:extLst>
              <a:ext uri="{FF2B5EF4-FFF2-40B4-BE49-F238E27FC236}">
                <a16:creationId xmlns:a16="http://schemas.microsoft.com/office/drawing/2014/main" id="{B7A9DD50-FA27-859E-A4EC-6D5E22D04559}"/>
              </a:ext>
            </a:extLst>
          </p:cNvPr>
          <p:cNvSpPr txBox="1"/>
          <p:nvPr/>
        </p:nvSpPr>
        <p:spPr>
          <a:xfrm>
            <a:off x="9769029" y="4509199"/>
            <a:ext cx="2422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Find rate </a:t>
            </a:r>
            <a:r>
              <a:rPr lang="da-DK" dirty="0" err="1"/>
              <a:t>using</a:t>
            </a:r>
            <a:br>
              <a:rPr lang="da-DK" dirty="0"/>
            </a:br>
            <a:r>
              <a:rPr lang="da-DK" dirty="0" err="1"/>
              <a:t>Langmuir-Hinselwood</a:t>
            </a:r>
            <a:r>
              <a:rPr lang="da-DK" dirty="0"/>
              <a:t> </a:t>
            </a:r>
          </a:p>
        </p:txBody>
      </p:sp>
      <p:cxnSp>
        <p:nvCxnSpPr>
          <p:cNvPr id="20" name="Lige pilforbindelse 19">
            <a:extLst>
              <a:ext uri="{FF2B5EF4-FFF2-40B4-BE49-F238E27FC236}">
                <a16:creationId xmlns:a16="http://schemas.microsoft.com/office/drawing/2014/main" id="{550A537C-A4F5-6A66-FAC1-1A2E47E35428}"/>
              </a:ext>
            </a:extLst>
          </p:cNvPr>
          <p:cNvCxnSpPr>
            <a:cxnSpLocks/>
          </p:cNvCxnSpPr>
          <p:nvPr/>
        </p:nvCxnSpPr>
        <p:spPr>
          <a:xfrm>
            <a:off x="9650639" y="4502908"/>
            <a:ext cx="0" cy="733055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: Rounded Corners 28">
            <a:extLst>
              <a:ext uri="{FF2B5EF4-FFF2-40B4-BE49-F238E27FC236}">
                <a16:creationId xmlns:a16="http://schemas.microsoft.com/office/drawing/2014/main" id="{FC39B05E-446F-A054-D07A-C71BCEB34AC9}"/>
              </a:ext>
            </a:extLst>
          </p:cNvPr>
          <p:cNvSpPr/>
          <p:nvPr/>
        </p:nvSpPr>
        <p:spPr bwMode="auto">
          <a:xfrm>
            <a:off x="8215274" y="5239431"/>
            <a:ext cx="3110360" cy="309465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  <a:effectLst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a-DK" dirty="0" err="1"/>
              <a:t>Reaction</a:t>
            </a:r>
            <a:r>
              <a:rPr lang="da-DK" dirty="0"/>
              <a:t> rate 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A70B69F2-FFAD-95EE-EC58-ECFE4BFB74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77800" y="942698"/>
                <a:ext cx="10693400" cy="4869815"/>
              </a:xfrm>
            </p:spPr>
            <p:txBody>
              <a:bodyPr>
                <a:normAutofit fontScale="85000" lnSpcReduction="10000"/>
              </a:bodyPr>
              <a:lstStyle/>
              <a:p>
                <a:pPr lvl="1"/>
                <a:r>
                  <a:rPr lang="da-DK" b="0" dirty="0"/>
                  <a:t>General: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a-DK" dirty="0"/>
              </a:p>
              <a:p>
                <a:pPr lvl="1"/>
                <a:r>
                  <a:rPr lang="da-DK" dirty="0" err="1"/>
                  <a:t>We</a:t>
                </a:r>
                <a:r>
                  <a:rPr lang="da-DK" dirty="0"/>
                  <a:t> </a:t>
                </a:r>
                <a:r>
                  <a:rPr lang="da-DK" dirty="0" err="1"/>
                  <a:t>are</a:t>
                </a:r>
                <a:r>
                  <a:rPr lang="da-DK" dirty="0"/>
                  <a:t> </a:t>
                </a:r>
                <a:r>
                  <a:rPr lang="da-DK" dirty="0" err="1"/>
                  <a:t>interested</a:t>
                </a:r>
                <a:r>
                  <a:rPr lang="da-DK" dirty="0"/>
                  <a:t> in: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𝑇</m:t>
                    </m:r>
                    <m:sSup>
                      <m:sSup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da-DK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d>
                      <m:d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da-DK" dirty="0"/>
              </a:p>
              <a:p>
                <a:pPr lvl="1"/>
                <a:r>
                  <a:rPr lang="da-DK" dirty="0"/>
                  <a:t>For </a:t>
                </a:r>
                <a:r>
                  <a:rPr lang="da-DK" dirty="0" err="1"/>
                  <a:t>gaseous</a:t>
                </a:r>
                <a:r>
                  <a:rPr lang="da-DK" dirty="0"/>
                  <a:t> species (</a:t>
                </a:r>
                <a:r>
                  <a:rPr lang="da-DK" dirty="0" err="1"/>
                  <a:t>assume</a:t>
                </a:r>
                <a:r>
                  <a:rPr lang="da-DK" dirty="0"/>
                  <a:t> ideal gas):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da-DK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𝑒𝑙𝑒𝑐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𝑍𝑃𝐸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da-DK" i="1">
                            <a:latin typeface="Cambria Math" panose="02040503050406030204" pitchFamily="18" charset="0"/>
                          </a:rPr>
                          <m:t>𝑑𝑇</m:t>
                        </m:r>
                      </m:e>
                    </m:nary>
                  </m:oMath>
                </a14:m>
                <a:endParaRPr lang="da-DK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𝑡𝑟𝑎𝑛𝑠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𝑟𝑜𝑡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i="1">
                            <a:latin typeface="Cambria Math" panose="02040503050406030204" pitchFamily="18" charset="0"/>
                          </a:rPr>
                          <m:t>𝑣𝑖𝑏</m:t>
                        </m:r>
                      </m:sub>
                    </m:sSub>
                  </m:oMath>
                </a14:m>
                <a:endParaRPr lang="da-DK" dirty="0"/>
              </a:p>
              <a:p>
                <a:pPr lvl="2"/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da-DK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da-DK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sSub>
                              <m:sSubPr>
                                <m:ctrlPr>
                                  <a:rPr lang="da-DK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i="1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da-DK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𝑡𝑟𝑎𝑛𝑠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𝑟𝑜𝑡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𝑣𝑖𝑏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da-DK" b="0" i="0" smtClean="0"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num>
                          <m:den>
                            <m:sSub>
                              <m:sSubPr>
                                <m:ctrlPr>
                                  <a:rPr lang="da-DK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da-DK" dirty="0"/>
              </a:p>
              <a:p>
                <a:pPr lvl="1"/>
                <a:r>
                  <a:rPr lang="da-DK" dirty="0"/>
                  <a:t>For </a:t>
                </a:r>
                <a:r>
                  <a:rPr lang="da-DK" dirty="0" err="1"/>
                  <a:t>adsorbates</a:t>
                </a:r>
                <a:r>
                  <a:rPr lang="da-DK" dirty="0"/>
                  <a:t> (</a:t>
                </a:r>
                <a:r>
                  <a:rPr lang="da-DK" dirty="0" err="1"/>
                  <a:t>assume</a:t>
                </a:r>
                <a:r>
                  <a:rPr lang="da-DK" dirty="0"/>
                  <a:t> </a:t>
                </a:r>
                <a:r>
                  <a:rPr lang="da-DK" dirty="0" err="1"/>
                  <a:t>only</a:t>
                </a:r>
                <a:r>
                  <a:rPr lang="da-DK" dirty="0"/>
                  <a:t> vibrations):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d>
                      <m:d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𝑒𝑙𝑒𝑐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𝑍𝑃𝐸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𝑣𝑖𝑏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𝑣𝑖𝑏</m:t>
                        </m:r>
                      </m:sub>
                    </m:sSub>
                  </m:oMath>
                </a14:m>
                <a:endParaRPr lang="da-DK" dirty="0"/>
              </a:p>
              <a:p>
                <a:pPr lvl="1"/>
                <a:r>
                  <a:rPr lang="da-DK" dirty="0"/>
                  <a:t>For </a:t>
                </a:r>
                <a:r>
                  <a:rPr lang="da-DK" dirty="0" err="1"/>
                  <a:t>both</a:t>
                </a:r>
                <a:r>
                  <a:rPr lang="da-DK" dirty="0"/>
                  <a:t> gas and </a:t>
                </a:r>
                <a:r>
                  <a:rPr lang="da-DK" dirty="0" err="1"/>
                  <a:t>adsorbates</a:t>
                </a:r>
                <a:r>
                  <a:rPr lang="da-DK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𝑣𝑖𝑏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𝑣𝑖𝑏</m:t>
                            </m:r>
                          </m:sub>
                        </m:sSub>
                        <m:r>
                          <a:rPr lang="da-DK" i="1">
                            <a:latin typeface="Cambria Math" panose="02040503050406030204" pitchFamily="18" charset="0"/>
                          </a:rPr>
                          <m:t>𝑑𝑇</m:t>
                        </m:r>
                      </m:e>
                    </m:nary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da-DK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f>
                          <m:f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da-DK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a-DK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da-DK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da-DK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da-DK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e>
                                      <m:sub>
                                        <m: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b>
                                        <m:r>
                                          <a:rPr lang="da-DK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sub>
                                    </m:sSub>
                                    <m:r>
                                      <a:rPr lang="da-DK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den>
                                </m:f>
                              </m:sup>
                            </m:sSup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e>
                    </m:nary>
                  </m:oMath>
                </a14:m>
                <a:endParaRPr lang="da-DK" dirty="0"/>
              </a:p>
              <a:p>
                <a:pPr lvl="1"/>
                <a:r>
                  <a:rPr lang="da-DK" dirty="0"/>
                  <a:t>So in the end:</a:t>
                </a: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𝑎𝑑𝑠</m:t>
                        </m:r>
                      </m:sub>
                      <m:sup>
                        <m:r>
                          <a:rPr lang="da-DK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da-DK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𝑒𝑙𝑒𝑐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𝑍𝑃𝐸</m:t>
                        </m:r>
                      </m:sub>
                    </m:sSub>
                    <m:r>
                      <a:rPr lang="da-DK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𝑣𝑖𝑏</m:t>
                        </m:r>
                      </m:sub>
                    </m:sSub>
                    <m:r>
                      <a:rPr lang="da-DK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da-DK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da-DK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a-DK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𝑣𝑖𝑏</m:t>
                        </m:r>
                      </m:sub>
                    </m:sSub>
                  </m:oMath>
                </a14:m>
                <a:endParaRPr lang="da-DK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𝑔𝑎𝑠</m:t>
                        </m:r>
                      </m:sub>
                      <m:sup>
                        <m:r>
                          <a:rPr lang="da-DK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d>
                      <m:d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da-DK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𝑒𝑙𝑒𝑐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𝑍𝑃𝐸</m:t>
                        </m:r>
                      </m:sub>
                    </m:sSub>
                    <m:r>
                      <a:rPr lang="da-DK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da-DK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da-DK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da-DK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𝑑𝑇</m:t>
                        </m:r>
                      </m:e>
                    </m:nary>
                    <m:r>
                      <a:rPr lang="da-DK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da-DK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da-DK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da-DK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𝑡𝑟𝑎𝑛𝑠</m:t>
                            </m:r>
                          </m:sub>
                        </m:sSub>
                        <m:r>
                          <a:rPr lang="da-DK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a-DK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da-DK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𝑟𝑜𝑡</m:t>
                            </m:r>
                          </m:sub>
                        </m:sSub>
                        <m:r>
                          <a:rPr lang="da-DK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a-DK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da-DK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𝑣𝑖𝑏</m:t>
                            </m:r>
                          </m:sub>
                        </m:sSub>
                      </m:e>
                    </m:d>
                  </m:oMath>
                </a14:m>
                <a:endParaRPr lang="da-DK" dirty="0"/>
              </a:p>
              <a:p>
                <a:pPr lvl="1"/>
                <a:r>
                  <a:rPr lang="da-DK" dirty="0" err="1"/>
                  <a:t>Use</a:t>
                </a:r>
                <a:r>
                  <a:rPr lang="da-DK" dirty="0"/>
                  <a:t> NASA Glenn </a:t>
                </a:r>
                <a:r>
                  <a:rPr lang="da-DK" dirty="0" err="1"/>
                  <a:t>coefficients</a:t>
                </a:r>
                <a:r>
                  <a:rPr lang="da-DK" dirty="0"/>
                  <a:t> to </a:t>
                </a:r>
                <a:r>
                  <a:rPr lang="da-DK" dirty="0" err="1"/>
                  <a:t>predict</a:t>
                </a:r>
                <a:r>
                  <a:rPr lang="da-DK" dirty="0"/>
                  <a:t> red part.</a:t>
                </a:r>
              </a:p>
              <a:p>
                <a:pPr marL="914400" lvl="2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A70B69F2-FFAD-95EE-EC58-ECFE4BFB74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77800" y="942698"/>
                <a:ext cx="10693400" cy="4869815"/>
              </a:xfrm>
              <a:blipFill>
                <a:blip r:embed="rId3"/>
                <a:stretch>
                  <a:fillRect t="-1823" b="-520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5256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0697F-B702-30AB-8D85-E435EAB86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E7F93997-7AFF-A208-BA6B-4D9BB0F0291D}"/>
              </a:ext>
            </a:extLst>
          </p:cNvPr>
          <p:cNvSpPr txBox="1">
            <a:spLocks/>
          </p:cNvSpPr>
          <p:nvPr/>
        </p:nvSpPr>
        <p:spPr>
          <a:xfrm>
            <a:off x="0" y="-200773"/>
            <a:ext cx="118065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 err="1"/>
              <a:t>Breaking</a:t>
            </a:r>
            <a:r>
              <a:rPr lang="da-DK" dirty="0"/>
              <a:t> </a:t>
            </a:r>
            <a:r>
              <a:rPr lang="da-DK" dirty="0" err="1"/>
              <a:t>down</a:t>
            </a:r>
            <a:r>
              <a:rPr lang="da-DK" dirty="0"/>
              <a:t> the problem – 3. step: Gibbs </a:t>
            </a:r>
            <a:r>
              <a:rPr lang="da-DK" dirty="0" err="1"/>
              <a:t>energy</a:t>
            </a:r>
            <a:endParaRPr lang="da-DK" dirty="0"/>
          </a:p>
        </p:txBody>
      </p:sp>
      <p:sp>
        <p:nvSpPr>
          <p:cNvPr id="6" name="Rectangle: Rounded Corners 28">
            <a:extLst>
              <a:ext uri="{FF2B5EF4-FFF2-40B4-BE49-F238E27FC236}">
                <a16:creationId xmlns:a16="http://schemas.microsoft.com/office/drawing/2014/main" id="{439893F5-B588-0072-AB63-2AFEB6392793}"/>
              </a:ext>
            </a:extLst>
          </p:cNvPr>
          <p:cNvSpPr/>
          <p:nvPr/>
        </p:nvSpPr>
        <p:spPr bwMode="auto">
          <a:xfrm>
            <a:off x="8065679" y="2252304"/>
            <a:ext cx="3259955" cy="2250604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rtl="0" eaLnBrk="1" fontAlgn="ctr" latinLnBrk="0" hangingPunct="1">
              <a:lnSpc>
                <a:spcPct val="100000"/>
              </a:lnSpc>
              <a:spcAft>
                <a:spcPts val="300"/>
              </a:spcAft>
              <a:tabLst>
                <a:tab pos="449263" algn="l"/>
              </a:tabLst>
            </a:pP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Adsorptions</a:t>
            </a: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(1)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+ 2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H* + H*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(2)	CO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CO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(3)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(4)	CO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CO*</a:t>
            </a:r>
            <a:endParaRPr lang="en-US" sz="1400" kern="100" dirty="0">
              <a:solidFill>
                <a:srgbClr val="000000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  <a:p>
            <a:pPr rtl="0" eaLnBrk="1" fontAlgn="ctr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tabLst>
                <a:tab pos="449263" algn="l"/>
              </a:tabLst>
            </a:pP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CO-O path and H</a:t>
            </a:r>
            <a:r>
              <a:rPr lang="en-US" sz="1400" b="1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1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 formation</a:t>
            </a:r>
          </a:p>
          <a:p>
            <a:pPr algn="just" rtl="0" eaLnBrk="1" fontAlgn="ctr" latinLnBrk="0" hangingPunct="1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(5)	CO</a:t>
            </a:r>
            <a:r>
              <a:rPr lang="en-US" sz="1400" b="0" i="0" u="none" strike="noStrike" kern="100" baseline="-250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FF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* + * ↔ CO* + O* (RDS)</a:t>
            </a:r>
            <a:endParaRPr lang="en-US" sz="1400" b="0" i="0" u="none" strike="noStrike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(6)	H</a:t>
            </a:r>
            <a:r>
              <a:rPr lang="en-US" sz="1400" b="0" i="0" u="none" strike="noStrike" kern="100" baseline="-250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2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O*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OH* + H*</a:t>
            </a:r>
            <a:endParaRPr lang="en-US" sz="1400" b="0" i="0" u="none" strike="noStrike" dirty="0">
              <a:effectLst/>
              <a:latin typeface="Arial" panose="020B0604020202020204" pitchFamily="34" charset="0"/>
            </a:endParaRPr>
          </a:p>
          <a:p>
            <a:pPr algn="just" fontAlgn="ctr">
              <a:lnSpc>
                <a:spcPct val="100000"/>
              </a:lnSpc>
              <a:spcAft>
                <a:spcPts val="0"/>
              </a:spcAft>
              <a:tabLst>
                <a:tab pos="449263" algn="l"/>
              </a:tabLst>
            </a:pP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(7)	OH*</a:t>
            </a:r>
            <a:r>
              <a:rPr lang="en-US" sz="1400" kern="100" dirty="0">
                <a:solidFill>
                  <a:schemeClr val="tx1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+ *</a:t>
            </a:r>
            <a:r>
              <a:rPr lang="en-US" sz="1400" b="0" i="0" u="none" strike="noStrike" kern="100" dirty="0">
                <a:solidFill>
                  <a:srgbClr val="000000"/>
                </a:solidFill>
                <a:effectLst/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 ↔ O* + H*</a:t>
            </a:r>
          </a:p>
        </p:txBody>
      </p:sp>
      <p:sp>
        <p:nvSpPr>
          <p:cNvPr id="9" name="Rectangle: Rounded Corners 28">
            <a:extLst>
              <a:ext uri="{FF2B5EF4-FFF2-40B4-BE49-F238E27FC236}">
                <a16:creationId xmlns:a16="http://schemas.microsoft.com/office/drawing/2014/main" id="{8C3BDFBF-7582-E42D-AE9A-E63269F06F0A}"/>
              </a:ext>
            </a:extLst>
          </p:cNvPr>
          <p:cNvSpPr/>
          <p:nvPr/>
        </p:nvSpPr>
        <p:spPr bwMode="auto">
          <a:xfrm>
            <a:off x="8140477" y="1124790"/>
            <a:ext cx="3110360" cy="309465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  <a:effectLst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a-DK" dirty="0"/>
              <a:t>CO</a:t>
            </a:r>
            <a:r>
              <a:rPr lang="da-DK" baseline="-25000" dirty="0"/>
              <a:t>2</a:t>
            </a:r>
            <a:r>
              <a:rPr lang="da-DK" dirty="0"/>
              <a:t> + H</a:t>
            </a:r>
            <a:r>
              <a:rPr lang="da-DK" baseline="-25000" dirty="0"/>
              <a:t>2 </a:t>
            </a:r>
            <a:r>
              <a:rPr lang="da-DK" dirty="0"/>
              <a:t>⇌ CO + H</a:t>
            </a:r>
            <a:r>
              <a:rPr lang="da-DK" baseline="-25000" dirty="0"/>
              <a:t>2</a:t>
            </a:r>
            <a:r>
              <a:rPr lang="da-DK" dirty="0"/>
              <a:t>O </a:t>
            </a:r>
          </a:p>
        </p:txBody>
      </p:sp>
      <p:cxnSp>
        <p:nvCxnSpPr>
          <p:cNvPr id="11" name="Lige pilforbindelse 10">
            <a:extLst>
              <a:ext uri="{FF2B5EF4-FFF2-40B4-BE49-F238E27FC236}">
                <a16:creationId xmlns:a16="http://schemas.microsoft.com/office/drawing/2014/main" id="{45B529CB-3DFC-B145-0339-5ADFC8A8B47E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695657" y="1434255"/>
            <a:ext cx="0" cy="818051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kstfelt 12">
            <a:extLst>
              <a:ext uri="{FF2B5EF4-FFF2-40B4-BE49-F238E27FC236}">
                <a16:creationId xmlns:a16="http://schemas.microsoft.com/office/drawing/2014/main" id="{C3F146A2-56E6-616A-8624-15E20F525EBA}"/>
              </a:ext>
            </a:extLst>
          </p:cNvPr>
          <p:cNvSpPr txBox="1"/>
          <p:nvPr/>
        </p:nvSpPr>
        <p:spPr>
          <a:xfrm>
            <a:off x="9769030" y="1520114"/>
            <a:ext cx="2224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 err="1"/>
              <a:t>Turn</a:t>
            </a:r>
            <a:r>
              <a:rPr lang="da-DK" dirty="0"/>
              <a:t> </a:t>
            </a:r>
            <a:r>
              <a:rPr lang="da-DK" dirty="0" err="1"/>
              <a:t>into</a:t>
            </a:r>
            <a:r>
              <a:rPr lang="da-DK" dirty="0"/>
              <a:t> </a:t>
            </a:r>
            <a:r>
              <a:rPr lang="da-DK" dirty="0" err="1"/>
              <a:t>elementary</a:t>
            </a:r>
            <a:br>
              <a:rPr lang="da-DK" dirty="0"/>
            </a:br>
            <a:r>
              <a:rPr lang="da-DK" dirty="0"/>
              <a:t>steps</a:t>
            </a:r>
          </a:p>
        </p:txBody>
      </p:sp>
      <p:sp>
        <p:nvSpPr>
          <p:cNvPr id="18" name="Tekstfelt 17">
            <a:extLst>
              <a:ext uri="{FF2B5EF4-FFF2-40B4-BE49-F238E27FC236}">
                <a16:creationId xmlns:a16="http://schemas.microsoft.com/office/drawing/2014/main" id="{ACFDD874-C6C2-7330-3141-EBB222470AEC}"/>
              </a:ext>
            </a:extLst>
          </p:cNvPr>
          <p:cNvSpPr txBox="1"/>
          <p:nvPr/>
        </p:nvSpPr>
        <p:spPr>
          <a:xfrm>
            <a:off x="9769029" y="4509199"/>
            <a:ext cx="24229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dirty="0"/>
              <a:t>Find rate </a:t>
            </a:r>
            <a:r>
              <a:rPr lang="da-DK" dirty="0" err="1"/>
              <a:t>using</a:t>
            </a:r>
            <a:br>
              <a:rPr lang="da-DK" dirty="0"/>
            </a:br>
            <a:r>
              <a:rPr lang="da-DK" dirty="0" err="1"/>
              <a:t>Langmuir-Hinselwood</a:t>
            </a:r>
            <a:r>
              <a:rPr lang="da-DK" dirty="0"/>
              <a:t> </a:t>
            </a:r>
          </a:p>
        </p:txBody>
      </p:sp>
      <p:cxnSp>
        <p:nvCxnSpPr>
          <p:cNvPr id="20" name="Lige pilforbindelse 19">
            <a:extLst>
              <a:ext uri="{FF2B5EF4-FFF2-40B4-BE49-F238E27FC236}">
                <a16:creationId xmlns:a16="http://schemas.microsoft.com/office/drawing/2014/main" id="{80933BC7-3986-069E-7F93-C98F28F1C2C4}"/>
              </a:ext>
            </a:extLst>
          </p:cNvPr>
          <p:cNvCxnSpPr>
            <a:cxnSpLocks/>
          </p:cNvCxnSpPr>
          <p:nvPr/>
        </p:nvCxnSpPr>
        <p:spPr>
          <a:xfrm>
            <a:off x="9650639" y="4502908"/>
            <a:ext cx="0" cy="733055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Rectangle: Rounded Corners 28">
            <a:extLst>
              <a:ext uri="{FF2B5EF4-FFF2-40B4-BE49-F238E27FC236}">
                <a16:creationId xmlns:a16="http://schemas.microsoft.com/office/drawing/2014/main" id="{A0F68717-7991-31DB-95DF-0612A3C04B63}"/>
              </a:ext>
            </a:extLst>
          </p:cNvPr>
          <p:cNvSpPr/>
          <p:nvPr/>
        </p:nvSpPr>
        <p:spPr bwMode="auto">
          <a:xfrm>
            <a:off x="8215274" y="5239431"/>
            <a:ext cx="3110360" cy="309465"/>
          </a:xfrm>
          <a:prstGeom prst="roundRect">
            <a:avLst>
              <a:gd name="adj" fmla="val 4620"/>
            </a:avLst>
          </a:prstGeom>
          <a:solidFill>
            <a:srgbClr val="FFF2D9"/>
          </a:solidFill>
          <a:ln>
            <a:solidFill>
              <a:srgbClr val="FFF1D8"/>
            </a:solidFill>
            <a:headEnd type="none" w="med" len="med"/>
            <a:tailEnd type="none" w="med" len="med"/>
          </a:ln>
          <a:effectLst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a-DK" dirty="0" err="1"/>
              <a:t>Reaction</a:t>
            </a:r>
            <a:r>
              <a:rPr lang="da-DK" dirty="0"/>
              <a:t> rate 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Pladsholder til indhold 2">
                <a:extLst>
                  <a:ext uri="{FF2B5EF4-FFF2-40B4-BE49-F238E27FC236}">
                    <a16:creationId xmlns:a16="http://schemas.microsoft.com/office/drawing/2014/main" id="{F167D5EC-8869-0329-8495-33B16B5E43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242047" y="986548"/>
                <a:ext cx="10515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1"/>
                <a:r>
                  <a:rPr lang="da-DK" dirty="0"/>
                  <a:t>We </a:t>
                </a:r>
                <a:r>
                  <a:rPr lang="da-DK" dirty="0" err="1"/>
                  <a:t>calculate</a:t>
                </a:r>
                <a:r>
                  <a:rPr lang="da-DK" dirty="0"/>
                  <a:t> </a:t>
                </a:r>
                <a:r>
                  <a:rPr lang="da-DK" dirty="0" err="1"/>
                  <a:t>using</a:t>
                </a:r>
                <a:r>
                  <a:rPr lang="da-DK" dirty="0"/>
                  <a:t> clean </a:t>
                </a:r>
                <a:r>
                  <a:rPr lang="da-DK" dirty="0" err="1"/>
                  <a:t>slab</a:t>
                </a:r>
                <a:r>
                  <a:rPr lang="da-DK" dirty="0"/>
                  <a:t> as reference: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𝑠𝑢𝑟𝑓</m:t>
                        </m:r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 +</m:t>
                        </m:r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𝑎𝑑𝑠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𝑠𝑢𝑟𝑓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da-DK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𝑎𝑑𝑠</m:t>
                        </m:r>
                      </m:sub>
                      <m:sup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𝑍𝑃𝐸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𝑣𝑖𝑏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𝑣𝑖𝑏</m:t>
                        </m:r>
                      </m:sub>
                    </m:sSub>
                  </m:oMath>
                </a14:m>
                <a:endParaRPr lang="da-DK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𝑔𝑎𝑠</m:t>
                        </m:r>
                      </m:sub>
                      <m:sup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</a:rPr>
                          <m:t>𝑍𝑃𝐸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da-DK" i="1">
                            <a:latin typeface="Cambria Math" panose="02040503050406030204" pitchFamily="18" charset="0"/>
                          </a:rPr>
                          <m:t>𝑑𝑇</m:t>
                        </m:r>
                      </m:e>
                    </m:nary>
                    <m:r>
                      <a:rPr lang="da-DK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da-DK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𝑡𝑟𝑎𝑛𝑠</m:t>
                            </m:r>
                          </m:sub>
                        </m:sSub>
                        <m:r>
                          <a:rPr lang="da-DK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𝑟𝑜𝑡</m:t>
                            </m:r>
                          </m:sub>
                        </m:sSub>
                        <m:r>
                          <a:rPr lang="da-DK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a-DK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da-DK" i="1">
                                <a:latin typeface="Cambria Math" panose="02040503050406030204" pitchFamily="18" charset="0"/>
                              </a:rPr>
                              <m:t>𝑣𝑖𝑏</m:t>
                            </m:r>
                          </m:sub>
                        </m:sSub>
                      </m:e>
                    </m:d>
                  </m:oMath>
                </a14:m>
                <a:endParaRPr lang="da-DK" dirty="0"/>
              </a:p>
              <a:p>
                <a:pPr lvl="1"/>
                <a:r>
                  <a:rPr lang="da-DK" dirty="0"/>
                  <a:t>We </a:t>
                </a:r>
                <a:r>
                  <a:rPr lang="da-DK" dirty="0" err="1"/>
                  <a:t>can</a:t>
                </a:r>
                <a:r>
                  <a:rPr lang="da-DK" dirty="0"/>
                  <a:t> </a:t>
                </a:r>
                <a:r>
                  <a:rPr lang="da-DK" dirty="0" err="1"/>
                  <a:t>now</a:t>
                </a:r>
                <a:r>
                  <a:rPr lang="da-DK" dirty="0"/>
                  <a:t> find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 smtClean="0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da-DK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p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da-DK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>
                        <a:latin typeface="Cambria Math" panose="02040503050406030204" pitchFamily="18" charset="0"/>
                      </a:rPr>
                      <m:t>Δ</m:t>
                    </m:r>
                    <m:sSubSup>
                      <m:sSubSup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𝑎𝑐𝑡</m:t>
                        </m:r>
                      </m:sub>
                      <m:sup>
                        <m:r>
                          <a:rPr lang="da-DK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da-DK" dirty="0"/>
                  <a:t>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da-DK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i="1" smtClean="0">
                            <a:latin typeface="Cambria Math" panose="02040503050406030204" pitchFamily="18" charset="0"/>
                          </a:rPr>
                          <m:t>𝑎𝑐𝑡</m:t>
                        </m:r>
                      </m:sub>
                    </m:sSub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8" name="Pladsholder til indhold 2">
                <a:extLst>
                  <a:ext uri="{FF2B5EF4-FFF2-40B4-BE49-F238E27FC236}">
                    <a16:creationId xmlns:a16="http://schemas.microsoft.com/office/drawing/2014/main" id="{F167D5EC-8869-0329-8495-33B16B5E4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2047" y="986548"/>
                <a:ext cx="10515600" cy="4351338"/>
              </a:xfrm>
              <a:prstGeom prst="rect">
                <a:avLst/>
              </a:prstGeom>
              <a:blipFill>
                <a:blip r:embed="rId3"/>
                <a:stretch>
                  <a:fillRect t="-23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3006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23396D1C-80CE-31CA-33A4-6E13A32096B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-132416"/>
                <a:ext cx="10924309" cy="1325563"/>
              </a:xfrm>
            </p:spPr>
            <p:txBody>
              <a:bodyPr/>
              <a:lstStyle/>
              <a:p>
                <a:r>
                  <a:rPr lang="da-DK" dirty="0"/>
                  <a:t>Breaking </a:t>
                </a:r>
                <a:r>
                  <a:rPr lang="da-DK" dirty="0" err="1"/>
                  <a:t>down</a:t>
                </a:r>
                <a:r>
                  <a:rPr lang="da-DK" dirty="0"/>
                  <a:t> the problem – 4. step: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da-DK" dirty="0"/>
                  <a:t>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𝑎𝑐𝑡</m:t>
                        </m:r>
                      </m:sub>
                    </m:sSub>
                  </m:oMath>
                </a14:m>
                <a:r>
                  <a:rPr lang="da-DK" dirty="0"/>
                  <a:t> 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23396D1C-80CE-31CA-33A4-6E13A32096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-132416"/>
                <a:ext cx="10924309" cy="1325563"/>
              </a:xfrm>
              <a:blipFill>
                <a:blip r:embed="rId2"/>
                <a:stretch>
                  <a:fillRect l="-232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FF75225-B2D6-6B7D-AEF8-4E2CB6ED93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253331"/>
                <a:ext cx="10515600" cy="4351338"/>
              </a:xfrm>
            </p:spPr>
            <p:txBody>
              <a:bodyPr/>
              <a:lstStyle/>
              <a:p>
                <a:r>
                  <a:rPr lang="da-DK" dirty="0"/>
                  <a:t>WWL-GPR model or GCNN </a:t>
                </a:r>
                <a:r>
                  <a:rPr lang="da-DK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𝑓</m:t>
                        </m:r>
                      </m:sub>
                    </m:sSub>
                  </m:oMath>
                </a14:m>
                <a:endParaRPr lang="da-DK" dirty="0">
                  <a:sym typeface="Wingdings" pitchFamily="2" charset="2"/>
                </a:endParaRPr>
              </a:p>
              <a:p>
                <a:pPr lvl="1"/>
                <a:r>
                  <a:rPr lang="da-DK" dirty="0">
                    <a:sym typeface="Wingdings" pitchFamily="2" charset="2"/>
                  </a:rPr>
                  <a:t>GPR + </a:t>
                </a:r>
                <a:r>
                  <a:rPr lang="da-DK" dirty="0" err="1">
                    <a:sym typeface="Wingdings" pitchFamily="2" charset="2"/>
                  </a:rPr>
                  <a:t>Wasserstein-Weissfehler-lehmann</a:t>
                </a:r>
                <a:r>
                  <a:rPr lang="da-DK" dirty="0">
                    <a:sym typeface="Wingdings" pitchFamily="2" charset="2"/>
                  </a:rPr>
                  <a:t> </a:t>
                </a:r>
                <a:br>
                  <a:rPr lang="da-DK" dirty="0">
                    <a:sym typeface="Wingdings" pitchFamily="2" charset="2"/>
                  </a:rPr>
                </a:br>
                <a:r>
                  <a:rPr lang="da-DK" dirty="0" err="1">
                    <a:sym typeface="Wingdings" pitchFamily="2" charset="2"/>
                  </a:rPr>
                  <a:t>kernel</a:t>
                </a:r>
                <a:endParaRPr lang="da-DK" dirty="0">
                  <a:sym typeface="Wingdings" pitchFamily="2" charset="2"/>
                </a:endParaRPr>
              </a:p>
              <a:p>
                <a:r>
                  <a:rPr lang="da-DK" dirty="0">
                    <a:sym typeface="Wingdings" pitchFamily="2" charset="2"/>
                  </a:rPr>
                  <a:t>Bell-Evans-</a:t>
                </a:r>
                <a:r>
                  <a:rPr lang="da-DK" dirty="0" err="1">
                    <a:sym typeface="Wingdings" pitchFamily="2" charset="2"/>
                  </a:rPr>
                  <a:t>Polyani</a:t>
                </a:r>
                <a:r>
                  <a:rPr lang="da-DK" dirty="0">
                    <a:sym typeface="Wingdings" pitchFamily="2" charset="2"/>
                  </a:rPr>
                  <a:t> (BEP) </a:t>
                </a:r>
                <a:r>
                  <a:rPr lang="da-DK" dirty="0" err="1">
                    <a:sym typeface="Wingdings" pitchFamily="2" charset="2"/>
                  </a:rPr>
                  <a:t>scaling</a:t>
                </a:r>
                <a:r>
                  <a:rPr lang="da-DK" dirty="0">
                    <a:sym typeface="Wingdings" pitchFamily="2" charset="2"/>
                  </a:rPr>
                  <a:t> relations 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𝐸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𝑎𝑐𝑡</m:t>
                        </m:r>
                      </m:sub>
                    </m:sSub>
                  </m:oMath>
                </a14:m>
                <a:endParaRPr lang="da-DK" dirty="0">
                  <a:sym typeface="Wingdings" pitchFamily="2" charset="2"/>
                </a:endParaRPr>
              </a:p>
              <a:p>
                <a:pPr lvl="1"/>
                <a:r>
                  <a:rPr lang="da-DK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𝑎𝑐𝑡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0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  <a:sym typeface="Wingdings" pitchFamily="2" charset="2"/>
                      </a:rPr>
                      <m:t>+</m:t>
                    </m:r>
                    <m:r>
                      <a:rPr lang="da-DK" i="1">
                        <a:latin typeface="Cambria Math" panose="02040503050406030204" pitchFamily="18" charset="0"/>
                        <a:sym typeface="Wingdings" pitchFamily="2" charset="2"/>
                      </a:rPr>
                      <m:t>𝛼</m:t>
                    </m:r>
                    <m:r>
                      <m:rPr>
                        <m:sty m:val="p"/>
                      </m:rPr>
                      <a:rPr lang="da-DK">
                        <a:latin typeface="Cambria Math" panose="02040503050406030204" pitchFamily="18" charset="0"/>
                        <a:sym typeface="Wingdings" pitchFamily="2" charset="2"/>
                      </a:rPr>
                      <m:t>Δ</m:t>
                    </m:r>
                    <m:r>
                      <a:rPr lang="da-DK" i="1">
                        <a:latin typeface="Cambria Math" panose="02040503050406030204" pitchFamily="18" charset="0"/>
                        <a:sym typeface="Wingdings" pitchFamily="2" charset="2"/>
                      </a:rPr>
                      <m:t>𝐻</m:t>
                    </m:r>
                  </m:oMath>
                </a14:m>
                <a:endParaRPr lang="da-DK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>
                        <a:latin typeface="Cambria Math" panose="02040503050406030204" pitchFamily="18" charset="0"/>
                        <a:sym typeface="Wingdings" pitchFamily="2" charset="2"/>
                      </a:rPr>
                      <m:t>Δ</m:t>
                    </m:r>
                    <m:r>
                      <a:rPr lang="da-DK" i="1">
                        <a:latin typeface="Cambria Math" panose="02040503050406030204" pitchFamily="18" charset="0"/>
                        <a:sym typeface="Wingdings" pitchFamily="2" charset="2"/>
                      </a:rPr>
                      <m:t>𝐻</m:t>
                    </m:r>
                    <m:r>
                      <a:rPr lang="da-DK" i="1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sSubSup>
                      <m:sSubSupPr>
                        <m:ctrlP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SupPr>
                      <m:e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𝑓</m:t>
                        </m:r>
                      </m:sub>
                      <m:sup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𝑓𝑖𝑛𝑎𝑙</m:t>
                        </m:r>
                      </m:sup>
                    </m:sSubSup>
                    <m:r>
                      <a:rPr lang="da-DK" i="1">
                        <a:latin typeface="Cambria Math" panose="02040503050406030204" pitchFamily="18" charset="0"/>
                        <a:sym typeface="Wingdings" pitchFamily="2" charset="2"/>
                      </a:rPr>
                      <m:t>−</m:t>
                    </m:r>
                    <m:sSubSup>
                      <m:sSubSupPr>
                        <m:ctrlP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SupPr>
                      <m:e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𝐸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𝑓</m:t>
                        </m:r>
                      </m:sub>
                      <m:sup>
                        <m:r>
                          <a:rPr lang="da-DK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𝑖𝑛𝑖𝑡</m:t>
                        </m:r>
                      </m:sup>
                    </m:sSubSup>
                  </m:oMath>
                </a14:m>
                <a:endParaRPr lang="da-DK" dirty="0"/>
              </a:p>
              <a:p>
                <a:r>
                  <a:rPr lang="da-DK" dirty="0"/>
                  <a:t>Fast prediction</a:t>
                </a:r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FF75225-B2D6-6B7D-AEF8-4E2CB6ED93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53331"/>
                <a:ext cx="10515600" cy="4351338"/>
              </a:xfrm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91" descr="A chart of a graph&#10;&#10;AI-generated content may be incorrect.">
            <a:extLst>
              <a:ext uri="{FF2B5EF4-FFF2-40B4-BE49-F238E27FC236}">
                <a16:creationId xmlns:a16="http://schemas.microsoft.com/office/drawing/2014/main" id="{FDFDD967-93FF-2D87-9456-2A7E2FFBDF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453"/>
          <a:stretch>
            <a:fillRect/>
          </a:stretch>
        </p:blipFill>
        <p:spPr>
          <a:xfrm>
            <a:off x="7777908" y="1604880"/>
            <a:ext cx="4829321" cy="427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886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D7A464-40AC-A561-879C-67D13690A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6825"/>
            <a:ext cx="10515600" cy="1325563"/>
          </a:xfrm>
        </p:spPr>
        <p:txBody>
          <a:bodyPr/>
          <a:lstStyle/>
          <a:p>
            <a:pPr algn="ctr"/>
            <a:r>
              <a:rPr lang="da-DK" dirty="0" err="1"/>
              <a:t>Let’s</a:t>
            </a:r>
            <a:r>
              <a:rPr lang="da-DK" dirty="0"/>
              <a:t> look at </a:t>
            </a:r>
            <a:r>
              <a:rPr lang="da-DK" dirty="0" err="1"/>
              <a:t>some</a:t>
            </a:r>
            <a:r>
              <a:rPr lang="da-DK" dirty="0"/>
              <a:t> </a:t>
            </a:r>
            <a:r>
              <a:rPr lang="da-DK" dirty="0" err="1"/>
              <a:t>code</a:t>
            </a:r>
            <a:r>
              <a:rPr lang="da-DK" dirty="0"/>
              <a:t> for </a:t>
            </a:r>
            <a:r>
              <a:rPr lang="da-DK" dirty="0" err="1"/>
              <a:t>implementing</a:t>
            </a:r>
            <a:r>
              <a:rPr lang="da-DK" dirty="0"/>
              <a:t> </a:t>
            </a:r>
            <a:r>
              <a:rPr lang="da-DK" dirty="0" err="1"/>
              <a:t>this</a:t>
            </a:r>
            <a:r>
              <a:rPr lang="da-DK" dirty="0"/>
              <a:t> </a:t>
            </a:r>
            <a:r>
              <a:rPr lang="da-DK" dirty="0">
                <a:sym typeface="Wingdings" pitchFamily="2" charset="2"/>
              </a:rPr>
              <a:t>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83589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A86C1-02E8-8EB5-84DE-2F13A4402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80644C1-D7AA-07C9-5C6B-F41BECC4B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9580" y="6581497"/>
            <a:ext cx="252000" cy="135422"/>
          </a:xfrm>
        </p:spPr>
        <p:txBody>
          <a:bodyPr/>
          <a:lstStyle/>
          <a:p>
            <a:fld id="{7834947A-1B05-2B43-AD85-E646CE852B9E}" type="slidenum">
              <a:rPr lang="it-IT" smtClean="0">
                <a:latin typeface="+mj-lt"/>
              </a:rPr>
              <a:t>13</a:t>
            </a:fld>
            <a:endParaRPr lang="it-IT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DB26C4-CADB-8DA9-F1C5-D77D602B6B6A}"/>
              </a:ext>
            </a:extLst>
          </p:cNvPr>
          <p:cNvSpPr txBox="1"/>
          <p:nvPr/>
        </p:nvSpPr>
        <p:spPr>
          <a:xfrm>
            <a:off x="144602" y="124935"/>
            <a:ext cx="117694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kern="0" dirty="0">
                <a:latin typeface="+mj-lt"/>
              </a:rPr>
              <a:t>Reaction rate from surface composition</a:t>
            </a:r>
            <a:endParaRPr lang="en-US" sz="4400" dirty="0"/>
          </a:p>
        </p:txBody>
      </p:sp>
      <p:pic>
        <p:nvPicPr>
          <p:cNvPr id="76" name="Picture 75" descr="A group of blue and yellow circles&#10;&#10;AI-generated content may be incorrect.">
            <a:extLst>
              <a:ext uri="{FF2B5EF4-FFF2-40B4-BE49-F238E27FC236}">
                <a16:creationId xmlns:a16="http://schemas.microsoft.com/office/drawing/2014/main" id="{9FE4DDAF-1419-BA39-8FFE-13094A2F67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9448"/>
          <a:stretch>
            <a:fillRect/>
          </a:stretch>
        </p:blipFill>
        <p:spPr>
          <a:xfrm>
            <a:off x="1311473" y="2348984"/>
            <a:ext cx="1462838" cy="1155954"/>
          </a:xfrm>
          <a:prstGeom prst="rect">
            <a:avLst/>
          </a:prstGeom>
        </p:spPr>
      </p:pic>
      <p:pic>
        <p:nvPicPr>
          <p:cNvPr id="36" name="Picture 35" descr="A group of blue balls with a red pin&#10;&#10;AI-generated content may be incorrect.">
            <a:extLst>
              <a:ext uri="{FF2B5EF4-FFF2-40B4-BE49-F238E27FC236}">
                <a16:creationId xmlns:a16="http://schemas.microsoft.com/office/drawing/2014/main" id="{AB6D3AF8-A08D-7AF3-5314-FFE195A33A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085" r="13957" b="24115"/>
          <a:stretch>
            <a:fillRect/>
          </a:stretch>
        </p:blipFill>
        <p:spPr>
          <a:xfrm>
            <a:off x="4150453" y="794237"/>
            <a:ext cx="1810151" cy="1515975"/>
          </a:xfrm>
          <a:prstGeom prst="rect">
            <a:avLst/>
          </a:prstGeom>
        </p:spPr>
      </p:pic>
      <p:pic>
        <p:nvPicPr>
          <p:cNvPr id="35" name="Picture 34" descr="A group of yellow and brown circles&#10;&#10;AI-generated content may be incorrect.">
            <a:extLst>
              <a:ext uri="{FF2B5EF4-FFF2-40B4-BE49-F238E27FC236}">
                <a16:creationId xmlns:a16="http://schemas.microsoft.com/office/drawing/2014/main" id="{5C44A7FA-A30F-F2B7-E88F-0D270FB9CDF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521" r="22617" b="36600"/>
          <a:stretch>
            <a:fillRect/>
          </a:stretch>
        </p:blipFill>
        <p:spPr>
          <a:xfrm>
            <a:off x="4128831" y="4388319"/>
            <a:ext cx="1853396" cy="1636223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67A1F573-EB2E-CEDC-8F95-CB55E7BE513B}"/>
              </a:ext>
            </a:extLst>
          </p:cNvPr>
          <p:cNvSpPr txBox="1">
            <a:spLocks/>
          </p:cNvSpPr>
          <p:nvPr/>
        </p:nvSpPr>
        <p:spPr bwMode="auto">
          <a:xfrm>
            <a:off x="3696556" y="2247098"/>
            <a:ext cx="2717946" cy="3460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kern="0" spc="1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DFT DB (RWGS on SAAs)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71C75-3FD3-635E-FBF9-19C37FA02E48}"/>
              </a:ext>
            </a:extLst>
          </p:cNvPr>
          <p:cNvSpPr txBox="1">
            <a:spLocks/>
          </p:cNvSpPr>
          <p:nvPr/>
        </p:nvSpPr>
        <p:spPr bwMode="auto">
          <a:xfrm>
            <a:off x="3696555" y="3583070"/>
            <a:ext cx="2717946" cy="34606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kern="0" spc="1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Python function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120F14-D61D-4BA6-121D-B50025625155}"/>
              </a:ext>
            </a:extLst>
          </p:cNvPr>
          <p:cNvSpPr txBox="1">
            <a:spLocks/>
          </p:cNvSpPr>
          <p:nvPr/>
        </p:nvSpPr>
        <p:spPr bwMode="auto">
          <a:xfrm>
            <a:off x="3696555" y="2915084"/>
            <a:ext cx="2717946" cy="3460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kern="0" spc="1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WWL-GPR graph model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593B0D6-33FF-7414-5DC4-5FC4736282A0}"/>
              </a:ext>
            </a:extLst>
          </p:cNvPr>
          <p:cNvSpPr txBox="1">
            <a:spLocks/>
          </p:cNvSpPr>
          <p:nvPr/>
        </p:nvSpPr>
        <p:spPr bwMode="auto">
          <a:xfrm>
            <a:off x="807462" y="3583070"/>
            <a:ext cx="2470860" cy="34606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kern="0" spc="1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Surface composition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5412170-590C-0281-9F30-91F9FB53500B}"/>
              </a:ext>
            </a:extLst>
          </p:cNvPr>
          <p:cNvSpPr txBox="1">
            <a:spLocks/>
          </p:cNvSpPr>
          <p:nvPr/>
        </p:nvSpPr>
        <p:spPr bwMode="auto">
          <a:xfrm>
            <a:off x="6832734" y="3581278"/>
            <a:ext cx="2470860" cy="34606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kern="0" spc="1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Adsorption energies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199B5E2-FA2C-994E-4FD2-9F0520F857E4}"/>
              </a:ext>
            </a:extLst>
          </p:cNvPr>
          <p:cNvSpPr txBox="1">
            <a:spLocks/>
          </p:cNvSpPr>
          <p:nvPr/>
        </p:nvSpPr>
        <p:spPr bwMode="auto">
          <a:xfrm>
            <a:off x="3696555" y="4251057"/>
            <a:ext cx="2717946" cy="3460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kern="0" spc="1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Adsorption modes DB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36FF865-6969-0DE4-905F-82EDE511325D}"/>
              </a:ext>
            </a:extLst>
          </p:cNvPr>
          <p:cNvCxnSpPr>
            <a:stCxn id="7" idx="3"/>
            <a:endCxn id="4" idx="1"/>
          </p:cNvCxnSpPr>
          <p:nvPr/>
        </p:nvCxnSpPr>
        <p:spPr bwMode="auto">
          <a:xfrm>
            <a:off x="3278323" y="3756104"/>
            <a:ext cx="418233" cy="0"/>
          </a:xfrm>
          <a:prstGeom prst="straightConnector1">
            <a:avLst/>
          </a:prstGeom>
          <a:ln w="28575">
            <a:solidFill>
              <a:srgbClr val="B8CED7"/>
            </a:solidFill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E47FDA0-F638-B9E4-A286-9A1535DD748B}"/>
              </a:ext>
            </a:extLst>
          </p:cNvPr>
          <p:cNvCxnSpPr>
            <a:cxnSpLocks/>
            <a:stCxn id="6" idx="2"/>
            <a:endCxn id="4" idx="0"/>
          </p:cNvCxnSpPr>
          <p:nvPr/>
        </p:nvCxnSpPr>
        <p:spPr bwMode="auto">
          <a:xfrm>
            <a:off x="5055528" y="3261152"/>
            <a:ext cx="0" cy="321918"/>
          </a:xfrm>
          <a:prstGeom prst="straightConnector1">
            <a:avLst/>
          </a:prstGeom>
          <a:ln w="28575">
            <a:solidFill>
              <a:srgbClr val="DCE6EB"/>
            </a:solidFill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2CAB19F-AF1E-F547-6C1E-F7C46B365C44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 bwMode="auto">
          <a:xfrm flipH="1">
            <a:off x="5055529" y="2593166"/>
            <a:ext cx="1" cy="321918"/>
          </a:xfrm>
          <a:prstGeom prst="straightConnector1">
            <a:avLst/>
          </a:prstGeom>
          <a:ln w="28575">
            <a:solidFill>
              <a:srgbClr val="DCE6EB"/>
            </a:solidFill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52B991-8923-C9AC-9190-572CE0FF4A06}"/>
              </a:ext>
            </a:extLst>
          </p:cNvPr>
          <p:cNvCxnSpPr>
            <a:cxnSpLocks/>
            <a:stCxn id="10" idx="0"/>
            <a:endCxn id="4" idx="2"/>
          </p:cNvCxnSpPr>
          <p:nvPr/>
        </p:nvCxnSpPr>
        <p:spPr bwMode="auto">
          <a:xfrm flipV="1">
            <a:off x="5055528" y="3929139"/>
            <a:ext cx="0" cy="321919"/>
          </a:xfrm>
          <a:prstGeom prst="straightConnector1">
            <a:avLst/>
          </a:prstGeom>
          <a:ln w="28575">
            <a:solidFill>
              <a:srgbClr val="DCE6EB"/>
            </a:solidFill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718F2AD-6925-7959-9E65-00509F18833F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 bwMode="auto">
          <a:xfrm flipV="1">
            <a:off x="6414502" y="3754312"/>
            <a:ext cx="418233" cy="1792"/>
          </a:xfrm>
          <a:prstGeom prst="straightConnector1">
            <a:avLst/>
          </a:prstGeom>
          <a:ln w="28575">
            <a:solidFill>
              <a:srgbClr val="B8CED7"/>
            </a:solidFill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9513204-F937-E324-84D7-8AE7F77A9101}"/>
              </a:ext>
            </a:extLst>
          </p:cNvPr>
          <p:cNvSpPr txBox="1"/>
          <p:nvPr/>
        </p:nvSpPr>
        <p:spPr>
          <a:xfrm>
            <a:off x="5891142" y="1196682"/>
            <a:ext cx="16161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DFT energies (obtained with slab models</a:t>
            </a:r>
            <a:r>
              <a:rPr lang="it-IT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)</a:t>
            </a:r>
            <a:endParaRPr lang="en-US" sz="1600" dirty="0">
              <a:solidFill>
                <a:srgbClr val="222222"/>
              </a:solidFill>
              <a:latin typeface="Noto Sans" panose="020B0502040504020204" pitchFamily="34"/>
              <a:ea typeface="Noto Sans" panose="020B0502040504020204" pitchFamily="34"/>
              <a:cs typeface="Noto Sans" panose="020B0502040504020204" pitchFamily="3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BC9FE0-EF45-C13D-A792-4422E4D6D19D}"/>
              </a:ext>
            </a:extLst>
          </p:cNvPr>
          <p:cNvSpPr txBox="1"/>
          <p:nvPr/>
        </p:nvSpPr>
        <p:spPr>
          <a:xfrm>
            <a:off x="5891142" y="4935175"/>
            <a:ext cx="22767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All adsorbate configurations involving site atoms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6D27CF-7F02-3B22-F32D-0F212B6B5517}"/>
              </a:ext>
            </a:extLst>
          </p:cNvPr>
          <p:cNvSpPr txBox="1"/>
          <p:nvPr/>
        </p:nvSpPr>
        <p:spPr>
          <a:xfrm>
            <a:off x="1936412" y="5076759"/>
            <a:ext cx="19462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Brown: site atoms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1C1F72-87BE-1571-B97A-61D36A813EBA}"/>
              </a:ext>
            </a:extLst>
          </p:cNvPr>
          <p:cNvSpPr txBox="1"/>
          <p:nvPr/>
        </p:nvSpPr>
        <p:spPr>
          <a:xfrm>
            <a:off x="1664188" y="5438859"/>
            <a:ext cx="24906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Yellow: neighbor atoms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1EA0037-EBB0-1DD5-0A4B-58E26940CBAB}"/>
              </a:ext>
            </a:extLst>
          </p:cNvPr>
          <p:cNvCxnSpPr>
            <a:cxnSpLocks/>
            <a:stCxn id="39" idx="3"/>
          </p:cNvCxnSpPr>
          <p:nvPr/>
        </p:nvCxnSpPr>
        <p:spPr bwMode="auto">
          <a:xfrm>
            <a:off x="3882654" y="5246036"/>
            <a:ext cx="897884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A08C1C2-BDFE-3D1C-640B-1F811CE5E06E}"/>
              </a:ext>
            </a:extLst>
          </p:cNvPr>
          <p:cNvCxnSpPr>
            <a:cxnSpLocks/>
            <a:stCxn id="40" idx="3"/>
          </p:cNvCxnSpPr>
          <p:nvPr/>
        </p:nvCxnSpPr>
        <p:spPr bwMode="auto">
          <a:xfrm>
            <a:off x="4154878" y="5608136"/>
            <a:ext cx="927638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21EECAF-693D-60A2-8D97-12EB40C4AFAB}"/>
              </a:ext>
            </a:extLst>
          </p:cNvPr>
          <p:cNvCxnSpPr>
            <a:cxnSpLocks/>
            <a:stCxn id="9" idx="3"/>
            <a:endCxn id="65" idx="1"/>
          </p:cNvCxnSpPr>
          <p:nvPr/>
        </p:nvCxnSpPr>
        <p:spPr bwMode="auto">
          <a:xfrm>
            <a:off x="9303594" y="3754312"/>
            <a:ext cx="387092" cy="0"/>
          </a:xfrm>
          <a:prstGeom prst="straightConnector1">
            <a:avLst/>
          </a:prstGeom>
          <a:ln w="28575">
            <a:solidFill>
              <a:srgbClr val="B8CED7"/>
            </a:solidFill>
            <a:headEnd type="none" w="med" len="med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72CAC0B7-5302-428C-D34A-A07074A2A2CF}"/>
              </a:ext>
            </a:extLst>
          </p:cNvPr>
          <p:cNvSpPr txBox="1">
            <a:spLocks/>
          </p:cNvSpPr>
          <p:nvPr/>
        </p:nvSpPr>
        <p:spPr bwMode="auto">
          <a:xfrm>
            <a:off x="9690687" y="3581278"/>
            <a:ext cx="1693853" cy="34606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lvl="1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600" kern="0" spc="100" dirty="0"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Reaction rate</a:t>
            </a:r>
          </a:p>
        </p:txBody>
      </p:sp>
      <p:pic>
        <p:nvPicPr>
          <p:cNvPr id="78" name="Picture 77" descr="A group of colorful circles&#10;&#10;AI-generated content may be incorrect.">
            <a:extLst>
              <a:ext uri="{FF2B5EF4-FFF2-40B4-BE49-F238E27FC236}">
                <a16:creationId xmlns:a16="http://schemas.microsoft.com/office/drawing/2014/main" id="{AF8EAA90-8B06-A233-F73C-B695E2DA9E7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463" t="12696" r="25755" b="42065"/>
          <a:stretch>
            <a:fillRect/>
          </a:stretch>
        </p:blipFill>
        <p:spPr>
          <a:xfrm>
            <a:off x="7288289" y="2348984"/>
            <a:ext cx="1559750" cy="11559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FB061F-AD23-F9FC-B349-CE7541BCC969}"/>
              </a:ext>
            </a:extLst>
          </p:cNvPr>
          <p:cNvSpPr txBox="1"/>
          <p:nvPr/>
        </p:nvSpPr>
        <p:spPr>
          <a:xfrm>
            <a:off x="9503058" y="4040907"/>
            <a:ext cx="20775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From rate equation or microkinetic modeling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C7A8A4-94F0-855C-453F-F6BC9FB1B0C4}"/>
              </a:ext>
            </a:extLst>
          </p:cNvPr>
          <p:cNvSpPr txBox="1"/>
          <p:nvPr/>
        </p:nvSpPr>
        <p:spPr>
          <a:xfrm>
            <a:off x="884985" y="1437267"/>
            <a:ext cx="23158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222222"/>
                </a:solidFill>
                <a:latin typeface="Noto Sans" panose="020B0502040504020204" pitchFamily="34"/>
                <a:ea typeface="Noto Sans" panose="020B0502040504020204" pitchFamily="34"/>
                <a:cs typeface="Noto Sans" panose="020B0502040504020204" pitchFamily="34"/>
              </a:rPr>
              <a:t>Cluster model including site atoms and their neighbors</a:t>
            </a:r>
          </a:p>
        </p:txBody>
      </p:sp>
    </p:spTree>
    <p:extLst>
      <p:ext uri="{BB962C8B-B14F-4D97-AF65-F5344CB8AC3E}">
        <p14:creationId xmlns:p14="http://schemas.microsoft.com/office/powerpoint/2010/main" val="1487859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6826</TotalTime>
  <Words>1513</Words>
  <Application>Microsoft Macintosh PowerPoint</Application>
  <PresentationFormat>Widescreen</PresentationFormat>
  <Paragraphs>182</Paragraphs>
  <Slides>13</Slides>
  <Notes>4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Noto Sans</vt:lpstr>
      <vt:lpstr>Wingdings</vt:lpstr>
      <vt:lpstr>Office-tema</vt:lpstr>
      <vt:lpstr>Finding highly active catalysts with genAI</vt:lpstr>
      <vt:lpstr>The problem: Find highly active catalysts at different surfaces</vt:lpstr>
      <vt:lpstr>Outline for next slides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Breaking down the problem – 4. step: E_f &amp; E_act </vt:lpstr>
      <vt:lpstr>Let’s look at some code for implementing this 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Karsten Walz Jensen</dc:creator>
  <cp:lastModifiedBy>Karsten Walz Jensen</cp:lastModifiedBy>
  <cp:revision>26</cp:revision>
  <dcterms:created xsi:type="dcterms:W3CDTF">2025-09-08T11:15:50Z</dcterms:created>
  <dcterms:modified xsi:type="dcterms:W3CDTF">2025-12-18T08:33:44Z</dcterms:modified>
</cp:coreProperties>
</file>